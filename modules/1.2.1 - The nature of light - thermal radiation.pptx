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3"/>
  </p:notesMasterIdLst>
  <p:sldIdLst>
    <p:sldId id="334" r:id="rId2"/>
    <p:sldId id="326" r:id="rId3"/>
    <p:sldId id="332" r:id="rId4"/>
    <p:sldId id="365" r:id="rId5"/>
    <p:sldId id="275" r:id="rId6"/>
    <p:sldId id="325" r:id="rId7"/>
    <p:sldId id="263" r:id="rId8"/>
    <p:sldId id="345" r:id="rId9"/>
    <p:sldId id="338" r:id="rId10"/>
    <p:sldId id="274" r:id="rId11"/>
    <p:sldId id="371" r:id="rId12"/>
    <p:sldId id="348" r:id="rId13"/>
    <p:sldId id="296" r:id="rId14"/>
    <p:sldId id="347" r:id="rId15"/>
    <p:sldId id="295" r:id="rId16"/>
    <p:sldId id="349" r:id="rId17"/>
    <p:sldId id="372" r:id="rId18"/>
    <p:sldId id="300" r:id="rId19"/>
    <p:sldId id="363" r:id="rId20"/>
    <p:sldId id="353" r:id="rId21"/>
    <p:sldId id="355" r:id="rId22"/>
  </p:sldIdLst>
  <p:sldSz cx="12192000" cy="6858000"/>
  <p:notesSz cx="6858000" cy="9144000"/>
  <p:custDataLst>
    <p:tags r:id="rId24"/>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rmal radiation" id="{4D19B7AE-53DF-46F3-93E0-13D3598F1158}">
          <p14:sldIdLst>
            <p14:sldId id="334"/>
            <p14:sldId id="326"/>
            <p14:sldId id="332"/>
            <p14:sldId id="365"/>
          </p14:sldIdLst>
        </p14:section>
        <p14:section name="Kirchhoff's law" id="{AF47E01A-53C0-4227-9BF4-7BEA72515842}">
          <p14:sldIdLst>
            <p14:sldId id="275"/>
            <p14:sldId id="325"/>
            <p14:sldId id="263"/>
          </p14:sldIdLst>
        </p14:section>
        <p14:section name="Plank's formula" id="{5812A57A-3D16-4026-8C41-279DD44FBA70}">
          <p14:sldIdLst>
            <p14:sldId id="345"/>
            <p14:sldId id="338"/>
            <p14:sldId id="274"/>
            <p14:sldId id="371"/>
            <p14:sldId id="348"/>
            <p14:sldId id="296"/>
            <p14:sldId id="347"/>
            <p14:sldId id="295"/>
            <p14:sldId id="349"/>
            <p14:sldId id="372"/>
            <p14:sldId id="300"/>
            <p14:sldId id="363"/>
            <p14:sldId id="353"/>
            <p14:sldId id="35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66FF"/>
    <a:srgbClr val="DD00A8"/>
    <a:srgbClr val="CC00CC"/>
    <a:srgbClr val="FF0066"/>
    <a:srgbClr val="FF00FF"/>
    <a:srgbClr val="FF3399"/>
    <a:srgbClr val="EFEEFE"/>
    <a:srgbClr val="15C597"/>
    <a:srgbClr val="0EE4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77128" autoAdjust="0"/>
  </p:normalViewPr>
  <p:slideViewPr>
    <p:cSldViewPr snapToGrid="0">
      <p:cViewPr varScale="1">
        <p:scale>
          <a:sx n="120" d="100"/>
          <a:sy n="120" d="100"/>
        </p:scale>
        <p:origin x="418" y="86"/>
      </p:cViewPr>
      <p:guideLst>
        <p:guide orient="horz" pos="2160"/>
        <p:guide pos="3840"/>
      </p:guideLst>
    </p:cSldViewPr>
  </p:slideViewPr>
  <p:notesTextViewPr>
    <p:cViewPr>
      <p:scale>
        <a:sx n="1" d="1"/>
        <a:sy n="1" d="1"/>
      </p:scale>
      <p:origin x="0" y="0"/>
    </p:cViewPr>
  </p:notesTextViewPr>
  <p:notesViewPr>
    <p:cSldViewPr snapToGrid="0">
      <p:cViewPr varScale="1">
        <p:scale>
          <a:sx n="75" d="100"/>
          <a:sy n="75" d="100"/>
        </p:scale>
        <p:origin x="-2914"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6387D0-1216-4FA3-AF01-EA63AC44C2D4}" type="datetimeFigureOut">
              <a:rPr lang="en-US" smtClean="0"/>
              <a:t>9/20/2026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8A642B-1D08-47C1-9385-1FDD33F8CE06}" type="slidenum">
              <a:rPr lang="en-US" smtClean="0"/>
              <a:t>‹#›</a:t>
            </a:fld>
            <a:endParaRPr lang="en-US"/>
          </a:p>
        </p:txBody>
      </p:sp>
    </p:spTree>
    <p:extLst>
      <p:ext uri="{BB962C8B-B14F-4D97-AF65-F5344CB8AC3E}">
        <p14:creationId xmlns:p14="http://schemas.microsoft.com/office/powerpoint/2010/main" val="3212350310"/>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人们很久以来就知道凡是有温度的物体都会辐射热量，这种热量的传播方式不需要借助任何已知的介质。这就是热辐射。人们还发现如果物体的温度很高的话，它还会发出光来，并且这种光就像日光一样可以被棱镜或光栅分解为连续的光谱。因此人们就猜想热辐射是否也是一种光呢？</a:t>
            </a:r>
            <a:endParaRPr lang="en-US" altLang="zh-CN" dirty="0"/>
          </a:p>
          <a:p>
            <a:endParaRPr lang="en-US" altLang="zh-CN" dirty="0"/>
          </a:p>
          <a:p>
            <a:r>
              <a:rPr lang="en-US" altLang="zh-CN" dirty="0"/>
              <a:t>1800</a:t>
            </a:r>
            <a:r>
              <a:rPr lang="zh-CN" altLang="en-US" dirty="0"/>
              <a:t>年德国人</a:t>
            </a:r>
            <a:r>
              <a:rPr lang="en-US" altLang="zh-CN" dirty="0"/>
              <a:t>Herschel</a:t>
            </a:r>
            <a:r>
              <a:rPr lang="zh-CN" altLang="en-US" dirty="0"/>
              <a:t>做了一个很有意义的实验。他用棱镜折射出一个日光的光谱，在每种颜色的光照到的位置上都放上水银温度计来测量这种颜色的光所带来的热量。当然所有被光照到的位置的温度都升高了。然而有趣的是，在红光的外侧，肉眼看不到任何光的位置那个温度计温度也升高了而且比其他温度计都要高。什么原因？说明这里一种人眼睛看不到的光，这种光被称为红外线。这个实验告诉人们，不是所有的光都能被眼睛看到，但是眼睛看不到的光也可以通过它所辐射的热量而被测量的。因此这个实验也让人们更加坚信热辐射就是光。</a:t>
            </a:r>
            <a:endParaRPr lang="en-US" altLang="zh-CN" dirty="0"/>
          </a:p>
          <a:p>
            <a:endParaRPr lang="en-US" altLang="zh-CN" dirty="0"/>
          </a:p>
          <a:p>
            <a:r>
              <a:rPr lang="zh-CN" altLang="en-US" dirty="0"/>
              <a:t>最后，我想说这个实验还向我们演示了一种测量光谱的方法，所谓光谱就是光的辐射强度在不同波长上的分布。</a:t>
            </a:r>
            <a:endParaRPr lang="en-US" altLang="zh-CN" dirty="0"/>
          </a:p>
          <a:p>
            <a:r>
              <a:rPr lang="zh-CN" altLang="en-US" dirty="0"/>
              <a:t>以太阳的热辐射为例，如果我们以光的波长为横坐标，光强为纵坐标。，这个日光光谱大致就是这样一个分布曲线。只用当中一小部分是可见光，右边是红外，左边是紫外，都是不可见的。 这就是热辐射光谱的特点，它是连续的。</a:t>
            </a:r>
            <a:endParaRPr lang="en-US" altLang="zh-CN" dirty="0"/>
          </a:p>
        </p:txBody>
      </p:sp>
      <p:sp>
        <p:nvSpPr>
          <p:cNvPr id="4" name="Slide Number Placeholder 3"/>
          <p:cNvSpPr>
            <a:spLocks noGrp="1"/>
          </p:cNvSpPr>
          <p:nvPr>
            <p:ph type="sldNum" sz="quarter" idx="10"/>
          </p:nvPr>
        </p:nvSpPr>
        <p:spPr/>
        <p:txBody>
          <a:bodyPr/>
          <a:lstStyle/>
          <a:p>
            <a:fld id="{C08A642B-1D08-47C1-9385-1FDD33F8CE06}" type="slidenum">
              <a:rPr lang="en-US" smtClean="0"/>
              <a:t>1</a:t>
            </a:fld>
            <a:endParaRPr lang="en-US"/>
          </a:p>
        </p:txBody>
      </p:sp>
    </p:spTree>
    <p:extLst>
      <p:ext uri="{BB962C8B-B14F-4D97-AF65-F5344CB8AC3E}">
        <p14:creationId xmlns:p14="http://schemas.microsoft.com/office/powerpoint/2010/main" val="1264067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德国人</a:t>
            </a:r>
            <a:r>
              <a:rPr lang="en-US" altLang="zh-CN" dirty="0" err="1"/>
              <a:t>Fraunhofer</a:t>
            </a:r>
            <a:r>
              <a:rPr lang="zh-CN" altLang="en-US" dirty="0"/>
              <a:t>，他好像是做玻璃出身的，也做实验仪器。他对光谱仪做了两个改进，一方面他改进了光学玻璃的制造工艺，使得他的玻璃折射率又高，气泡又少，从而可以加工出质量特别好的棱镜。另一方面他还设计了这样一对准直狭缝，使得入射光即狭窄而且平行度又很高。这样的入射光被棱镜折射后，分解出来的不同波长的成分不容易重叠。这两个改进大大提高了光谱仪的波长分辨率。 我们说他所做的工作相当于那个年代的精密测量物理。在这个领域有这样的一种说法，就是每当你把测量精度提高</a:t>
            </a:r>
            <a:r>
              <a:rPr lang="en-US" altLang="zh-CN" dirty="0"/>
              <a:t>1</a:t>
            </a:r>
            <a:r>
              <a:rPr lang="zh-CN" altLang="en-US" dirty="0"/>
              <a:t>到</a:t>
            </a:r>
            <a:r>
              <a:rPr lang="en-US" altLang="zh-CN" dirty="0"/>
              <a:t>2</a:t>
            </a:r>
            <a:r>
              <a:rPr lang="zh-CN" altLang="en-US" dirty="0"/>
              <a:t>个数量级得时候，你就很有可能发现新的物理。这就话在</a:t>
            </a:r>
            <a:r>
              <a:rPr lang="en-US" altLang="zh-CN" dirty="0" err="1"/>
              <a:t>Fraunhofer</a:t>
            </a:r>
            <a:r>
              <a:rPr lang="zh-CN" altLang="en-US" dirty="0"/>
              <a:t>的身上就得到了应验。</a:t>
            </a:r>
            <a:endParaRPr lang="en-US" altLang="zh-CN" dirty="0"/>
          </a:p>
          <a:p>
            <a:endParaRPr lang="en-US" altLang="zh-CN" dirty="0"/>
          </a:p>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dirty="0"/>
              <a:t>1814</a:t>
            </a:r>
            <a:r>
              <a:rPr lang="zh-CN" altLang="en-US" dirty="0"/>
              <a:t>年，当</a:t>
            </a:r>
            <a:r>
              <a:rPr lang="en-US" altLang="zh-CN" dirty="0" err="1"/>
              <a:t>Fraunhofer</a:t>
            </a:r>
            <a:r>
              <a:rPr lang="zh-CN" altLang="en-US" dirty="0"/>
              <a:t>用他的高分辨率光谱仪再次观察日光光谱时，他发现了新的现象。原本连续的光谱中出现了一条条分立的暗线。这些暗线是怎么产生的呢？ 没等这个问题得到解答，</a:t>
            </a:r>
            <a:r>
              <a:rPr lang="en-US" altLang="zh-CN" dirty="0" err="1">
                <a:latin typeface="黑体" panose="02010609060101010101" pitchFamily="49" charset="-122"/>
                <a:ea typeface="黑体" panose="02010609060101010101" pitchFamily="49" charset="-122"/>
              </a:rPr>
              <a:t>Fraunhofer</a:t>
            </a:r>
            <a:r>
              <a:rPr lang="zh-CN" altLang="en-US" dirty="0">
                <a:latin typeface="黑体" panose="02010609060101010101" pitchFamily="49" charset="-122"/>
                <a:ea typeface="黑体" panose="02010609060101010101" pitchFamily="49" charset="-122"/>
              </a:rPr>
              <a:t>以及其他一些化学家又在某些物质的光谱中观察到了明线</a:t>
            </a:r>
            <a:r>
              <a:rPr lang="zh-CN" altLang="en-US" dirty="0"/>
              <a:t>。</a:t>
            </a:r>
            <a:endParaRPr lang="en-US" altLang="zh-CN" dirty="0"/>
          </a:p>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2</a:t>
            </a:fld>
            <a:endParaRPr lang="en-US"/>
          </a:p>
        </p:txBody>
      </p:sp>
    </p:spTree>
    <p:extLst>
      <p:ext uri="{BB962C8B-B14F-4D97-AF65-F5344CB8AC3E}">
        <p14:creationId xmlns:p14="http://schemas.microsoft.com/office/powerpoint/2010/main" val="3371590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那么明线是哪儿来的呢？ </a:t>
            </a:r>
            <a:endParaRPr lang="en-US" altLang="zh-CN" dirty="0"/>
          </a:p>
          <a:p>
            <a:r>
              <a:rPr lang="zh-CN" altLang="en-US" dirty="0"/>
              <a:t>其实很早人们就发现不同的物质在燃烧时会发射出它特有的颜色的光。明线都来自于。</a:t>
            </a:r>
            <a:endParaRPr lang="en-US" altLang="zh-CN" dirty="0"/>
          </a:p>
          <a:p>
            <a:r>
              <a:rPr lang="zh-CN" altLang="en-US" dirty="0"/>
              <a:t>如果你分析一下它们的光谱，那个区别就更加显著了。在高温气态的情况下，每种元素的都会展示出一套自己的独一无二的明线光谱，因此明线光谱也被称为物质的特征谱线。就像指纹可以被用来鉴定人的身份一样，特征谱线可以被用来鉴定元素，帮助分析物质里的化学成分。</a:t>
            </a:r>
            <a:r>
              <a:rPr lang="en-US" altLang="zh-CN" dirty="0"/>
              <a:t>astronomers exploit the uniqueness of the spectral lines emitted by atoms as a way to determine the chemical composition of the stars.</a:t>
            </a:r>
          </a:p>
          <a:p>
            <a:endParaRPr lang="en-US" dirty="0"/>
          </a:p>
          <a:p>
            <a:r>
              <a:rPr lang="zh-CN" altLang="en-US" dirty="0"/>
              <a:t>那么这种明线和之前的暗线之间是否有关系呢？</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3</a:t>
            </a:fld>
            <a:endParaRPr lang="en-US"/>
          </a:p>
        </p:txBody>
      </p:sp>
    </p:spTree>
    <p:extLst>
      <p:ext uri="{BB962C8B-B14F-4D97-AF65-F5344CB8AC3E}">
        <p14:creationId xmlns:p14="http://schemas.microsoft.com/office/powerpoint/2010/main" val="639988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Entry from the Encyclopedia Britannica in 1890 </a:t>
            </a:r>
            <a:r>
              <a:rPr lang="en-US" altLang="zh-CN" baseline="0" dirty="0"/>
              <a:t>shows </a:t>
            </a:r>
            <a:r>
              <a:rPr lang="en-US" dirty="0"/>
              <a:t>that spectral lines were still considered to be a complicated but entirely classical problem - the optical analog to the finding resonant sound frequencies in a Scottish bagpipe.</a:t>
            </a:r>
          </a:p>
          <a:p>
            <a:r>
              <a:rPr lang="en-US" sz="1200" kern="1200" dirty="0">
                <a:solidFill>
                  <a:schemeClr val="tx1"/>
                </a:solidFill>
                <a:latin typeface="+mn-lt"/>
                <a:ea typeface="+mn-ea"/>
                <a:cs typeface="+mn-cs"/>
              </a:rPr>
              <a:t>So now we see that Kirchhoff and Bunsen found that </a:t>
            </a:r>
            <a:r>
              <a:rPr lang="en-US" sz="1200" kern="1200" dirty="0" err="1">
                <a:solidFill>
                  <a:schemeClr val="tx1"/>
                </a:solidFill>
                <a:latin typeface="+mn-lt"/>
                <a:ea typeface="+mn-ea"/>
                <a:cs typeface="+mn-cs"/>
              </a:rPr>
              <a:t>Fraunhofer</a:t>
            </a:r>
            <a:r>
              <a:rPr lang="en-US" sz="1200" kern="1200" dirty="0">
                <a:solidFill>
                  <a:schemeClr val="tx1"/>
                </a:solidFill>
                <a:latin typeface="+mn-lt"/>
                <a:ea typeface="+mn-ea"/>
                <a:cs typeface="+mn-cs"/>
              </a:rPr>
              <a:t> had discovered a relationship between matter and light. All that physicists needed to do was to work out the details of that relationship. And the obvious place to start that work was the simplest case of that relationship. </a:t>
            </a:r>
          </a:p>
          <a:p>
            <a:r>
              <a:rPr lang="en-US" b="1" dirty="0"/>
              <a:t>1860</a:t>
            </a:r>
            <a:r>
              <a:rPr lang="en-US" dirty="0"/>
              <a:t> - As a method of studying light emission without the complications of spectral lines, Kirchhoff suggests that researchers use a closed chamber which has been heated red-hot, then peek into the chamber through a very small hole. Since the atoms in the closed chamber must both emit and absorb their own spectral lines, the overall spectrum will be continuous. (That is, the spectral lines emitted by any type of atom will be resonantly absorbed by other atoms of the same type, canceling each other out. There will be no dark or bright lines). The interior of such a chamber comes to be known as a "black body". It is thought to be the perfect example of a simple system in which heat is transformed into electromagnetic waves (light) by classic physics. </a:t>
            </a:r>
          </a:p>
        </p:txBody>
      </p:sp>
      <p:sp>
        <p:nvSpPr>
          <p:cNvPr id="4" name="Slide Number Placeholder 3"/>
          <p:cNvSpPr>
            <a:spLocks noGrp="1"/>
          </p:cNvSpPr>
          <p:nvPr>
            <p:ph type="sldNum" sz="quarter" idx="10"/>
          </p:nvPr>
        </p:nvSpPr>
        <p:spPr/>
        <p:txBody>
          <a:bodyPr/>
          <a:lstStyle/>
          <a:p>
            <a:fld id="{C08A642B-1D08-47C1-9385-1FDD33F8CE06}" type="slidenum">
              <a:rPr lang="en-US" smtClean="0"/>
              <a:t>4</a:t>
            </a:fld>
            <a:endParaRPr lang="en-US"/>
          </a:p>
        </p:txBody>
      </p:sp>
    </p:spTree>
    <p:extLst>
      <p:ext uri="{BB962C8B-B14F-4D97-AF65-F5344CB8AC3E}">
        <p14:creationId xmlns:p14="http://schemas.microsoft.com/office/powerpoint/2010/main" val="3455302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这一讲，我们将讨论基尔霍夫定律的含义以及它的物理意义。</a:t>
                </a:r>
                <a:endParaRPr lang="en-US" altLang="zh-CN" dirty="0"/>
              </a:p>
              <a:p>
                <a:r>
                  <a:rPr lang="zh-CN" altLang="en-US" dirty="0"/>
                  <a:t>基尔霍夫定律到底说了什么？为理解他，我们先来搞清两个物理概念：单色辐出强度和单色吸收本领</a:t>
                </a:r>
                <a:endParaRPr lang="en-US" altLang="zh-CN" dirty="0"/>
              </a:p>
              <a:p>
                <a:pPr marL="0" marR="0" indent="0" algn="l" defTabSz="914377" rtl="0" eaLnBrk="1" fontAlgn="auto" latinLnBrk="0" hangingPunct="1">
                  <a:lnSpc>
                    <a:spcPct val="100000"/>
                  </a:lnSpc>
                  <a:spcBef>
                    <a:spcPts val="0"/>
                  </a:spcBef>
                  <a:spcAft>
                    <a:spcPts val="0"/>
                  </a:spcAft>
                  <a:buClrTx/>
                  <a:buSzTx/>
                  <a:buFontTx/>
                  <a:buNone/>
                  <a:tabLst/>
                  <a:defRPr/>
                </a:pPr>
                <a:r>
                  <a:rPr lang="zh-CN" altLang="en-US" dirty="0"/>
                  <a:t>首先：单色辐出强度。</a:t>
                </a:r>
                <a:r>
                  <a:rPr lang="en-US" altLang="zh-CN" dirty="0"/>
                  <a:t>Epsilon</a:t>
                </a:r>
                <a:r>
                  <a:rPr lang="zh-CN" altLang="en-US" dirty="0"/>
                  <a:t>，对应英文字母的</a:t>
                </a:r>
                <a:r>
                  <a:rPr lang="en-US" altLang="zh-CN" dirty="0"/>
                  <a:t>E</a:t>
                </a:r>
                <a:r>
                  <a:rPr lang="zh-CN" altLang="en-US" dirty="0"/>
                  <a:t>，</a:t>
                </a:r>
                <a:r>
                  <a:rPr lang="en-US" altLang="zh-CN" dirty="0"/>
                  <a:t>emission</a:t>
                </a:r>
                <a:r>
                  <a:rPr lang="zh-CN" altLang="en-US" dirty="0"/>
                  <a:t>。什么是单色辐出强度？我们先把单色去掉，辐出强度指的是，温度为</a:t>
                </a:r>
                <a:r>
                  <a:rPr lang="en-US" altLang="zh-CN" dirty="0"/>
                  <a:t>T</a:t>
                </a:r>
                <a:r>
                  <a:rPr lang="zh-CN" altLang="en-US" dirty="0"/>
                  <a:t>的物体，其表面在单位时间里，从单位面积上辐射出来的总能量。这个能量里可能包含了各种波长的辐射。因此为了描述辐出强度在不同波长上的分布，我们引入单色辐出强度来代表</a:t>
                </a:r>
                <a:r>
                  <a:rPr lang="zh-CN" altLang="en-US" sz="1200" dirty="0">
                    <a:solidFill>
                      <a:prstClr val="black"/>
                    </a:solidFill>
                    <a:latin typeface="Cambria Math"/>
                  </a:rPr>
                  <a:t>单位时间内，从单位面积上辐射出来的能量</a:t>
                </a:r>
                <a:r>
                  <a:rPr lang="zh-CN" altLang="en-US" dirty="0"/>
                  <a:t>在某个波长附近单位波长间隔里的分量。如果以波长为横坐标，单色辐出强度为纵坐标，我们就能用单色辐出强度画出这样一个辐出强度谱。这个辐出强度谱和什么有关的？这个辐出强度谱在不同的温度下线型是不一样的 （比如</a:t>
                </a:r>
                <a:r>
                  <a:rPr lang="en-US" altLang="zh-CN" dirty="0"/>
                  <a:t>T</a:t>
                </a:r>
                <a:r>
                  <a:rPr lang="zh-CN" altLang="en-US" dirty="0"/>
                  <a:t>和</a:t>
                </a:r>
                <a:r>
                  <a:rPr lang="en-US" altLang="zh-CN" dirty="0"/>
                  <a:t>T</a:t>
                </a:r>
                <a:r>
                  <a:rPr lang="zh-CN" altLang="en-US" dirty="0"/>
                  <a:t>’），对于不同的材料也会不一样（比如</a:t>
                </a:r>
                <a14:m>
                  <m:oMath xmlns:m="http://schemas.openxmlformats.org/officeDocument/2006/math">
                    <m:sSub>
                      <m:sSubPr>
                        <m:ctrlPr>
                          <a:rPr lang="en-US" altLang="zh-CN" sz="1200" i="1" smtClean="0">
                            <a:solidFill>
                              <a:srgbClr val="0070C0"/>
                            </a:solidFill>
                            <a:latin typeface="Cambria Math" panose="02040503050406030204" pitchFamily="18" charset="0"/>
                          </a:rPr>
                        </m:ctrlPr>
                      </m:sSubPr>
                      <m:e>
                        <m:r>
                          <a:rPr lang="en-US" altLang="zh-CN" sz="1200" i="1">
                            <a:solidFill>
                              <a:srgbClr val="0070C0"/>
                            </a:solidFill>
                            <a:latin typeface="Cambria Math" panose="02040503050406030204" pitchFamily="18" charset="0"/>
                          </a:rPr>
                          <m:t>𝜖</m:t>
                        </m:r>
                      </m:e>
                      <m:sub>
                        <m:r>
                          <a:rPr lang="en-US" altLang="zh-CN" sz="1200" b="0" i="1" smtClean="0">
                            <a:solidFill>
                              <a:srgbClr val="0070C0"/>
                            </a:solidFill>
                            <a:latin typeface="Cambria Math" panose="02040503050406030204" pitchFamily="18" charset="0"/>
                          </a:rPr>
                          <m:t>1</m:t>
                        </m:r>
                      </m:sub>
                    </m:sSub>
                    <m:r>
                      <a:rPr lang="zh-CN" altLang="en-US" sz="1200" b="0" i="1" smtClean="0">
                        <a:solidFill>
                          <a:srgbClr val="0070C0"/>
                        </a:solidFill>
                        <a:latin typeface="Cambria Math" panose="02040503050406030204" pitchFamily="18" charset="0"/>
                      </a:rPr>
                      <m:t>和</m:t>
                    </m:r>
                    <m:sSub>
                      <m:sSubPr>
                        <m:ctrlPr>
                          <a:rPr lang="en-US" altLang="zh-CN" sz="1200" i="1" smtClean="0">
                            <a:solidFill>
                              <a:srgbClr val="0070C0"/>
                            </a:solidFill>
                            <a:latin typeface="Cambria Math" panose="02040503050406030204" pitchFamily="18" charset="0"/>
                          </a:rPr>
                        </m:ctrlPr>
                      </m:sSubPr>
                      <m:e>
                        <m:r>
                          <a:rPr lang="en-US" altLang="zh-CN" sz="1200" i="1">
                            <a:solidFill>
                              <a:srgbClr val="0070C0"/>
                            </a:solidFill>
                            <a:latin typeface="Cambria Math" panose="02040503050406030204" pitchFamily="18" charset="0"/>
                          </a:rPr>
                          <m:t>𝜖</m:t>
                        </m:r>
                      </m:e>
                      <m:sub>
                        <m:r>
                          <a:rPr lang="en-US" altLang="zh-CN" sz="1200" b="0" i="1" smtClean="0">
                            <a:solidFill>
                              <a:srgbClr val="0070C0"/>
                            </a:solidFill>
                            <a:latin typeface="Cambria Math" panose="02040503050406030204" pitchFamily="18" charset="0"/>
                          </a:rPr>
                          <m:t>2</m:t>
                        </m:r>
                      </m:sub>
                    </m:sSub>
                  </m:oMath>
                </a14:m>
                <a:r>
                  <a:rPr lang="zh-CN" altLang="en-US" dirty="0"/>
                  <a:t>）。如果我们把单色辐出强度对于所有波长做积分，也就是求它的下拉面积，得到的就是辐出强度。这就是单色辐出强度和辐出强度的关系。</a:t>
                </a:r>
                <a:endParaRPr lang="en-US" altLang="zh-CN" dirty="0"/>
              </a:p>
              <a:p>
                <a:r>
                  <a:rPr lang="en-US" altLang="zh-CN" dirty="0"/>
                  <a:t>	</a:t>
                </a:r>
              </a:p>
              <a:p>
                <a:r>
                  <a:rPr lang="zh-CN" altLang="en-US" dirty="0"/>
                  <a:t>第二个概念：单色吸收本领，</a:t>
                </a:r>
                <a:r>
                  <a:rPr lang="en-US" altLang="zh-CN" dirty="0"/>
                  <a:t>alpha</a:t>
                </a:r>
                <a:r>
                  <a:rPr lang="zh-CN" altLang="en-US" dirty="0"/>
                  <a:t>，对应英文字母的</a:t>
                </a:r>
                <a:r>
                  <a:rPr lang="en-US" altLang="zh-CN" dirty="0"/>
                  <a:t>A</a:t>
                </a:r>
                <a:r>
                  <a:rPr lang="zh-CN" altLang="en-US" dirty="0"/>
                  <a:t>，代表</a:t>
                </a:r>
                <a:r>
                  <a:rPr lang="en-US" altLang="zh-CN" dirty="0"/>
                  <a:t>absorption</a:t>
                </a:r>
                <a:r>
                  <a:rPr lang="zh-CN" altLang="en-US" dirty="0"/>
                  <a:t>。</a:t>
                </a:r>
                <a:endParaRPr lang="en-US" altLang="zh-CN" dirty="0"/>
              </a:p>
              <a:p>
                <a:r>
                  <a:rPr lang="zh-CN" altLang="en-US" dirty="0"/>
                  <a:t>假设表面有个面元，被某个波长的单色光所照射，这个面元会吸收一部分能量，其余的则反射。单色吸收本领就是被这个面元吸收掉的某种波长的能量除以入射光里这种波长的总能量。因此它是一个一个没有量纲的数，的取值范围总在</a:t>
                </a:r>
                <a:r>
                  <a:rPr lang="en-US" altLang="zh-CN" dirty="0"/>
                  <a:t>0-1</a:t>
                </a:r>
                <a:r>
                  <a:rPr lang="zh-CN" altLang="en-US" dirty="0"/>
                  <a:t>之间。对于给定材料的物体，单色吸收本领是入射光波长以及物体温度的函数。同样，我们也可以用某个物体的单色吸收本领画出吸收本领谱。不同温度下这个谱也会有不同的形状（比如</a:t>
                </a:r>
                <a:r>
                  <a:rPr lang="en-US" altLang="zh-CN" dirty="0"/>
                  <a:t>T</a:t>
                </a:r>
                <a:r>
                  <a:rPr lang="zh-CN" altLang="en-US" dirty="0"/>
                  <a:t>和</a:t>
                </a:r>
                <a:r>
                  <a:rPr lang="en-US" altLang="zh-CN" dirty="0"/>
                  <a:t>T</a:t>
                </a:r>
                <a:r>
                  <a:rPr lang="zh-CN" altLang="en-US" dirty="0"/>
                  <a:t>’）。对于不同材料，这个谱形状也不会一样（比如</a:t>
                </a:r>
                <a14:m>
                  <m:oMath xmlns:m="http://schemas.openxmlformats.org/officeDocument/2006/math">
                    <m:sSub>
                      <m:sSubPr>
                        <m:ctrlPr>
                          <a:rPr lang="en-US" altLang="zh-CN" sz="1200" i="1" smtClean="0">
                            <a:solidFill>
                              <a:srgbClr val="0070C0"/>
                            </a:solidFill>
                            <a:latin typeface="Cambria Math" panose="02040503050406030204" pitchFamily="18" charset="0"/>
                          </a:rPr>
                        </m:ctrlPr>
                      </m:sSubPr>
                      <m:e>
                        <m:r>
                          <a:rPr lang="en-US" altLang="zh-CN" sz="1200" b="0" i="1" smtClean="0">
                            <a:solidFill>
                              <a:srgbClr val="0070C0"/>
                            </a:solidFill>
                            <a:latin typeface="Cambria Math" panose="02040503050406030204" pitchFamily="18" charset="0"/>
                          </a:rPr>
                          <m:t>𝛼</m:t>
                        </m:r>
                      </m:e>
                      <m:sub>
                        <m:r>
                          <a:rPr lang="en-US" altLang="zh-CN" sz="1200" b="0" i="1" smtClean="0">
                            <a:solidFill>
                              <a:srgbClr val="0070C0"/>
                            </a:solidFill>
                            <a:latin typeface="Cambria Math" panose="02040503050406030204" pitchFamily="18" charset="0"/>
                          </a:rPr>
                          <m:t>1</m:t>
                        </m:r>
                      </m:sub>
                    </m:sSub>
                    <m:r>
                      <a:rPr lang="zh-CN" altLang="en-US" sz="1200" b="0" i="1" smtClean="0">
                        <a:solidFill>
                          <a:srgbClr val="0070C0"/>
                        </a:solidFill>
                        <a:latin typeface="Cambria Math" panose="02040503050406030204" pitchFamily="18" charset="0"/>
                      </a:rPr>
                      <m:t>和</m:t>
                    </m:r>
                    <m:sSub>
                      <m:sSubPr>
                        <m:ctrlPr>
                          <a:rPr lang="en-US" altLang="zh-CN" sz="1200" i="1" smtClean="0">
                            <a:solidFill>
                              <a:srgbClr val="0070C0"/>
                            </a:solidFill>
                            <a:latin typeface="Cambria Math" panose="02040503050406030204" pitchFamily="18" charset="0"/>
                          </a:rPr>
                        </m:ctrlPr>
                      </m:sSubPr>
                      <m:e>
                        <m:r>
                          <a:rPr lang="en-US" altLang="zh-CN" sz="1200" b="0" i="1" smtClean="0">
                            <a:solidFill>
                              <a:srgbClr val="0070C0"/>
                            </a:solidFill>
                            <a:latin typeface="Cambria Math" panose="02040503050406030204" pitchFamily="18" charset="0"/>
                          </a:rPr>
                          <m:t>𝛼</m:t>
                        </m:r>
                      </m:e>
                      <m:sub>
                        <m:r>
                          <a:rPr lang="en-US" altLang="zh-CN" sz="1200" b="0" i="1" smtClean="0">
                            <a:solidFill>
                              <a:srgbClr val="0070C0"/>
                            </a:solidFill>
                            <a:latin typeface="Cambria Math" panose="02040503050406030204" pitchFamily="18" charset="0"/>
                          </a:rPr>
                          <m:t>2</m:t>
                        </m:r>
                      </m:sub>
                    </m:sSub>
                  </m:oMath>
                </a14:m>
                <a:r>
                  <a:rPr lang="zh-CN" altLang="en-US" dirty="0"/>
                  <a:t>）。</a:t>
                </a:r>
                <a:endParaRPr lang="en-US" altLang="zh-CN" dirty="0"/>
              </a:p>
              <a:p>
                <a:endParaRPr lang="en-US" altLang="zh-CN" dirty="0"/>
              </a:p>
              <a:p>
                <a:r>
                  <a:rPr lang="zh-CN" altLang="en-US" dirty="0"/>
                  <a:t>在搞清楚了以上这两个概念之后呢，我们来看基尔霍夫定律说了什么</a:t>
                </a:r>
                <a:endParaRPr lang="en-US" altLang="zh-CN" dirty="0"/>
              </a:p>
              <a:p>
                <a:pPr marL="0" marR="0" indent="0" algn="l" defTabSz="914377" rtl="0" eaLnBrk="1" fontAlgn="auto" latinLnBrk="0" hangingPunct="1">
                  <a:lnSpc>
                    <a:spcPct val="100000"/>
                  </a:lnSpc>
                  <a:spcBef>
                    <a:spcPts val="0"/>
                  </a:spcBef>
                  <a:spcAft>
                    <a:spcPts val="0"/>
                  </a:spcAft>
                  <a:buClrTx/>
                  <a:buSzTx/>
                  <a:buFontTx/>
                  <a:buNone/>
                  <a:tabLst/>
                  <a:defRPr/>
                </a:pPr>
                <a:r>
                  <a:rPr lang="zh-CN" altLang="en-US" dirty="0"/>
                  <a:t>那么基尔霍夫提出并用热力学证明了，</a:t>
                </a:r>
                <a:r>
                  <a:rPr lang="zh-CN" altLang="en-US" dirty="0">
                    <a:ea typeface="黑体" panose="02010609060101010101" pitchFamily="49" charset="-122"/>
                  </a:rPr>
                  <a:t>在相同温度</a:t>
                </a:r>
                <a14:m>
                  <m:oMath xmlns:m="http://schemas.openxmlformats.org/officeDocument/2006/math">
                    <m:r>
                      <a:rPr lang="en-US" altLang="zh-CN" i="1">
                        <a:latin typeface="Cambria Math" panose="02040503050406030204" pitchFamily="18" charset="0"/>
                        <a:ea typeface="黑体" panose="02010609060101010101" pitchFamily="49" charset="-122"/>
                      </a:rPr>
                      <m:t>𝑇</m:t>
                    </m:r>
                  </m:oMath>
                </a14:m>
                <a:r>
                  <a:rPr lang="zh-CN" altLang="en-US" dirty="0">
                    <a:ea typeface="黑体" panose="02010609060101010101" pitchFamily="49" charset="-122"/>
                  </a:rPr>
                  <a:t>下，物体的</a:t>
                </a:r>
                <a:r>
                  <a:rPr lang="zh-CN" altLang="en-US" dirty="0">
                    <a:solidFill>
                      <a:srgbClr val="0070C0"/>
                    </a:solidFill>
                    <a:ea typeface="黑体" panose="02010609060101010101" pitchFamily="49" charset="-122"/>
                  </a:rPr>
                  <a:t>单色辐出强度</a:t>
                </a:r>
                <a14:m>
                  <m:oMath xmlns:m="http://schemas.openxmlformats.org/officeDocument/2006/math">
                    <m:r>
                      <a:rPr lang="en-US" altLang="zh-CN" i="1">
                        <a:solidFill>
                          <a:srgbClr val="0070C0"/>
                        </a:solidFill>
                        <a:latin typeface="Cambria Math" panose="02040503050406030204" pitchFamily="18" charset="0"/>
                        <a:ea typeface="黑体" panose="02010609060101010101" pitchFamily="49" charset="-122"/>
                      </a:rPr>
                      <m:t>𝜖</m:t>
                    </m:r>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𝜆</m:t>
                    </m:r>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𝑇</m:t>
                    </m:r>
                    <m:r>
                      <a:rPr lang="en-US" altLang="zh-CN" i="1">
                        <a:solidFill>
                          <a:srgbClr val="0070C0"/>
                        </a:solidFill>
                        <a:latin typeface="Cambria Math" panose="02040503050406030204" pitchFamily="18" charset="0"/>
                        <a:ea typeface="黑体" panose="02010609060101010101" pitchFamily="49" charset="-122"/>
                      </a:rPr>
                      <m:t>)</m:t>
                    </m:r>
                  </m:oMath>
                </a14:m>
                <a:r>
                  <a:rPr lang="zh-CN" altLang="en-US" dirty="0">
                    <a:ea typeface="黑体" panose="02010609060101010101" pitchFamily="49" charset="-122"/>
                  </a:rPr>
                  <a:t>和</a:t>
                </a:r>
                <a:r>
                  <a:rPr lang="zh-CN" altLang="en-US" dirty="0">
                    <a:solidFill>
                      <a:srgbClr val="0070C0"/>
                    </a:solidFill>
                    <a:ea typeface="黑体" panose="02010609060101010101" pitchFamily="49" charset="-122"/>
                  </a:rPr>
                  <a:t>单色吸收本领</a:t>
                </a:r>
                <a14:m>
                  <m:oMath xmlns:m="http://schemas.openxmlformats.org/officeDocument/2006/math">
                    <m:r>
                      <a:rPr lang="en-US" altLang="zh-CN" i="1">
                        <a:solidFill>
                          <a:srgbClr val="0070C0"/>
                        </a:solidFill>
                        <a:latin typeface="Cambria Math" panose="02040503050406030204" pitchFamily="18" charset="0"/>
                        <a:ea typeface="黑体" panose="02010609060101010101" pitchFamily="49" charset="-122"/>
                      </a:rPr>
                      <m:t>𝛼</m:t>
                    </m:r>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𝜆</m:t>
                    </m:r>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𝑇</m:t>
                    </m:r>
                    <m:r>
                      <a:rPr lang="en-US" altLang="zh-CN" i="1">
                        <a:solidFill>
                          <a:srgbClr val="0070C0"/>
                        </a:solidFill>
                        <a:latin typeface="Cambria Math" panose="02040503050406030204" pitchFamily="18" charset="0"/>
                        <a:ea typeface="黑体" panose="02010609060101010101" pitchFamily="49" charset="-122"/>
                      </a:rPr>
                      <m:t>)</m:t>
                    </m:r>
                  </m:oMath>
                </a14:m>
                <a:r>
                  <a:rPr lang="zh-CN" altLang="en-US" dirty="0">
                    <a:ea typeface="黑体" panose="02010609060101010101" pitchFamily="49" charset="-122"/>
                  </a:rPr>
                  <a:t>的比值是一个只与波长和温度有关的</a:t>
                </a:r>
                <a:r>
                  <a:rPr lang="zh-CN" altLang="en-US" dirty="0">
                    <a:solidFill>
                      <a:srgbClr val="0070C0"/>
                    </a:solidFill>
                    <a:ea typeface="黑体" panose="02010609060101010101" pitchFamily="49" charset="-122"/>
                  </a:rPr>
                  <a:t>普适函数</a:t>
                </a:r>
                <a14:m>
                  <m:oMath xmlns:m="http://schemas.openxmlformats.org/officeDocument/2006/math">
                    <m:sSub>
                      <m:sSubPr>
                        <m:ctrlPr>
                          <a:rPr lang="en-US" altLang="zh-CN" i="1">
                            <a:solidFill>
                              <a:srgbClr val="0070C0"/>
                            </a:solidFill>
                            <a:latin typeface="Cambria Math" panose="02040503050406030204" pitchFamily="18" charset="0"/>
                            <a:ea typeface="黑体" panose="02010609060101010101" pitchFamily="49" charset="-122"/>
                          </a:rPr>
                        </m:ctrlPr>
                      </m:sSubPr>
                      <m:e>
                        <m:r>
                          <a:rPr lang="en-US" altLang="zh-CN" i="1">
                            <a:solidFill>
                              <a:srgbClr val="0070C0"/>
                            </a:solidFill>
                            <a:latin typeface="Cambria Math" panose="02040503050406030204" pitchFamily="18" charset="0"/>
                            <a:ea typeface="黑体" panose="02010609060101010101" pitchFamily="49" charset="-122"/>
                          </a:rPr>
                          <m:t>𝜖</m:t>
                        </m:r>
                      </m:e>
                      <m:sub>
                        <m:r>
                          <a:rPr lang="en-US" altLang="zh-CN" i="1">
                            <a:solidFill>
                              <a:srgbClr val="0070C0"/>
                            </a:solidFill>
                            <a:latin typeface="Cambria Math" panose="02040503050406030204" pitchFamily="18" charset="0"/>
                            <a:ea typeface="黑体" panose="02010609060101010101" pitchFamily="49" charset="-122"/>
                          </a:rPr>
                          <m:t>0</m:t>
                        </m:r>
                      </m:sub>
                    </m:sSub>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𝜆</m:t>
                    </m:r>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𝑇</m:t>
                    </m:r>
                    <m:r>
                      <a:rPr lang="en-US" altLang="zh-CN" i="1">
                        <a:solidFill>
                          <a:srgbClr val="0070C0"/>
                        </a:solidFill>
                        <a:latin typeface="Cambria Math" panose="02040503050406030204" pitchFamily="18" charset="0"/>
                        <a:ea typeface="黑体" panose="02010609060101010101" pitchFamily="49" charset="-122"/>
                      </a:rPr>
                      <m:t>)</m:t>
                    </m:r>
                  </m:oMath>
                </a14:m>
                <a:r>
                  <a:rPr lang="zh-CN" altLang="en-US" dirty="0">
                    <a:ea typeface="黑体" panose="02010609060101010101" pitchFamily="49" charset="-122"/>
                  </a:rPr>
                  <a:t>，与其形状和材料无关。也就是说虽然材料</a:t>
                </a:r>
                <a:r>
                  <a:rPr lang="en-US" altLang="zh-CN" dirty="0">
                    <a:ea typeface="黑体" panose="02010609060101010101" pitchFamily="49" charset="-122"/>
                  </a:rPr>
                  <a:t>A1</a:t>
                </a:r>
                <a:r>
                  <a:rPr lang="zh-CN" altLang="en-US" dirty="0">
                    <a:ea typeface="黑体" panose="02010609060101010101" pitchFamily="49" charset="-122"/>
                  </a:rPr>
                  <a:t>材料</a:t>
                </a:r>
                <a:r>
                  <a:rPr lang="en-US" altLang="zh-CN" dirty="0">
                    <a:ea typeface="黑体" panose="02010609060101010101" pitchFamily="49" charset="-122"/>
                  </a:rPr>
                  <a:t>2</a:t>
                </a:r>
                <a:r>
                  <a:rPr lang="zh-CN" altLang="en-US" dirty="0">
                    <a:ea typeface="黑体" panose="02010609060101010101" pitchFamily="49" charset="-122"/>
                  </a:rPr>
                  <a:t>的辐出强度谱不一样，和吸收本领谱都不一样，但是这两个谱的比值是完全一样的。用普通的材料才来测量这个普适函数很难。但是基尔霍夫提出一个理想的物体</a:t>
                </a:r>
                <a:r>
                  <a:rPr lang="en-US" altLang="zh-CN" dirty="0">
                    <a:ea typeface="黑体" panose="02010609060101010101" pitchFamily="49" charset="-122"/>
                  </a:rPr>
                  <a:t>-</a:t>
                </a:r>
                <a:r>
                  <a:rPr lang="zh-CN" altLang="en-US" dirty="0">
                    <a:ea typeface="黑体" panose="02010609060101010101" pitchFamily="49" charset="-122"/>
                  </a:rPr>
                  <a:t>黑体，它的吸收本领对于任何波长都是</a:t>
                </a:r>
                <a:r>
                  <a:rPr lang="en-US" altLang="zh-CN" dirty="0">
                    <a:ea typeface="黑体" panose="02010609060101010101" pitchFamily="49" charset="-122"/>
                  </a:rPr>
                  <a:t>1</a:t>
                </a:r>
                <a:r>
                  <a:rPr lang="zh-CN" altLang="en-US" dirty="0">
                    <a:ea typeface="黑体" panose="02010609060101010101" pitchFamily="49" charset="-122"/>
                  </a:rPr>
                  <a:t>。因此，黑体的辐射强度谱就等于</a:t>
                </a:r>
                <a14:m>
                  <m:oMath xmlns:m="http://schemas.openxmlformats.org/officeDocument/2006/math">
                    <m:sSub>
                      <m:sSubPr>
                        <m:ctrlPr>
                          <a:rPr lang="en-US" altLang="zh-CN" i="1">
                            <a:solidFill>
                              <a:srgbClr val="0070C0"/>
                            </a:solidFill>
                            <a:latin typeface="Cambria Math" panose="02040503050406030204" pitchFamily="18" charset="0"/>
                            <a:ea typeface="黑体" panose="02010609060101010101" pitchFamily="49" charset="-122"/>
                          </a:rPr>
                        </m:ctrlPr>
                      </m:sSubPr>
                      <m:e>
                        <m:r>
                          <a:rPr lang="en-US" altLang="zh-CN" i="1">
                            <a:solidFill>
                              <a:srgbClr val="0070C0"/>
                            </a:solidFill>
                            <a:latin typeface="Cambria Math" panose="02040503050406030204" pitchFamily="18" charset="0"/>
                            <a:ea typeface="黑体" panose="02010609060101010101" pitchFamily="49" charset="-122"/>
                          </a:rPr>
                          <m:t>𝜖</m:t>
                        </m:r>
                      </m:e>
                      <m:sub>
                        <m:r>
                          <a:rPr lang="en-US" altLang="zh-CN" i="1">
                            <a:solidFill>
                              <a:srgbClr val="0070C0"/>
                            </a:solidFill>
                            <a:latin typeface="Cambria Math" panose="02040503050406030204" pitchFamily="18" charset="0"/>
                            <a:ea typeface="黑体" panose="02010609060101010101" pitchFamily="49" charset="-122"/>
                          </a:rPr>
                          <m:t>0</m:t>
                        </m:r>
                      </m:sub>
                    </m:sSub>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𝜆</m:t>
                    </m:r>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𝑇</m:t>
                    </m:r>
                    <m:r>
                      <a:rPr lang="en-US" altLang="zh-CN" i="1">
                        <a:solidFill>
                          <a:srgbClr val="0070C0"/>
                        </a:solidFill>
                        <a:latin typeface="Cambria Math" panose="02040503050406030204" pitchFamily="18" charset="0"/>
                        <a:ea typeface="黑体" panose="02010609060101010101" pitchFamily="49" charset="-122"/>
                      </a:rPr>
                      <m:t>) </m:t>
                    </m:r>
                  </m:oMath>
                </a14:m>
                <a:r>
                  <a:rPr lang="zh-CN" altLang="en-US" dirty="0"/>
                  <a:t>。于是问题就变得简单了，如果我们可以实现这样一种黑体，你不用测量吸收本领了，你只要测量黑体辐射就可以得到这个普适的函数。那么问题是有这样的黑体吗？ 煤灰怎么样，还不够好。</a:t>
                </a:r>
                <a:endParaRPr lang="en-US" altLang="zh-CN" dirty="0"/>
              </a:p>
              <a:p>
                <a:endParaRPr lang="en-US" altLang="zh-CN" dirty="0"/>
              </a:p>
              <a:p>
                <a:endParaRPr lang="en-US" altLang="zh-CN" dirty="0"/>
              </a:p>
              <a:p>
                <a:endParaRPr lang="en-US" dirty="0"/>
              </a:p>
            </p:txBody>
          </p:sp>
        </mc:Choice>
        <mc:Fallback xmlns="">
          <p:sp>
            <p:nvSpPr>
              <p:cNvPr id="3" name="Notes Placeholder 2"/>
              <p:cNvSpPr>
                <a:spLocks noGrp="1"/>
              </p:cNvSpPr>
              <p:nvPr>
                <p:ph type="body" idx="1"/>
              </p:nvPr>
            </p:nvSpPr>
            <p:spPr/>
            <p:txBody>
              <a:bodyPr/>
              <a:lstStyle/>
              <a:p>
                <a:r>
                  <a:rPr lang="zh-CN" altLang="en-US" dirty="0"/>
                  <a:t>基尔霍夫定律到底说了什么？为理解他，我们先来澄清两个物理概念：单色辐出强度和单色吸收本领</a:t>
                </a:r>
                <a:endParaRPr lang="en-US" altLang="zh-CN" dirty="0"/>
              </a:p>
              <a:p>
                <a:pPr marL="0" marR="0" indent="0" algn="l" defTabSz="914377" rtl="0" eaLnBrk="1" fontAlgn="auto" latinLnBrk="0" hangingPunct="1">
                  <a:lnSpc>
                    <a:spcPct val="100000"/>
                  </a:lnSpc>
                  <a:spcBef>
                    <a:spcPts val="0"/>
                  </a:spcBef>
                  <a:spcAft>
                    <a:spcPts val="0"/>
                  </a:spcAft>
                  <a:buClrTx/>
                  <a:buSzTx/>
                  <a:buFontTx/>
                  <a:buNone/>
                  <a:tabLst/>
                  <a:defRPr/>
                </a:pPr>
                <a:r>
                  <a:rPr lang="zh-CN" altLang="en-US" dirty="0"/>
                  <a:t>首先：什么是单色辐出强度？我们先把单色去掉，辐出强度指的是一个温度为</a:t>
                </a:r>
                <a:r>
                  <a:rPr lang="en-US" altLang="zh-CN" dirty="0"/>
                  <a:t>T</a:t>
                </a:r>
                <a:r>
                  <a:rPr lang="zh-CN" altLang="en-US" dirty="0"/>
                  <a:t>的物体，其表面在单位时间里，从单位面积上辐射出来的能量。这个能量里可能包含了各种波长的辐射。因此为了描述辐出强度在不同波长上的分布，我们引入单色辐出强度来表示以上辐射强度在某个波长位置单位波长间隔里的分量。如果以波长为横坐标，单色辐射强度为纵坐标，我们就能够画出这样一个辐出强度谱。我们经常会看到</a:t>
                </a:r>
                <a:r>
                  <a:rPr lang="en-US" altLang="zh-CN" dirty="0"/>
                  <a:t>XX</a:t>
                </a:r>
                <a:r>
                  <a:rPr lang="zh-CN" altLang="en-US" dirty="0"/>
                  <a:t>谱</a:t>
                </a:r>
                <a:r>
                  <a:rPr lang="en-US" altLang="zh-CN" dirty="0"/>
                  <a:t>XX</a:t>
                </a:r>
                <a:r>
                  <a:rPr lang="zh-CN" altLang="en-US" dirty="0"/>
                  <a:t>谱，所谓谱指的就是</a:t>
                </a:r>
                <a:r>
                  <a:rPr lang="en-US" altLang="zh-CN" dirty="0"/>
                  <a:t>XX</a:t>
                </a:r>
                <a:r>
                  <a:rPr lang="zh-CN" altLang="en-US" dirty="0"/>
                  <a:t>这个量关于波长或频率的分布。这个辐出强度谱在不同的温度下形状会不一样，对于不同的材料形状也会不一样。如果我们把辐出强度谱对于所有波长做积分，也就是求这个函数的下拉面积，得到的就是辐射强度。这就是单色辐出强度和辐出强度的关系。</a:t>
                </a:r>
                <a:endParaRPr lang="en-US" altLang="zh-CN" dirty="0"/>
              </a:p>
              <a:p>
                <a:endParaRPr lang="en-US" altLang="zh-CN" dirty="0"/>
              </a:p>
              <a:p>
                <a:r>
                  <a:rPr lang="zh-CN" altLang="en-US" dirty="0"/>
                  <a:t>第二个概念：单色吸收本领</a:t>
                </a:r>
                <a:endParaRPr lang="en-US" altLang="zh-CN" dirty="0"/>
              </a:p>
              <a:p>
                <a:r>
                  <a:rPr lang="zh-CN" altLang="en-US" dirty="0"/>
                  <a:t>这是一个没有量纲的数，它代表一个比值。这个比值的分母是外界的一个波长为</a:t>
                </a:r>
                <a:r>
                  <a:rPr lang="en-US" altLang="zh-CN" dirty="0"/>
                  <a:t>lambda</a:t>
                </a:r>
                <a:r>
                  <a:rPr lang="zh-CN" altLang="en-US" dirty="0"/>
                  <a:t>的单色光在单位时间内射到这个温度为</a:t>
                </a:r>
                <a:r>
                  <a:rPr lang="en-US" altLang="zh-CN" dirty="0"/>
                  <a:t>T</a:t>
                </a:r>
                <a:r>
                  <a:rPr lang="zh-CN" altLang="en-US" dirty="0"/>
                  <a:t>的物体表面某个面元上的能量。而分子代表被这个面元吸收掉的能量。因此单色吸收本领的取值范围在</a:t>
                </a:r>
                <a:r>
                  <a:rPr lang="en-US" altLang="zh-CN" dirty="0"/>
                  <a:t>0-1</a:t>
                </a:r>
                <a:r>
                  <a:rPr lang="zh-CN" altLang="en-US" dirty="0"/>
                  <a:t>之间。它和入射光的波长以及物体的温度有关。同样，我们也可以用单色吸收本领画出吸收本领谱。不同温度下这个谱也会有不同的形状。对于不同材料形状也不会一样。除去被吸收的能量后，剩下的能量哪里去了？当然只有被反射了。</a:t>
                </a:r>
                <a:endParaRPr lang="en-US" altLang="zh-CN" dirty="0"/>
              </a:p>
              <a:p>
                <a:endParaRPr lang="en-US" altLang="zh-CN" dirty="0"/>
              </a:p>
              <a:p>
                <a:r>
                  <a:rPr lang="zh-CN" altLang="en-US" dirty="0"/>
                  <a:t>根据以上这两个概念，我们来看基尔霍夫定律说了什么</a:t>
                </a:r>
                <a:endParaRPr lang="en-US" altLang="zh-CN" dirty="0"/>
              </a:p>
              <a:p>
                <a:pPr marL="0" marR="0" indent="0" algn="l" defTabSz="914377" rtl="0" eaLnBrk="1" fontAlgn="auto" latinLnBrk="0" hangingPunct="1">
                  <a:lnSpc>
                    <a:spcPct val="100000"/>
                  </a:lnSpc>
                  <a:spcBef>
                    <a:spcPts val="0"/>
                  </a:spcBef>
                  <a:spcAft>
                    <a:spcPts val="0"/>
                  </a:spcAft>
                  <a:buClrTx/>
                  <a:buSzTx/>
                  <a:buFontTx/>
                  <a:buNone/>
                  <a:tabLst/>
                  <a:defRPr/>
                </a:pPr>
                <a:r>
                  <a:rPr lang="zh-CN" altLang="en-US" dirty="0"/>
                  <a:t>那么基尔霍夫利用热力学证明了，</a:t>
                </a:r>
                <a:r>
                  <a:rPr lang="zh-CN" altLang="en-US" dirty="0">
                    <a:ea typeface="黑体" panose="02010609060101010101" pitchFamily="49" charset="-122"/>
                  </a:rPr>
                  <a:t>在相同温度</a:t>
                </a:r>
                <a:r>
                  <a:rPr lang="en-US" altLang="zh-CN" i="0">
                    <a:latin typeface="Cambria Math" panose="02040503050406030204" pitchFamily="18" charset="0"/>
                    <a:ea typeface="黑体" panose="02010609060101010101" pitchFamily="49" charset="-122"/>
                  </a:rPr>
                  <a:t>𝑇</a:t>
                </a:r>
                <a:r>
                  <a:rPr lang="zh-CN" altLang="en-US" dirty="0">
                    <a:ea typeface="黑体" panose="02010609060101010101" pitchFamily="49" charset="-122"/>
                  </a:rPr>
                  <a:t>下，物体的</a:t>
                </a:r>
                <a:r>
                  <a:rPr lang="zh-CN" altLang="en-US" dirty="0">
                    <a:solidFill>
                      <a:srgbClr val="0070C0"/>
                    </a:solidFill>
                    <a:ea typeface="黑体" panose="02010609060101010101" pitchFamily="49" charset="-122"/>
                  </a:rPr>
                  <a:t>单色辐出强度</a:t>
                </a:r>
                <a:r>
                  <a:rPr lang="en-US" altLang="zh-CN" i="0">
                    <a:solidFill>
                      <a:srgbClr val="0070C0"/>
                    </a:solidFill>
                    <a:latin typeface="Cambria Math" panose="02040503050406030204" pitchFamily="18" charset="0"/>
                    <a:ea typeface="黑体" panose="02010609060101010101" pitchFamily="49" charset="-122"/>
                  </a:rPr>
                  <a:t>𝜖(𝜆,𝑇)</a:t>
                </a:r>
                <a:r>
                  <a:rPr lang="zh-CN" altLang="en-US" dirty="0">
                    <a:ea typeface="黑体" panose="02010609060101010101" pitchFamily="49" charset="-122"/>
                  </a:rPr>
                  <a:t>和</a:t>
                </a:r>
                <a:r>
                  <a:rPr lang="zh-CN" altLang="en-US" dirty="0">
                    <a:solidFill>
                      <a:srgbClr val="0070C0"/>
                    </a:solidFill>
                    <a:ea typeface="黑体" panose="02010609060101010101" pitchFamily="49" charset="-122"/>
                  </a:rPr>
                  <a:t>单色吸收本领</a:t>
                </a:r>
                <a:r>
                  <a:rPr lang="en-US" altLang="zh-CN" i="0">
                    <a:solidFill>
                      <a:srgbClr val="0070C0"/>
                    </a:solidFill>
                    <a:latin typeface="Cambria Math" panose="02040503050406030204" pitchFamily="18" charset="0"/>
                    <a:ea typeface="黑体" panose="02010609060101010101" pitchFamily="49" charset="-122"/>
                  </a:rPr>
                  <a:t>𝛼(𝜆,𝑇)</a:t>
                </a:r>
                <a:r>
                  <a:rPr lang="zh-CN" altLang="en-US" dirty="0">
                    <a:ea typeface="黑体" panose="02010609060101010101" pitchFamily="49" charset="-122"/>
                  </a:rPr>
                  <a:t>的比值是一个只与波长和温度有关的</a:t>
                </a:r>
                <a:r>
                  <a:rPr lang="zh-CN" altLang="en-US" dirty="0">
                    <a:solidFill>
                      <a:srgbClr val="0070C0"/>
                    </a:solidFill>
                    <a:ea typeface="黑体" panose="02010609060101010101" pitchFamily="49" charset="-122"/>
                  </a:rPr>
                  <a:t>普适函数</a:t>
                </a:r>
                <a:r>
                  <a:rPr lang="en-US" altLang="zh-CN" i="0">
                    <a:solidFill>
                      <a:srgbClr val="0070C0"/>
                    </a:solidFill>
                    <a:latin typeface="Cambria Math" panose="02040503050406030204" pitchFamily="18" charset="0"/>
                    <a:ea typeface="黑体" panose="02010609060101010101" pitchFamily="49" charset="-122"/>
                  </a:rPr>
                  <a:t>𝜖_0 (𝜆,𝑇)</a:t>
                </a:r>
                <a:r>
                  <a:rPr lang="zh-CN" altLang="en-US" dirty="0">
                    <a:ea typeface="黑体" panose="02010609060101010101" pitchFamily="49" charset="-122"/>
                  </a:rPr>
                  <a:t>，与其形状和材料无关。也就是说虽然材料</a:t>
                </a:r>
                <a:r>
                  <a:rPr lang="en-US" altLang="zh-CN" dirty="0">
                    <a:ea typeface="黑体" panose="02010609060101010101" pitchFamily="49" charset="-122"/>
                  </a:rPr>
                  <a:t>A</a:t>
                </a:r>
                <a:r>
                  <a:rPr lang="zh-CN" altLang="en-US" dirty="0">
                    <a:ea typeface="黑体" panose="02010609060101010101" pitchFamily="49" charset="-122"/>
                  </a:rPr>
                  <a:t>和材料</a:t>
                </a:r>
                <a:r>
                  <a:rPr lang="en-US" altLang="zh-CN" dirty="0">
                    <a:ea typeface="黑体" panose="02010609060101010101" pitchFamily="49" charset="-122"/>
                  </a:rPr>
                  <a:t>B</a:t>
                </a:r>
                <a:r>
                  <a:rPr lang="zh-CN" altLang="en-US" dirty="0">
                    <a:ea typeface="黑体" panose="02010609060101010101" pitchFamily="49" charset="-122"/>
                  </a:rPr>
                  <a:t>的辐出强度谱不一样，和吸收本领谱都不一样，但是这两个谱的比值是完全一样的。用普通的材料才来测量这个普适函数很难。但是基尔霍夫提出一个理想的物体</a:t>
                </a:r>
                <a:r>
                  <a:rPr lang="en-US" altLang="zh-CN" dirty="0">
                    <a:ea typeface="黑体" panose="02010609060101010101" pitchFamily="49" charset="-122"/>
                  </a:rPr>
                  <a:t>-</a:t>
                </a:r>
                <a:r>
                  <a:rPr lang="zh-CN" altLang="en-US" dirty="0">
                    <a:ea typeface="黑体" panose="02010609060101010101" pitchFamily="49" charset="-122"/>
                  </a:rPr>
                  <a:t>黑体，它的吸收本领对于任何波长都是</a:t>
                </a:r>
                <a:r>
                  <a:rPr lang="en-US" altLang="zh-CN" dirty="0">
                    <a:ea typeface="黑体" panose="02010609060101010101" pitchFamily="49" charset="-122"/>
                  </a:rPr>
                  <a:t>1</a:t>
                </a:r>
                <a:r>
                  <a:rPr lang="zh-CN" altLang="en-US" dirty="0">
                    <a:ea typeface="黑体" panose="02010609060101010101" pitchFamily="49" charset="-122"/>
                  </a:rPr>
                  <a:t>。因此，黑体的辐射强度谱就等于</a:t>
                </a:r>
                <a:r>
                  <a:rPr lang="en-US" altLang="zh-CN" i="0">
                    <a:solidFill>
                      <a:srgbClr val="0070C0"/>
                    </a:solidFill>
                    <a:latin typeface="Cambria Math" panose="02040503050406030204" pitchFamily="18" charset="0"/>
                    <a:ea typeface="黑体" panose="02010609060101010101" pitchFamily="49" charset="-122"/>
                  </a:rPr>
                  <a:t>𝜖_0 (𝜆,𝑇) </a:t>
                </a:r>
                <a:r>
                  <a:rPr lang="zh-CN" altLang="en-US" dirty="0"/>
                  <a:t>。于是问题就变得简单了，你不用测量吸收本领了，你只要测量黑体辐射就可以得到这个普适的函数。那么问题是有这样的黑体吗？ 煤灰怎么样，还不够好。</a:t>
                </a:r>
                <a:endParaRPr lang="en-US" altLang="zh-CN" dirty="0"/>
              </a:p>
              <a:p>
                <a:endParaRPr lang="en-US" altLang="zh-CN" dirty="0"/>
              </a:p>
              <a:p>
                <a:endParaRPr lang="en-US" altLang="zh-CN" dirty="0"/>
              </a:p>
              <a:p>
                <a:endParaRPr lang="en-US" dirty="0"/>
              </a:p>
            </p:txBody>
          </p:sp>
        </mc:Fallback>
      </mc:AlternateContent>
      <p:sp>
        <p:nvSpPr>
          <p:cNvPr id="4" name="Slide Number Placeholder 3"/>
          <p:cNvSpPr>
            <a:spLocks noGrp="1"/>
          </p:cNvSpPr>
          <p:nvPr>
            <p:ph type="sldNum" sz="quarter" idx="10"/>
          </p:nvPr>
        </p:nvSpPr>
        <p:spPr/>
        <p:txBody>
          <a:bodyPr/>
          <a:lstStyle/>
          <a:p>
            <a:fld id="{C08A642B-1D08-47C1-9385-1FDD33F8CE06}" type="slidenum">
              <a:rPr lang="en-US" smtClean="0"/>
              <a:t>5</a:t>
            </a:fld>
            <a:endParaRPr lang="en-US"/>
          </a:p>
        </p:txBody>
      </p:sp>
    </p:spTree>
    <p:extLst>
      <p:ext uri="{BB962C8B-B14F-4D97-AF65-F5344CB8AC3E}">
        <p14:creationId xmlns:p14="http://schemas.microsoft.com/office/powerpoint/2010/main" val="3851955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dirty="0">
                <a:ea typeface="黑体" panose="02010609060101010101" pitchFamily="49" charset="-122"/>
              </a:rPr>
              <a:t>基尔霍夫不仅提出了黑体的概念，还为它设计了一个即有实验可行性，还很有理论价值的实现方案：</a:t>
            </a:r>
            <a:r>
              <a:rPr lang="zh-CN" altLang="en-US" dirty="0"/>
              <a:t>他提议用绝热材料做一个腔室，内壁上涂满吸收本领很强的物质，另外在壁上开有一个小孔。</a:t>
            </a:r>
            <a:endParaRPr lang="en-US" altLang="zh-CN" dirty="0"/>
          </a:p>
          <a:p>
            <a:endParaRPr lang="en-US" altLang="zh-CN" dirty="0"/>
          </a:p>
          <a:p>
            <a:r>
              <a:rPr lang="zh-CN" altLang="en-US" dirty="0"/>
              <a:t>任何一束进入小孔的光，都要经过多次反射才有可能重新回到洞口，而每次反射都要被吸收掉很多能量，因此，进了小孔的光能够最终反射出来的可能性微乎其微。</a:t>
            </a:r>
            <a:endParaRPr lang="en-US" altLang="zh-CN" dirty="0"/>
          </a:p>
          <a:p>
            <a:r>
              <a:rPr lang="en-US" altLang="zh-CN" dirty="0"/>
              <a:t>// </a:t>
            </a:r>
            <a:r>
              <a:rPr lang="zh-CN" altLang="en-US" dirty="0"/>
              <a:t>所有这个空腔就可以被认为是一个近乎理想的黑体，而小孔就是黑体的表面。我们可以给空腔内部加热，以改变它的温度。于是，在任一恒定温度下，从小孔射出的光，就是该温度下的黑体辐射。因此这个模型给我们提供了一个用来产生和测量黑体辐射的实验方案。</a:t>
            </a:r>
            <a:endParaRPr lang="en-US" altLang="zh-CN" dirty="0"/>
          </a:p>
          <a:p>
            <a:endParaRPr lang="en-US" altLang="zh-CN" dirty="0"/>
          </a:p>
          <a:p>
            <a:r>
              <a:rPr lang="zh-CN" altLang="en-US" dirty="0"/>
              <a:t>我们还可以借助它来证明基尔霍夫定律，即黑体辐出强度谱是一个只与波长和温度有关的普适函数。</a:t>
            </a:r>
            <a:endParaRPr lang="en-US" altLang="zh-CN" dirty="0"/>
          </a:p>
          <a:p>
            <a:r>
              <a:rPr lang="zh-CN" altLang="en-US" dirty="0"/>
              <a:t>我们把左边这个叫黑体</a:t>
            </a:r>
            <a:r>
              <a:rPr lang="en-US" altLang="zh-CN" dirty="0"/>
              <a:t>A</a:t>
            </a:r>
            <a:r>
              <a:rPr lang="zh-CN" altLang="en-US" dirty="0"/>
              <a:t>，假设它是由某种材料构成的，它的形状是球形。 那么我们再用另外一种材料做一个是立方形的空腔黑体</a:t>
            </a:r>
            <a:r>
              <a:rPr lang="en-US" altLang="zh-CN" dirty="0"/>
              <a:t>B</a:t>
            </a:r>
            <a:r>
              <a:rPr lang="zh-CN" altLang="en-US" dirty="0"/>
              <a:t>。腔壁也开一个和黑体</a:t>
            </a:r>
            <a:r>
              <a:rPr lang="en-US" altLang="zh-CN" dirty="0"/>
              <a:t>A</a:t>
            </a:r>
            <a:r>
              <a:rPr lang="zh-CN" altLang="en-US" dirty="0"/>
              <a:t>一样的小孔。</a:t>
            </a:r>
            <a:endParaRPr lang="en-US" altLang="zh-CN" dirty="0"/>
          </a:p>
          <a:p>
            <a:r>
              <a:rPr lang="zh-CN" altLang="en-US" dirty="0"/>
              <a:t>如果由于材料或形状的原因，则</a:t>
            </a:r>
            <a:r>
              <a:rPr lang="en-US" altLang="zh-CN" dirty="0"/>
              <a:t>AB</a:t>
            </a:r>
            <a:r>
              <a:rPr lang="zh-CN" altLang="en-US" dirty="0"/>
              <a:t>两个黑体的辐射强度谱是不一样的。 假设在对于某个波长</a:t>
            </a:r>
            <a:r>
              <a:rPr lang="en-US" altLang="zh-CN" dirty="0"/>
              <a:t>L0</a:t>
            </a:r>
            <a:r>
              <a:rPr lang="zh-CN" altLang="en-US" dirty="0"/>
              <a:t>，黑体</a:t>
            </a:r>
            <a:r>
              <a:rPr lang="en-US" altLang="zh-CN" dirty="0"/>
              <a:t>A</a:t>
            </a:r>
            <a:r>
              <a:rPr lang="zh-CN" altLang="en-US" dirty="0"/>
              <a:t>的单色辐出强度要大于黑体</a:t>
            </a:r>
            <a:r>
              <a:rPr lang="en-US" altLang="zh-CN" dirty="0"/>
              <a:t>B</a:t>
            </a:r>
            <a:r>
              <a:rPr lang="zh-CN" altLang="en-US" dirty="0"/>
              <a:t>的。现在我们用一根只能通过这种波长的单色光纤将两个黑体的小孔相连。由于在这个波长下，黑体</a:t>
            </a:r>
            <a:r>
              <a:rPr lang="en-US" altLang="zh-CN" dirty="0"/>
              <a:t>A</a:t>
            </a:r>
            <a:r>
              <a:rPr lang="zh-CN" altLang="en-US" dirty="0"/>
              <a:t>的辐出强度要大于黑体</a:t>
            </a:r>
            <a:r>
              <a:rPr lang="en-US" altLang="zh-CN" dirty="0"/>
              <a:t>B</a:t>
            </a:r>
            <a:r>
              <a:rPr lang="zh-CN" altLang="en-US" dirty="0"/>
              <a:t>的，同时两者都能</a:t>
            </a:r>
            <a:r>
              <a:rPr lang="en-US" altLang="zh-CN" dirty="0"/>
              <a:t>100%</a:t>
            </a:r>
            <a:r>
              <a:rPr lang="zh-CN" altLang="en-US" dirty="0"/>
              <a:t>吸收传递过来的辐射。因此从黑体</a:t>
            </a:r>
            <a:r>
              <a:rPr lang="en-US" altLang="zh-CN" dirty="0"/>
              <a:t>A</a:t>
            </a:r>
            <a:r>
              <a:rPr lang="zh-CN" altLang="en-US" dirty="0"/>
              <a:t>传递给</a:t>
            </a:r>
            <a:r>
              <a:rPr lang="en-US" altLang="zh-CN" dirty="0"/>
              <a:t>B</a:t>
            </a:r>
            <a:r>
              <a:rPr lang="zh-CN" altLang="en-US" dirty="0"/>
              <a:t>的能量必然要大于黑体</a:t>
            </a:r>
            <a:r>
              <a:rPr lang="en-US" altLang="zh-CN" dirty="0"/>
              <a:t>B</a:t>
            </a:r>
            <a:r>
              <a:rPr lang="zh-CN" altLang="en-US" dirty="0"/>
              <a:t>传递给</a:t>
            </a:r>
            <a:r>
              <a:rPr lang="en-US" altLang="zh-CN" dirty="0"/>
              <a:t>A</a:t>
            </a:r>
            <a:r>
              <a:rPr lang="zh-CN" altLang="en-US" dirty="0"/>
              <a:t>的能量。这就将导致黑体</a:t>
            </a:r>
            <a:r>
              <a:rPr lang="en-US" altLang="zh-CN" dirty="0"/>
              <a:t>A</a:t>
            </a:r>
            <a:r>
              <a:rPr lang="zh-CN" altLang="en-US" dirty="0"/>
              <a:t>的总能量降低从而温度会下降，而黑体</a:t>
            </a:r>
            <a:r>
              <a:rPr lang="en-US" altLang="zh-CN" dirty="0"/>
              <a:t>B</a:t>
            </a:r>
            <a:r>
              <a:rPr lang="zh-CN" altLang="en-US" dirty="0"/>
              <a:t>的温度则上升。于是我们就做成这样一件事，在没有外界做功的情况下，我们把两个原本温度相同的系统，变得一个温度高一个温度低了，这显然违背了热力学第二定律。因此，我们通过这个反证法得出，在同样温度下，任意两个黑体的辐出强度谱必须是完全一样的，和黑体的材料和形状无关。</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6</a:t>
            </a:fld>
            <a:endParaRPr lang="en-US"/>
          </a:p>
        </p:txBody>
      </p:sp>
    </p:spTree>
    <p:extLst>
      <p:ext uri="{BB962C8B-B14F-4D97-AF65-F5344CB8AC3E}">
        <p14:creationId xmlns:p14="http://schemas.microsoft.com/office/powerpoint/2010/main" val="3798707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r>
              <a:rPr lang="zh-CN" altLang="en-US" dirty="0"/>
              <a:t>那时候关于黑体辐射的研究已经取得了以下成果。</a:t>
            </a:r>
            <a:endParaRPr lang="en-US" altLang="zh-CN" dirty="0"/>
          </a:p>
          <a:p>
            <a:r>
              <a:rPr lang="zh-CN" altLang="en-US" dirty="0"/>
              <a:t>这是一张不同温度下黑体辐射的示意图。</a:t>
            </a:r>
            <a:endParaRPr lang="en-US" altLang="zh-CN" dirty="0"/>
          </a:p>
          <a:p>
            <a:pPr defTabSz="990727">
              <a:defRPr/>
            </a:pPr>
            <a:r>
              <a:rPr lang="en-US" altLang="zh-CN" sz="1300" dirty="0"/>
              <a:t>1. </a:t>
            </a:r>
            <a:r>
              <a:rPr lang="zh-CN" altLang="en-US" sz="1300" dirty="0"/>
              <a:t>辐射强度谱只取决于黑体的温度，而与其形状、大小和材料无关</a:t>
            </a:r>
            <a:endParaRPr lang="en-US" altLang="zh-CN" sz="1300" dirty="0"/>
          </a:p>
          <a:p>
            <a:r>
              <a:rPr lang="en-US" altLang="zh-CN" dirty="0"/>
              <a:t>2. </a:t>
            </a:r>
            <a:r>
              <a:rPr lang="zh-CN" altLang="en-US" dirty="0"/>
              <a:t>黑体辐射最强处对应的波长和黑体的温度成反比。也就是说，温度越高，辐射中心的波长最短</a:t>
            </a:r>
            <a:endParaRPr lang="en-US" altLang="zh-CN" dirty="0"/>
          </a:p>
          <a:p>
            <a:r>
              <a:rPr lang="en-US" altLang="zh-CN" dirty="0"/>
              <a:t>3. </a:t>
            </a:r>
            <a:r>
              <a:rPr lang="zh-CN" altLang="en-US" dirty="0"/>
              <a:t>辐射谱的总面积正比于温度的</a:t>
            </a:r>
            <a:r>
              <a:rPr lang="en-US" altLang="zh-CN" dirty="0"/>
              <a:t>4</a:t>
            </a:r>
            <a:r>
              <a:rPr lang="zh-CN" altLang="en-US" dirty="0"/>
              <a:t>次方。</a:t>
            </a:r>
            <a:endParaRPr lang="en-US" altLang="zh-CN" dirty="0"/>
          </a:p>
          <a:p>
            <a:r>
              <a:rPr lang="zh-CN" altLang="en-US" dirty="0"/>
              <a:t>对于黑体辐射，实验上测到的是从空腔小孔中射出的辐射强度，但在理论上讨论起来更方便的是空腔内部的辐射能量密度。这两者的形状是一样的，只相差一个比例系数，为</a:t>
            </a:r>
            <a:r>
              <a:rPr lang="en-US" altLang="zh-CN" dirty="0"/>
              <a:t>c/4.</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7</a:t>
            </a:fld>
            <a:endParaRPr lang="en-US"/>
          </a:p>
        </p:txBody>
      </p:sp>
    </p:spTree>
    <p:extLst>
      <p:ext uri="{BB962C8B-B14F-4D97-AF65-F5344CB8AC3E}">
        <p14:creationId xmlns:p14="http://schemas.microsoft.com/office/powerpoint/2010/main" val="4159617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热力学第二定律告诉我们封闭系统的熵不会减少，只会增加，直到系统达到热平衡。</a:t>
            </a:r>
            <a:endParaRPr lang="en-US" altLang="zh-CN" dirty="0"/>
          </a:p>
          <a:p>
            <a:pPr defTabSz="990727">
              <a:defRPr/>
            </a:pPr>
            <a:r>
              <a:rPr lang="zh-CN" altLang="en-US" dirty="0"/>
              <a:t>普朗克对第二定律非常着迷。他的</a:t>
            </a:r>
            <a:r>
              <a:rPr lang="en-US" altLang="zh-CN" dirty="0">
                <a:effectLst/>
              </a:rPr>
              <a:t>1879</a:t>
            </a:r>
            <a:r>
              <a:rPr lang="zh-CN" altLang="en-US" dirty="0">
                <a:effectLst/>
              </a:rPr>
              <a:t>年</a:t>
            </a:r>
            <a:r>
              <a:rPr lang="zh-CN" altLang="en-US" dirty="0"/>
              <a:t>博士论文的题目就叫“关于热力学第二定律“，论文的导师之一就是基尔霍夫。</a:t>
            </a:r>
            <a:endParaRPr lang="en-US" altLang="zh-CN" dirty="0"/>
          </a:p>
          <a:p>
            <a:r>
              <a:rPr lang="zh-CN" altLang="en-US" dirty="0"/>
              <a:t>然而就在那个年代，奥地利人波尔兹曼利用原子（分子）假说，用概率论的方法重建了热力学，称为统计热力学。在玻尔兹曼的理论中，热力学第二定律变成了一个统计性的定律。</a:t>
            </a:r>
            <a:endParaRPr lang="en-US" altLang="zh-CN" dirty="0"/>
          </a:p>
          <a:p>
            <a:r>
              <a:rPr lang="zh-CN" altLang="en-US" dirty="0"/>
              <a:t>也就是说系统的熵非常非常有可能只会增加，然而这个概率不是绝对的</a:t>
            </a:r>
            <a:r>
              <a:rPr lang="en-US" altLang="zh-CN" dirty="0"/>
              <a:t>100%</a:t>
            </a:r>
            <a:r>
              <a:rPr lang="zh-CN" altLang="en-US" dirty="0"/>
              <a:t>。</a:t>
            </a:r>
            <a:endParaRPr lang="en-US" altLang="zh-CN" dirty="0"/>
          </a:p>
          <a:p>
            <a:pPr defTabSz="990727">
              <a:defRPr/>
            </a:pPr>
            <a:r>
              <a:rPr lang="zh-CN" altLang="en-US" dirty="0"/>
              <a:t>这使得</a:t>
            </a:r>
            <a:r>
              <a:rPr lang="en-US" altLang="zh-CN" dirty="0"/>
              <a:t>plank</a:t>
            </a:r>
            <a:r>
              <a:rPr lang="zh-CN" altLang="en-US" dirty="0"/>
              <a:t>非常不满意，因为在他眼里第二定律一个绝对定律，不可逆性是绝对的。这使得他尽管认识到原子论带来的巨大成果，他不愿意接受真实的原子，而仅仅把它当做虚构的理论工具。 他一直希望能够从根本上消灭原子论所带来的统计性，捍卫热力学第二定律的绝对性。</a:t>
            </a:r>
            <a:endParaRPr lang="en-US" altLang="zh-CN" dirty="0"/>
          </a:p>
          <a:p>
            <a:r>
              <a:rPr lang="zh-CN" altLang="en-US" dirty="0"/>
              <a:t>终于，从</a:t>
            </a:r>
            <a:r>
              <a:rPr lang="en-US" altLang="zh-CN" dirty="0"/>
              <a:t>1894</a:t>
            </a:r>
            <a:r>
              <a:rPr lang="zh-CN" altLang="en-US" dirty="0"/>
              <a:t>年起，他决心从黑体辐射问题入手。</a:t>
            </a:r>
            <a:endParaRPr lang="en-US" altLang="zh-CN" dirty="0"/>
          </a:p>
          <a:p>
            <a:r>
              <a:rPr lang="zh-CN" altLang="en-US" dirty="0"/>
              <a:t>一方面他的老师基尔霍夫，早已指出这是一个非常重要的问题。</a:t>
            </a:r>
            <a:endParaRPr lang="en-US" altLang="zh-CN" dirty="0"/>
          </a:p>
          <a:p>
            <a:r>
              <a:rPr lang="zh-CN" altLang="en-US" dirty="0"/>
              <a:t>另一方面，那时候，麦克斯韦的电磁场理论已经建立，电磁波也已被</a:t>
            </a:r>
            <a:r>
              <a:rPr lang="en-US" altLang="zh-CN" dirty="0"/>
              <a:t>Hertz</a:t>
            </a:r>
            <a:r>
              <a:rPr lang="zh-CN" altLang="en-US" dirty="0"/>
              <a:t>证实。普朗克认为，电磁波是一种连续的物质，而且是实实在在的，比原子要实在。因此，如果通过研究电磁波的热力学性质，从中导出热力学第二定律，则不会涉及分立的原子所带来的随机性，从而给出绝对的熵增加定律。</a:t>
            </a:r>
            <a:endParaRPr lang="en-US" altLang="zh-CN" dirty="0"/>
          </a:p>
          <a:p>
            <a:endParaRPr lang="en-US" altLang="zh-CN" dirty="0"/>
          </a:p>
          <a:p>
            <a:pPr algn="l"/>
            <a:r>
              <a:rPr lang="en-US" sz="1800" b="0" i="0" u="none" strike="noStrike" baseline="0" dirty="0">
                <a:latin typeface="TimesNewRomanPSMT"/>
              </a:rPr>
              <a:t>As Max Planck recalled in his </a:t>
            </a:r>
            <a:r>
              <a:rPr lang="en-US" sz="1800" b="0" i="1" u="none" strike="noStrike" baseline="0" dirty="0">
                <a:latin typeface="TimesNewRomanPS-ItalicMT"/>
              </a:rPr>
              <a:t>Scientific Autobiography, </a:t>
            </a:r>
            <a:r>
              <a:rPr lang="en-US" sz="1800" b="0" i="0" u="none" strike="noStrike" baseline="0" dirty="0">
                <a:latin typeface="TimesNewRomanPSMT"/>
              </a:rPr>
              <a:t>he was “not only indifferent, but to a certain extent even hostile to the atomic theory.” </a:t>
            </a:r>
          </a:p>
          <a:p>
            <a:pPr algn="l"/>
            <a:r>
              <a:rPr lang="en-US" sz="1800" b="0" i="0" u="none" strike="noStrike" baseline="0" dirty="0">
                <a:latin typeface="TimesNewRomanPSMT"/>
              </a:rPr>
              <a:t>He accepted it only when it became necessary for the theoretical foundation of his radiation law.</a:t>
            </a:r>
            <a:endParaRPr lang="en-US" altLang="zh-CN" dirty="0"/>
          </a:p>
          <a:p>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8</a:t>
            </a:fld>
            <a:endParaRPr lang="en-US"/>
          </a:p>
        </p:txBody>
      </p:sp>
    </p:spTree>
    <p:extLst>
      <p:ext uri="{BB962C8B-B14F-4D97-AF65-F5344CB8AC3E}">
        <p14:creationId xmlns:p14="http://schemas.microsoft.com/office/powerpoint/2010/main" val="1974387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让我们再进一步考察一下这个空腔模型为我们所揭示的黑体辐射的物理意义。</a:t>
                </a:r>
                <a:endParaRPr lang="en-US" altLang="zh-CN" dirty="0"/>
              </a:p>
              <a:p>
                <a:r>
                  <a:rPr lang="zh-CN" altLang="en-US" dirty="0"/>
                  <a:t>当一个空腔维持在一个恒定温度</a:t>
                </a:r>
                <a:r>
                  <a:rPr lang="en-US" altLang="zh-CN" dirty="0"/>
                  <a:t>T</a:t>
                </a:r>
                <a:r>
                  <a:rPr lang="zh-CN" altLang="en-US" dirty="0"/>
                  <a:t>时，由物质材料构成的腔壳和充斥空腔内部的电磁辐射场共同达到了一个热平衡，因此辐射场的温度也是</a:t>
                </a:r>
                <a:r>
                  <a:rPr lang="en-US" altLang="zh-CN" dirty="0"/>
                  <a:t>T</a:t>
                </a:r>
                <a:r>
                  <a:rPr lang="zh-CN" altLang="en-US" dirty="0"/>
                  <a:t>，它也到达了热平衡。</a:t>
                </a:r>
                <a:endParaRPr lang="en-US" altLang="zh-CN" dirty="0"/>
              </a:p>
              <a:p>
                <a:pPr marL="0" marR="0" indent="0" algn="l" defTabSz="914377" rtl="0" eaLnBrk="1" fontAlgn="auto" latinLnBrk="0" hangingPunct="1">
                  <a:lnSpc>
                    <a:spcPct val="100000"/>
                  </a:lnSpc>
                  <a:spcBef>
                    <a:spcPts val="0"/>
                  </a:spcBef>
                  <a:spcAft>
                    <a:spcPts val="0"/>
                  </a:spcAft>
                  <a:buClrTx/>
                  <a:buSzTx/>
                  <a:buFontTx/>
                  <a:buNone/>
                  <a:tabLst/>
                  <a:defRPr/>
                </a:pPr>
                <a:r>
                  <a:rPr lang="zh-CN" altLang="en-US" dirty="0"/>
                  <a:t>我们知道辐射场是有能量的，广义的说它也是物质。</a:t>
                </a:r>
                <a:endParaRPr lang="en-US" altLang="zh-CN" dirty="0"/>
              </a:p>
              <a:p>
                <a:pPr marL="0" marR="0" indent="0" algn="l" defTabSz="914377" rtl="0" eaLnBrk="1" fontAlgn="auto" latinLnBrk="0" hangingPunct="1">
                  <a:lnSpc>
                    <a:spcPct val="100000"/>
                  </a:lnSpc>
                  <a:spcBef>
                    <a:spcPts val="0"/>
                  </a:spcBef>
                  <a:spcAft>
                    <a:spcPts val="0"/>
                  </a:spcAft>
                  <a:buClrTx/>
                  <a:buSzTx/>
                  <a:buFontTx/>
                  <a:buNone/>
                  <a:tabLst/>
                  <a:defRPr/>
                </a:pPr>
                <a:r>
                  <a:rPr lang="zh-CN" altLang="en-US" dirty="0"/>
                  <a:t>关于辐射场，有这样两个重要的物理量，辐射场的单色能量密度和单色能流密度。</a:t>
                </a:r>
                <a:endParaRPr lang="en-US" altLang="zh-CN" dirty="0"/>
              </a:p>
              <a:p>
                <a:endParaRPr lang="en-US" altLang="zh-CN" dirty="0"/>
              </a:p>
              <a:p>
                <a:r>
                  <a:rPr lang="zh-CN" altLang="en-US" dirty="0"/>
                  <a:t>单色能量密度指的是单位体积内波长在𝜆附近单位波长间隔里的能量。</a:t>
                </a:r>
                <a:endParaRPr lang="en-US" altLang="zh-CN" dirty="0"/>
              </a:p>
              <a:p>
                <a:r>
                  <a:rPr lang="zh-CN" altLang="en-US" dirty="0"/>
                  <a:t>而单色辐射强度则代表</a:t>
                </a:r>
                <a:r>
                  <a:rPr lang="zh-CN" altLang="en-US" sz="1200" dirty="0">
                    <a:latin typeface="Cambria Math"/>
                  </a:rPr>
                  <a:t>在单位时间内，照在单位面积上的波长在</a:t>
                </a:r>
                <a14:m>
                  <m:oMath xmlns:m="http://schemas.openxmlformats.org/officeDocument/2006/math">
                    <m:r>
                      <a:rPr lang="en-US" altLang="zh-CN" sz="1200" i="1">
                        <a:latin typeface="Cambria Math"/>
                      </a:rPr>
                      <m:t>𝜆</m:t>
                    </m:r>
                  </m:oMath>
                </a14:m>
                <a:r>
                  <a:rPr lang="zh-CN" altLang="en-US" sz="1200" dirty="0">
                    <a:latin typeface="Cambria Math"/>
                  </a:rPr>
                  <a:t>附近单位波长间隔里的能量。</a:t>
                </a:r>
                <a:endParaRPr lang="en-US" altLang="zh-CN" sz="1200" dirty="0">
                  <a:latin typeface="Cambria Math"/>
                </a:endParaRPr>
              </a:p>
              <a:p>
                <a:r>
                  <a:rPr lang="zh-CN" altLang="en-US" sz="1200" dirty="0">
                    <a:latin typeface="Cambria Math"/>
                  </a:rPr>
                  <a:t>您不妨暂停半分钟，好好得咀嚼一下这两个概念的含义。</a:t>
                </a:r>
                <a:endParaRPr lang="en-US" altLang="zh-CN" dirty="0"/>
              </a:p>
              <a:p>
                <a:endParaRPr lang="en-US" altLang="zh-CN" baseline="0" dirty="0"/>
              </a:p>
              <a:p>
                <a:r>
                  <a:rPr lang="zh-CN" altLang="en-US" baseline="0" dirty="0"/>
                  <a:t>就像容器里的气体在热平衡态下密度处处相等。在热平衡下空腔内部的辐射场的单色能量密度在肯定是均匀的。</a:t>
                </a:r>
                <a:endParaRPr lang="en-US" altLang="zh-CN" baseline="0" dirty="0"/>
              </a:p>
              <a:p>
                <a:r>
                  <a:rPr lang="zh-CN" altLang="en-US" baseline="0" dirty="0"/>
                  <a:t>于是单色</a:t>
                </a:r>
                <a:r>
                  <a:rPr lang="zh-CN" altLang="en-US" dirty="0"/>
                  <a:t>辐射强度</a:t>
                </a:r>
                <a:r>
                  <a:rPr lang="zh-CN" altLang="en-US" baseline="0" dirty="0"/>
                  <a:t>也必然是均匀的，因为如果</a:t>
                </a:r>
                <a:r>
                  <a:rPr lang="zh-CN" altLang="en-US" dirty="0"/>
                  <a:t>辐射强度</a:t>
                </a:r>
                <a:r>
                  <a:rPr lang="zh-CN" altLang="en-US" baseline="0" dirty="0"/>
                  <a:t>不均匀就会导致能量在某些位置聚集，从而造成能量密度的不均匀。</a:t>
                </a:r>
                <a:endParaRPr lang="en-US" altLang="zh-CN" baseline="0" dirty="0"/>
              </a:p>
              <a:p>
                <a:r>
                  <a:rPr lang="zh-CN" altLang="en-US" baseline="0" dirty="0"/>
                  <a:t>因此对于空腔黑体来说，单色</a:t>
                </a:r>
                <a:r>
                  <a:rPr lang="zh-CN" altLang="en-US" dirty="0"/>
                  <a:t>辐射强度</a:t>
                </a:r>
                <a:r>
                  <a:rPr lang="zh-CN" altLang="en-US" baseline="0" dirty="0"/>
                  <a:t>或能量密度是能够反映热平衡态下辐射场性质的物理量。</a:t>
                </a:r>
                <a:endParaRPr lang="en-US" altLang="zh-CN" baseline="0" dirty="0"/>
              </a:p>
              <a:p>
                <a:endParaRPr lang="en-US" altLang="zh-CN" baseline="0" dirty="0"/>
              </a:p>
              <a:p>
                <a:r>
                  <a:rPr lang="zh-CN" altLang="en-US" baseline="0" dirty="0"/>
                  <a:t>如果我们在空腔上开一个小孔，假设小孔的尺寸远远小于空腔的尺寸，则我们可以认为小孔中漏出的光不会对空腔内的辐射场造成任何改变。</a:t>
                </a:r>
                <a:endParaRPr lang="en-US" altLang="zh-CN" baseline="0" dirty="0"/>
              </a:p>
              <a:p>
                <a:r>
                  <a:rPr lang="zh-CN" altLang="en-US" baseline="0" dirty="0"/>
                  <a:t>从小孔中射出的所谓黑体的单色辐出强度</a:t>
                </a:r>
                <a14:m>
                  <m:oMath xmlns:m="http://schemas.openxmlformats.org/officeDocument/2006/math">
                    <m:sSub>
                      <m:sSubPr>
                        <m:ctrlPr>
                          <a:rPr lang="en-US" altLang="zh-CN" i="1" smtClean="0">
                            <a:solidFill>
                              <a:srgbClr val="0070C0"/>
                            </a:solidFill>
                            <a:latin typeface="Cambria Math" panose="02040503050406030204" pitchFamily="18" charset="0"/>
                            <a:ea typeface="黑体" panose="02010609060101010101" pitchFamily="49" charset="-122"/>
                          </a:rPr>
                        </m:ctrlPr>
                      </m:sSubPr>
                      <m:e>
                        <m:r>
                          <a:rPr lang="en-US" altLang="zh-CN" i="1">
                            <a:solidFill>
                              <a:srgbClr val="0070C0"/>
                            </a:solidFill>
                            <a:latin typeface="Cambria Math" panose="02040503050406030204" pitchFamily="18" charset="0"/>
                            <a:ea typeface="黑体" panose="02010609060101010101" pitchFamily="49" charset="-122"/>
                          </a:rPr>
                          <m:t>𝜖</m:t>
                        </m:r>
                      </m:e>
                      <m:sub>
                        <m:r>
                          <a:rPr lang="en-US" altLang="zh-CN" i="1">
                            <a:solidFill>
                              <a:srgbClr val="0070C0"/>
                            </a:solidFill>
                            <a:latin typeface="Cambria Math" panose="02040503050406030204" pitchFamily="18" charset="0"/>
                            <a:ea typeface="黑体" panose="02010609060101010101" pitchFamily="49" charset="-122"/>
                          </a:rPr>
                          <m:t>0</m:t>
                        </m:r>
                      </m:sub>
                    </m:sSub>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𝜆</m:t>
                    </m:r>
                    <m:r>
                      <a:rPr lang="en-US" altLang="zh-CN" i="1">
                        <a:solidFill>
                          <a:srgbClr val="0070C0"/>
                        </a:solidFill>
                        <a:latin typeface="Cambria Math" panose="02040503050406030204" pitchFamily="18" charset="0"/>
                        <a:ea typeface="黑体" panose="02010609060101010101" pitchFamily="49" charset="-122"/>
                      </a:rPr>
                      <m:t>,</m:t>
                    </m:r>
                    <m:r>
                      <a:rPr lang="en-US" altLang="zh-CN" i="1">
                        <a:solidFill>
                          <a:srgbClr val="0070C0"/>
                        </a:solidFill>
                        <a:latin typeface="Cambria Math" panose="02040503050406030204" pitchFamily="18" charset="0"/>
                        <a:ea typeface="黑体" panose="02010609060101010101" pitchFamily="49" charset="-122"/>
                      </a:rPr>
                      <m:t>𝑇</m:t>
                    </m:r>
                    <m:r>
                      <a:rPr lang="en-US" altLang="zh-CN" i="1">
                        <a:solidFill>
                          <a:srgbClr val="0070C0"/>
                        </a:solidFill>
                        <a:latin typeface="Cambria Math" panose="02040503050406030204" pitchFamily="18" charset="0"/>
                        <a:ea typeface="黑体" panose="02010609060101010101" pitchFamily="49" charset="-122"/>
                      </a:rPr>
                      <m:t>)</m:t>
                    </m:r>
                  </m:oMath>
                </a14:m>
                <a:r>
                  <a:rPr lang="zh-CN" altLang="en-US" baseline="0" dirty="0"/>
                  <a:t>其实就是空腔内部热平衡态下的辐射场照在小孔上的单色</a:t>
                </a:r>
                <a:r>
                  <a:rPr lang="zh-CN" altLang="en-US" dirty="0"/>
                  <a:t>辐射强度</a:t>
                </a:r>
                <a14:m>
                  <m:oMath xmlns:m="http://schemas.openxmlformats.org/officeDocument/2006/math">
                    <m:r>
                      <a:rPr lang="en-US" altLang="zh-CN" sz="1200" i="1" smtClean="0">
                        <a:solidFill>
                          <a:srgbClr val="0070C0"/>
                        </a:solidFill>
                        <a:latin typeface="Cambria Math" panose="02040503050406030204" pitchFamily="18" charset="0"/>
                      </a:rPr>
                      <m:t>𝐼</m:t>
                    </m:r>
                    <m:d>
                      <m:dPr>
                        <m:ctrlPr>
                          <a:rPr lang="en-US" altLang="zh-CN" sz="1200" i="1">
                            <a:solidFill>
                              <a:srgbClr val="0070C0"/>
                            </a:solidFill>
                            <a:latin typeface="Cambria Math" panose="02040503050406030204" pitchFamily="18" charset="0"/>
                          </a:rPr>
                        </m:ctrlPr>
                      </m:dPr>
                      <m:e>
                        <m:r>
                          <a:rPr lang="en-US" altLang="zh-CN" sz="1200" i="1">
                            <a:solidFill>
                              <a:srgbClr val="0070C0"/>
                            </a:solidFill>
                            <a:latin typeface="Cambria Math" panose="02040503050406030204" pitchFamily="18" charset="0"/>
                          </a:rPr>
                          <m:t>𝜆</m:t>
                        </m:r>
                        <m:r>
                          <a:rPr lang="en-US" altLang="zh-CN" sz="1200" i="1">
                            <a:solidFill>
                              <a:srgbClr val="0070C0"/>
                            </a:solidFill>
                            <a:latin typeface="Cambria Math" panose="02040503050406030204" pitchFamily="18" charset="0"/>
                          </a:rPr>
                          <m:t>,</m:t>
                        </m:r>
                        <m:r>
                          <a:rPr lang="en-US" altLang="zh-CN" sz="1200" i="1">
                            <a:solidFill>
                              <a:srgbClr val="0070C0"/>
                            </a:solidFill>
                            <a:latin typeface="Cambria Math"/>
                          </a:rPr>
                          <m:t>𝑇</m:t>
                        </m:r>
                      </m:e>
                    </m:d>
                  </m:oMath>
                </a14:m>
                <a:r>
                  <a:rPr lang="zh-CN" altLang="en-US" baseline="0" dirty="0"/>
                  <a:t>。</a:t>
                </a:r>
                <a:endParaRPr lang="en-US" altLang="zh-CN" baseline="0" dirty="0"/>
              </a:p>
              <a:p>
                <a:endParaRPr lang="en-US" altLang="zh-CN" baseline="0" dirty="0"/>
              </a:p>
              <a:p>
                <a:r>
                  <a:rPr lang="en-US" altLang="zh-CN" baseline="0" dirty="0"/>
                  <a:t>//</a:t>
                </a:r>
              </a:p>
              <a:p>
                <a:r>
                  <a:rPr lang="zh-CN" altLang="en-US" baseline="0" dirty="0"/>
                  <a:t>从我们现在的角度来看，黑体辐射实际上反映了处在热平衡态下电磁辐射场的物理性质，因此这个问题联系了物理学的两大支柱：电动力学以及热力学和统计力学。</a:t>
                </a:r>
                <a:endParaRPr lang="en-US" altLang="zh-CN" baseline="0" dirty="0"/>
              </a:p>
              <a:p>
                <a:endParaRPr lang="zh-CN" altLang="en-US" baseline="0" dirty="0"/>
              </a:p>
              <a:p>
                <a:r>
                  <a:rPr lang="zh-CN" altLang="en-US" baseline="0" dirty="0"/>
                  <a:t>基尔霍夫刚提出黑体辐射问题的时候，麦克斯韦的电磁波理论还没有出来。所以说，基尔霍夫是位非常有洞察力的人。他向其他物理量学家提出了这样一个挑战，我已经证明了黑体辐射是个普适的函数，并且非常重要。目前它的形式还是个未知数，你们谁可以把它测量出来，谁可以把它推导出来。但是基尔霍夫恐怕没有料到，他所提出的这个问题，比他想象的还要重要许多。这个问题的解答我们留给下一讲来讨论。</a:t>
                </a:r>
                <a:endParaRPr lang="en-US" dirty="0"/>
              </a:p>
            </p:txBody>
          </p:sp>
        </mc:Choice>
        <mc:Fallback xmlns="">
          <p:sp>
            <p:nvSpPr>
              <p:cNvPr id="3" name="Notes Placeholder 2"/>
              <p:cNvSpPr>
                <a:spLocks noGrp="1"/>
              </p:cNvSpPr>
              <p:nvPr>
                <p:ph type="body" idx="1"/>
              </p:nvPr>
            </p:nvSpPr>
            <p:spPr/>
            <p:txBody>
              <a:bodyPr/>
              <a:lstStyle/>
              <a:p>
                <a:r>
                  <a:rPr lang="zh-CN" altLang="en-US" dirty="0"/>
                  <a:t>让我们再进一步考察一下这个空腔理想模型给我们所揭示的黑体辐射的物理意义。</a:t>
                </a:r>
                <a:endParaRPr lang="en-US" altLang="zh-CN" dirty="0"/>
              </a:p>
              <a:p>
                <a:r>
                  <a:rPr lang="zh-CN" altLang="en-US" dirty="0"/>
                  <a:t>当一个空腔维持在一个恒定温度</a:t>
                </a:r>
                <a:r>
                  <a:rPr lang="en-US" altLang="zh-CN" dirty="0"/>
                  <a:t>T</a:t>
                </a:r>
                <a:r>
                  <a:rPr lang="zh-CN" altLang="en-US" dirty="0"/>
                  <a:t>时，由物质材料构成的腔壳和充斥空腔内部的电磁辐射场共同达到了一个热平衡，因此辐射场的温度也是</a:t>
                </a:r>
                <a:r>
                  <a:rPr lang="en-US" altLang="zh-CN" dirty="0"/>
                  <a:t>T</a:t>
                </a:r>
                <a:r>
                  <a:rPr lang="zh-CN" altLang="en-US" dirty="0"/>
                  <a:t>。</a:t>
                </a:r>
                <a:endParaRPr lang="en-US" altLang="zh-CN" dirty="0"/>
              </a:p>
              <a:p>
                <a:pPr marL="0" marR="0" indent="0" algn="l" defTabSz="914377" rtl="0" eaLnBrk="1" fontAlgn="auto" latinLnBrk="0" hangingPunct="1">
                  <a:lnSpc>
                    <a:spcPct val="100000"/>
                  </a:lnSpc>
                  <a:spcBef>
                    <a:spcPts val="0"/>
                  </a:spcBef>
                  <a:spcAft>
                    <a:spcPts val="0"/>
                  </a:spcAft>
                  <a:buClrTx/>
                  <a:buSzTx/>
                  <a:buFontTx/>
                  <a:buNone/>
                  <a:tabLst/>
                  <a:defRPr/>
                </a:pPr>
                <a:r>
                  <a:rPr lang="zh-CN" altLang="en-US" dirty="0"/>
                  <a:t>我们知道辐射场是有能量的，广义的说它也是物质。</a:t>
                </a:r>
                <a:endParaRPr lang="en-US" altLang="zh-CN" dirty="0"/>
              </a:p>
              <a:p>
                <a:pPr marL="0" marR="0" indent="0" algn="l" defTabSz="914377" rtl="0" eaLnBrk="1" fontAlgn="auto" latinLnBrk="0" hangingPunct="1">
                  <a:lnSpc>
                    <a:spcPct val="100000"/>
                  </a:lnSpc>
                  <a:spcBef>
                    <a:spcPts val="0"/>
                  </a:spcBef>
                  <a:spcAft>
                    <a:spcPts val="0"/>
                  </a:spcAft>
                  <a:buClrTx/>
                  <a:buSzTx/>
                  <a:buFontTx/>
                  <a:buNone/>
                  <a:tabLst/>
                  <a:defRPr/>
                </a:pPr>
                <a:r>
                  <a:rPr lang="zh-CN" altLang="en-US" dirty="0"/>
                  <a:t>关于辐射场，有这样两个重要的物理量，辐射场的单色能量密度和单色能流密度。</a:t>
                </a:r>
                <a:endParaRPr lang="en-US" altLang="zh-CN" dirty="0"/>
              </a:p>
              <a:p>
                <a:endParaRPr lang="en-US" altLang="zh-CN" dirty="0"/>
              </a:p>
              <a:p>
                <a:r>
                  <a:rPr lang="zh-CN" altLang="en-US" dirty="0"/>
                  <a:t>单色能量密度指的是单位体积内波长在𝜆附近单位波长间隔里的能量。</a:t>
                </a:r>
                <a:endParaRPr lang="en-US" altLang="zh-CN" dirty="0"/>
              </a:p>
              <a:p>
                <a:r>
                  <a:rPr lang="zh-CN" altLang="en-US" dirty="0"/>
                  <a:t>而单色辐射强度则代表</a:t>
                </a:r>
                <a:r>
                  <a:rPr lang="zh-CN" altLang="en-US" sz="1200" dirty="0">
                    <a:latin typeface="Cambria Math"/>
                  </a:rPr>
                  <a:t>在单位时间内，照在单位面积上的波长在</a:t>
                </a:r>
                <a:r>
                  <a:rPr lang="en-US" altLang="zh-CN" sz="1200" i="0">
                    <a:latin typeface="Cambria Math"/>
                  </a:rPr>
                  <a:t>𝜆</a:t>
                </a:r>
                <a:r>
                  <a:rPr lang="zh-CN" altLang="en-US" sz="1200" dirty="0">
                    <a:latin typeface="Cambria Math"/>
                  </a:rPr>
                  <a:t>附近单位波长间隔里的能量。</a:t>
                </a:r>
                <a:endParaRPr lang="en-US" altLang="zh-CN" sz="1200" dirty="0">
                  <a:latin typeface="Cambria Math"/>
                </a:endParaRPr>
              </a:p>
              <a:p>
                <a:r>
                  <a:rPr lang="zh-CN" altLang="en-US" sz="1200" dirty="0">
                    <a:latin typeface="Cambria Math"/>
                  </a:rPr>
                  <a:t>你可以暂停半分钟，好好得咀嚼一下这两个概念的含义。</a:t>
                </a:r>
                <a:endParaRPr lang="en-US" altLang="zh-CN" dirty="0"/>
              </a:p>
              <a:p>
                <a:endParaRPr lang="en-US" altLang="zh-CN" baseline="0" dirty="0"/>
              </a:p>
              <a:p>
                <a:r>
                  <a:rPr lang="zh-CN" altLang="en-US" baseline="0" dirty="0"/>
                  <a:t>就像容器里的气体在热平衡态下密度处处相等。在热平衡下辐射场的单色能量密度在空腔内部肯定是均匀的。</a:t>
                </a:r>
                <a:endParaRPr lang="en-US" altLang="zh-CN" baseline="0" dirty="0"/>
              </a:p>
              <a:p>
                <a:r>
                  <a:rPr lang="zh-CN" altLang="en-US" baseline="0" dirty="0"/>
                  <a:t>于是单色</a:t>
                </a:r>
                <a:r>
                  <a:rPr lang="zh-CN" altLang="en-US" dirty="0"/>
                  <a:t>辐射强度</a:t>
                </a:r>
                <a:r>
                  <a:rPr lang="zh-CN" altLang="en-US" baseline="0" dirty="0"/>
                  <a:t>也必然是均匀的，因为如果</a:t>
                </a:r>
                <a:r>
                  <a:rPr lang="zh-CN" altLang="en-US" dirty="0"/>
                  <a:t>辐射强度</a:t>
                </a:r>
                <a:r>
                  <a:rPr lang="zh-CN" altLang="en-US" baseline="0" dirty="0"/>
                  <a:t>不均匀就会导致能量在某些位置聚集，从而造成能量密度的不均匀。</a:t>
                </a:r>
                <a:endParaRPr lang="en-US" altLang="zh-CN" baseline="0" dirty="0"/>
              </a:p>
              <a:p>
                <a:r>
                  <a:rPr lang="zh-CN" altLang="en-US" baseline="0" dirty="0"/>
                  <a:t>因此对于空腔黑体来说，单色</a:t>
                </a:r>
                <a:r>
                  <a:rPr lang="zh-CN" altLang="en-US" dirty="0"/>
                  <a:t>辐射强度</a:t>
                </a:r>
                <a:r>
                  <a:rPr lang="zh-CN" altLang="en-US" baseline="0" dirty="0"/>
                  <a:t>或能量密度是能够反映热平衡态下辐射场性质的物理量。</a:t>
                </a:r>
                <a:endParaRPr lang="en-US" altLang="zh-CN" baseline="0" dirty="0"/>
              </a:p>
              <a:p>
                <a:endParaRPr lang="en-US" altLang="zh-CN" baseline="0" dirty="0"/>
              </a:p>
              <a:p>
                <a:r>
                  <a:rPr lang="zh-CN" altLang="en-US" baseline="0" dirty="0"/>
                  <a:t>如果我们在空腔上开一个小孔，假设小孔的尺寸远远小于空腔的尺寸，则我们可以认为小孔中漏出的光不会对空腔内的辐射场造成任何改变。</a:t>
                </a:r>
                <a:endParaRPr lang="en-US" altLang="zh-CN" baseline="0" dirty="0"/>
              </a:p>
              <a:p>
                <a:r>
                  <a:rPr lang="zh-CN" altLang="en-US" baseline="0" dirty="0"/>
                  <a:t>从小孔中射出的所谓黑体的单色辐出强度</a:t>
                </a:r>
                <a:r>
                  <a:rPr lang="en-US" altLang="zh-CN" i="0">
                    <a:solidFill>
                      <a:srgbClr val="0070C0"/>
                    </a:solidFill>
                    <a:latin typeface="Cambria Math" panose="02040503050406030204" pitchFamily="18" charset="0"/>
                    <a:ea typeface="黑体" panose="02010609060101010101" pitchFamily="49" charset="-122"/>
                  </a:rPr>
                  <a:t>𝜖_0 (𝜆,𝑇)</a:t>
                </a:r>
                <a:r>
                  <a:rPr lang="zh-CN" altLang="en-US" baseline="0" dirty="0"/>
                  <a:t>其实就是空腔内部热平衡态下的辐射场照在小孔上的单色</a:t>
                </a:r>
                <a:r>
                  <a:rPr lang="zh-CN" altLang="en-US" dirty="0"/>
                  <a:t>辐射强度</a:t>
                </a:r>
                <a:r>
                  <a:rPr lang="en-US" altLang="zh-CN" sz="1200" i="0">
                    <a:solidFill>
                      <a:srgbClr val="0070C0"/>
                    </a:solidFill>
                    <a:latin typeface="Cambria Math" panose="02040503050406030204" pitchFamily="18" charset="0"/>
                  </a:rPr>
                  <a:t>𝐼(𝜆,</a:t>
                </a:r>
                <a:r>
                  <a:rPr lang="en-US" altLang="zh-CN" sz="1200" i="0">
                    <a:solidFill>
                      <a:srgbClr val="0070C0"/>
                    </a:solidFill>
                    <a:latin typeface="Cambria Math"/>
                  </a:rPr>
                  <a:t>𝑇</a:t>
                </a:r>
                <a:r>
                  <a:rPr lang="en-US" altLang="zh-CN" sz="1200" i="0">
                    <a:solidFill>
                      <a:srgbClr val="0070C0"/>
                    </a:solidFill>
                    <a:latin typeface="Cambria Math" panose="02040503050406030204" pitchFamily="18" charset="0"/>
                  </a:rPr>
                  <a:t>)</a:t>
                </a:r>
                <a:r>
                  <a:rPr lang="zh-CN" altLang="en-US" baseline="0" dirty="0"/>
                  <a:t>。</a:t>
                </a:r>
                <a:endParaRPr lang="en-US" altLang="zh-CN" baseline="0" dirty="0"/>
              </a:p>
              <a:p>
                <a:endParaRPr lang="en-US" altLang="zh-CN" baseline="0" dirty="0"/>
              </a:p>
              <a:p>
                <a:r>
                  <a:rPr lang="zh-CN" altLang="en-US" baseline="0" dirty="0"/>
                  <a:t>因此黑体辐射实际上反映了处在热平衡态下电磁辐射场的物理性质，因此这个问题联系了物理学的两大支柱：电动力学和热力学统计力学。</a:t>
                </a:r>
                <a:endParaRPr lang="en-US" altLang="zh-CN" baseline="0" dirty="0"/>
              </a:p>
              <a:p>
                <a:endParaRPr lang="zh-CN" altLang="en-US" baseline="0" dirty="0"/>
              </a:p>
              <a:p>
                <a:r>
                  <a:rPr lang="zh-CN" altLang="en-US" baseline="0" dirty="0"/>
                  <a:t>所以说，基尔霍夫是位非常有洞察力的人。他向其他物理量学家提出了这样一个挑战，我已经证明了黑体辐射是个普适的函数，并且非常重要。但是目前它的形式还是个未知数，</a:t>
                </a:r>
                <a:endParaRPr lang="en-US" altLang="zh-CN" baseline="0" dirty="0"/>
              </a:p>
              <a:p>
                <a:r>
                  <a:rPr lang="zh-CN" altLang="en-US" baseline="0" dirty="0"/>
                  <a:t>你们谁可以把它测量出来，谁可以把它推导出来。但是基尔霍夫恐怕没有料到，他的这个问题，比他想象的还要重要许多。这个问题的解答我们留给下一讲继续讨论。</a:t>
                </a:r>
                <a:endParaRPr lang="en-US" dirty="0"/>
              </a:p>
            </p:txBody>
          </p:sp>
        </mc:Fallback>
      </mc:AlternateContent>
      <p:sp>
        <p:nvSpPr>
          <p:cNvPr id="4" name="Slide Number Placeholder 3"/>
          <p:cNvSpPr>
            <a:spLocks noGrp="1"/>
          </p:cNvSpPr>
          <p:nvPr>
            <p:ph type="sldNum" sz="quarter" idx="10"/>
          </p:nvPr>
        </p:nvSpPr>
        <p:spPr/>
        <p:txBody>
          <a:bodyPr/>
          <a:lstStyle/>
          <a:p>
            <a:fld id="{C08A642B-1D08-47C1-9385-1FDD33F8CE06}" type="slidenum">
              <a:rPr lang="en-US" smtClean="0"/>
              <a:t>9</a:t>
            </a:fld>
            <a:endParaRPr lang="en-US"/>
          </a:p>
        </p:txBody>
      </p:sp>
    </p:spTree>
    <p:extLst>
      <p:ext uri="{BB962C8B-B14F-4D97-AF65-F5344CB8AC3E}">
        <p14:creationId xmlns:p14="http://schemas.microsoft.com/office/powerpoint/2010/main" val="1932910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在看能量密度谱的时候，我们要注意一点，就是这个谱通常有两种表达方式。</a:t>
            </a:r>
            <a:endParaRPr lang="en-US" altLang="zh-CN" dirty="0"/>
          </a:p>
          <a:p>
            <a:r>
              <a:rPr lang="zh-CN" altLang="en-US" dirty="0"/>
              <a:t>一个是波长谱：它的横坐标是光的波长，纵坐标是。。。</a:t>
            </a:r>
            <a:endParaRPr lang="en-US" altLang="zh-CN" dirty="0"/>
          </a:p>
          <a:p>
            <a:r>
              <a:rPr lang="zh-CN" altLang="en-US" dirty="0"/>
              <a:t>在画光谱图的时候人们更习惯用波长谱，因为人们对光的波长更熟悉。</a:t>
            </a:r>
            <a:endParaRPr lang="en-US" altLang="zh-CN" dirty="0"/>
          </a:p>
          <a:p>
            <a:r>
              <a:rPr lang="zh-CN" altLang="en-US" dirty="0"/>
              <a:t>另一个是频率谱：它的横坐标是光的频率，纵坐标是。。。</a:t>
            </a:r>
            <a:endParaRPr lang="en-US" altLang="zh-CN" dirty="0"/>
          </a:p>
          <a:p>
            <a:r>
              <a:rPr lang="zh-CN" altLang="en-US" dirty="0"/>
              <a:t>在讨论黑体辐射公式的时候人们更喜欢用频率谱来表达。原因我们后面就会知道。就是光子的能量正比于它的频率。</a:t>
            </a:r>
            <a:endParaRPr lang="en-US" altLang="zh-CN" dirty="0"/>
          </a:p>
          <a:p>
            <a:r>
              <a:rPr lang="zh-CN" altLang="en-US" dirty="0"/>
              <a:t>这两个函数可以借助以下关系互相转换。最终的转换公式可以作为一个练习留给大家。</a:t>
            </a:r>
          </a:p>
        </p:txBody>
      </p:sp>
      <p:sp>
        <p:nvSpPr>
          <p:cNvPr id="4" name="Slide Number Placeholder 3"/>
          <p:cNvSpPr>
            <a:spLocks noGrp="1"/>
          </p:cNvSpPr>
          <p:nvPr>
            <p:ph type="sldNum" sz="quarter" idx="10"/>
          </p:nvPr>
        </p:nvSpPr>
        <p:spPr/>
        <p:txBody>
          <a:bodyPr/>
          <a:lstStyle/>
          <a:p>
            <a:fld id="{C08A642B-1D08-47C1-9385-1FDD33F8CE06}" type="slidenum">
              <a:rPr lang="en-US" smtClean="0"/>
              <a:t>10</a:t>
            </a:fld>
            <a:endParaRPr lang="en-US"/>
          </a:p>
        </p:txBody>
      </p:sp>
    </p:spTree>
    <p:extLst>
      <p:ext uri="{BB962C8B-B14F-4D97-AF65-F5344CB8AC3E}">
        <p14:creationId xmlns:p14="http://schemas.microsoft.com/office/powerpoint/2010/main" val="3577893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r>
              <a:rPr lang="zh-CN" altLang="en-US" dirty="0"/>
              <a:t>第一个黑体辐射的公式是由</a:t>
            </a:r>
            <a:r>
              <a:rPr lang="en-US" altLang="zh-CN" dirty="0"/>
              <a:t>Wien</a:t>
            </a:r>
            <a:r>
              <a:rPr lang="zh-CN" altLang="en-US" dirty="0"/>
              <a:t>给出的，初看拟合得还不错。但更精确的实验发现，</a:t>
            </a:r>
            <a:r>
              <a:rPr lang="en-US" altLang="zh-CN" dirty="0" err="1"/>
              <a:t>wien</a:t>
            </a:r>
            <a:r>
              <a:rPr lang="zh-CN" altLang="en-US" dirty="0"/>
              <a:t>公式只能拟合短波处的黑体辐射，在长波处则不适用。</a:t>
            </a:r>
            <a:endParaRPr lang="en-US" altLang="zh-CN" dirty="0"/>
          </a:p>
          <a:p>
            <a:r>
              <a:rPr lang="zh-CN" altLang="en-US" dirty="0"/>
              <a:t>在长波处，黑体辐射逐渐逼近另一个公式，称为瑞利金斯公式。</a:t>
            </a:r>
            <a:endParaRPr lang="en-US" altLang="zh-CN" dirty="0"/>
          </a:p>
        </p:txBody>
      </p:sp>
      <p:sp>
        <p:nvSpPr>
          <p:cNvPr id="4" name="Slide Number Placeholder 3"/>
          <p:cNvSpPr>
            <a:spLocks noGrp="1"/>
          </p:cNvSpPr>
          <p:nvPr>
            <p:ph type="sldNum" sz="quarter" idx="10"/>
          </p:nvPr>
        </p:nvSpPr>
        <p:spPr/>
        <p:txBody>
          <a:bodyPr/>
          <a:lstStyle/>
          <a:p>
            <a:fld id="{C08A642B-1D08-47C1-9385-1FDD33F8CE06}" type="slidenum">
              <a:rPr lang="en-US" smtClean="0"/>
              <a:t>11</a:t>
            </a:fld>
            <a:endParaRPr lang="en-US"/>
          </a:p>
        </p:txBody>
      </p:sp>
    </p:spTree>
    <p:extLst>
      <p:ext uri="{BB962C8B-B14F-4D97-AF65-F5344CB8AC3E}">
        <p14:creationId xmlns:p14="http://schemas.microsoft.com/office/powerpoint/2010/main" val="236207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普朗克公式的能量密度可以写成两项的乘积，我们将看到第一项代表模密度，第二项代表单模平均能量。</a:t>
            </a:r>
            <a:endParaRPr lang="en-US" altLang="zh-CN" dirty="0"/>
          </a:p>
          <a:p>
            <a:r>
              <a:rPr lang="zh-CN" altLang="en-US" dirty="0"/>
              <a:t>要获得某个频率间隔内光的能量，首先算出这个频率间隔内电磁波有多少种的振荡模式，再乘以每种模式的平均能量。</a:t>
            </a:r>
          </a:p>
        </p:txBody>
      </p:sp>
      <p:sp>
        <p:nvSpPr>
          <p:cNvPr id="4" name="Slide Number Placeholder 3"/>
          <p:cNvSpPr>
            <a:spLocks noGrp="1"/>
          </p:cNvSpPr>
          <p:nvPr>
            <p:ph type="sldNum" sz="quarter" idx="10"/>
          </p:nvPr>
        </p:nvSpPr>
        <p:spPr/>
        <p:txBody>
          <a:bodyPr/>
          <a:lstStyle/>
          <a:p>
            <a:fld id="{C08A642B-1D08-47C1-9385-1FDD33F8CE06}" type="slidenum">
              <a:rPr lang="en-US" smtClean="0"/>
              <a:t>12</a:t>
            </a:fld>
            <a:endParaRPr lang="en-US"/>
          </a:p>
        </p:txBody>
      </p:sp>
    </p:spTree>
    <p:extLst>
      <p:ext uri="{BB962C8B-B14F-4D97-AF65-F5344CB8AC3E}">
        <p14:creationId xmlns:p14="http://schemas.microsoft.com/office/powerpoint/2010/main" val="1229679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r>
              <a:rPr lang="zh-CN" altLang="en-US" dirty="0"/>
              <a:t>这个表达式里，</a:t>
            </a:r>
            <a:r>
              <a:rPr lang="en-US" altLang="zh-CN" dirty="0" err="1"/>
              <a:t>xyz</a:t>
            </a:r>
            <a:r>
              <a:rPr lang="zh-CN" altLang="en-US" dirty="0"/>
              <a:t>代表空腔中的某个位置，</a:t>
            </a:r>
            <a:r>
              <a:rPr lang="en-US" altLang="zh-CN" dirty="0"/>
              <a:t>E</a:t>
            </a:r>
            <a:r>
              <a:rPr lang="zh-CN" altLang="en-US" dirty="0"/>
              <a:t>是该位置的电场强度。</a:t>
            </a:r>
            <a:endParaRPr lang="en-US" altLang="zh-CN" dirty="0"/>
          </a:p>
          <a:p>
            <a:r>
              <a:rPr lang="zh-CN" altLang="en-US" dirty="0"/>
              <a:t>解里有四个不确定的参数，</a:t>
            </a:r>
            <a:r>
              <a:rPr lang="en-US" altLang="zh-CN" dirty="0"/>
              <a:t>n1,n2,n3</a:t>
            </a:r>
            <a:r>
              <a:rPr lang="zh-CN" altLang="en-US" dirty="0"/>
              <a:t>以及波长</a:t>
            </a:r>
            <a:r>
              <a:rPr lang="en-US" altLang="zh-CN" dirty="0"/>
              <a:t>lambda</a:t>
            </a:r>
            <a:r>
              <a:rPr lang="zh-CN" altLang="en-US" dirty="0"/>
              <a:t>，但这个四个参数满足右边这个关系，因此只有三个是独立的。</a:t>
            </a:r>
            <a:endParaRPr lang="en-US" altLang="zh-CN" dirty="0"/>
          </a:p>
          <a:p>
            <a:r>
              <a:rPr lang="zh-CN" altLang="en-US" dirty="0"/>
              <a:t>我们不妨选择</a:t>
            </a:r>
            <a:r>
              <a:rPr lang="en-US" altLang="zh-CN" dirty="0"/>
              <a:t>n1,n2,n3</a:t>
            </a:r>
            <a:r>
              <a:rPr lang="zh-CN" altLang="en-US" dirty="0"/>
              <a:t>。也就是说这</a:t>
            </a:r>
            <a:r>
              <a:rPr lang="en-US" altLang="zh-CN" dirty="0"/>
              <a:t>3</a:t>
            </a:r>
            <a:r>
              <a:rPr lang="zh-CN" altLang="en-US" dirty="0"/>
              <a:t>个数决定了电磁波的振荡模式，即光模。因此每一组（</a:t>
            </a:r>
            <a:r>
              <a:rPr lang="en-US" altLang="zh-CN" dirty="0"/>
              <a:t>n1</a:t>
            </a:r>
            <a:r>
              <a:rPr lang="zh-CN" altLang="en-US" dirty="0"/>
              <a:t>，</a:t>
            </a:r>
            <a:r>
              <a:rPr lang="en-US" altLang="zh-CN" dirty="0"/>
              <a:t>n2</a:t>
            </a:r>
            <a:r>
              <a:rPr lang="zh-CN" altLang="en-US" dirty="0"/>
              <a:t>，</a:t>
            </a:r>
            <a:r>
              <a:rPr lang="en-US" altLang="zh-CN" dirty="0"/>
              <a:t>n3</a:t>
            </a:r>
            <a:r>
              <a:rPr lang="zh-CN" altLang="en-US" dirty="0"/>
              <a:t>），就可以标识一个光模。</a:t>
            </a:r>
            <a:endParaRPr lang="en-US" altLang="zh-CN" dirty="0"/>
          </a:p>
          <a:p>
            <a:r>
              <a:rPr lang="zh-CN" altLang="en-US" dirty="0"/>
              <a:t>边界条件要求它们都为整数。因为当</a:t>
            </a:r>
            <a:r>
              <a:rPr lang="en-US" altLang="zh-CN" dirty="0"/>
              <a:t>n1</a:t>
            </a:r>
            <a:r>
              <a:rPr lang="zh-CN" altLang="en-US" dirty="0"/>
              <a:t>，</a:t>
            </a:r>
            <a:r>
              <a:rPr lang="en-US" altLang="zh-CN" dirty="0"/>
              <a:t>n2</a:t>
            </a:r>
            <a:r>
              <a:rPr lang="zh-CN" altLang="en-US" dirty="0"/>
              <a:t>，</a:t>
            </a:r>
            <a:r>
              <a:rPr lang="en-US" altLang="zh-CN" dirty="0"/>
              <a:t>n3</a:t>
            </a:r>
            <a:r>
              <a:rPr lang="zh-CN" altLang="en-US" dirty="0"/>
              <a:t>都是整数时，则</a:t>
            </a:r>
            <a:r>
              <a:rPr lang="en-US" altLang="zh-CN" dirty="0"/>
              <a:t>x</a:t>
            </a:r>
            <a:r>
              <a:rPr lang="zh-CN" altLang="en-US" dirty="0"/>
              <a:t>，</a:t>
            </a:r>
            <a:r>
              <a:rPr lang="en-US" altLang="zh-CN" dirty="0"/>
              <a:t>y</a:t>
            </a:r>
            <a:r>
              <a:rPr lang="zh-CN" altLang="en-US" dirty="0"/>
              <a:t>，</a:t>
            </a:r>
            <a:r>
              <a:rPr lang="en-US" altLang="zh-CN" dirty="0"/>
              <a:t>z</a:t>
            </a:r>
            <a:r>
              <a:rPr lang="zh-CN" altLang="en-US" dirty="0"/>
              <a:t>中无论哪个为</a:t>
            </a:r>
            <a:r>
              <a:rPr lang="en-US" altLang="zh-CN" dirty="0"/>
              <a:t>0</a:t>
            </a:r>
            <a:r>
              <a:rPr lang="zh-CN" altLang="en-US" dirty="0"/>
              <a:t>或</a:t>
            </a:r>
            <a:r>
              <a:rPr lang="en-US" altLang="zh-CN" dirty="0"/>
              <a:t>L</a:t>
            </a:r>
            <a:r>
              <a:rPr lang="zh-CN" altLang="en-US" dirty="0"/>
              <a:t>，则电场</a:t>
            </a:r>
            <a:r>
              <a:rPr lang="en-US" altLang="zh-CN" dirty="0"/>
              <a:t>E</a:t>
            </a:r>
            <a:r>
              <a:rPr lang="zh-CN" altLang="en-US" dirty="0"/>
              <a:t>就为</a:t>
            </a:r>
            <a:r>
              <a:rPr lang="en-US" altLang="zh-CN" dirty="0"/>
              <a:t>0</a:t>
            </a:r>
            <a:r>
              <a:rPr lang="zh-CN" altLang="en-US" dirty="0"/>
              <a:t>，符合边界条件。</a:t>
            </a:r>
            <a:endParaRPr lang="en-US" altLang="zh-CN" dirty="0"/>
          </a:p>
          <a:p>
            <a:r>
              <a:rPr lang="zh-CN" altLang="en-US" dirty="0"/>
              <a:t>为了以后推导的简便，我们把</a:t>
            </a:r>
            <a:r>
              <a:rPr lang="en-US" altLang="zh-CN" dirty="0"/>
              <a:t>n1</a:t>
            </a:r>
            <a:r>
              <a:rPr lang="zh-CN" altLang="en-US" dirty="0"/>
              <a:t>，</a:t>
            </a:r>
            <a:r>
              <a:rPr lang="en-US" altLang="zh-CN" dirty="0"/>
              <a:t>n2</a:t>
            </a:r>
            <a:r>
              <a:rPr lang="zh-CN" altLang="en-US" dirty="0"/>
              <a:t>，</a:t>
            </a:r>
            <a:r>
              <a:rPr lang="en-US" altLang="zh-CN" dirty="0"/>
              <a:t>n3</a:t>
            </a:r>
            <a:r>
              <a:rPr lang="zh-CN" altLang="en-US" dirty="0"/>
              <a:t>都乘以</a:t>
            </a:r>
            <a:r>
              <a:rPr lang="en-US" altLang="zh-CN" dirty="0"/>
              <a:t>pi/L</a:t>
            </a:r>
            <a:r>
              <a:rPr lang="en-US" altLang="zh-CN" baseline="0" dirty="0"/>
              <a:t>, </a:t>
            </a:r>
            <a:r>
              <a:rPr lang="zh-CN" altLang="en-US" baseline="0" dirty="0"/>
              <a:t>叫做</a:t>
            </a:r>
            <a:r>
              <a:rPr lang="en-US" altLang="zh-CN" baseline="0" dirty="0" err="1"/>
              <a:t>kx</a:t>
            </a:r>
            <a:r>
              <a:rPr lang="zh-CN" altLang="en-US" baseline="0" dirty="0"/>
              <a:t>，</a:t>
            </a:r>
            <a:r>
              <a:rPr lang="en-US" altLang="zh-CN" baseline="0" dirty="0" err="1"/>
              <a:t>ky</a:t>
            </a:r>
            <a:r>
              <a:rPr lang="zh-CN" altLang="en-US" baseline="0" dirty="0"/>
              <a:t>，</a:t>
            </a:r>
            <a:r>
              <a:rPr lang="en-US" altLang="zh-CN" baseline="0" dirty="0" err="1"/>
              <a:t>kz</a:t>
            </a:r>
            <a:r>
              <a:rPr lang="zh-CN" altLang="en-US" baseline="0" dirty="0"/>
              <a:t>。用它们代替</a:t>
            </a:r>
            <a:r>
              <a:rPr lang="en-US" altLang="zh-CN" baseline="0" dirty="0"/>
              <a:t>n</a:t>
            </a:r>
            <a:r>
              <a:rPr lang="zh-CN" altLang="en-US" baseline="0" dirty="0"/>
              <a:t>，来标识光模。</a:t>
            </a:r>
            <a:endParaRPr lang="en-US" altLang="zh-CN" baseline="0" dirty="0"/>
          </a:p>
          <a:p>
            <a:r>
              <a:rPr lang="zh-CN" altLang="en-US" baseline="0" dirty="0"/>
              <a:t>我们还注意到，</a:t>
            </a:r>
            <a:r>
              <a:rPr lang="en-US" altLang="zh-CN" baseline="0" dirty="0" err="1"/>
              <a:t>kx</a:t>
            </a:r>
            <a:r>
              <a:rPr lang="zh-CN" altLang="en-US" baseline="0" dirty="0"/>
              <a:t>，</a:t>
            </a:r>
            <a:r>
              <a:rPr lang="en-US" altLang="zh-CN" baseline="0" dirty="0" err="1"/>
              <a:t>ky</a:t>
            </a:r>
            <a:r>
              <a:rPr lang="zh-CN" altLang="en-US" baseline="0" dirty="0"/>
              <a:t>，</a:t>
            </a:r>
            <a:r>
              <a:rPr lang="en-US" altLang="zh-CN" baseline="0" dirty="0" err="1"/>
              <a:t>kz</a:t>
            </a:r>
            <a:r>
              <a:rPr lang="zh-CN" altLang="en-US" baseline="0" dirty="0"/>
              <a:t>的平方和就等于</a:t>
            </a:r>
            <a:r>
              <a:rPr lang="en-US" altLang="zh-CN" baseline="0" dirty="0"/>
              <a:t>k</a:t>
            </a:r>
            <a:r>
              <a:rPr lang="zh-CN" altLang="en-US" baseline="0" dirty="0"/>
              <a:t>方。</a:t>
            </a:r>
            <a:endParaRPr lang="en-US" altLang="zh-CN" baseline="0" dirty="0"/>
          </a:p>
        </p:txBody>
      </p:sp>
      <p:sp>
        <p:nvSpPr>
          <p:cNvPr id="4" name="Slide Number Placeholder 3"/>
          <p:cNvSpPr>
            <a:spLocks noGrp="1"/>
          </p:cNvSpPr>
          <p:nvPr>
            <p:ph type="sldNum" sz="quarter" idx="10"/>
          </p:nvPr>
        </p:nvSpPr>
        <p:spPr/>
        <p:txBody>
          <a:bodyPr/>
          <a:lstStyle/>
          <a:p>
            <a:fld id="{C08A642B-1D08-47C1-9385-1FDD33F8CE06}" type="slidenum">
              <a:rPr lang="en-US" smtClean="0"/>
              <a:t>13</a:t>
            </a:fld>
            <a:endParaRPr lang="en-US"/>
          </a:p>
        </p:txBody>
      </p:sp>
    </p:spTree>
    <p:extLst>
      <p:ext uri="{BB962C8B-B14F-4D97-AF65-F5344CB8AC3E}">
        <p14:creationId xmlns:p14="http://schemas.microsoft.com/office/powerpoint/2010/main" val="16638615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找到了可能的光模后，接下来我们就来数一数频率在</a:t>
                </a:r>
                <a:r>
                  <a:rPr lang="en-US" altLang="zh-CN" dirty="0"/>
                  <a:t>v</a:t>
                </a:r>
                <a:r>
                  <a:rPr lang="zh-CN" altLang="en-US" dirty="0"/>
                  <a:t>到</a:t>
                </a:r>
                <a:r>
                  <a:rPr lang="en-US" altLang="zh-CN" dirty="0" err="1"/>
                  <a:t>v+dv</a:t>
                </a:r>
                <a:r>
                  <a:rPr lang="zh-CN" altLang="en-US" dirty="0"/>
                  <a:t>之间有多少个光模</a:t>
                </a:r>
                <a:endParaRPr lang="en-US" altLang="zh-CN" dirty="0"/>
              </a:p>
              <a:p>
                <a:r>
                  <a:rPr lang="zh-CN" altLang="en-US" dirty="0"/>
                  <a:t>。。。</a:t>
                </a:r>
                <a:endParaRPr lang="en-US" altLang="zh-CN" dirty="0"/>
              </a:p>
              <a:p>
                <a:r>
                  <a:rPr lang="zh-CN" altLang="en-US" dirty="0"/>
                  <a:t>一个格点代表一种光模。</a:t>
                </a:r>
                <a:endParaRPr lang="en-US" altLang="zh-CN" dirty="0"/>
              </a:p>
              <a:p>
                <a:r>
                  <a:rPr lang="zh-CN" altLang="en-US" dirty="0">
                    <a:solidFill>
                      <a:srgbClr val="0070C0"/>
                    </a:solidFill>
                  </a:rPr>
                  <a:t>我们问波矢大小在</a:t>
                </a:r>
                <a14:m>
                  <m:oMath xmlns:m="http://schemas.openxmlformats.org/officeDocument/2006/math">
                    <m:r>
                      <a:rPr lang="en-US" altLang="zh-CN" i="1">
                        <a:solidFill>
                          <a:srgbClr val="0070C0"/>
                        </a:solidFill>
                        <a:latin typeface="Cambria Math" panose="02040503050406030204" pitchFamily="18" charset="0"/>
                      </a:rPr>
                      <m:t>𝑘</m:t>
                    </m:r>
                    <m:r>
                      <a:rPr lang="en-US" altLang="zh-CN" i="1">
                        <a:solidFill>
                          <a:srgbClr val="0070C0"/>
                        </a:solidFill>
                        <a:latin typeface="Cambria Math" panose="02040503050406030204" pitchFamily="18" charset="0"/>
                      </a:rPr>
                      <m:t>~</m:t>
                    </m:r>
                    <m:r>
                      <a:rPr lang="en-US" altLang="zh-CN" i="1">
                        <a:solidFill>
                          <a:srgbClr val="0070C0"/>
                        </a:solidFill>
                        <a:latin typeface="Cambria Math" panose="02040503050406030204" pitchFamily="18" charset="0"/>
                      </a:rPr>
                      <m:t>𝑘</m:t>
                    </m:r>
                    <m:r>
                      <a:rPr lang="en-US" altLang="zh-CN" i="1">
                        <a:solidFill>
                          <a:srgbClr val="0070C0"/>
                        </a:solidFill>
                        <a:latin typeface="Cambria Math" panose="02040503050406030204" pitchFamily="18" charset="0"/>
                      </a:rPr>
                      <m:t>+</m:t>
                    </m:r>
                    <m:r>
                      <a:rPr lang="en-US" altLang="zh-CN" i="1">
                        <a:solidFill>
                          <a:srgbClr val="0070C0"/>
                        </a:solidFill>
                        <a:latin typeface="Cambria Math" panose="02040503050406030204" pitchFamily="18" charset="0"/>
                      </a:rPr>
                      <m:t>𝑑𝑘</m:t>
                    </m:r>
                  </m:oMath>
                </a14:m>
                <a:r>
                  <a:rPr lang="zh-CN" altLang="en-US" dirty="0"/>
                  <a:t>范围内的有多少个光模呢？</a:t>
                </a:r>
                <a:endParaRPr lang="en-US" altLang="zh-CN" dirty="0"/>
              </a:p>
              <a:p>
                <a:r>
                  <a:rPr lang="zh-CN" altLang="en-US" dirty="0"/>
                  <a:t>由于</a:t>
                </a:r>
                <a14:m>
                  <m:oMath xmlns:m="http://schemas.openxmlformats.org/officeDocument/2006/math">
                    <m:sSubSup>
                      <m:sSubSupPr>
                        <m:ctrlPr>
                          <a:rPr lang="en-US" altLang="zh-CN" sz="1300" i="1">
                            <a:latin typeface="Cambria Math" panose="02040503050406030204" pitchFamily="18" charset="0"/>
                            <a:ea typeface="黑体" panose="02010609060101010101" pitchFamily="49" charset="-122"/>
                          </a:rPr>
                        </m:ctrlPr>
                      </m:sSubSupPr>
                      <m:e>
                        <m:r>
                          <a:rPr lang="en-US" altLang="zh-CN" sz="1300" i="1">
                            <a:latin typeface="Cambria Math" panose="02040503050406030204" pitchFamily="18" charset="0"/>
                            <a:ea typeface="黑体" panose="02010609060101010101" pitchFamily="49" charset="-122"/>
                          </a:rPr>
                          <m:t>𝑘</m:t>
                        </m:r>
                      </m:e>
                      <m:sub>
                        <m:r>
                          <a:rPr lang="en-US" altLang="zh-CN" sz="1300" i="1">
                            <a:latin typeface="Cambria Math" panose="02040503050406030204" pitchFamily="18" charset="0"/>
                            <a:ea typeface="黑体" panose="02010609060101010101" pitchFamily="49" charset="-122"/>
                          </a:rPr>
                          <m:t>𝑥</m:t>
                        </m:r>
                      </m:sub>
                      <m:sup>
                        <m:r>
                          <a:rPr lang="en-US" altLang="zh-CN" sz="1300" i="1">
                            <a:latin typeface="Cambria Math" panose="02040503050406030204" pitchFamily="18" charset="0"/>
                            <a:ea typeface="黑体" panose="02010609060101010101" pitchFamily="49" charset="-122"/>
                          </a:rPr>
                          <m:t>2</m:t>
                        </m:r>
                      </m:sup>
                    </m:sSubSup>
                    <m:r>
                      <a:rPr lang="en-US" altLang="zh-CN" sz="1300" i="1">
                        <a:latin typeface="Cambria Math" panose="02040503050406030204" pitchFamily="18" charset="0"/>
                        <a:ea typeface="黑体" panose="02010609060101010101" pitchFamily="49" charset="-122"/>
                      </a:rPr>
                      <m:t>+</m:t>
                    </m:r>
                    <m:sSubSup>
                      <m:sSubSupPr>
                        <m:ctrlPr>
                          <a:rPr lang="en-US" altLang="zh-CN" sz="1300" i="1">
                            <a:latin typeface="Cambria Math" panose="02040503050406030204" pitchFamily="18" charset="0"/>
                            <a:ea typeface="黑体" panose="02010609060101010101" pitchFamily="49" charset="-122"/>
                          </a:rPr>
                        </m:ctrlPr>
                      </m:sSubSupPr>
                      <m:e>
                        <m:r>
                          <a:rPr lang="en-US" altLang="zh-CN" sz="1300" i="1">
                            <a:latin typeface="Cambria Math" panose="02040503050406030204" pitchFamily="18" charset="0"/>
                            <a:ea typeface="黑体" panose="02010609060101010101" pitchFamily="49" charset="-122"/>
                          </a:rPr>
                          <m:t>𝑘</m:t>
                        </m:r>
                      </m:e>
                      <m:sub>
                        <m:r>
                          <a:rPr lang="en-US" altLang="zh-CN" sz="1300" i="1">
                            <a:latin typeface="Cambria Math" panose="02040503050406030204" pitchFamily="18" charset="0"/>
                            <a:ea typeface="黑体" panose="02010609060101010101" pitchFamily="49" charset="-122"/>
                          </a:rPr>
                          <m:t>𝑦</m:t>
                        </m:r>
                      </m:sub>
                      <m:sup>
                        <m:r>
                          <a:rPr lang="en-US" altLang="zh-CN" sz="1300" i="1">
                            <a:latin typeface="Cambria Math" panose="02040503050406030204" pitchFamily="18" charset="0"/>
                            <a:ea typeface="黑体" panose="02010609060101010101" pitchFamily="49" charset="-122"/>
                          </a:rPr>
                          <m:t>2</m:t>
                        </m:r>
                      </m:sup>
                    </m:sSubSup>
                    <m:r>
                      <a:rPr lang="en-US" altLang="zh-CN" sz="1300" i="1">
                        <a:latin typeface="Cambria Math" panose="02040503050406030204" pitchFamily="18" charset="0"/>
                        <a:ea typeface="黑体" panose="02010609060101010101" pitchFamily="49" charset="-122"/>
                      </a:rPr>
                      <m:t>+</m:t>
                    </m:r>
                    <m:sSubSup>
                      <m:sSubSupPr>
                        <m:ctrlPr>
                          <a:rPr lang="en-US" altLang="zh-CN" sz="1300" i="1">
                            <a:latin typeface="Cambria Math" panose="02040503050406030204" pitchFamily="18" charset="0"/>
                            <a:ea typeface="黑体" panose="02010609060101010101" pitchFamily="49" charset="-122"/>
                          </a:rPr>
                        </m:ctrlPr>
                      </m:sSubSupPr>
                      <m:e>
                        <m:r>
                          <a:rPr lang="en-US" altLang="zh-CN" sz="1300" i="1">
                            <a:latin typeface="Cambria Math" panose="02040503050406030204" pitchFamily="18" charset="0"/>
                            <a:ea typeface="黑体" panose="02010609060101010101" pitchFamily="49" charset="-122"/>
                          </a:rPr>
                          <m:t>𝑘</m:t>
                        </m:r>
                      </m:e>
                      <m:sub>
                        <m:r>
                          <a:rPr lang="en-US" altLang="zh-CN" sz="1300" i="1">
                            <a:latin typeface="Cambria Math" panose="02040503050406030204" pitchFamily="18" charset="0"/>
                            <a:ea typeface="黑体" panose="02010609060101010101" pitchFamily="49" charset="-122"/>
                          </a:rPr>
                          <m:t>𝑧</m:t>
                        </m:r>
                      </m:sub>
                      <m:sup>
                        <m:r>
                          <a:rPr lang="en-US" altLang="zh-CN" sz="1300" i="1">
                            <a:latin typeface="Cambria Math" panose="02040503050406030204" pitchFamily="18" charset="0"/>
                            <a:ea typeface="黑体" panose="02010609060101010101" pitchFamily="49" charset="-122"/>
                          </a:rPr>
                          <m:t>2</m:t>
                        </m:r>
                      </m:sup>
                    </m:sSubSup>
                    <m:r>
                      <a:rPr lang="en-US" altLang="zh-CN" sz="1300" i="1">
                        <a:latin typeface="Cambria Math" panose="02040503050406030204" pitchFamily="18" charset="0"/>
                        <a:ea typeface="黑体" panose="02010609060101010101" pitchFamily="49" charset="-122"/>
                      </a:rPr>
                      <m:t>=</m:t>
                    </m:r>
                    <m:sSup>
                      <m:sSupPr>
                        <m:ctrlPr>
                          <a:rPr lang="en-US" altLang="zh-CN" sz="1300" i="1">
                            <a:latin typeface="Cambria Math" panose="02040503050406030204" pitchFamily="18" charset="0"/>
                            <a:ea typeface="黑体" panose="02010609060101010101" pitchFamily="49" charset="-122"/>
                          </a:rPr>
                        </m:ctrlPr>
                      </m:sSupPr>
                      <m:e>
                        <m:r>
                          <a:rPr lang="en-US" altLang="zh-CN" sz="1300" i="1">
                            <a:latin typeface="Cambria Math" panose="02040503050406030204" pitchFamily="18" charset="0"/>
                            <a:ea typeface="黑体" panose="02010609060101010101" pitchFamily="49" charset="-122"/>
                          </a:rPr>
                          <m:t>𝑘</m:t>
                        </m:r>
                      </m:e>
                      <m:sup>
                        <m:r>
                          <a:rPr lang="en-US" altLang="zh-CN" sz="1300" i="1">
                            <a:latin typeface="Cambria Math" panose="02040503050406030204" pitchFamily="18" charset="0"/>
                            <a:ea typeface="黑体" panose="02010609060101010101" pitchFamily="49" charset="-122"/>
                          </a:rPr>
                          <m:t>2</m:t>
                        </m:r>
                      </m:sup>
                    </m:sSup>
                  </m:oMath>
                </a14:m>
                <a:r>
                  <a:rPr lang="zh-CN" altLang="en-US" dirty="0"/>
                  <a:t>，对于任一个格点，</a:t>
                </a:r>
                <a:r>
                  <a:rPr lang="en-US" altLang="zh-CN" dirty="0"/>
                  <a:t>k</a:t>
                </a:r>
                <a:r>
                  <a:rPr lang="zh-CN" altLang="en-US" dirty="0"/>
                  <a:t>就是它到坐标原点的距离。因此我们可以以坐标原点为中心，用</a:t>
                </a:r>
                <a:r>
                  <a:rPr lang="en-US" altLang="zh-CN" dirty="0"/>
                  <a:t>k</a:t>
                </a:r>
                <a:r>
                  <a:rPr lang="zh-CN" altLang="en-US" dirty="0"/>
                  <a:t>为半径，</a:t>
                </a:r>
                <a:r>
                  <a:rPr lang="en-US" altLang="zh-CN" dirty="0" err="1"/>
                  <a:t>dk</a:t>
                </a:r>
                <a:r>
                  <a:rPr lang="zh-CN" altLang="en-US" dirty="0"/>
                  <a:t>为厚度画一个球壳。</a:t>
                </a:r>
                <a:endParaRPr lang="en-US" altLang="zh-CN" dirty="0"/>
              </a:p>
              <a:p>
                <a:pPr defTabSz="990727">
                  <a:defRPr/>
                </a:pPr>
                <a:r>
                  <a:rPr lang="zh-CN" altLang="en-US" dirty="0"/>
                  <a:t>由于一个格点代表一种光模。因此落在球壳里的格点数，就代表符合范围条件的光模数。</a:t>
                </a:r>
                <a:endParaRPr lang="en-US" altLang="zh-CN" dirty="0"/>
              </a:p>
              <a:p>
                <a:pPr defTabSz="990727">
                  <a:defRPr/>
                </a:pPr>
                <a:r>
                  <a:rPr lang="zh-CN" altLang="en-US" dirty="0"/>
                  <a:t>而这个格点数就等于球壳的体积，除以每个格点所占的体积。</a:t>
                </a:r>
              </a:p>
            </p:txBody>
          </p:sp>
        </mc:Choice>
        <mc:Fallback xmlns="">
          <p:sp>
            <p:nvSpPr>
              <p:cNvPr id="3" name="Notes Placeholder 2"/>
              <p:cNvSpPr>
                <a:spLocks noGrp="1"/>
              </p:cNvSpPr>
              <p:nvPr>
                <p:ph type="body" idx="1"/>
              </p:nvPr>
            </p:nvSpPr>
            <p:spPr/>
            <p:txBody>
              <a:bodyPr/>
              <a:lstStyle/>
              <a:p>
                <a:r>
                  <a:rPr lang="zh-CN" altLang="en-US" dirty="0"/>
                  <a:t>接下来我们就来数一数在空腔内频率在</a:t>
                </a:r>
                <a:r>
                  <a:rPr lang="en-US" altLang="zh-CN" dirty="0"/>
                  <a:t>v</a:t>
                </a:r>
                <a:r>
                  <a:rPr lang="zh-CN" altLang="en-US" dirty="0"/>
                  <a:t>到</a:t>
                </a:r>
                <a:r>
                  <a:rPr lang="en-US" altLang="zh-CN" dirty="0" err="1"/>
                  <a:t>v+dv</a:t>
                </a:r>
                <a:r>
                  <a:rPr lang="zh-CN" altLang="en-US" dirty="0"/>
                  <a:t>之间有多少种可能的驻波。</a:t>
                </a:r>
                <a:endParaRPr lang="en-US" altLang="zh-CN" dirty="0"/>
              </a:p>
              <a:p>
                <a:r>
                  <a:rPr lang="zh-CN" altLang="en-US" dirty="0"/>
                  <a:t>一个格点代表一种光模。</a:t>
                </a:r>
                <a:endParaRPr lang="en-US" altLang="zh-CN" dirty="0"/>
              </a:p>
              <a:p>
                <a:r>
                  <a:rPr lang="zh-CN" altLang="en-US" dirty="0">
                    <a:solidFill>
                      <a:srgbClr val="0070C0"/>
                    </a:solidFill>
                  </a:rPr>
                  <a:t>我们问波矢大小在</a:t>
                </a:r>
                <a:r>
                  <a:rPr lang="en-US" altLang="zh-CN" i="0">
                    <a:solidFill>
                      <a:srgbClr val="0070C0"/>
                    </a:solidFill>
                    <a:latin typeface="Cambria Math" panose="02040503050406030204" pitchFamily="18" charset="0"/>
                  </a:rPr>
                  <a:t>𝑘~𝑘+𝑑𝑘</a:t>
                </a:r>
                <a:r>
                  <a:rPr lang="zh-CN" altLang="en-US" dirty="0"/>
                  <a:t>范围内的有多少个光模呢？</a:t>
                </a:r>
                <a:endParaRPr lang="en-US" altLang="zh-CN" dirty="0"/>
              </a:p>
              <a:p>
                <a:r>
                  <a:rPr lang="zh-CN" altLang="en-US" dirty="0"/>
                  <a:t>由于</a:t>
                </a:r>
                <a:r>
                  <a:rPr lang="en-US" altLang="zh-CN" sz="1200" i="0">
                    <a:latin typeface="Cambria Math" panose="02040503050406030204" pitchFamily="18" charset="0"/>
                    <a:ea typeface="黑体" panose="02010609060101010101" pitchFamily="49" charset="-122"/>
                  </a:rPr>
                  <a:t>𝑘_𝑥^2+𝑘_𝑦^2+𝑘_𝑧^2=𝑘^2</a:t>
                </a:r>
                <a:r>
                  <a:rPr lang="zh-CN" altLang="en-US" dirty="0"/>
                  <a:t>，对于任一个格点，</a:t>
                </a:r>
                <a:r>
                  <a:rPr lang="en-US" altLang="zh-CN" dirty="0"/>
                  <a:t>k</a:t>
                </a:r>
                <a:r>
                  <a:rPr lang="zh-CN" altLang="en-US" dirty="0"/>
                  <a:t>就是它到坐标原点的距离。因此我们可以以坐标原点为中心，用</a:t>
                </a:r>
                <a:r>
                  <a:rPr lang="en-US" altLang="zh-CN" dirty="0"/>
                  <a:t>k</a:t>
                </a:r>
                <a:r>
                  <a:rPr lang="zh-CN" altLang="en-US" dirty="0"/>
                  <a:t>为半径，</a:t>
                </a:r>
                <a:r>
                  <a:rPr lang="en-US" altLang="zh-CN" dirty="0" err="1"/>
                  <a:t>dk</a:t>
                </a:r>
                <a:r>
                  <a:rPr lang="zh-CN" altLang="en-US" dirty="0"/>
                  <a:t>为厚度画一个球壳。</a:t>
                </a:r>
                <a:endParaRPr lang="en-US" altLang="zh-CN" dirty="0"/>
              </a:p>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dirty="0"/>
                  <a:t>由于一个格点代表一种光模。因此落在球壳里的格点数，就代表符合范围条件的光模数。</a:t>
                </a:r>
                <a:endParaRPr lang="en-US" altLang="zh-CN" dirty="0"/>
              </a:p>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dirty="0"/>
                  <a:t>而这个格点数就等于球壳的体积，除以每个格点所占的体积。</a:t>
                </a:r>
              </a:p>
            </p:txBody>
          </p:sp>
        </mc:Fallback>
      </mc:AlternateContent>
      <p:sp>
        <p:nvSpPr>
          <p:cNvPr id="4" name="Slide Number Placeholder 3"/>
          <p:cNvSpPr>
            <a:spLocks noGrp="1"/>
          </p:cNvSpPr>
          <p:nvPr>
            <p:ph type="sldNum" sz="quarter" idx="10"/>
          </p:nvPr>
        </p:nvSpPr>
        <p:spPr/>
        <p:txBody>
          <a:bodyPr/>
          <a:lstStyle/>
          <a:p>
            <a:fld id="{C08A642B-1D08-47C1-9385-1FDD33F8CE06}" type="slidenum">
              <a:rPr lang="en-US" smtClean="0"/>
              <a:t>14</a:t>
            </a:fld>
            <a:endParaRPr lang="en-US"/>
          </a:p>
        </p:txBody>
      </p:sp>
    </p:spTree>
    <p:extLst>
      <p:ext uri="{BB962C8B-B14F-4D97-AF65-F5344CB8AC3E}">
        <p14:creationId xmlns:p14="http://schemas.microsoft.com/office/powerpoint/2010/main" val="2889836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r>
              <a:rPr lang="zh-CN" altLang="en-US" dirty="0"/>
              <a:t>接下来我们来计算单模平均能量。尽管普朗克的起先的目标是为了否定统计力学，但他发现他不得不使用玻尔兹曼分布。</a:t>
            </a:r>
            <a:endParaRPr lang="en-US" altLang="zh-CN" dirty="0"/>
          </a:p>
          <a:p>
            <a:endParaRPr lang="en-US" altLang="zh-CN" dirty="0"/>
          </a:p>
          <a:p>
            <a:endParaRPr lang="en-US" altLang="zh-CN" dirty="0"/>
          </a:p>
        </p:txBody>
      </p:sp>
      <p:sp>
        <p:nvSpPr>
          <p:cNvPr id="4" name="Slide Number Placeholder 3"/>
          <p:cNvSpPr>
            <a:spLocks noGrp="1"/>
          </p:cNvSpPr>
          <p:nvPr>
            <p:ph type="sldNum" sz="quarter" idx="10"/>
          </p:nvPr>
        </p:nvSpPr>
        <p:spPr/>
        <p:txBody>
          <a:bodyPr/>
          <a:lstStyle/>
          <a:p>
            <a:fld id="{C08A642B-1D08-47C1-9385-1FDD33F8CE06}" type="slidenum">
              <a:rPr lang="en-US" smtClean="0"/>
              <a:t>15</a:t>
            </a:fld>
            <a:endParaRPr lang="en-US"/>
          </a:p>
        </p:txBody>
      </p:sp>
    </p:spTree>
    <p:extLst>
      <p:ext uri="{BB962C8B-B14F-4D97-AF65-F5344CB8AC3E}">
        <p14:creationId xmlns:p14="http://schemas.microsoft.com/office/powerpoint/2010/main" val="3634178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尽管普朗克的起先的目标是为了否定统计力学，但他发现他不得不使用玻尔兹曼分布。</a:t>
                </a:r>
                <a:endParaRPr lang="en-US" altLang="zh-CN" dirty="0"/>
              </a:p>
              <a:p>
                <a:endParaRPr lang="en-US" altLang="zh-CN" dirty="0"/>
              </a:p>
              <a:p>
                <a:r>
                  <a:rPr lang="zh-CN" altLang="en-US" dirty="0"/>
                  <a:t>普朗克公式的最终形式里把原来的拟合常数</a:t>
                </a:r>
                <a:r>
                  <a:rPr lang="en-US" altLang="zh-CN" dirty="0"/>
                  <a:t>beta</a:t>
                </a:r>
                <a:r>
                  <a:rPr lang="zh-CN" altLang="en-US" dirty="0"/>
                  <a:t>换成了新的常数</a:t>
                </a:r>
                <a:r>
                  <a:rPr lang="en-US" altLang="zh-CN" dirty="0"/>
                  <a:t>h</a:t>
                </a:r>
                <a:r>
                  <a:rPr lang="zh-CN" altLang="en-US" dirty="0"/>
                  <a:t>。它的值可以通过实验拟合确定。从量纲上看，</a:t>
                </a:r>
                <a:r>
                  <a:rPr lang="en-US" altLang="zh-CN" dirty="0" err="1"/>
                  <a:t>hv</a:t>
                </a:r>
                <a:r>
                  <a:rPr lang="zh-CN" altLang="en-US" dirty="0"/>
                  <a:t>代表某种能量。</a:t>
                </a:r>
                <a:endParaRPr lang="en-US" altLang="zh-CN" dirty="0"/>
              </a:p>
            </p:txBody>
          </p:sp>
        </mc:Choice>
        <mc:Fallback xmlns="">
          <p:sp>
            <p:nvSpPr>
              <p:cNvPr id="3" name="Notes Placeholder 2"/>
              <p:cNvSpPr>
                <a:spLocks noGrp="1"/>
              </p:cNvSpPr>
              <p:nvPr>
                <p:ph type="body" idx="1"/>
              </p:nvPr>
            </p:nvSpPr>
            <p:spPr/>
            <p:txBody>
              <a:bodyPr/>
              <a:lstStyle/>
              <a:p>
                <a:r>
                  <a:rPr lang="zh-CN" altLang="en-US" dirty="0"/>
                  <a:t>接下来我们来处理单模平均能量，右上角是我们的最终目标，普朗克拟合公式。</a:t>
                </a:r>
                <a:endParaRPr lang="en-US" altLang="zh-CN" dirty="0"/>
              </a:p>
              <a:p>
                <a:r>
                  <a:rPr lang="zh-CN" altLang="en-US" dirty="0"/>
                  <a:t>尽管普朗克的起先的目标是为了否定统计力学，但他发现他不得不使用玻尔兹曼分布。</a:t>
                </a:r>
                <a:endParaRPr lang="en-US" altLang="zh-CN" dirty="0"/>
              </a:p>
              <a:p>
                <a:r>
                  <a:rPr lang="zh-CN" altLang="en-US" dirty="0"/>
                  <a:t>这条路走不通，但是</a:t>
                </a:r>
                <a:r>
                  <a:rPr lang="zh-CN" altLang="en-US" sz="1200" dirty="0">
                    <a:latin typeface="黑体" panose="02010609060101010101" pitchFamily="49" charset="-122"/>
                    <a:ea typeface="黑体" panose="02010609060101010101" pitchFamily="49" charset="-122"/>
                  </a:rPr>
                  <a:t>上面得到</a:t>
                </a:r>
                <a:r>
                  <a:rPr lang="en-US" altLang="zh-CN" sz="1200" dirty="0">
                    <a:solidFill>
                      <a:srgbClr val="0070C0"/>
                    </a:solidFill>
                  </a:rPr>
                  <a:t> </a:t>
                </a:r>
                <a:r>
                  <a:rPr lang="en-US" altLang="zh-CN" sz="1200" i="0">
                    <a:solidFill>
                      <a:srgbClr val="0070C0"/>
                    </a:solidFill>
                    <a:latin typeface="Cambria Math"/>
                  </a:rPr>
                  <a:t>𝑢</a:t>
                </a:r>
                <a:r>
                  <a:rPr lang="en-US" altLang="zh-CN" sz="1200" i="0">
                    <a:solidFill>
                      <a:srgbClr val="0070C0"/>
                    </a:solidFill>
                    <a:latin typeface="Cambria Math" panose="02040503050406030204" pitchFamily="18" charset="0"/>
                  </a:rPr>
                  <a:t>_</a:t>
                </a:r>
                <a:r>
                  <a:rPr lang="en-US" altLang="zh-CN" sz="1200" i="0">
                    <a:solidFill>
                      <a:srgbClr val="0070C0"/>
                    </a:solidFill>
                    <a:latin typeface="Cambria Math"/>
                  </a:rPr>
                  <a:t>𝜈</a:t>
                </a:r>
                <a:r>
                  <a:rPr lang="en-US" altLang="zh-CN" sz="1200" i="0">
                    <a:solidFill>
                      <a:srgbClr val="0070C0"/>
                    </a:solidFill>
                    <a:latin typeface="Cambria Math" panose="02040503050406030204" pitchFamily="18" charset="0"/>
                  </a:rPr>
                  <a:t> (</a:t>
                </a:r>
                <a:r>
                  <a:rPr lang="en-US" altLang="zh-CN" sz="1200" i="0">
                    <a:solidFill>
                      <a:srgbClr val="0070C0"/>
                    </a:solidFill>
                    <a:latin typeface="Cambria Math"/>
                  </a:rPr>
                  <a:t>𝑇</a:t>
                </a:r>
                <a:r>
                  <a:rPr lang="en-US" altLang="zh-CN" sz="1200" b="0" i="0">
                    <a:solidFill>
                      <a:srgbClr val="0070C0"/>
                    </a:solidFill>
                    <a:latin typeface="Cambria Math" panose="02040503050406030204" pitchFamily="18" charset="0"/>
                  </a:rPr>
                  <a:t>,𝜈)</a:t>
                </a:r>
                <a:r>
                  <a:rPr lang="zh-CN" altLang="en-US" sz="1200" dirty="0">
                    <a:latin typeface="黑体" panose="02010609060101010101" pitchFamily="49" charset="-122"/>
                    <a:ea typeface="黑体" panose="02010609060101010101" pitchFamily="49" charset="-122"/>
                  </a:rPr>
                  <a:t>正好符合低频极限的瑞</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金公式</a:t>
                </a:r>
                <a:r>
                  <a:rPr lang="zh-CN" altLang="en-US" sz="1200" dirty="0"/>
                  <a:t>：</a:t>
                </a:r>
                <a:r>
                  <a:rPr lang="en-US" altLang="zh-CN" sz="1200" i="0">
                    <a:solidFill>
                      <a:srgbClr val="0070C0"/>
                    </a:solidFill>
                    <a:latin typeface="Cambria Math" panose="02040503050406030204" pitchFamily="18" charset="0"/>
                  </a:rPr>
                  <a:t>𝛼𝜈^2 𝑇</a:t>
                </a:r>
                <a:r>
                  <a:rPr lang="zh-CN" altLang="en-US" dirty="0"/>
                  <a:t>，由此可以得到原本是实验拟合常数</a:t>
                </a:r>
                <a:r>
                  <a:rPr lang="en-US" altLang="zh-CN" sz="1200" i="0">
                    <a:solidFill>
                      <a:srgbClr val="0070C0"/>
                    </a:solidFill>
                    <a:latin typeface="Cambria Math" panose="02040503050406030204" pitchFamily="18" charset="0"/>
                  </a:rPr>
                  <a:t>𝛼</a:t>
                </a:r>
                <a:r>
                  <a:rPr lang="zh-CN" altLang="en-US" dirty="0"/>
                  <a:t>的表达式</a:t>
                </a:r>
                <a:endParaRPr lang="en-US" altLang="zh-CN" dirty="0"/>
              </a:p>
              <a:p>
                <a:endParaRPr lang="en-US" altLang="zh-CN" dirty="0"/>
              </a:p>
              <a:p>
                <a:r>
                  <a:rPr lang="zh-CN" altLang="en-US" dirty="0"/>
                  <a:t>普朗克公式的最终形式里把原来的拟合常数</a:t>
                </a:r>
                <a:r>
                  <a:rPr lang="en-US" altLang="zh-CN" dirty="0"/>
                  <a:t>beta</a:t>
                </a:r>
                <a:r>
                  <a:rPr lang="zh-CN" altLang="en-US" dirty="0"/>
                  <a:t>换成了新的常数</a:t>
                </a:r>
                <a:r>
                  <a:rPr lang="en-US" altLang="zh-CN" dirty="0"/>
                  <a:t>h</a:t>
                </a:r>
                <a:r>
                  <a:rPr lang="zh-CN" altLang="en-US" dirty="0"/>
                  <a:t>。它的值可以通过实验拟合确定为。。。</a:t>
                </a:r>
                <a:endParaRPr lang="en-US" altLang="zh-CN" dirty="0"/>
              </a:p>
              <a:p>
                <a:r>
                  <a:rPr lang="zh-CN" altLang="en-US" dirty="0"/>
                  <a:t>这个最终的普朗克公式和玻尔兹曼分布的联系更明显了，而且显示</a:t>
                </a:r>
                <a:r>
                  <a:rPr lang="en-US" altLang="zh-CN" dirty="0" err="1"/>
                  <a:t>hv</a:t>
                </a:r>
                <a:r>
                  <a:rPr lang="zh-CN" altLang="en-US" dirty="0"/>
                  <a:t>代表某种能量。</a:t>
                </a:r>
                <a:endParaRPr lang="en-US" altLang="zh-CN" dirty="0"/>
              </a:p>
            </p:txBody>
          </p:sp>
        </mc:Fallback>
      </mc:AlternateContent>
      <p:sp>
        <p:nvSpPr>
          <p:cNvPr id="4" name="Slide Number Placeholder 3"/>
          <p:cNvSpPr>
            <a:spLocks noGrp="1"/>
          </p:cNvSpPr>
          <p:nvPr>
            <p:ph type="sldNum" sz="quarter" idx="10"/>
          </p:nvPr>
        </p:nvSpPr>
        <p:spPr/>
        <p:txBody>
          <a:bodyPr/>
          <a:lstStyle/>
          <a:p>
            <a:fld id="{C08A642B-1D08-47C1-9385-1FDD33F8CE06}" type="slidenum">
              <a:rPr lang="en-US" smtClean="0"/>
              <a:t>16</a:t>
            </a:fld>
            <a:endParaRPr lang="en-US"/>
          </a:p>
        </p:txBody>
      </p:sp>
    </p:spTree>
    <p:extLst>
      <p:ext uri="{BB962C8B-B14F-4D97-AF65-F5344CB8AC3E}">
        <p14:creationId xmlns:p14="http://schemas.microsoft.com/office/powerpoint/2010/main" val="4282801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17</a:t>
            </a:fld>
            <a:endParaRPr lang="en-US"/>
          </a:p>
        </p:txBody>
      </p:sp>
    </p:spTree>
    <p:extLst>
      <p:ext uri="{BB962C8B-B14F-4D97-AF65-F5344CB8AC3E}">
        <p14:creationId xmlns:p14="http://schemas.microsoft.com/office/powerpoint/2010/main" val="5000092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US" sz="1300" dirty="0"/>
          </a:p>
          <a:p>
            <a:r>
              <a:rPr lang="zh-CN" altLang="en-US" dirty="0"/>
              <a:t>尽管普朗克公式由于其精确性被很快的接受了。 但是普朗克对能量量子化的态度非常含糊，仅仅把它当做数学处理手段，而不愿赋予任何物理意义。以至于量子化观点在后来的几年里没有引起任何人的注意，包括他自己。</a:t>
            </a:r>
            <a:endParaRPr lang="en-US" altLang="zh-CN" dirty="0"/>
          </a:p>
          <a:p>
            <a:r>
              <a:rPr lang="zh-CN" altLang="en-US" dirty="0"/>
              <a:t>直到</a:t>
            </a:r>
            <a:r>
              <a:rPr lang="en-US" altLang="zh-CN" dirty="0"/>
              <a:t>1905</a:t>
            </a:r>
            <a:r>
              <a:rPr lang="zh-CN" altLang="en-US" dirty="0"/>
              <a:t>年，年仅</a:t>
            </a:r>
            <a:r>
              <a:rPr lang="en-US" altLang="zh-CN" dirty="0"/>
              <a:t>26</a:t>
            </a:r>
            <a:r>
              <a:rPr lang="zh-CN" altLang="en-US" dirty="0"/>
              <a:t>岁的爱因斯坦才真正发现其中的奥秘，勇敢地提出了光量子的理论。打开了人类对于光的认识的新篇章。</a:t>
            </a:r>
            <a:endParaRPr lang="en-US" altLang="zh-CN" dirty="0"/>
          </a:p>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18</a:t>
            </a:fld>
            <a:endParaRPr lang="en-US"/>
          </a:p>
        </p:txBody>
      </p:sp>
    </p:spTree>
    <p:extLst>
      <p:ext uri="{BB962C8B-B14F-4D97-AF65-F5344CB8AC3E}">
        <p14:creationId xmlns:p14="http://schemas.microsoft.com/office/powerpoint/2010/main" val="1718728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19</a:t>
            </a:fld>
            <a:endParaRPr lang="en-US"/>
          </a:p>
        </p:txBody>
      </p:sp>
    </p:spTree>
    <p:extLst>
      <p:ext uri="{BB962C8B-B14F-4D97-AF65-F5344CB8AC3E}">
        <p14:creationId xmlns:p14="http://schemas.microsoft.com/office/powerpoint/2010/main" val="1250819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20</a:t>
            </a:fld>
            <a:endParaRPr lang="en-US"/>
          </a:p>
        </p:txBody>
      </p:sp>
    </p:spTree>
    <p:extLst>
      <p:ext uri="{BB962C8B-B14F-4D97-AF65-F5344CB8AC3E}">
        <p14:creationId xmlns:p14="http://schemas.microsoft.com/office/powerpoint/2010/main" val="30885344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我们说过，在实验室中人们可以用空腔黑体来创造一个接近完美的黑体辐射。然而最接近完美的黑体辐射却存在于自然界。它的温度只有</a:t>
            </a:r>
            <a:r>
              <a:rPr lang="en-US" altLang="zh-CN" dirty="0"/>
              <a:t>2.73 K</a:t>
            </a:r>
            <a:r>
              <a:rPr lang="zh-CN" altLang="en-US" dirty="0"/>
              <a:t>，这就是宇宙微波背景辐射。</a:t>
            </a:r>
            <a:endParaRPr lang="en-US" altLang="zh-CN" dirty="0"/>
          </a:p>
          <a:p>
            <a:r>
              <a:rPr lang="zh-CN" altLang="en-US" dirty="0"/>
              <a:t>宇宙起源时的大爆炸所残留的余热。红色</a:t>
            </a:r>
            <a:r>
              <a:rPr lang="en-US" altLang="zh-CN" dirty="0"/>
              <a:t>+</a:t>
            </a:r>
            <a:r>
              <a:rPr lang="zh-CN" altLang="en-US" dirty="0"/>
              <a:t>代表</a:t>
            </a:r>
            <a:r>
              <a:rPr lang="en-US" altLang="zh-CN" dirty="0"/>
              <a:t>COBE</a:t>
            </a:r>
            <a:r>
              <a:rPr lang="zh-CN" altLang="en-US" dirty="0"/>
              <a:t>（宇宙背景探索）卫星所观测到的数据，而绿色的实线则是普朗克黑体辐射公式。</a:t>
            </a:r>
            <a:endParaRPr lang="en-US" altLang="zh-CN" dirty="0"/>
          </a:p>
          <a:p>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21</a:t>
            </a:fld>
            <a:endParaRPr lang="en-US"/>
          </a:p>
        </p:txBody>
      </p:sp>
    </p:spTree>
    <p:extLst>
      <p:ext uri="{BB962C8B-B14F-4D97-AF65-F5344CB8AC3E}">
        <p14:creationId xmlns:p14="http://schemas.microsoft.com/office/powerpoint/2010/main" val="4265727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3"/>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041158720"/>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3" y="188641"/>
            <a:ext cx="8070980" cy="551589"/>
          </a:xfrm>
        </p:spPr>
        <p:txBody>
          <a:bodyPr>
            <a:noAutofit/>
          </a:bodyPr>
          <a:lstStyle>
            <a:lvl1pPr>
              <a:defRPr sz="2800" b="1">
                <a:latin typeface="+mj-lt"/>
                <a:ea typeface="黑体" panose="02010609060101010101" pitchFamily="49" charset="-122"/>
              </a:defRPr>
            </a:lvl1pPr>
          </a:lstStyle>
          <a:p>
            <a:r>
              <a:rPr lang="en-US" dirty="0"/>
              <a:t>Click to edit Master title style</a:t>
            </a:r>
          </a:p>
        </p:txBody>
      </p:sp>
      <p:sp>
        <p:nvSpPr>
          <p:cNvPr id="3" name="Content Placeholder 2"/>
          <p:cNvSpPr>
            <a:spLocks noGrp="1"/>
          </p:cNvSpPr>
          <p:nvPr>
            <p:ph idx="1"/>
          </p:nvPr>
        </p:nvSpPr>
        <p:spPr>
          <a:xfrm>
            <a:off x="457203" y="862155"/>
            <a:ext cx="8070980" cy="5663195"/>
          </a:xfrm>
        </p:spPr>
        <p:txBody>
          <a:bodyPr>
            <a:normAutofit/>
          </a:bodyPr>
          <a:lstStyle>
            <a:lvl1pPr>
              <a:spcBef>
                <a:spcPts val="1200"/>
              </a:spcBef>
              <a:defRPr sz="2800">
                <a:latin typeface="+mn-lt"/>
                <a:ea typeface="黑体" panose="02010609060101010101" pitchFamily="49" charset="-122"/>
              </a:defRPr>
            </a:lvl1pPr>
            <a:lvl2pPr>
              <a:spcBef>
                <a:spcPts val="1200"/>
              </a:spcBef>
              <a:defRPr sz="2400">
                <a:latin typeface="+mn-lt"/>
                <a:ea typeface="黑体" panose="02010609060101010101" pitchFamily="49" charset="-122"/>
              </a:defRPr>
            </a:lvl2pPr>
            <a:lvl3pPr>
              <a:spcBef>
                <a:spcPts val="1200"/>
              </a:spcBef>
              <a:defRPr sz="2000">
                <a:latin typeface="+mn-lt"/>
                <a:ea typeface="黑体" panose="02010609060101010101" pitchFamily="49" charset="-122"/>
              </a:defRPr>
            </a:lvl3pPr>
            <a:lvl4pPr>
              <a:spcBef>
                <a:spcPts val="1200"/>
              </a:spcBef>
              <a:defRPr sz="1800">
                <a:latin typeface="+mn-lt"/>
                <a:ea typeface="黑体" panose="02010609060101010101" pitchFamily="49" charset="-122"/>
              </a:defRPr>
            </a:lvl4pPr>
            <a:lvl5pPr>
              <a:spcBef>
                <a:spcPts val="1200"/>
              </a:spcBef>
              <a:defRPr sz="1800">
                <a:latin typeface="+mn-lt"/>
                <a:ea typeface="黑体" panose="02010609060101010101" pitchFamily="49"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954113"/>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8"/>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78" indent="0">
              <a:buNone/>
              <a:defRPr sz="1800">
                <a:solidFill>
                  <a:schemeClr val="tx1">
                    <a:tint val="75000"/>
                  </a:schemeClr>
                </a:solidFill>
              </a:defRPr>
            </a:lvl2pPr>
            <a:lvl3pPr marL="914354" indent="0">
              <a:buNone/>
              <a:defRPr sz="1600">
                <a:solidFill>
                  <a:schemeClr val="tx1">
                    <a:tint val="75000"/>
                  </a:schemeClr>
                </a:solidFill>
              </a:defRPr>
            </a:lvl3pPr>
            <a:lvl4pPr marL="1371532" indent="0">
              <a:buNone/>
              <a:defRPr sz="1400">
                <a:solidFill>
                  <a:schemeClr val="tx1">
                    <a:tint val="75000"/>
                  </a:schemeClr>
                </a:solidFill>
              </a:defRPr>
            </a:lvl4pPr>
            <a:lvl5pPr marL="1828709" indent="0">
              <a:buNone/>
              <a:defRPr sz="1400">
                <a:solidFill>
                  <a:schemeClr val="tx1">
                    <a:tint val="75000"/>
                  </a:schemeClr>
                </a:solidFill>
              </a:defRPr>
            </a:lvl5pPr>
            <a:lvl6pPr marL="2285886" indent="0">
              <a:buNone/>
              <a:defRPr sz="1400">
                <a:solidFill>
                  <a:schemeClr val="tx1">
                    <a:tint val="75000"/>
                  </a:schemeClr>
                </a:solidFill>
              </a:defRPr>
            </a:lvl6pPr>
            <a:lvl7pPr marL="2743062" indent="0">
              <a:buNone/>
              <a:defRPr sz="1400">
                <a:solidFill>
                  <a:schemeClr val="tx1">
                    <a:tint val="75000"/>
                  </a:schemeClr>
                </a:solidFill>
              </a:defRPr>
            </a:lvl7pPr>
            <a:lvl8pPr marL="3200240" indent="0">
              <a:buNone/>
              <a:defRPr sz="1400">
                <a:solidFill>
                  <a:schemeClr val="tx1">
                    <a:tint val="75000"/>
                  </a:schemeClr>
                </a:solidFill>
              </a:defRPr>
            </a:lvl8pPr>
            <a:lvl9pPr marL="3657418"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801842822"/>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6" name="Footer Placeholder 5"/>
          <p:cNvSpPr>
            <a:spLocks noGrp="1"/>
          </p:cNvSpPr>
          <p:nvPr>
            <p:ph type="ftr" sz="quarter" idx="11"/>
          </p:nvPr>
        </p:nvSpPr>
        <p:spPr>
          <a:xfrm>
            <a:off x="4165600" y="6356358"/>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395284077"/>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7"/>
            <a:ext cx="5386917" cy="639763"/>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3" y="1535117"/>
            <a:ext cx="5389033" cy="639763"/>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8" name="Footer Placeholder 7"/>
          <p:cNvSpPr>
            <a:spLocks noGrp="1"/>
          </p:cNvSpPr>
          <p:nvPr>
            <p:ph type="ftr" sz="quarter" idx="11"/>
          </p:nvPr>
        </p:nvSpPr>
        <p:spPr>
          <a:xfrm>
            <a:off x="4165600" y="6356358"/>
            <a:ext cx="3860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87001902"/>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Date Placeholder 2"/>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4" name="Footer Placeholder 3"/>
          <p:cNvSpPr>
            <a:spLocks noGrp="1"/>
          </p:cNvSpPr>
          <p:nvPr>
            <p:ph type="ftr" sz="quarter" idx="11"/>
          </p:nvPr>
        </p:nvSpPr>
        <p:spPr>
          <a:xfrm>
            <a:off x="4165600" y="6356358"/>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72301976"/>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3" name="Footer Placeholder 2"/>
          <p:cNvSpPr>
            <a:spLocks noGrp="1"/>
          </p:cNvSpPr>
          <p:nvPr>
            <p:ph type="ftr" sz="quarter" idx="11"/>
          </p:nvPr>
        </p:nvSpPr>
        <p:spPr>
          <a:xfrm>
            <a:off x="4165600" y="6356358"/>
            <a:ext cx="3860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94952059"/>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3"/>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8"/>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4"/>
            <a:ext cx="4011084" cy="4691063"/>
          </a:xfrm>
        </p:spPr>
        <p:txBody>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6" name="Footer Placeholder 5"/>
          <p:cNvSpPr>
            <a:spLocks noGrp="1"/>
          </p:cNvSpPr>
          <p:nvPr>
            <p:ph type="ftr" sz="quarter" idx="11"/>
          </p:nvPr>
        </p:nvSpPr>
        <p:spPr>
          <a:xfrm>
            <a:off x="4165600" y="6356358"/>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028200324"/>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4"/>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en-US"/>
          </a:p>
        </p:txBody>
      </p:sp>
      <p:sp>
        <p:nvSpPr>
          <p:cNvPr id="4" name="Text Placeholder 3"/>
          <p:cNvSpPr>
            <a:spLocks noGrp="1"/>
          </p:cNvSpPr>
          <p:nvPr>
            <p:ph type="body" sz="half" idx="2"/>
          </p:nvPr>
        </p:nvSpPr>
        <p:spPr>
          <a:xfrm>
            <a:off x="2389717" y="5367342"/>
            <a:ext cx="7315200" cy="804863"/>
          </a:xfrm>
        </p:spPr>
        <p:txBody>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6" name="Footer Placeholder 5"/>
          <p:cNvSpPr>
            <a:spLocks noGrp="1"/>
          </p:cNvSpPr>
          <p:nvPr>
            <p:ph type="ftr" sz="quarter" idx="11"/>
          </p:nvPr>
        </p:nvSpPr>
        <p:spPr>
          <a:xfrm>
            <a:off x="4165600" y="6356358"/>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04654389"/>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104889632"/>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6"/>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6"/>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114542566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392" y="188640"/>
            <a:ext cx="10972800" cy="57606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08720"/>
            <a:ext cx="10972800" cy="56166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60285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spd="slow">
    <p:push dir="u"/>
  </p:transition>
  <p:txStyles>
    <p:titleStyle>
      <a:lvl1pPr algn="ctr" defTabSz="914354" rtl="0" eaLnBrk="1" latinLnBrk="0" hangingPunct="1">
        <a:spcBef>
          <a:spcPct val="0"/>
        </a:spcBef>
        <a:buNone/>
        <a:defRPr sz="4400" kern="1200">
          <a:solidFill>
            <a:schemeClr val="tx1"/>
          </a:solidFill>
          <a:latin typeface="+mj-lt"/>
          <a:ea typeface="+mj-ea"/>
          <a:cs typeface="+mj-cs"/>
        </a:defRPr>
      </a:lvl1pPr>
    </p:titleStyle>
    <p:bodyStyle>
      <a:lvl1pPr marL="342882" indent="-342882" algn="l" defTabSz="914354"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13" indent="-285737" algn="l" defTabSz="914354"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42" indent="-228589" algn="l" defTabSz="914354"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20"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298"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474"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emf"/></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53.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http://www.google.com.hk/url?sa=i&amp;source=images&amp;cd=&amp;cad=rja&amp;docid=sWJp9Mlpp-u3FM&amp;tbnid=NFunsZ0Fuoe1aM:&amp;ved=0CAgQjRwwAA&amp;url=http://homework.uoregon.edu/pub/class/321/sp.html&amp;ei=vWg2Up2WN8SziQfbgoDoBQ&amp;psig=AFQjCNHEffN7KfQWOzFJciCMxNQ8KW7-Ow&amp;ust=1379383869954562"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27.png"/><Relationship Id="rId7" Type="http://schemas.openxmlformats.org/officeDocument/2006/relationships/image" Target="../media/image54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40.png"/><Relationship Id="rId5" Type="http://schemas.openxmlformats.org/officeDocument/2006/relationships/image" Target="../media/image430.png"/><Relationship Id="rId10" Type="http://schemas.openxmlformats.org/officeDocument/2006/relationships/image" Target="../media/image570.png"/><Relationship Id="rId9" Type="http://schemas.openxmlformats.org/officeDocument/2006/relationships/image" Target="../media/image560.png"/></Relationships>
</file>

<file path=ppt/slides/_rels/slide1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8.png"/><Relationship Id="rId7" Type="http://schemas.openxmlformats.org/officeDocument/2006/relationships/image" Target="../media/image6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72.png"/><Relationship Id="rId5" Type="http://schemas.openxmlformats.org/officeDocument/2006/relationships/image" Target="../media/image660.png"/><Relationship Id="rId4" Type="http://schemas.openxmlformats.org/officeDocument/2006/relationships/image" Target="../media/image650.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gif"/><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38.png"/><Relationship Id="rId7" Type="http://schemas.openxmlformats.org/officeDocument/2006/relationships/image" Target="../media/image7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90.png"/><Relationship Id="rId5" Type="http://schemas.openxmlformats.org/officeDocument/2006/relationships/image" Target="../media/image680.png"/><Relationship Id="rId4" Type="http://schemas.openxmlformats.org/officeDocument/2006/relationships/image" Target="../media/image82.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92.png"/><Relationship Id="rId4" Type="http://schemas.openxmlformats.org/officeDocument/2006/relationships/image" Target="../media/image90.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notesSlide" Target="../notesSlides/notesSlide19.xml"/><Relationship Id="rId16" Type="http://schemas.openxmlformats.org/officeDocument/2006/relationships/image" Target="../media/image106.png"/><Relationship Id="rId20"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50.jpeg"/><Relationship Id="rId15" Type="http://schemas.openxmlformats.org/officeDocument/2006/relationships/image" Target="../media/image105.png"/><Relationship Id="rId10" Type="http://schemas.openxmlformats.org/officeDocument/2006/relationships/image" Target="../media/image100.png"/><Relationship Id="rId19" Type="http://schemas.openxmlformats.org/officeDocument/2006/relationships/image" Target="../media/image109.png"/><Relationship Id="rId4" Type="http://schemas.openxmlformats.org/officeDocument/2006/relationships/image" Target="../media/image95.png"/><Relationship Id="rId9" Type="http://schemas.openxmlformats.org/officeDocument/2006/relationships/image" Target="../media/image99.png"/><Relationship Id="rId1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2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785" y="177582"/>
            <a:ext cx="7896939" cy="551589"/>
          </a:xfrm>
        </p:spPr>
        <p:txBody>
          <a:bodyPr/>
          <a:lstStyle/>
          <a:p>
            <a:r>
              <a:rPr lang="en-US" altLang="zh-CN" sz="3200" dirty="0"/>
              <a:t>Thermal radiation</a:t>
            </a:r>
            <a:endParaRPr lang="en-US" sz="3200" dirty="0"/>
          </a:p>
        </p:txBody>
      </p:sp>
      <p:grpSp>
        <p:nvGrpSpPr>
          <p:cNvPr id="21" name="Group 20">
            <a:extLst>
              <a:ext uri="{FF2B5EF4-FFF2-40B4-BE49-F238E27FC236}">
                <a16:creationId xmlns:a16="http://schemas.microsoft.com/office/drawing/2014/main" id="{7A6B279E-1B5E-4F5A-9D4D-D954CFC9413D}"/>
              </a:ext>
            </a:extLst>
          </p:cNvPr>
          <p:cNvGrpSpPr/>
          <p:nvPr/>
        </p:nvGrpSpPr>
        <p:grpSpPr>
          <a:xfrm flipH="1">
            <a:off x="7172150" y="968362"/>
            <a:ext cx="4027244" cy="3253252"/>
            <a:chOff x="5080173" y="1464655"/>
            <a:chExt cx="4027244" cy="3253252"/>
          </a:xfrm>
        </p:grpSpPr>
        <p:pic>
          <p:nvPicPr>
            <p:cNvPr id="22" name="Picture 21">
              <a:extLst>
                <a:ext uri="{FF2B5EF4-FFF2-40B4-BE49-F238E27FC236}">
                  <a16:creationId xmlns:a16="http://schemas.microsoft.com/office/drawing/2014/main" id="{63D9D438-616F-44A1-8E9B-9752042143BA}"/>
                </a:ext>
              </a:extLst>
            </p:cNvPr>
            <p:cNvPicPr>
              <a:picLocks noChangeAspect="1"/>
            </p:cNvPicPr>
            <p:nvPr/>
          </p:nvPicPr>
          <p:blipFill>
            <a:blip r:embed="rId3"/>
            <a:stretch>
              <a:fillRect/>
            </a:stretch>
          </p:blipFill>
          <p:spPr>
            <a:xfrm rot="16200000" flipH="1">
              <a:off x="6716595" y="2309140"/>
              <a:ext cx="3235307" cy="1546337"/>
            </a:xfrm>
            <a:prstGeom prst="rect">
              <a:avLst/>
            </a:prstGeom>
          </p:spPr>
        </p:pic>
        <p:grpSp>
          <p:nvGrpSpPr>
            <p:cNvPr id="23" name="Group 22">
              <a:extLst>
                <a:ext uri="{FF2B5EF4-FFF2-40B4-BE49-F238E27FC236}">
                  <a16:creationId xmlns:a16="http://schemas.microsoft.com/office/drawing/2014/main" id="{6C20ECA8-BC62-4ABF-980C-D248B41D6334}"/>
                </a:ext>
              </a:extLst>
            </p:cNvPr>
            <p:cNvGrpSpPr/>
            <p:nvPr/>
          </p:nvGrpSpPr>
          <p:grpSpPr>
            <a:xfrm>
              <a:off x="5080173" y="1464655"/>
              <a:ext cx="2178052" cy="3253252"/>
              <a:chOff x="7848529" y="3005301"/>
              <a:chExt cx="2444419" cy="3856716"/>
            </a:xfrm>
          </p:grpSpPr>
          <p:sp>
            <p:nvSpPr>
              <p:cNvPr id="24" name="Rectangle 23">
                <a:extLst>
                  <a:ext uri="{FF2B5EF4-FFF2-40B4-BE49-F238E27FC236}">
                    <a16:creationId xmlns:a16="http://schemas.microsoft.com/office/drawing/2014/main" id="{BD2EDCAC-84B9-4D83-A108-3EB6747958B5}"/>
                  </a:ext>
                </a:extLst>
              </p:cNvPr>
              <p:cNvSpPr/>
              <p:nvPr/>
            </p:nvSpPr>
            <p:spPr>
              <a:xfrm>
                <a:off x="7987275" y="5657953"/>
                <a:ext cx="2114760" cy="1204064"/>
              </a:xfrm>
              <a:prstGeom prst="rect">
                <a:avLst/>
              </a:prstGeom>
            </p:spPr>
            <p:txBody>
              <a:bodyPr wrap="square" lIns="0" rIns="0">
                <a:spAutoFit/>
              </a:bodyPr>
              <a:lstStyle/>
              <a:p>
                <a:pPr algn="ctr"/>
                <a:r>
                  <a:rPr lang="en-US" sz="2000" dirty="0">
                    <a:latin typeface="Times New Roman" panose="02020603050405020304" pitchFamily="18" charset="0"/>
                    <a:ea typeface="黑体" panose="02010609060101010101" pitchFamily="49" charset="-122"/>
                    <a:cs typeface="Times New Roman" panose="02020603050405020304" pitchFamily="18" charset="0"/>
                  </a:rPr>
                  <a:t>1800 Herschel’s d</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iscovery of the infrared radiation</a:t>
                </a:r>
                <a:endParaRPr 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5" name="Picture 24">
                <a:extLst>
                  <a:ext uri="{FF2B5EF4-FFF2-40B4-BE49-F238E27FC236}">
                    <a16:creationId xmlns:a16="http://schemas.microsoft.com/office/drawing/2014/main" id="{F0692B1B-8F2D-4188-910E-A85B793057BF}"/>
                  </a:ext>
                </a:extLst>
              </p:cNvPr>
              <p:cNvPicPr>
                <a:picLocks noChangeAspect="1"/>
              </p:cNvPicPr>
              <p:nvPr/>
            </p:nvPicPr>
            <p:blipFill>
              <a:blip r:embed="rId4"/>
              <a:stretch>
                <a:fillRect/>
              </a:stretch>
            </p:blipFill>
            <p:spPr>
              <a:xfrm>
                <a:off x="7848529" y="3005301"/>
                <a:ext cx="2444419" cy="2560820"/>
              </a:xfrm>
              <a:prstGeom prst="rect">
                <a:avLst/>
              </a:prstGeom>
            </p:spPr>
          </p:pic>
        </p:grpSp>
      </p:grpSp>
      <p:grpSp>
        <p:nvGrpSpPr>
          <p:cNvPr id="26" name="Group 25">
            <a:extLst>
              <a:ext uri="{FF2B5EF4-FFF2-40B4-BE49-F238E27FC236}">
                <a16:creationId xmlns:a16="http://schemas.microsoft.com/office/drawing/2014/main" id="{15D4C3D1-8507-4047-BE0C-270500685554}"/>
              </a:ext>
            </a:extLst>
          </p:cNvPr>
          <p:cNvGrpSpPr/>
          <p:nvPr/>
        </p:nvGrpSpPr>
        <p:grpSpPr>
          <a:xfrm>
            <a:off x="6514047" y="4540719"/>
            <a:ext cx="4978812" cy="2249999"/>
            <a:chOff x="5232977" y="4686269"/>
            <a:chExt cx="4668201" cy="1871541"/>
          </a:xfrm>
        </p:grpSpPr>
        <p:grpSp>
          <p:nvGrpSpPr>
            <p:cNvPr id="27" name="Group 26">
              <a:extLst>
                <a:ext uri="{FF2B5EF4-FFF2-40B4-BE49-F238E27FC236}">
                  <a16:creationId xmlns:a16="http://schemas.microsoft.com/office/drawing/2014/main" id="{23EBE4D0-EB06-4254-A0C8-BF1A31661140}"/>
                </a:ext>
              </a:extLst>
            </p:cNvPr>
            <p:cNvGrpSpPr/>
            <p:nvPr/>
          </p:nvGrpSpPr>
          <p:grpSpPr>
            <a:xfrm>
              <a:off x="5232977" y="4686269"/>
              <a:ext cx="4668201" cy="1871541"/>
              <a:chOff x="5666927" y="4501318"/>
              <a:chExt cx="4668201" cy="1871541"/>
            </a:xfrm>
          </p:grpSpPr>
          <p:pic>
            <p:nvPicPr>
              <p:cNvPr id="29" name="Picture 28">
                <a:extLst>
                  <a:ext uri="{FF2B5EF4-FFF2-40B4-BE49-F238E27FC236}">
                    <a16:creationId xmlns:a16="http://schemas.microsoft.com/office/drawing/2014/main" id="{6854288F-BC64-45E4-928E-161CDED6162E}"/>
                  </a:ext>
                </a:extLst>
              </p:cNvPr>
              <p:cNvPicPr>
                <a:picLocks noChangeAspect="1"/>
              </p:cNvPicPr>
              <p:nvPr/>
            </p:nvPicPr>
            <p:blipFill>
              <a:blip r:embed="rId5"/>
              <a:stretch>
                <a:fillRect/>
              </a:stretch>
            </p:blipFill>
            <p:spPr>
              <a:xfrm>
                <a:off x="6152398" y="4501318"/>
                <a:ext cx="4182730" cy="1594254"/>
              </a:xfrm>
              <a:prstGeom prst="rect">
                <a:avLst/>
              </a:prstGeom>
            </p:spPr>
          </p:pic>
          <p:sp>
            <p:nvSpPr>
              <p:cNvPr id="30" name="TextBox 29">
                <a:extLst>
                  <a:ext uri="{FF2B5EF4-FFF2-40B4-BE49-F238E27FC236}">
                    <a16:creationId xmlns:a16="http://schemas.microsoft.com/office/drawing/2014/main" id="{1398889B-ADE2-4251-8717-AC5271A5DEED}"/>
                  </a:ext>
                </a:extLst>
              </p:cNvPr>
              <p:cNvSpPr txBox="1"/>
              <p:nvPr/>
            </p:nvSpPr>
            <p:spPr>
              <a:xfrm rot="16200000">
                <a:off x="5189918" y="5116817"/>
                <a:ext cx="1271451" cy="317433"/>
              </a:xfrm>
              <a:prstGeom prst="rect">
                <a:avLst/>
              </a:prstGeom>
              <a:noFill/>
            </p:spPr>
            <p:txBody>
              <a:bodyPr vert="horz" wrap="none" rtlCol="0">
                <a:spAutoFit/>
              </a:bodyPr>
              <a:lstStyle/>
              <a:p>
                <a:pPr algn="ctr"/>
                <a:r>
                  <a:rPr lang="en-US" altLang="zh-CN" sz="1600" dirty="0">
                    <a:ea typeface="黑体" panose="02010609060101010101" pitchFamily="49" charset="-122"/>
                  </a:rPr>
                  <a:t>Spectral Density</a:t>
                </a:r>
                <a:endParaRPr lang="en-US" altLang="zh-CN" dirty="0">
                  <a:ea typeface="黑体" panose="02010609060101010101" pitchFamily="49" charset="-122"/>
                </a:endParaRPr>
              </a:p>
            </p:txBody>
          </p:sp>
          <p:sp>
            <p:nvSpPr>
              <p:cNvPr id="31" name="TextBox 30">
                <a:extLst>
                  <a:ext uri="{FF2B5EF4-FFF2-40B4-BE49-F238E27FC236}">
                    <a16:creationId xmlns:a16="http://schemas.microsoft.com/office/drawing/2014/main" id="{7CEB4E99-5FD7-4CB6-84EC-89326619584C}"/>
                  </a:ext>
                </a:extLst>
              </p:cNvPr>
              <p:cNvSpPr txBox="1"/>
              <p:nvPr/>
            </p:nvSpPr>
            <p:spPr>
              <a:xfrm>
                <a:off x="7642413" y="6091251"/>
                <a:ext cx="1144503" cy="281608"/>
              </a:xfrm>
              <a:prstGeom prst="rect">
                <a:avLst/>
              </a:prstGeom>
              <a:noFill/>
            </p:spPr>
            <p:txBody>
              <a:bodyPr wrap="none" rtlCol="0">
                <a:spAutoFit/>
              </a:bodyPr>
              <a:lstStyle/>
              <a:p>
                <a:r>
                  <a:rPr lang="en-US" altLang="zh-CN" sz="1600" dirty="0">
                    <a:ea typeface="黑体" panose="02010609060101010101" pitchFamily="49" charset="-122"/>
                  </a:rPr>
                  <a:t>Wave length</a:t>
                </a:r>
                <a:endParaRPr lang="en-US" dirty="0">
                  <a:ea typeface="黑体" panose="02010609060101010101" pitchFamily="49" charset="-122"/>
                </a:endParaRPr>
              </a:p>
            </p:txBody>
          </p:sp>
        </p:grpSp>
        <p:sp>
          <p:nvSpPr>
            <p:cNvPr id="28" name="TextBox 27">
              <a:extLst>
                <a:ext uri="{FF2B5EF4-FFF2-40B4-BE49-F238E27FC236}">
                  <a16:creationId xmlns:a16="http://schemas.microsoft.com/office/drawing/2014/main" id="{90955190-9C07-4DA2-BA7F-E8EE3D9AE12B}"/>
                </a:ext>
              </a:extLst>
            </p:cNvPr>
            <p:cNvSpPr txBox="1"/>
            <p:nvPr/>
          </p:nvSpPr>
          <p:spPr>
            <a:xfrm>
              <a:off x="8117914" y="4797994"/>
              <a:ext cx="1508108" cy="307209"/>
            </a:xfrm>
            <a:prstGeom prst="rect">
              <a:avLst/>
            </a:prstGeom>
            <a:noFill/>
          </p:spPr>
          <p:txBody>
            <a:bodyPr wrap="none" rtlCol="0">
              <a:spAutoFit/>
            </a:bodyPr>
            <a:lstStyle/>
            <a:p>
              <a:r>
                <a:rPr lang="en-US" altLang="zh-CN" dirty="0">
                  <a:solidFill>
                    <a:schemeClr val="bg1"/>
                  </a:solidFill>
                  <a:ea typeface="黑体" panose="02010609060101010101" pitchFamily="49" charset="-122"/>
                </a:rPr>
                <a:t>Sun’s spectrum</a:t>
              </a:r>
              <a:endParaRPr lang="en-US" dirty="0">
                <a:solidFill>
                  <a:schemeClr val="bg1"/>
                </a:solidFill>
                <a:ea typeface="黑体" panose="02010609060101010101" pitchFamily="49" charset="-122"/>
              </a:endParaRPr>
            </a:p>
          </p:txBody>
        </p:sp>
      </p:grpSp>
      <p:pic>
        <p:nvPicPr>
          <p:cNvPr id="32" name="Picture 31">
            <a:extLst>
              <a:ext uri="{FF2B5EF4-FFF2-40B4-BE49-F238E27FC236}">
                <a16:creationId xmlns:a16="http://schemas.microsoft.com/office/drawing/2014/main" id="{64EFACBE-0927-4E26-BD6D-658D384ACAA9}"/>
              </a:ext>
            </a:extLst>
          </p:cNvPr>
          <p:cNvPicPr>
            <a:picLocks noChangeAspect="1"/>
          </p:cNvPicPr>
          <p:nvPr/>
        </p:nvPicPr>
        <p:blipFill rotWithShape="1">
          <a:blip r:embed="rId6"/>
          <a:srcRect l="7232" t="6323"/>
          <a:stretch/>
        </p:blipFill>
        <p:spPr>
          <a:xfrm>
            <a:off x="458785" y="949744"/>
            <a:ext cx="6416331" cy="3279087"/>
          </a:xfrm>
          <a:prstGeom prst="rect">
            <a:avLst/>
          </a:prstGeom>
        </p:spPr>
      </p:pic>
      <p:pic>
        <p:nvPicPr>
          <p:cNvPr id="33" name="Picture 32">
            <a:extLst>
              <a:ext uri="{FF2B5EF4-FFF2-40B4-BE49-F238E27FC236}">
                <a16:creationId xmlns:a16="http://schemas.microsoft.com/office/drawing/2014/main" id="{16B62284-8B26-4903-BE2B-B1E5C069EA39}"/>
              </a:ext>
            </a:extLst>
          </p:cNvPr>
          <p:cNvPicPr>
            <a:picLocks noChangeAspect="1"/>
          </p:cNvPicPr>
          <p:nvPr/>
        </p:nvPicPr>
        <p:blipFill>
          <a:blip r:embed="rId7"/>
          <a:stretch>
            <a:fillRect/>
          </a:stretch>
        </p:blipFill>
        <p:spPr>
          <a:xfrm>
            <a:off x="458785" y="4308343"/>
            <a:ext cx="3314804" cy="2266898"/>
          </a:xfrm>
          <a:prstGeom prst="rect">
            <a:avLst/>
          </a:prstGeom>
        </p:spPr>
      </p:pic>
      <p:pic>
        <p:nvPicPr>
          <p:cNvPr id="3" name="Picture 2">
            <a:extLst>
              <a:ext uri="{FF2B5EF4-FFF2-40B4-BE49-F238E27FC236}">
                <a16:creationId xmlns:a16="http://schemas.microsoft.com/office/drawing/2014/main" id="{36313494-D4A5-4C1D-8376-35101F18140B}"/>
              </a:ext>
            </a:extLst>
          </p:cNvPr>
          <p:cNvPicPr>
            <a:picLocks noChangeAspect="1"/>
          </p:cNvPicPr>
          <p:nvPr/>
        </p:nvPicPr>
        <p:blipFill rotWithShape="1">
          <a:blip r:embed="rId8"/>
          <a:srcRect l="21343" t="22943" r="17963" b="13765"/>
          <a:stretch/>
        </p:blipFill>
        <p:spPr>
          <a:xfrm>
            <a:off x="4067053" y="4308343"/>
            <a:ext cx="1861904" cy="2266897"/>
          </a:xfrm>
          <a:prstGeom prst="rect">
            <a:avLst/>
          </a:prstGeom>
        </p:spPr>
      </p:pic>
    </p:spTree>
    <p:extLst>
      <p:ext uri="{BB962C8B-B14F-4D97-AF65-F5344CB8AC3E}">
        <p14:creationId xmlns:p14="http://schemas.microsoft.com/office/powerpoint/2010/main" val="38594992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rot="10800000">
            <a:off x="661739" y="4477729"/>
            <a:ext cx="5190562" cy="704660"/>
          </a:xfrm>
          <a:prstGeom prst="rect">
            <a:avLst/>
          </a:prstGeom>
        </p:spPr>
      </p:pic>
      <p:sp>
        <p:nvSpPr>
          <p:cNvPr id="2" name="Title 1"/>
          <p:cNvSpPr>
            <a:spLocks noGrp="1"/>
          </p:cNvSpPr>
          <p:nvPr>
            <p:ph type="title"/>
          </p:nvPr>
        </p:nvSpPr>
        <p:spPr/>
        <p:txBody>
          <a:bodyPr/>
          <a:lstStyle/>
          <a:p>
            <a:r>
              <a:rPr lang="en-US" altLang="zh-CN" sz="3200" dirty="0">
                <a:latin typeface="Times New Roman" panose="02020603050405020304" pitchFamily="18" charset="0"/>
                <a:cs typeface="Times New Roman" panose="02020603050405020304" pitchFamily="18" charset="0"/>
              </a:rPr>
              <a:t>Spectral lines</a:t>
            </a:r>
            <a:endParaRPr lang="en-US" sz="32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4"/>
          <a:stretch>
            <a:fillRect/>
          </a:stretch>
        </p:blipFill>
        <p:spPr>
          <a:xfrm>
            <a:off x="6725866" y="944024"/>
            <a:ext cx="3604633" cy="2691832"/>
          </a:xfrm>
          <a:prstGeom prst="rect">
            <a:avLst/>
          </a:prstGeom>
        </p:spPr>
      </p:pic>
      <p:sp>
        <p:nvSpPr>
          <p:cNvPr id="5" name="Rectangle 4"/>
          <p:cNvSpPr/>
          <p:nvPr/>
        </p:nvSpPr>
        <p:spPr>
          <a:xfrm>
            <a:off x="6247414" y="4550341"/>
            <a:ext cx="4183141" cy="646331"/>
          </a:xfrm>
          <a:prstGeom prst="rect">
            <a:avLst/>
          </a:prstGeom>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9858" indent="-169858">
              <a:buFont typeface="Arial" panose="020B0604020202020204" pitchFamily="34" charset="0"/>
              <a:buChar char="•"/>
            </a:pPr>
            <a:r>
              <a:rPr lang="en-US" altLang="zh-CN" dirty="0">
                <a:latin typeface="Times New Roman" panose="02020603050405020304" pitchFamily="18" charset="0"/>
                <a:ea typeface="黑体" panose="02010609060101010101" pitchFamily="49" charset="-122"/>
                <a:cs typeface="Times New Roman" panose="02020603050405020304" pitchFamily="18" charset="0"/>
              </a:rPr>
              <a:t>1814</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Fraunhofer discovered dark spectral lines in the  Sun’s spectrum</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 name="Picture 2" descr="http://faculty.wcas.northwestern.edu/%7Einfocom/Ideas/graphics/solar_spectrum2.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661737" y="4477729"/>
            <a:ext cx="5190561" cy="7046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6"/>
          <a:stretch>
            <a:fillRect/>
          </a:stretch>
        </p:blipFill>
        <p:spPr>
          <a:xfrm>
            <a:off x="644518" y="945725"/>
            <a:ext cx="5796843" cy="2690131"/>
          </a:xfrm>
          <a:prstGeom prst="rect">
            <a:avLst/>
          </a:prstGeom>
        </p:spPr>
      </p:pic>
      <p:sp>
        <p:nvSpPr>
          <p:cNvPr id="13" name="Rectangle 12"/>
          <p:cNvSpPr/>
          <p:nvPr/>
        </p:nvSpPr>
        <p:spPr>
          <a:xfrm>
            <a:off x="6815464" y="3734157"/>
            <a:ext cx="3615092" cy="369332"/>
          </a:xfrm>
          <a:prstGeom prst="rect">
            <a:avLst/>
          </a:prstGeom>
        </p:spPr>
        <p:txBody>
          <a:bodyPr wrap="none">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Fraunhofer:</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Founder of spectroscopy</a:t>
            </a:r>
          </a:p>
        </p:txBody>
      </p:sp>
      <p:pic>
        <p:nvPicPr>
          <p:cNvPr id="7" name="Picture 6"/>
          <p:cNvPicPr>
            <a:picLocks noChangeAspect="1"/>
          </p:cNvPicPr>
          <p:nvPr/>
        </p:nvPicPr>
        <p:blipFill>
          <a:blip r:embed="rId7"/>
          <a:stretch>
            <a:fillRect/>
          </a:stretch>
        </p:blipFill>
        <p:spPr>
          <a:xfrm>
            <a:off x="653125" y="5364471"/>
            <a:ext cx="5207783" cy="704762"/>
          </a:xfrm>
          <a:prstGeom prst="rect">
            <a:avLst/>
          </a:prstGeom>
        </p:spPr>
      </p:pic>
      <p:sp>
        <p:nvSpPr>
          <p:cNvPr id="12" name="TextBox 11">
            <a:extLst>
              <a:ext uri="{FF2B5EF4-FFF2-40B4-BE49-F238E27FC236}">
                <a16:creationId xmlns:a16="http://schemas.microsoft.com/office/drawing/2014/main" id="{5178CFAB-DE16-4DB0-A595-BB15CC2E9A71}"/>
              </a:ext>
            </a:extLst>
          </p:cNvPr>
          <p:cNvSpPr txBox="1"/>
          <p:nvPr/>
        </p:nvSpPr>
        <p:spPr>
          <a:xfrm>
            <a:off x="6170901" y="5422902"/>
            <a:ext cx="4259654" cy="646331"/>
          </a:xfrm>
          <a:prstGeom prst="rect">
            <a:avLst/>
          </a:prstGeom>
          <a:noFill/>
        </p:spPr>
        <p:txBody>
          <a:bodyPr wrap="square">
            <a:spAutoFit/>
          </a:bodyPr>
          <a:lstStyle/>
          <a:p>
            <a:pPr marL="169858" indent="-169858">
              <a:buFont typeface="Arial" panose="020B0604020202020204" pitchFamily="34" charset="0"/>
              <a:buChar char="•"/>
            </a:pPr>
            <a:r>
              <a:rPr lang="en-US" altLang="zh-CN" dirty="0">
                <a:latin typeface="Times New Roman" panose="02020603050405020304" pitchFamily="18" charset="0"/>
                <a:ea typeface="黑体" panose="02010609060101010101" pitchFamily="49" charset="-122"/>
                <a:cs typeface="Times New Roman" panose="02020603050405020304" pitchFamily="18" charset="0"/>
              </a:rPr>
              <a:t>Latter, he also observed bright lines in the spectrum of some materials</a:t>
            </a:r>
          </a:p>
        </p:txBody>
      </p:sp>
    </p:spTree>
    <p:extLst>
      <p:ext uri="{BB962C8B-B14F-4D97-AF65-F5344CB8AC3E}">
        <p14:creationId xmlns:p14="http://schemas.microsoft.com/office/powerpoint/2010/main" val="5431686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425" y="267848"/>
            <a:ext cx="8070980" cy="551589"/>
          </a:xfrm>
        </p:spPr>
        <p:txBody>
          <a:bodyPr/>
          <a:lstStyle/>
          <a:p>
            <a:r>
              <a:rPr lang="en-US" altLang="zh-CN" sz="3200" dirty="0">
                <a:latin typeface="Times New Roman" panose="02020603050405020304" pitchFamily="18" charset="0"/>
                <a:cs typeface="Times New Roman" panose="02020603050405020304" pitchFamily="18" charset="0"/>
              </a:rPr>
              <a:t>The characteristic spectra of substances</a:t>
            </a:r>
            <a:endParaRPr lang="en-US" sz="3200" dirty="0">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3"/>
          <a:stretch>
            <a:fillRect/>
          </a:stretch>
        </p:blipFill>
        <p:spPr>
          <a:xfrm>
            <a:off x="956379" y="4017668"/>
            <a:ext cx="3307490" cy="2214202"/>
          </a:xfrm>
          <a:prstGeom prst="rect">
            <a:avLst/>
          </a:prstGeom>
        </p:spPr>
      </p:pic>
      <p:pic>
        <p:nvPicPr>
          <p:cNvPr id="20" name="Picture 19"/>
          <p:cNvPicPr>
            <a:picLocks noChangeAspect="1"/>
          </p:cNvPicPr>
          <p:nvPr/>
        </p:nvPicPr>
        <p:blipFill>
          <a:blip r:embed="rId4"/>
          <a:stretch>
            <a:fillRect/>
          </a:stretch>
        </p:blipFill>
        <p:spPr>
          <a:xfrm>
            <a:off x="3506760" y="1262061"/>
            <a:ext cx="5228167" cy="2037189"/>
          </a:xfrm>
          <a:prstGeom prst="rect">
            <a:avLst/>
          </a:prstGeom>
        </p:spPr>
      </p:pic>
      <p:grpSp>
        <p:nvGrpSpPr>
          <p:cNvPr id="15" name="Group 14"/>
          <p:cNvGrpSpPr/>
          <p:nvPr/>
        </p:nvGrpSpPr>
        <p:grpSpPr>
          <a:xfrm>
            <a:off x="4869363" y="4017668"/>
            <a:ext cx="4358411" cy="2220370"/>
            <a:chOff x="1677699" y="4433064"/>
            <a:chExt cx="4358410" cy="2220371"/>
          </a:xfrm>
        </p:grpSpPr>
        <p:pic>
          <p:nvPicPr>
            <p:cNvPr id="10" name="Picture 9"/>
            <p:cNvPicPr>
              <a:picLocks noChangeAspect="1"/>
            </p:cNvPicPr>
            <p:nvPr/>
          </p:nvPicPr>
          <p:blipFill>
            <a:blip r:embed="rId5"/>
            <a:stretch>
              <a:fillRect/>
            </a:stretch>
          </p:blipFill>
          <p:spPr>
            <a:xfrm>
              <a:off x="1677699" y="4433064"/>
              <a:ext cx="3865563" cy="2214203"/>
            </a:xfrm>
            <a:prstGeom prst="rect">
              <a:avLst/>
            </a:prstGeom>
          </p:spPr>
        </p:pic>
        <p:sp>
          <p:nvSpPr>
            <p:cNvPr id="14" name="TextBox 13"/>
            <p:cNvSpPr txBox="1"/>
            <p:nvPr/>
          </p:nvSpPr>
          <p:spPr>
            <a:xfrm>
              <a:off x="5543262" y="4457961"/>
              <a:ext cx="492847" cy="2195474"/>
            </a:xfrm>
            <a:prstGeom prst="rect">
              <a:avLst/>
            </a:prstGeom>
            <a:noFill/>
          </p:spPr>
          <p:txBody>
            <a:bodyPr wrap="square" lIns="0" rIns="0" rtlCol="0">
              <a:spAutoFit/>
            </a:bodyPr>
            <a:lstStyle/>
            <a:p>
              <a:pPr algn="ctr">
                <a:spcBef>
                  <a:spcPts val="1400"/>
                </a:spcBef>
              </a:pPr>
              <a:r>
                <a:rPr lang="en-US" altLang="zh-CN" dirty="0">
                  <a:ea typeface="黑体" panose="02010609060101010101" pitchFamily="49" charset="-122"/>
                </a:rPr>
                <a:t>H</a:t>
              </a:r>
            </a:p>
            <a:p>
              <a:pPr algn="ctr">
                <a:spcBef>
                  <a:spcPts val="1400"/>
                </a:spcBef>
              </a:pPr>
              <a:r>
                <a:rPr lang="en-US" altLang="zh-CN" dirty="0">
                  <a:ea typeface="黑体" panose="02010609060101010101" pitchFamily="49" charset="-122"/>
                </a:rPr>
                <a:t>He</a:t>
              </a:r>
            </a:p>
            <a:p>
              <a:pPr algn="ctr">
                <a:spcBef>
                  <a:spcPts val="1400"/>
                </a:spcBef>
              </a:pPr>
              <a:r>
                <a:rPr lang="en-US" altLang="zh-CN" dirty="0">
                  <a:ea typeface="黑体" panose="02010609060101010101" pitchFamily="49" charset="-122"/>
                </a:rPr>
                <a:t>Ne</a:t>
              </a:r>
            </a:p>
            <a:p>
              <a:pPr algn="ctr">
                <a:spcBef>
                  <a:spcPts val="1400"/>
                </a:spcBef>
              </a:pPr>
              <a:r>
                <a:rPr lang="en-US" altLang="zh-CN" dirty="0">
                  <a:ea typeface="黑体" panose="02010609060101010101" pitchFamily="49" charset="-122"/>
                </a:rPr>
                <a:t>Na</a:t>
              </a:r>
            </a:p>
            <a:p>
              <a:pPr algn="ctr">
                <a:spcBef>
                  <a:spcPts val="1400"/>
                </a:spcBef>
              </a:pPr>
              <a:r>
                <a:rPr lang="en-US" dirty="0">
                  <a:ea typeface="黑体" panose="02010609060101010101" pitchFamily="49" charset="-122"/>
                </a:rPr>
                <a:t>Hg</a:t>
              </a:r>
            </a:p>
          </p:txBody>
        </p:sp>
      </p:grpSp>
      <p:pic>
        <p:nvPicPr>
          <p:cNvPr id="3" name="Picture 2"/>
          <p:cNvPicPr>
            <a:picLocks noChangeAspect="1"/>
          </p:cNvPicPr>
          <p:nvPr/>
        </p:nvPicPr>
        <p:blipFill>
          <a:blip r:embed="rId6"/>
          <a:stretch>
            <a:fillRect/>
          </a:stretch>
        </p:blipFill>
        <p:spPr>
          <a:xfrm>
            <a:off x="658760" y="1262062"/>
            <a:ext cx="2355248" cy="2037189"/>
          </a:xfrm>
          <a:prstGeom prst="rect">
            <a:avLst/>
          </a:prstGeom>
        </p:spPr>
      </p:pic>
    </p:spTree>
    <p:extLst>
      <p:ext uri="{BB962C8B-B14F-4D97-AF65-F5344CB8AC3E}">
        <p14:creationId xmlns:p14="http://schemas.microsoft.com/office/powerpoint/2010/main" val="24962473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566" y="191124"/>
            <a:ext cx="10638155" cy="551589"/>
          </a:xfrm>
        </p:spPr>
        <p:txBody>
          <a:bodyPr/>
          <a:lstStyle/>
          <a:p>
            <a:r>
              <a:rPr lang="en-US" altLang="zh-CN" sz="3200" dirty="0">
                <a:latin typeface="Times New Roman" panose="02020603050405020304" pitchFamily="18" charset="0"/>
                <a:cs typeface="Times New Roman" panose="02020603050405020304" pitchFamily="18" charset="0"/>
              </a:rPr>
              <a:t>The relation between the absorption and emission spectra</a:t>
            </a:r>
            <a:endParaRPr lang="en-US" sz="3200"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8C010A04-DCB6-4BB3-8C1E-C6EEC813179D}"/>
              </a:ext>
            </a:extLst>
          </p:cNvPr>
          <p:cNvGrpSpPr/>
          <p:nvPr/>
        </p:nvGrpSpPr>
        <p:grpSpPr>
          <a:xfrm>
            <a:off x="7571314" y="1062567"/>
            <a:ext cx="4356318" cy="3176330"/>
            <a:chOff x="6803674" y="1308675"/>
            <a:chExt cx="4488072" cy="3299547"/>
          </a:xfrm>
        </p:grpSpPr>
        <p:pic>
          <p:nvPicPr>
            <p:cNvPr id="5" name="Picture 4">
              <a:extLst>
                <a:ext uri="{FF2B5EF4-FFF2-40B4-BE49-F238E27FC236}">
                  <a16:creationId xmlns:a16="http://schemas.microsoft.com/office/drawing/2014/main" id="{4A54E074-5475-4107-BDF1-BD2F68DE9D02}"/>
                </a:ext>
              </a:extLst>
            </p:cNvPr>
            <p:cNvPicPr>
              <a:picLocks noChangeAspect="1"/>
            </p:cNvPicPr>
            <p:nvPr/>
          </p:nvPicPr>
          <p:blipFill>
            <a:blip r:embed="rId3"/>
            <a:stretch>
              <a:fillRect/>
            </a:stretch>
          </p:blipFill>
          <p:spPr>
            <a:xfrm>
              <a:off x="6803674" y="1557341"/>
              <a:ext cx="4488072" cy="3050881"/>
            </a:xfrm>
            <a:prstGeom prst="rect">
              <a:avLst/>
            </a:prstGeom>
          </p:spPr>
        </p:pic>
        <p:sp>
          <p:nvSpPr>
            <p:cNvPr id="6" name="Rectangle 5">
              <a:extLst>
                <a:ext uri="{FF2B5EF4-FFF2-40B4-BE49-F238E27FC236}">
                  <a16:creationId xmlns:a16="http://schemas.microsoft.com/office/drawing/2014/main" id="{BDCBD545-9249-4844-83D2-241BA5AE1A0C}"/>
                </a:ext>
              </a:extLst>
            </p:cNvPr>
            <p:cNvSpPr/>
            <p:nvPr/>
          </p:nvSpPr>
          <p:spPr>
            <a:xfrm>
              <a:off x="7240833" y="1308675"/>
              <a:ext cx="3613756" cy="248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82880" rtlCol="0" anchor="ctr">
              <a:scene3d>
                <a:camera prst="orthographicFront"/>
                <a:lightRig rig="threePt" dir="t"/>
              </a:scene3d>
              <a:sp3d extrusionH="57150">
                <a:bevelT w="38100" h="38100"/>
              </a:sp3d>
            </a:bodyPr>
            <a:lstStyle/>
            <a:p>
              <a:pPr algn="ctr"/>
              <a:r>
                <a:rPr lang="en-US" altLang="zh-CN" b="1" dirty="0">
                  <a:solidFill>
                    <a:srgbClr val="0070C0"/>
                  </a:solidFill>
                  <a:ea typeface="黑体" panose="02010609060101010101" pitchFamily="49" charset="-122"/>
                </a:rPr>
                <a:t>Modern Solar Spectrum</a:t>
              </a:r>
              <a:endParaRPr lang="en-US" b="1" dirty="0">
                <a:solidFill>
                  <a:srgbClr val="0070C0"/>
                </a:solidFill>
                <a:ea typeface="黑体" panose="02010609060101010101" pitchFamily="49" charset="-122"/>
              </a:endParaRPr>
            </a:p>
          </p:txBody>
        </p:sp>
      </p:grpSp>
      <p:pic>
        <p:nvPicPr>
          <p:cNvPr id="24" name="Picture 23"/>
          <p:cNvPicPr>
            <a:picLocks noChangeAspect="1"/>
          </p:cNvPicPr>
          <p:nvPr/>
        </p:nvPicPr>
        <p:blipFill>
          <a:blip r:embed="rId4"/>
          <a:stretch>
            <a:fillRect/>
          </a:stretch>
        </p:blipFill>
        <p:spPr>
          <a:xfrm>
            <a:off x="351272" y="896184"/>
            <a:ext cx="7130184" cy="3769876"/>
          </a:xfrm>
          <a:prstGeom prst="rect">
            <a:avLst/>
          </a:prstGeom>
        </p:spPr>
      </p:pic>
      <p:pic>
        <p:nvPicPr>
          <p:cNvPr id="7" name="Picture 6">
            <a:extLst>
              <a:ext uri="{FF2B5EF4-FFF2-40B4-BE49-F238E27FC236}">
                <a16:creationId xmlns:a16="http://schemas.microsoft.com/office/drawing/2014/main" id="{CBE327C3-3514-4FFE-9809-438D15CCC994}"/>
              </a:ext>
            </a:extLst>
          </p:cNvPr>
          <p:cNvPicPr>
            <a:picLocks noChangeAspect="1"/>
          </p:cNvPicPr>
          <p:nvPr/>
        </p:nvPicPr>
        <p:blipFill>
          <a:blip r:embed="rId5"/>
          <a:stretch>
            <a:fillRect/>
          </a:stretch>
        </p:blipFill>
        <p:spPr>
          <a:xfrm>
            <a:off x="652566" y="4891148"/>
            <a:ext cx="1294315" cy="1702023"/>
          </a:xfrm>
          <a:prstGeom prst="rect">
            <a:avLst/>
          </a:prstGeom>
        </p:spPr>
      </p:pic>
      <p:sp>
        <p:nvSpPr>
          <p:cNvPr id="8" name="TextBox 7">
            <a:extLst>
              <a:ext uri="{FF2B5EF4-FFF2-40B4-BE49-F238E27FC236}">
                <a16:creationId xmlns:a16="http://schemas.microsoft.com/office/drawing/2014/main" id="{3090DFEE-5F3E-46F2-A324-377C08CA6539}"/>
              </a:ext>
            </a:extLst>
          </p:cNvPr>
          <p:cNvSpPr txBox="1"/>
          <p:nvPr/>
        </p:nvSpPr>
        <p:spPr>
          <a:xfrm>
            <a:off x="2331286" y="4905440"/>
            <a:ext cx="9172023" cy="1477328"/>
          </a:xfrm>
          <a:prstGeom prst="rect">
            <a:avLst/>
          </a:prstGeom>
          <a:noFill/>
        </p:spPr>
        <p:txBody>
          <a:bodyPr wrap="square" rtlCol="0">
            <a:spAutoFit/>
          </a:bodyPr>
          <a:lstStyle/>
          <a:p>
            <a:pPr marL="225420" indent="-225420">
              <a:spcBef>
                <a:spcPts val="600"/>
              </a:spcBef>
              <a:buFont typeface="Arial" panose="020B0604020202020204" pitchFamily="34" charset="0"/>
              <a:buChar char="•"/>
            </a:pPr>
            <a:r>
              <a:rPr lang="en-US" altLang="zh-CN" sz="2000" dirty="0">
                <a:ea typeface="黑体" panose="02010609060101010101" pitchFamily="49" charset="-122"/>
              </a:rPr>
              <a:t>1859 Kirchhoff</a:t>
            </a:r>
            <a:r>
              <a:rPr lang="zh-CN" altLang="en-US" sz="2000" dirty="0">
                <a:ea typeface="黑体" panose="02010609060101010101" pitchFamily="49" charset="-122"/>
              </a:rPr>
              <a:t> </a:t>
            </a:r>
            <a:r>
              <a:rPr lang="en-US" altLang="zh-CN" sz="2000" dirty="0">
                <a:ea typeface="黑体" panose="02010609060101010101" pitchFamily="49" charset="-122"/>
              </a:rPr>
              <a:t>and Bunsen related the dark and bright lines</a:t>
            </a:r>
          </a:p>
          <a:p>
            <a:pPr marL="225420" indent="-225420">
              <a:spcBef>
                <a:spcPts val="600"/>
              </a:spcBef>
              <a:buFont typeface="Arial" panose="020B0604020202020204" pitchFamily="34" charset="0"/>
              <a:buChar char="•"/>
            </a:pPr>
            <a:r>
              <a:rPr lang="en-US" altLang="zh-CN" sz="2000" dirty="0">
                <a:ea typeface="黑体" panose="02010609060101010101" pitchFamily="49" charset="-122"/>
              </a:rPr>
              <a:t>The dark lines in the Sun’s spectrum are caused by the atmospheric absorptions.</a:t>
            </a:r>
          </a:p>
          <a:p>
            <a:pPr marL="225420" indent="-225420">
              <a:spcBef>
                <a:spcPts val="600"/>
              </a:spcBef>
              <a:buFont typeface="Arial" panose="020B0604020202020204" pitchFamily="34" charset="0"/>
              <a:buChar char="•"/>
            </a:pPr>
            <a:r>
              <a:rPr lang="en-US" altLang="zh-CN" sz="2000" dirty="0">
                <a:ea typeface="黑体" panose="02010609060101010101" pitchFamily="49" charset="-122"/>
              </a:rPr>
              <a:t>For any substance, its ability to emit light at any wavelength is proportional to its ability to absorb light at the same wavelength.</a:t>
            </a:r>
          </a:p>
        </p:txBody>
      </p:sp>
    </p:spTree>
    <p:extLst>
      <p:ext uri="{BB962C8B-B14F-4D97-AF65-F5344CB8AC3E}">
        <p14:creationId xmlns:p14="http://schemas.microsoft.com/office/powerpoint/2010/main" val="41009872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973" y="148081"/>
            <a:ext cx="8154557" cy="551589"/>
          </a:xfrm>
        </p:spPr>
        <p:txBody>
          <a:bodyPr/>
          <a:lstStyle/>
          <a:p>
            <a:r>
              <a:rPr lang="en-US" altLang="zh-CN" dirty="0">
                <a:latin typeface="Times New Roman" panose="02020603050405020304" pitchFamily="18" charset="0"/>
                <a:cs typeface="Times New Roman" panose="02020603050405020304" pitchFamily="18" charset="0"/>
              </a:rPr>
              <a:t>Kirchhoff's law of thermal radiation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47823" y="835044"/>
                <a:ext cx="9001351" cy="2753492"/>
              </a:xfrm>
            </p:spPr>
            <p:txBody>
              <a:bodyPr>
                <a:noAutofit/>
              </a:bodyPr>
              <a:lstStyle/>
              <a:p>
                <a:pPr>
                  <a:lnSpc>
                    <a:spcPct val="150000"/>
                  </a:lnSpc>
                  <a:spcBef>
                    <a:spcPts val="1800"/>
                  </a:spcBef>
                </a:pPr>
                <a:r>
                  <a:rPr lang="en-US" altLang="zh-CN" sz="1800" dirty="0">
                    <a:solidFill>
                      <a:srgbClr val="0070C0"/>
                    </a:solidFill>
                    <a:latin typeface="Cambria Math"/>
                  </a:rPr>
                  <a:t>Emissvity </a:t>
                </a:r>
                <a14:m>
                  <m:oMath xmlns:m="http://schemas.openxmlformats.org/officeDocument/2006/math">
                    <m:sSub>
                      <m:sSubPr>
                        <m:ctrlPr>
                          <a:rPr lang="en-US" altLang="zh-CN" sz="1800" i="1">
                            <a:solidFill>
                              <a:srgbClr val="0070C0"/>
                            </a:solidFill>
                            <a:latin typeface="Cambria Math" panose="02040503050406030204" pitchFamily="18" charset="0"/>
                          </a:rPr>
                        </m:ctrlPr>
                      </m:sSubPr>
                      <m:e>
                        <m:r>
                          <a:rPr lang="en-US" altLang="zh-CN" sz="1800">
                            <a:solidFill>
                              <a:srgbClr val="0070C0"/>
                            </a:solidFill>
                            <a:latin typeface="Cambria Math"/>
                          </a:rPr>
                          <m:t>𝜖</m:t>
                        </m:r>
                      </m:e>
                      <m:sub>
                        <m:r>
                          <a:rPr lang="en-US" altLang="zh-CN" sz="1800">
                            <a:solidFill>
                              <a:srgbClr val="0070C0"/>
                            </a:solidFill>
                            <a:latin typeface="Cambria Math"/>
                          </a:rPr>
                          <m:t>𝜆</m:t>
                        </m:r>
                      </m:sub>
                    </m:sSub>
                  </m:oMath>
                </a14:m>
                <a:r>
                  <a:rPr lang="en-US" altLang="zh-CN" sz="1800" dirty="0">
                    <a:solidFill>
                      <a:srgbClr val="0070C0"/>
                    </a:solidFill>
                    <a:latin typeface="Cambria Math"/>
                  </a:rPr>
                  <a:t>: </a:t>
                </a:r>
                <a:r>
                  <a:rPr lang="en-US" altLang="zh-CN" sz="1800" dirty="0">
                    <a:solidFill>
                      <a:schemeClr val="tx1"/>
                    </a:solidFill>
                    <a:latin typeface="Cambria Math"/>
                  </a:rPr>
                  <a:t>th</a:t>
                </a:r>
                <a:r>
                  <a:rPr lang="en-US" altLang="zh-CN" sz="1800" dirty="0">
                    <a:latin typeface="Cambria Math"/>
                  </a:rPr>
                  <a:t>e substance’s ability of emitting light of </a:t>
                </a:r>
                <a:r>
                  <a:rPr lang="en-US" altLang="zh-CN" sz="1800" dirty="0">
                    <a:solidFill>
                      <a:schemeClr val="tx1"/>
                    </a:solidFill>
                    <a:latin typeface="Cambria Math"/>
                  </a:rPr>
                  <a:t>wavelength </a:t>
                </a:r>
                <a14:m>
                  <m:oMath xmlns:m="http://schemas.openxmlformats.org/officeDocument/2006/math">
                    <m:r>
                      <a:rPr lang="en-US" altLang="zh-CN" sz="1800">
                        <a:solidFill>
                          <a:schemeClr val="tx1"/>
                        </a:solidFill>
                        <a:latin typeface="Cambria Math"/>
                      </a:rPr>
                      <m:t>𝜆</m:t>
                    </m:r>
                  </m:oMath>
                </a14:m>
                <a:endParaRPr lang="en-US" altLang="zh-CN" sz="1800" dirty="0">
                  <a:solidFill>
                    <a:schemeClr val="tx1"/>
                  </a:solidFill>
                  <a:latin typeface="Cambria Math"/>
                </a:endParaRPr>
              </a:p>
              <a:p>
                <a:pPr marL="0" indent="0">
                  <a:lnSpc>
                    <a:spcPct val="150000"/>
                  </a:lnSpc>
                  <a:spcBef>
                    <a:spcPts val="1800"/>
                  </a:spcBef>
                  <a:buFont typeface="Arial" panose="020B0604020202020204" pitchFamily="34" charset="0"/>
                  <a:buNone/>
                </a:pPr>
                <a14:m>
                  <m:oMathPara xmlns:m="http://schemas.openxmlformats.org/officeDocument/2006/math">
                    <m:oMathParaPr>
                      <m:jc m:val="centerGroup"/>
                    </m:oMathParaPr>
                    <m:oMath xmlns:m="http://schemas.openxmlformats.org/officeDocument/2006/math">
                      <m:f>
                        <m:fPr>
                          <m:ctrlPr>
                            <a:rPr lang="en-US" altLang="zh-CN" sz="1800" i="1" smtClean="0">
                              <a:solidFill>
                                <a:schemeClr val="tx1"/>
                              </a:solidFill>
                              <a:latin typeface="Cambria Math" panose="02040503050406030204" pitchFamily="18" charset="0"/>
                            </a:rPr>
                          </m:ctrlPr>
                        </m:fPr>
                        <m:num>
                          <m:r>
                            <m:rPr>
                              <m:nor/>
                            </m:rPr>
                            <a:rPr lang="en-US" altLang="zh-CN" sz="1800" dirty="0">
                              <a:solidFill>
                                <a:schemeClr val="tx1"/>
                              </a:solidFill>
                              <a:latin typeface="Cambria Math"/>
                            </a:rPr>
                            <m:t>intensity</m:t>
                          </m:r>
                          <m:r>
                            <a:rPr lang="en-US" altLang="zh-CN" sz="1800" dirty="0">
                              <a:solidFill>
                                <a:schemeClr val="tx1"/>
                              </a:solidFill>
                              <a:latin typeface="Cambria Math"/>
                            </a:rPr>
                            <m:t> </m:t>
                          </m:r>
                          <m:r>
                            <m:rPr>
                              <m:sty m:val="p"/>
                            </m:rPr>
                            <a:rPr lang="en-US" altLang="zh-CN" sz="1800" dirty="0">
                              <a:solidFill>
                                <a:schemeClr val="tx1"/>
                              </a:solidFill>
                              <a:latin typeface="Cambria Math"/>
                            </a:rPr>
                            <m:t>of</m:t>
                          </m:r>
                          <m:r>
                            <a:rPr lang="en-US" altLang="zh-CN" sz="1800" dirty="0">
                              <a:solidFill>
                                <a:schemeClr val="tx1"/>
                              </a:solidFill>
                              <a:latin typeface="Cambria Math"/>
                            </a:rPr>
                            <m:t> </m:t>
                          </m:r>
                          <m:r>
                            <m:rPr>
                              <m:sty m:val="p"/>
                            </m:rPr>
                            <a:rPr lang="en-US" altLang="zh-CN" sz="1800" dirty="0">
                              <a:solidFill>
                                <a:schemeClr val="tx1"/>
                              </a:solidFill>
                              <a:latin typeface="Cambria Math"/>
                            </a:rPr>
                            <m:t>emitted</m:t>
                          </m:r>
                          <m:r>
                            <a:rPr lang="en-US" altLang="zh-CN" sz="1800" b="0" i="0" dirty="0" smtClean="0">
                              <a:solidFill>
                                <a:schemeClr val="tx1"/>
                              </a:solidFill>
                              <a:latin typeface="Cambria Math" panose="02040503050406030204" pitchFamily="18" charset="0"/>
                            </a:rPr>
                            <m:t> </m:t>
                          </m:r>
                          <m:r>
                            <m:rPr>
                              <m:sty m:val="p"/>
                            </m:rPr>
                            <a:rPr lang="en-US" altLang="zh-CN" sz="1800" b="0" i="0" dirty="0" smtClean="0">
                              <a:solidFill>
                                <a:schemeClr val="tx1"/>
                              </a:solidFill>
                              <a:latin typeface="Cambria Math" panose="02040503050406030204" pitchFamily="18" charset="0"/>
                            </a:rPr>
                            <m:t>radiation</m:t>
                          </m:r>
                          <m:r>
                            <a:rPr lang="en-US" altLang="zh-CN" sz="1800" dirty="0">
                              <a:solidFill>
                                <a:schemeClr val="tx1"/>
                              </a:solidFill>
                              <a:latin typeface="Cambria Math"/>
                            </a:rPr>
                            <m:t> </m:t>
                          </m:r>
                          <m:r>
                            <m:rPr>
                              <m:sty m:val="p"/>
                            </m:rPr>
                            <a:rPr lang="en-US" altLang="zh-CN" sz="1800">
                              <a:solidFill>
                                <a:schemeClr val="tx1"/>
                              </a:solidFill>
                              <a:latin typeface="Cambria Math"/>
                            </a:rPr>
                            <m:t>within</m:t>
                          </m:r>
                          <m:r>
                            <a:rPr lang="en-US" altLang="zh-CN" sz="1800">
                              <a:solidFill>
                                <a:schemeClr val="tx1"/>
                              </a:solidFill>
                              <a:latin typeface="Cambria Math"/>
                            </a:rPr>
                            <m:t> </m:t>
                          </m:r>
                          <m:r>
                            <m:rPr>
                              <m:sty m:val="p"/>
                            </m:rPr>
                            <a:rPr lang="en-US" altLang="zh-CN" sz="1800">
                              <a:solidFill>
                                <a:schemeClr val="tx1"/>
                              </a:solidFill>
                              <a:latin typeface="Cambria Math"/>
                            </a:rPr>
                            <m:t>the</m:t>
                          </m:r>
                          <m:r>
                            <a:rPr lang="en-US" altLang="zh-CN" sz="1800">
                              <a:solidFill>
                                <a:schemeClr val="tx1"/>
                              </a:solidFill>
                              <a:latin typeface="Cambria Math"/>
                            </a:rPr>
                            <m:t> </m:t>
                          </m:r>
                          <m:r>
                            <m:rPr>
                              <m:sty m:val="p"/>
                            </m:rPr>
                            <a:rPr lang="en-US" altLang="zh-CN" sz="1800">
                              <a:solidFill>
                                <a:schemeClr val="tx1"/>
                              </a:solidFill>
                              <a:latin typeface="Cambria Math"/>
                            </a:rPr>
                            <m:t>spectral</m:t>
                          </m:r>
                          <m:r>
                            <a:rPr lang="en-US" altLang="zh-CN" sz="1800">
                              <a:solidFill>
                                <a:schemeClr val="tx1"/>
                              </a:solidFill>
                              <a:latin typeface="Cambria Math"/>
                            </a:rPr>
                            <m:t> </m:t>
                          </m:r>
                          <m:r>
                            <m:rPr>
                              <m:sty m:val="p"/>
                            </m:rPr>
                            <a:rPr lang="en-US" altLang="zh-CN" sz="1800">
                              <a:solidFill>
                                <a:schemeClr val="tx1"/>
                              </a:solidFill>
                              <a:latin typeface="Cambria Math"/>
                            </a:rPr>
                            <m:t>range</m:t>
                          </m:r>
                          <m:r>
                            <a:rPr lang="en-US" altLang="zh-CN" sz="1800">
                              <a:solidFill>
                                <a:schemeClr val="tx1"/>
                              </a:solidFill>
                              <a:latin typeface="Cambria Math"/>
                            </a:rPr>
                            <m:t> (</m:t>
                          </m:r>
                          <m:r>
                            <a:rPr lang="en-US" altLang="zh-CN" sz="1800">
                              <a:solidFill>
                                <a:schemeClr val="tx1"/>
                              </a:solidFill>
                              <a:latin typeface="Cambria Math"/>
                            </a:rPr>
                            <m:t>𝜆</m:t>
                          </m:r>
                          <m:r>
                            <a:rPr lang="en-US" altLang="zh-CN" sz="1800">
                              <a:solidFill>
                                <a:schemeClr val="tx1"/>
                              </a:solidFill>
                              <a:latin typeface="Cambria Math"/>
                            </a:rPr>
                            <m:t>~</m:t>
                          </m:r>
                          <m:r>
                            <a:rPr lang="en-US" altLang="zh-CN" sz="1800">
                              <a:solidFill>
                                <a:schemeClr val="tx1"/>
                              </a:solidFill>
                              <a:latin typeface="Cambria Math"/>
                            </a:rPr>
                            <m:t>𝜆</m:t>
                          </m:r>
                          <m:r>
                            <a:rPr lang="en-US" altLang="zh-CN" sz="1800">
                              <a:solidFill>
                                <a:schemeClr val="tx1"/>
                              </a:solidFill>
                              <a:latin typeface="Cambria Math"/>
                            </a:rPr>
                            <m:t>+</m:t>
                          </m:r>
                          <m:r>
                            <m:rPr>
                              <m:sty m:val="p"/>
                            </m:rPr>
                            <a:rPr lang="en-US" altLang="zh-CN" sz="1800">
                              <a:solidFill>
                                <a:schemeClr val="tx1"/>
                              </a:solidFill>
                              <a:latin typeface="Cambria Math"/>
                            </a:rPr>
                            <m:t>Δ</m:t>
                          </m:r>
                          <m:r>
                            <a:rPr lang="en-US" altLang="zh-CN" sz="1800">
                              <a:solidFill>
                                <a:schemeClr val="tx1"/>
                              </a:solidFill>
                              <a:latin typeface="Cambria Math"/>
                            </a:rPr>
                            <m:t>𝜆</m:t>
                          </m:r>
                          <m:r>
                            <a:rPr lang="en-US" altLang="zh-CN" sz="1800">
                              <a:solidFill>
                                <a:schemeClr val="tx1"/>
                              </a:solidFill>
                              <a:latin typeface="Cambria Math"/>
                            </a:rPr>
                            <m:t>)</m:t>
                          </m:r>
                        </m:num>
                        <m:den>
                          <m:r>
                            <m:rPr>
                              <m:sty m:val="p"/>
                            </m:rPr>
                            <a:rPr lang="en-US" altLang="zh-CN" sz="1800">
                              <a:solidFill>
                                <a:schemeClr val="tx1"/>
                              </a:solidFill>
                              <a:latin typeface="Cambria Math"/>
                            </a:rPr>
                            <m:t>Δ</m:t>
                          </m:r>
                          <m:r>
                            <a:rPr lang="en-US" altLang="zh-CN" sz="1800">
                              <a:solidFill>
                                <a:schemeClr val="tx1"/>
                              </a:solidFill>
                              <a:latin typeface="Cambria Math"/>
                            </a:rPr>
                            <m:t>𝜆</m:t>
                          </m:r>
                        </m:den>
                      </m:f>
                    </m:oMath>
                  </m:oMathPara>
                </a14:m>
                <a:endParaRPr lang="en-US" altLang="zh-CN" sz="1800" dirty="0">
                  <a:solidFill>
                    <a:srgbClr val="0070C0"/>
                  </a:solidFill>
                  <a:latin typeface="Cambria Math"/>
                </a:endParaRPr>
              </a:p>
              <a:p>
                <a:pPr>
                  <a:lnSpc>
                    <a:spcPct val="150000"/>
                  </a:lnSpc>
                  <a:spcBef>
                    <a:spcPts val="1800"/>
                  </a:spcBef>
                </a:pPr>
                <a:r>
                  <a:rPr lang="en-US" altLang="zh-CN" sz="1800" dirty="0">
                    <a:solidFill>
                      <a:srgbClr val="0070C0"/>
                    </a:solidFill>
                    <a:latin typeface="Cambria Math"/>
                  </a:rPr>
                  <a:t>Absorptivity  </a:t>
                </a:r>
                <a14:m>
                  <m:oMath xmlns:m="http://schemas.openxmlformats.org/officeDocument/2006/math">
                    <m:sSub>
                      <m:sSubPr>
                        <m:ctrlPr>
                          <a:rPr lang="en-US" altLang="zh-CN" sz="1800" b="0" i="1" dirty="0" smtClean="0">
                            <a:solidFill>
                              <a:srgbClr val="0070C0"/>
                            </a:solidFill>
                            <a:latin typeface="Cambria Math" panose="02040503050406030204" pitchFamily="18" charset="0"/>
                          </a:rPr>
                        </m:ctrlPr>
                      </m:sSubPr>
                      <m:e>
                        <m:r>
                          <a:rPr lang="en-US" altLang="zh-CN" sz="1800" b="0" i="1" dirty="0" smtClean="0">
                            <a:solidFill>
                              <a:srgbClr val="0070C0"/>
                            </a:solidFill>
                            <a:latin typeface="Cambria Math" panose="02040503050406030204" pitchFamily="18" charset="0"/>
                          </a:rPr>
                          <m:t>𝛼</m:t>
                        </m:r>
                      </m:e>
                      <m:sub>
                        <m:r>
                          <a:rPr lang="en-US" altLang="zh-CN" sz="1800" b="0" i="1" dirty="0" smtClean="0">
                            <a:solidFill>
                              <a:srgbClr val="0070C0"/>
                            </a:solidFill>
                            <a:latin typeface="Cambria Math" panose="02040503050406030204" pitchFamily="18" charset="0"/>
                          </a:rPr>
                          <m:t>𝜆</m:t>
                        </m:r>
                      </m:sub>
                    </m:sSub>
                  </m:oMath>
                </a14:m>
                <a:r>
                  <a:rPr lang="en-US" altLang="zh-CN" sz="1800" dirty="0">
                    <a:solidFill>
                      <a:schemeClr val="tx1"/>
                    </a:solidFill>
                    <a:latin typeface="Cambria Math" panose="02040503050406030204" pitchFamily="18" charset="0"/>
                  </a:rPr>
                  <a:t>: the substance’s ability of absorbing light of wavelength </a:t>
                </a:r>
                <a14:m>
                  <m:oMath xmlns:m="http://schemas.openxmlformats.org/officeDocument/2006/math">
                    <m:r>
                      <a:rPr lang="en-US" altLang="zh-CN" sz="1800">
                        <a:latin typeface="Cambria Math"/>
                      </a:rPr>
                      <m:t>𝜆</m:t>
                    </m:r>
                  </m:oMath>
                </a14:m>
                <a:endParaRPr lang="en-US" altLang="zh-CN" sz="1800" dirty="0">
                  <a:solidFill>
                    <a:schemeClr val="tx1"/>
                  </a:solidFill>
                  <a:latin typeface="Cambria Math" panose="02040503050406030204" pitchFamily="18" charset="0"/>
                </a:endParaRPr>
              </a:p>
              <a:p>
                <a:pPr marL="342900" indent="0">
                  <a:lnSpc>
                    <a:spcPct val="150000"/>
                  </a:lnSpc>
                  <a:spcBef>
                    <a:spcPts val="1800"/>
                  </a:spcBef>
                  <a:buNone/>
                </a:pPr>
                <a14:m>
                  <m:oMathPara xmlns:m="http://schemas.openxmlformats.org/officeDocument/2006/math">
                    <m:oMathParaPr>
                      <m:jc m:val="centerGroup"/>
                    </m:oMathParaPr>
                    <m:oMath xmlns:m="http://schemas.openxmlformats.org/officeDocument/2006/math">
                      <m:f>
                        <m:fPr>
                          <m:ctrlPr>
                            <a:rPr lang="en-US" altLang="zh-CN" sz="1800" i="1" dirty="0">
                              <a:latin typeface="Cambria Math" panose="02040503050406030204" pitchFamily="18" charset="0"/>
                            </a:rPr>
                          </m:ctrlPr>
                        </m:fPr>
                        <m:num>
                          <m:r>
                            <m:rPr>
                              <m:sty m:val="p"/>
                            </m:rPr>
                            <a:rPr lang="en-US" altLang="zh-CN" sz="1800" b="0" i="0" dirty="0" smtClean="0">
                              <a:latin typeface="Cambria Math" panose="02040503050406030204" pitchFamily="18" charset="0"/>
                            </a:rPr>
                            <m:t>absorbed</m:t>
                          </m:r>
                          <m:r>
                            <a:rPr lang="en-US" altLang="zh-CN" sz="1800" b="0" i="0" dirty="0" smtClean="0">
                              <a:latin typeface="Cambria Math" panose="02040503050406030204" pitchFamily="18" charset="0"/>
                            </a:rPr>
                            <m:t> </m:t>
                          </m:r>
                          <m:r>
                            <m:rPr>
                              <m:sty m:val="p"/>
                            </m:rPr>
                            <a:rPr lang="en-US" altLang="zh-CN" sz="1800" b="0" i="0" dirty="0" smtClean="0">
                              <a:latin typeface="Cambria Math" panose="02040503050406030204" pitchFamily="18" charset="0"/>
                            </a:rPr>
                            <m:t>energy</m:t>
                          </m:r>
                          <m:r>
                            <a:rPr lang="en-US" altLang="zh-CN" sz="1800" b="0" i="0" dirty="0" smtClean="0">
                              <a:latin typeface="Cambria Math" panose="02040503050406030204" pitchFamily="18" charset="0"/>
                            </a:rPr>
                            <m:t> </m:t>
                          </m:r>
                          <m:r>
                            <m:rPr>
                              <m:sty m:val="p"/>
                            </m:rPr>
                            <a:rPr lang="en-US" altLang="zh-CN" sz="1800" b="0" i="0" smtClean="0">
                              <a:solidFill>
                                <a:prstClr val="black"/>
                              </a:solidFill>
                              <a:latin typeface="Cambria Math" panose="02040503050406030204" pitchFamily="18" charset="0"/>
                            </a:rPr>
                            <m:t>between</m:t>
                          </m:r>
                          <m:r>
                            <a:rPr lang="en-US" altLang="zh-CN" sz="1800" b="0" i="0" smtClean="0">
                              <a:solidFill>
                                <a:prstClr val="black"/>
                              </a:solidFill>
                              <a:latin typeface="Cambria Math" panose="02040503050406030204" pitchFamily="18" charset="0"/>
                            </a:rPr>
                            <m:t> </m:t>
                          </m:r>
                          <m:r>
                            <a:rPr lang="en-US" altLang="zh-CN" sz="1800" b="0" i="1" smtClean="0">
                              <a:solidFill>
                                <a:prstClr val="black"/>
                              </a:solidFill>
                              <a:latin typeface="Cambria Math" panose="02040503050406030204" pitchFamily="18" charset="0"/>
                            </a:rPr>
                            <m:t>(</m:t>
                          </m:r>
                          <m:r>
                            <a:rPr lang="en-US" altLang="zh-CN" sz="1800" i="1">
                              <a:solidFill>
                                <a:prstClr val="black"/>
                              </a:solidFill>
                              <a:latin typeface="Cambria Math" panose="02040503050406030204" pitchFamily="18" charset="0"/>
                            </a:rPr>
                            <m:t>𝜆</m:t>
                          </m:r>
                          <m:r>
                            <a:rPr lang="en-US" altLang="zh-CN" sz="1800" i="1">
                              <a:solidFill>
                                <a:prstClr val="black"/>
                              </a:solidFill>
                              <a:latin typeface="Cambria Math" panose="02040503050406030204" pitchFamily="18" charset="0"/>
                            </a:rPr>
                            <m:t>~</m:t>
                          </m:r>
                          <m:r>
                            <a:rPr lang="en-US" altLang="zh-CN" sz="1800" i="1">
                              <a:solidFill>
                                <a:prstClr val="black"/>
                              </a:solidFill>
                              <a:latin typeface="Cambria Math" panose="02040503050406030204" pitchFamily="18" charset="0"/>
                            </a:rPr>
                            <m:t>𝜆</m:t>
                          </m:r>
                          <m:r>
                            <a:rPr lang="en-US" altLang="zh-CN" sz="1800" i="1">
                              <a:solidFill>
                                <a:prstClr val="black"/>
                              </a:solidFill>
                              <a:latin typeface="Cambria Math" panose="02040503050406030204" pitchFamily="18" charset="0"/>
                            </a:rPr>
                            <m:t>+</m:t>
                          </m:r>
                          <m:r>
                            <m:rPr>
                              <m:sty m:val="p"/>
                            </m:rPr>
                            <a:rPr lang="en-US" altLang="zh-CN" sz="1800">
                              <a:solidFill>
                                <a:prstClr val="black"/>
                              </a:solidFill>
                              <a:latin typeface="Cambria Math" panose="02040503050406030204" pitchFamily="18" charset="0"/>
                            </a:rPr>
                            <m:t>Δ</m:t>
                          </m:r>
                          <m:r>
                            <a:rPr lang="en-US" altLang="zh-CN" sz="1800" i="1">
                              <a:solidFill>
                                <a:prstClr val="black"/>
                              </a:solidFill>
                              <a:latin typeface="Cambria Math" panose="02040503050406030204" pitchFamily="18" charset="0"/>
                            </a:rPr>
                            <m:t>𝜆</m:t>
                          </m:r>
                          <m:r>
                            <a:rPr lang="en-US" altLang="zh-CN" sz="1800" b="0" i="1" smtClean="0">
                              <a:solidFill>
                                <a:prstClr val="black"/>
                              </a:solidFill>
                              <a:latin typeface="Cambria Math" panose="02040503050406030204" pitchFamily="18" charset="0"/>
                            </a:rPr>
                            <m:t>)</m:t>
                          </m:r>
                        </m:num>
                        <m:den>
                          <m:r>
                            <m:rPr>
                              <m:sty m:val="p"/>
                            </m:rPr>
                            <a:rPr lang="en-US" altLang="zh-CN" sz="1800" i="1" dirty="0">
                              <a:latin typeface="Cambria Math" panose="02040503050406030204" pitchFamily="18" charset="0"/>
                            </a:rPr>
                            <m:t>incident</m:t>
                          </m:r>
                          <m:r>
                            <a:rPr lang="en-US" altLang="zh-CN" sz="1800" b="0" i="1" dirty="0" smtClean="0">
                              <a:latin typeface="Cambria Math" panose="02040503050406030204" pitchFamily="18" charset="0"/>
                            </a:rPr>
                            <m:t> </m:t>
                          </m:r>
                          <m:r>
                            <m:rPr>
                              <m:sty m:val="p"/>
                            </m:rPr>
                            <a:rPr lang="en-US" altLang="zh-CN" sz="1800" i="1" dirty="0">
                              <a:latin typeface="Cambria Math" panose="02040503050406030204" pitchFamily="18" charset="0"/>
                            </a:rPr>
                            <m:t>energy</m:t>
                          </m:r>
                          <m:r>
                            <a:rPr lang="en-US" altLang="zh-CN" sz="1800" b="0" i="1" dirty="0" smtClean="0">
                              <a:latin typeface="Cambria Math" panose="02040503050406030204" pitchFamily="18" charset="0"/>
                            </a:rPr>
                            <m:t> </m:t>
                          </m:r>
                          <m:r>
                            <m:rPr>
                              <m:sty m:val="p"/>
                            </m:rPr>
                            <a:rPr lang="en-US" altLang="zh-CN" sz="1800" b="0" i="0" dirty="0" smtClean="0">
                              <a:latin typeface="Cambria Math" panose="02040503050406030204" pitchFamily="18" charset="0"/>
                            </a:rPr>
                            <m:t>between</m:t>
                          </m:r>
                          <m:r>
                            <a:rPr lang="en-US" altLang="zh-CN" sz="1800">
                              <a:solidFill>
                                <a:prstClr val="black"/>
                              </a:solidFill>
                              <a:latin typeface="Cambria Math" panose="02040503050406030204" pitchFamily="18" charset="0"/>
                            </a:rPr>
                            <m:t> </m:t>
                          </m:r>
                          <m:r>
                            <a:rPr lang="en-US" altLang="zh-CN" sz="1800" b="0" i="1" smtClean="0">
                              <a:solidFill>
                                <a:prstClr val="black"/>
                              </a:solidFill>
                              <a:latin typeface="Cambria Math" panose="02040503050406030204" pitchFamily="18" charset="0"/>
                            </a:rPr>
                            <m:t>(</m:t>
                          </m:r>
                          <m:r>
                            <a:rPr lang="en-US" altLang="zh-CN" sz="1800" i="1">
                              <a:solidFill>
                                <a:prstClr val="black"/>
                              </a:solidFill>
                              <a:latin typeface="Cambria Math" panose="02040503050406030204" pitchFamily="18" charset="0"/>
                            </a:rPr>
                            <m:t>𝜆</m:t>
                          </m:r>
                          <m:r>
                            <a:rPr lang="en-US" altLang="zh-CN" sz="1800" i="1">
                              <a:solidFill>
                                <a:prstClr val="black"/>
                              </a:solidFill>
                              <a:latin typeface="Cambria Math" panose="02040503050406030204" pitchFamily="18" charset="0"/>
                            </a:rPr>
                            <m:t>~</m:t>
                          </m:r>
                          <m:r>
                            <a:rPr lang="en-US" altLang="zh-CN" sz="1800" i="1">
                              <a:solidFill>
                                <a:prstClr val="black"/>
                              </a:solidFill>
                              <a:latin typeface="Cambria Math" panose="02040503050406030204" pitchFamily="18" charset="0"/>
                            </a:rPr>
                            <m:t>𝜆</m:t>
                          </m:r>
                          <m:r>
                            <a:rPr lang="en-US" altLang="zh-CN" sz="1800" i="1">
                              <a:solidFill>
                                <a:prstClr val="black"/>
                              </a:solidFill>
                              <a:latin typeface="Cambria Math" panose="02040503050406030204" pitchFamily="18" charset="0"/>
                            </a:rPr>
                            <m:t>+</m:t>
                          </m:r>
                          <m:r>
                            <m:rPr>
                              <m:sty m:val="p"/>
                            </m:rPr>
                            <a:rPr lang="en-US" altLang="zh-CN" sz="1800">
                              <a:solidFill>
                                <a:prstClr val="black"/>
                              </a:solidFill>
                              <a:latin typeface="Cambria Math" panose="02040503050406030204" pitchFamily="18" charset="0"/>
                            </a:rPr>
                            <m:t>Δ</m:t>
                          </m:r>
                          <m:r>
                            <a:rPr lang="en-US" altLang="zh-CN" sz="1800" i="1">
                              <a:solidFill>
                                <a:prstClr val="black"/>
                              </a:solidFill>
                              <a:latin typeface="Cambria Math" panose="02040503050406030204" pitchFamily="18" charset="0"/>
                            </a:rPr>
                            <m:t>𝜆</m:t>
                          </m:r>
                          <m:r>
                            <a:rPr lang="en-US" altLang="zh-CN" sz="1800" b="0" i="1" smtClean="0">
                              <a:solidFill>
                                <a:prstClr val="black"/>
                              </a:solidFill>
                              <a:latin typeface="Cambria Math" panose="02040503050406030204" pitchFamily="18" charset="0"/>
                            </a:rPr>
                            <m:t>)</m:t>
                          </m:r>
                        </m:den>
                      </m:f>
                    </m:oMath>
                  </m:oMathPara>
                </a14:m>
                <a:endParaRPr lang="en-US" altLang="zh-CN"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47823" y="835044"/>
                <a:ext cx="9001351" cy="2753492"/>
              </a:xfrm>
              <a:blipFill>
                <a:blip r:embed="rId3"/>
                <a:stretch>
                  <a:fillRect l="-4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957397" y="4225805"/>
                <a:ext cx="7881803" cy="2199064"/>
              </a:xfrm>
              <a:prstGeom prst="rect">
                <a:avLst/>
              </a:prstGeom>
            </p:spPr>
            <p:txBody>
              <a:bodyPr wrap="square">
                <a:spAutoFit/>
              </a:bodyPr>
              <a:lstStyle/>
              <a:p>
                <a:r>
                  <a:rPr lang="en-US" sz="2000" dirty="0"/>
                  <a:t>Kirchhoff's law of thermal radiation</a:t>
                </a:r>
              </a:p>
              <a:p>
                <a:pPr marL="342882" indent="-342882">
                  <a:lnSpc>
                    <a:spcPct val="150000"/>
                  </a:lnSpc>
                  <a:buFont typeface="Arial" panose="020B0604020202020204" pitchFamily="34" charset="0"/>
                  <a:buChar char="•"/>
                </a:pPr>
                <a:r>
                  <a:rPr lang="en-US" altLang="zh-CN" sz="2000" dirty="0">
                    <a:ea typeface="黑体" panose="02010609060101010101" pitchFamily="49" charset="-122"/>
                  </a:rPr>
                  <a:t>The ratio of </a:t>
                </a:r>
                <a14:m>
                  <m:oMath xmlns:m="http://schemas.openxmlformats.org/officeDocument/2006/math">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𝜖</m:t>
                        </m:r>
                      </m:e>
                      <m:sub>
                        <m:r>
                          <a:rPr lang="en-US" altLang="zh-CN" sz="2000" i="1">
                            <a:solidFill>
                              <a:srgbClr val="0070C0"/>
                            </a:solidFill>
                            <a:latin typeface="Cambria Math" panose="02040503050406030204" pitchFamily="18" charset="0"/>
                          </a:rPr>
                          <m:t>𝜆</m:t>
                        </m:r>
                      </m:sub>
                    </m:sSub>
                  </m:oMath>
                </a14:m>
                <a:r>
                  <a:rPr lang="en-US" altLang="zh-CN" sz="2000" dirty="0">
                    <a:ea typeface="黑体" panose="02010609060101010101" pitchFamily="49" charset="-122"/>
                  </a:rPr>
                  <a:t> and </a:t>
                </a:r>
                <a14:m>
                  <m:oMath xmlns:m="http://schemas.openxmlformats.org/officeDocument/2006/math">
                    <m:sSub>
                      <m:sSubPr>
                        <m:ctrlPr>
                          <a:rPr lang="en-US" altLang="zh-CN" sz="2000" i="1" dirty="0">
                            <a:solidFill>
                              <a:srgbClr val="0070C0"/>
                            </a:solidFill>
                            <a:latin typeface="Cambria Math" panose="02040503050406030204" pitchFamily="18" charset="0"/>
                          </a:rPr>
                        </m:ctrlPr>
                      </m:sSubPr>
                      <m:e>
                        <m:r>
                          <a:rPr lang="en-US" altLang="zh-CN" sz="2000" i="1" dirty="0">
                            <a:solidFill>
                              <a:srgbClr val="0070C0"/>
                            </a:solidFill>
                            <a:latin typeface="Cambria Math" panose="02040503050406030204" pitchFamily="18" charset="0"/>
                          </a:rPr>
                          <m:t>𝛼</m:t>
                        </m:r>
                      </m:e>
                      <m:sub>
                        <m:r>
                          <a:rPr lang="en-US" altLang="zh-CN" sz="2000" i="1" dirty="0">
                            <a:solidFill>
                              <a:srgbClr val="0070C0"/>
                            </a:solidFill>
                            <a:latin typeface="Cambria Math" panose="02040503050406030204" pitchFamily="18" charset="0"/>
                          </a:rPr>
                          <m:t>𝜆</m:t>
                        </m:r>
                      </m:sub>
                    </m:sSub>
                  </m:oMath>
                </a14:m>
                <a:r>
                  <a:rPr lang="en-US" altLang="zh-CN" sz="2000" dirty="0">
                    <a:ea typeface="黑体" panose="02010609060101010101" pitchFamily="49" charset="-122"/>
                  </a:rPr>
                  <a:t> of any material </a:t>
                </a:r>
                <a:r>
                  <a:rPr lang="en-US" altLang="zh-CN" sz="2000" dirty="0">
                    <a:solidFill>
                      <a:srgbClr val="0070C0"/>
                    </a:solidFill>
                    <a:ea typeface="黑体" panose="02010609060101010101" pitchFamily="49" charset="-122"/>
                  </a:rPr>
                  <a:t>is a universal function of </a:t>
                </a:r>
                <a14:m>
                  <m:oMath xmlns:m="http://schemas.openxmlformats.org/officeDocument/2006/math">
                    <m:r>
                      <a:rPr lang="en-US" altLang="zh-CN" sz="2000" i="1" dirty="0" smtClean="0">
                        <a:solidFill>
                          <a:srgbClr val="0070C0"/>
                        </a:solidFill>
                        <a:latin typeface="Cambria Math" panose="02040503050406030204" pitchFamily="18" charset="0"/>
                        <a:ea typeface="黑体" panose="02010609060101010101" pitchFamily="49" charset="-122"/>
                      </a:rPr>
                      <m:t>𝑇</m:t>
                    </m:r>
                  </m:oMath>
                </a14:m>
                <a:r>
                  <a:rPr lang="en-US" altLang="zh-CN" sz="2000" dirty="0">
                    <a:solidFill>
                      <a:srgbClr val="0070C0"/>
                    </a:solidFill>
                    <a:ea typeface="黑体" panose="02010609060101010101" pitchFamily="49" charset="-122"/>
                  </a:rPr>
                  <a:t> and </a:t>
                </a:r>
                <a14:m>
                  <m:oMath xmlns:m="http://schemas.openxmlformats.org/officeDocument/2006/math">
                    <m:r>
                      <a:rPr lang="en-US" altLang="zh-CN" sz="2000" b="0" i="1" smtClean="0">
                        <a:solidFill>
                          <a:srgbClr val="0070C0"/>
                        </a:solidFill>
                        <a:latin typeface="Cambria Math" panose="02040503050406030204" pitchFamily="18" charset="0"/>
                        <a:ea typeface="黑体" panose="02010609060101010101" pitchFamily="49" charset="-122"/>
                      </a:rPr>
                      <m:t>𝜆</m:t>
                    </m:r>
                  </m:oMath>
                </a14:m>
                <a:endParaRPr lang="en-US" altLang="zh-CN" sz="2000" dirty="0">
                  <a:ea typeface="黑体" panose="02010609060101010101" pitchFamily="49" charset="-122"/>
                </a:endParaRPr>
              </a:p>
              <a:p>
                <a:pPr marL="342882" indent="-342882">
                  <a:lnSpc>
                    <a:spcPct val="150000"/>
                  </a:lnSpc>
                  <a:buFont typeface="Arial" panose="020B0604020202020204" pitchFamily="34" charset="0"/>
                  <a:buChar char="•"/>
                </a:pPr>
                <a:r>
                  <a:rPr lang="en-US" altLang="zh-CN" sz="2000" dirty="0">
                    <a:ea typeface="黑体" panose="02010609060101010101" pitchFamily="49" charset="-122"/>
                  </a:rPr>
                  <a:t>For a black body whose absorptivity is </a:t>
                </a:r>
                <a14:m>
                  <m:oMath xmlns:m="http://schemas.openxmlformats.org/officeDocument/2006/math">
                    <m:r>
                      <a:rPr lang="en-US" altLang="zh-CN" sz="2000" i="1" dirty="0" smtClean="0">
                        <a:latin typeface="Cambria Math" panose="02040503050406030204" pitchFamily="18" charset="0"/>
                        <a:ea typeface="黑体" panose="02010609060101010101" pitchFamily="49" charset="-122"/>
                      </a:rPr>
                      <m:t>1</m:t>
                    </m:r>
                  </m:oMath>
                </a14:m>
                <a:r>
                  <a:rPr lang="en-US" altLang="zh-CN" sz="2000" dirty="0">
                    <a:ea typeface="黑体" panose="02010609060101010101" pitchFamily="49" charset="-122"/>
                  </a:rPr>
                  <a:t>, its emission spectrum is this universal function</a:t>
                </a:r>
              </a:p>
              <a:p>
                <a:pPr marL="342882" indent="-342882">
                  <a:lnSpc>
                    <a:spcPct val="150000"/>
                  </a:lnSpc>
                  <a:buFont typeface="Arial" panose="020B0604020202020204" pitchFamily="34" charset="0"/>
                  <a:buChar char="•"/>
                </a:pPr>
                <a:endParaRPr lang="en-US" altLang="zh-CN" sz="2000" dirty="0">
                  <a:ea typeface="黑体" panose="02010609060101010101" pitchFamily="49" charset="-122"/>
                </a:endParaRPr>
              </a:p>
            </p:txBody>
          </p:sp>
        </mc:Choice>
        <mc:Fallback xmlns="">
          <p:sp>
            <p:nvSpPr>
              <p:cNvPr id="4" name="Rectangle 3"/>
              <p:cNvSpPr>
                <a:spLocks noRot="1" noChangeAspect="1" noMove="1" noResize="1" noEditPoints="1" noAdjustHandles="1" noChangeArrowheads="1" noChangeShapeType="1" noTextEdit="1"/>
              </p:cNvSpPr>
              <p:nvPr/>
            </p:nvSpPr>
            <p:spPr>
              <a:xfrm>
                <a:off x="957397" y="4225805"/>
                <a:ext cx="7881803" cy="2199064"/>
              </a:xfrm>
              <a:prstGeom prst="rect">
                <a:avLst/>
              </a:prstGeom>
              <a:blipFill>
                <a:blip r:embed="rId4"/>
                <a:stretch>
                  <a:fillRect l="-773" t="-1385"/>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7CEC69F2-10B6-4408-8134-161823F1E208}"/>
              </a:ext>
            </a:extLst>
          </p:cNvPr>
          <p:cNvPicPr>
            <a:picLocks noChangeAspect="1"/>
          </p:cNvPicPr>
          <p:nvPr/>
        </p:nvPicPr>
        <p:blipFill>
          <a:blip r:embed="rId5"/>
          <a:stretch>
            <a:fillRect/>
          </a:stretch>
        </p:blipFill>
        <p:spPr>
          <a:xfrm>
            <a:off x="9270624" y="3588536"/>
            <a:ext cx="2645124" cy="2374668"/>
          </a:xfrm>
          <a:prstGeom prst="rect">
            <a:avLst/>
          </a:prstGeom>
        </p:spPr>
      </p:pic>
      <p:pic>
        <p:nvPicPr>
          <p:cNvPr id="7" name="Picture 6">
            <a:extLst>
              <a:ext uri="{FF2B5EF4-FFF2-40B4-BE49-F238E27FC236}">
                <a16:creationId xmlns:a16="http://schemas.microsoft.com/office/drawing/2014/main" id="{4B535C8A-D3DC-43BB-B350-E11E82EA7678}"/>
              </a:ext>
            </a:extLst>
          </p:cNvPr>
          <p:cNvPicPr>
            <a:picLocks noChangeAspect="1"/>
          </p:cNvPicPr>
          <p:nvPr/>
        </p:nvPicPr>
        <p:blipFill>
          <a:blip r:embed="rId6"/>
          <a:stretch>
            <a:fillRect/>
          </a:stretch>
        </p:blipFill>
        <p:spPr>
          <a:xfrm>
            <a:off x="9891577" y="1160234"/>
            <a:ext cx="1652600" cy="1204921"/>
          </a:xfrm>
          <a:prstGeom prst="rect">
            <a:avLst/>
          </a:prstGeom>
        </p:spPr>
      </p:pic>
    </p:spTree>
    <p:extLst>
      <p:ext uri="{BB962C8B-B14F-4D97-AF65-F5344CB8AC3E}">
        <p14:creationId xmlns:p14="http://schemas.microsoft.com/office/powerpoint/2010/main" val="12242695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fade">
                                      <p:cBhvr>
                                        <p:cTn id="25" dur="500"/>
                                        <p:tgtEl>
                                          <p:spTgt spid="4">
                                            <p:txEl>
                                              <p:pRg st="0" end="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fade">
                                      <p:cBhvr>
                                        <p:cTn id="28" dur="500"/>
                                        <p:tgtEl>
                                          <p:spTgt spid="4">
                                            <p:txEl>
                                              <p:p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8903" y="2259668"/>
            <a:ext cx="6443478" cy="1712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altLang="zh-CN" dirty="0"/>
              <a:t>An ideal Blackbody</a:t>
            </a:r>
            <a:endParaRPr lang="zh-CN" altLang="en-US" dirty="0"/>
          </a:p>
        </p:txBody>
      </p:sp>
      <p:sp>
        <p:nvSpPr>
          <p:cNvPr id="6" name="Rectangle 5"/>
          <p:cNvSpPr/>
          <p:nvPr/>
        </p:nvSpPr>
        <p:spPr>
          <a:xfrm>
            <a:off x="1416688" y="740230"/>
            <a:ext cx="9519483" cy="707886"/>
          </a:xfrm>
          <a:prstGeom prst="rect">
            <a:avLst/>
          </a:prstGeom>
        </p:spPr>
        <p:txBody>
          <a:bodyPr wrap="square">
            <a:spAutoFit/>
          </a:bodyPr>
          <a:lstStyle/>
          <a:p>
            <a:r>
              <a:rPr lang="en-US" altLang="zh-CN" sz="2000" dirty="0">
                <a:ea typeface="黑体" panose="02010609060101010101" pitchFamily="49" charset="-122"/>
              </a:rPr>
              <a:t>Kirchhoff not only propose the concept of a blackbody</a:t>
            </a:r>
            <a:r>
              <a:rPr lang="zh-CN" altLang="en-US" sz="2000" dirty="0">
                <a:ea typeface="黑体" panose="02010609060101010101" pitchFamily="49" charset="-122"/>
              </a:rPr>
              <a:t> </a:t>
            </a:r>
            <a:r>
              <a:rPr lang="en-US" altLang="zh-CN" sz="2000" dirty="0">
                <a:ea typeface="黑体" panose="02010609060101010101" pitchFamily="49" charset="-122"/>
              </a:rPr>
              <a:t>but</a:t>
            </a:r>
            <a:r>
              <a:rPr lang="zh-CN" altLang="en-US" sz="2000" dirty="0">
                <a:ea typeface="黑体" panose="02010609060101010101" pitchFamily="49" charset="-122"/>
              </a:rPr>
              <a:t> </a:t>
            </a:r>
            <a:r>
              <a:rPr lang="en-US" altLang="zh-CN" sz="2000" dirty="0">
                <a:ea typeface="黑体" panose="02010609060101010101" pitchFamily="49" charset="-122"/>
              </a:rPr>
              <a:t>also</a:t>
            </a:r>
            <a:r>
              <a:rPr lang="zh-CN" altLang="en-US" sz="2000" dirty="0">
                <a:ea typeface="黑体" panose="02010609060101010101" pitchFamily="49" charset="-122"/>
              </a:rPr>
              <a:t> </a:t>
            </a:r>
            <a:r>
              <a:rPr lang="en-US" altLang="zh-CN" sz="2000" dirty="0">
                <a:ea typeface="黑体" panose="02010609060101010101" pitchFamily="49" charset="-122"/>
              </a:rPr>
              <a:t>suggested a practical method to get such an object:</a:t>
            </a:r>
            <a:endParaRPr lang="en-US" sz="2000" dirty="0"/>
          </a:p>
        </p:txBody>
      </p:sp>
      <p:grpSp>
        <p:nvGrpSpPr>
          <p:cNvPr id="4" name="Group 3">
            <a:extLst>
              <a:ext uri="{FF2B5EF4-FFF2-40B4-BE49-F238E27FC236}">
                <a16:creationId xmlns:a16="http://schemas.microsoft.com/office/drawing/2014/main" id="{A25FF84F-2F78-4929-97BD-2E5937931D23}"/>
              </a:ext>
            </a:extLst>
          </p:cNvPr>
          <p:cNvGrpSpPr/>
          <p:nvPr/>
        </p:nvGrpSpPr>
        <p:grpSpPr>
          <a:xfrm>
            <a:off x="1516441" y="1587286"/>
            <a:ext cx="2613985" cy="2840839"/>
            <a:chOff x="1416688" y="1597121"/>
            <a:chExt cx="2613985" cy="2840839"/>
          </a:xfrm>
        </p:grpSpPr>
        <p:pic>
          <p:nvPicPr>
            <p:cNvPr id="8" name="Picture 7"/>
            <p:cNvPicPr>
              <a:picLocks noChangeAspect="1"/>
            </p:cNvPicPr>
            <p:nvPr/>
          </p:nvPicPr>
          <p:blipFill>
            <a:blip r:embed="rId4"/>
            <a:stretch>
              <a:fillRect/>
            </a:stretch>
          </p:blipFill>
          <p:spPr>
            <a:xfrm>
              <a:off x="1416688" y="1999705"/>
              <a:ext cx="2613985" cy="2438255"/>
            </a:xfrm>
            <a:prstGeom prst="rect">
              <a:avLst/>
            </a:prstGeom>
          </p:spPr>
        </p:pic>
        <p:sp>
          <p:nvSpPr>
            <p:cNvPr id="11" name="TextBox 10">
              <a:extLst>
                <a:ext uri="{FF2B5EF4-FFF2-40B4-BE49-F238E27FC236}">
                  <a16:creationId xmlns:a16="http://schemas.microsoft.com/office/drawing/2014/main" id="{B9AB7D4D-8D31-4C6C-B629-4B0C693A67F0}"/>
                </a:ext>
              </a:extLst>
            </p:cNvPr>
            <p:cNvSpPr txBox="1"/>
            <p:nvPr/>
          </p:nvSpPr>
          <p:spPr>
            <a:xfrm>
              <a:off x="1679171" y="1597121"/>
              <a:ext cx="1984886" cy="400110"/>
            </a:xfrm>
            <a:prstGeom prst="rect">
              <a:avLst/>
            </a:prstGeom>
            <a:noFill/>
          </p:spPr>
          <p:txBody>
            <a:bodyPr wrap="square">
              <a:spAutoFit/>
            </a:bodyPr>
            <a:lstStyle/>
            <a:p>
              <a:r>
                <a:rPr lang="en-US" altLang="zh-CN" sz="2000" dirty="0">
                  <a:solidFill>
                    <a:srgbClr val="0070C0"/>
                  </a:solidFill>
                  <a:ea typeface="黑体" panose="02010609060101010101" pitchFamily="49" charset="-122"/>
                </a:rPr>
                <a:t>Cavity black body</a:t>
              </a:r>
              <a:endParaRPr lang="zh-CN" altLang="en-US" sz="2000" dirty="0"/>
            </a:p>
          </p:txBody>
        </p:sp>
      </p:grpSp>
      <p:sp>
        <p:nvSpPr>
          <p:cNvPr id="13" name="Rectangle 12">
            <a:extLst>
              <a:ext uri="{FF2B5EF4-FFF2-40B4-BE49-F238E27FC236}">
                <a16:creationId xmlns:a16="http://schemas.microsoft.com/office/drawing/2014/main" id="{64872126-BFA1-44FC-A58C-56216F65F834}"/>
              </a:ext>
            </a:extLst>
          </p:cNvPr>
          <p:cNvSpPr/>
          <p:nvPr/>
        </p:nvSpPr>
        <p:spPr>
          <a:xfrm>
            <a:off x="1123867" y="4642361"/>
            <a:ext cx="10105123" cy="1938992"/>
          </a:xfrm>
          <a:prstGeom prst="rect">
            <a:avLst/>
          </a:prstGeom>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tLang="zh-CN" sz="2000" dirty="0">
                <a:ea typeface="黑体" panose="02010609060101010101" pitchFamily="49" charset="-122"/>
              </a:rPr>
              <a:t>Cavity blackbody radiation is independent of the material and shape of the cavity.</a:t>
            </a:r>
          </a:p>
          <a:p>
            <a:r>
              <a:rPr lang="en-US" altLang="zh-CN" sz="2000" dirty="0">
                <a:ea typeface="黑体" panose="02010609060101010101" pitchFamily="49" charset="-122"/>
              </a:rPr>
              <a:t>It describes the property of electromagnetic radiation in thermal equilibrium, relating the two pillars of physics: Electrodynamics and Statistical Thermodynamics.</a:t>
            </a:r>
          </a:p>
          <a:p>
            <a:endParaRPr lang="en-US" altLang="zh-CN" sz="2000" dirty="0">
              <a:ea typeface="黑体" panose="02010609060101010101" pitchFamily="49" charset="-122"/>
            </a:endParaRPr>
          </a:p>
          <a:p>
            <a:r>
              <a:rPr lang="en-US" altLang="zh-CN" sz="2000" dirty="0">
                <a:solidFill>
                  <a:srgbClr val="C00000"/>
                </a:solidFill>
                <a:ea typeface="黑体" panose="02010609060101010101" pitchFamily="49" charset="-122"/>
              </a:rPr>
              <a:t>“Finding the exact formula of the blackbody radiation will give a deeper understanding of matter, energy and their relations.”</a:t>
            </a:r>
            <a:endParaRPr lang="zh-CN" altLang="en-US" sz="2000" dirty="0">
              <a:ea typeface="黑体" panose="02010609060101010101" pitchFamily="49" charset="-122"/>
            </a:endParaRPr>
          </a:p>
        </p:txBody>
      </p:sp>
    </p:spTree>
    <p:extLst>
      <p:ext uri="{BB962C8B-B14F-4D97-AF65-F5344CB8AC3E}">
        <p14:creationId xmlns:p14="http://schemas.microsoft.com/office/powerpoint/2010/main" val="24965057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188641"/>
            <a:ext cx="8070980" cy="551589"/>
          </a:xfrm>
        </p:spPr>
        <p:txBody>
          <a:bodyPr/>
          <a:lstStyle/>
          <a:p>
            <a:r>
              <a:rPr lang="en-US" altLang="zh-CN" dirty="0">
                <a:latin typeface="Times New Roman" panose="02020603050405020304" pitchFamily="18" charset="0"/>
                <a:cs typeface="Times New Roman" panose="02020603050405020304" pitchFamily="18" charset="0"/>
              </a:rPr>
              <a:t>Blackbody radiation (BR) spectrum</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1" y="5087485"/>
                <a:ext cx="10565475" cy="1429936"/>
              </a:xfrm>
            </p:spPr>
            <p:txBody>
              <a:bodyPr>
                <a:noAutofit/>
              </a:bodyPr>
              <a:lstStyle/>
              <a:p>
                <a:r>
                  <a:rPr lang="en-US" altLang="zh-CN" sz="2000" dirty="0"/>
                  <a:t>The BBR depends only on the temperature of the cavity, but not on its shape, size, or material.</a:t>
                </a:r>
              </a:p>
              <a:p>
                <a:r>
                  <a:rPr lang="en-US" altLang="zh-CN" sz="2000" dirty="0"/>
                  <a:t>Wien</a:t>
                </a:r>
                <a:r>
                  <a:rPr lang="zh-CN" altLang="en-US" sz="2000" dirty="0"/>
                  <a:t>位移定律：</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a:rPr>
                          <m:t>𝜆</m:t>
                        </m:r>
                      </m:e>
                      <m:sub>
                        <m:r>
                          <a:rPr lang="en-US" altLang="zh-CN" sz="2000" i="1">
                            <a:latin typeface="Cambria Math"/>
                          </a:rPr>
                          <m:t>𝑚𝑎𝑥</m:t>
                        </m:r>
                      </m:sub>
                    </m:sSub>
                    <m:r>
                      <a:rPr lang="en-US" altLang="zh-CN" sz="2000" i="1">
                        <a:latin typeface="Cambria Math"/>
                        <a:ea typeface="Cambria Math"/>
                      </a:rPr>
                      <m:t>∝1/</m:t>
                    </m:r>
                    <m:r>
                      <a:rPr lang="en-US" altLang="zh-CN" sz="2000" i="1">
                        <a:latin typeface="Cambria Math"/>
                        <a:ea typeface="Cambria Math"/>
                      </a:rPr>
                      <m:t>𝑇</m:t>
                    </m:r>
                  </m:oMath>
                </a14:m>
                <a:r>
                  <a:rPr lang="en-US" sz="2000" dirty="0"/>
                  <a:t>,  where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𝜆</m:t>
                        </m:r>
                      </m:e>
                      <m:sub>
                        <m:r>
                          <m:rPr>
                            <m:sty m:val="p"/>
                          </m:rPr>
                          <a:rPr lang="en-US" sz="2000" b="0" i="0" dirty="0" smtClean="0">
                            <a:latin typeface="Cambria Math" panose="02040503050406030204" pitchFamily="18" charset="0"/>
                          </a:rPr>
                          <m:t>max</m:t>
                        </m:r>
                      </m:sub>
                    </m:sSub>
                  </m:oMath>
                </a14:m>
                <a:r>
                  <a:rPr lang="en-US" sz="2000" dirty="0"/>
                  <a:t> is the wavelength of the maximum radiation</a:t>
                </a:r>
              </a:p>
              <a:p>
                <a:r>
                  <a:rPr lang="en-US" altLang="zh-CN" sz="2000" dirty="0"/>
                  <a:t>The total intensity integrated over all wavelengths  </a:t>
                </a:r>
                <a14:m>
                  <m:oMath xmlns:m="http://schemas.openxmlformats.org/officeDocument/2006/math">
                    <m:r>
                      <a:rPr lang="zh-CN" altLang="en-US" sz="2000" i="1">
                        <a:latin typeface="Cambria Math"/>
                      </a:rPr>
                      <m:t>∝</m:t>
                    </m:r>
                    <m:sSup>
                      <m:sSupPr>
                        <m:ctrlPr>
                          <a:rPr lang="en-US" altLang="zh-CN" sz="2000" i="1">
                            <a:latin typeface="Cambria Math" panose="02040503050406030204" pitchFamily="18" charset="0"/>
                          </a:rPr>
                        </m:ctrlPr>
                      </m:sSupPr>
                      <m:e>
                        <m:r>
                          <a:rPr lang="en-US" altLang="zh-CN" sz="2000" i="1">
                            <a:latin typeface="Cambria Math"/>
                          </a:rPr>
                          <m:t>𝑇</m:t>
                        </m:r>
                      </m:e>
                      <m:sup>
                        <m:r>
                          <a:rPr lang="en-US" altLang="zh-CN" sz="2000" i="1">
                            <a:latin typeface="Cambria Math"/>
                          </a:rPr>
                          <m:t>4</m:t>
                        </m:r>
                      </m:sup>
                    </m:sSup>
                  </m:oMath>
                </a14:m>
                <a:endParaRPr lang="en-US" altLang="zh-C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1" y="5087485"/>
                <a:ext cx="10565475" cy="1429936"/>
              </a:xfrm>
              <a:blipFill>
                <a:blip r:embed="rId3"/>
                <a:stretch>
                  <a:fillRect l="-519" t="-2564"/>
                </a:stretch>
              </a:blipFill>
            </p:spPr>
            <p:txBody>
              <a:bodyPr/>
              <a:lstStyle/>
              <a:p>
                <a:r>
                  <a:rPr lang="zh-CN" altLang="en-US">
                    <a:noFill/>
                  </a:rPr>
                  <a:t> </a:t>
                </a:r>
              </a:p>
            </p:txBody>
          </p:sp>
        </mc:Fallback>
      </mc:AlternateContent>
      <p:pic>
        <p:nvPicPr>
          <p:cNvPr id="1026" name="Picture 2" descr="http://homework.uoregon.edu/pub/class/321/bbl1.pn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4341" y="899164"/>
            <a:ext cx="6735323" cy="40454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6"/>
          <a:stretch>
            <a:fillRect/>
          </a:stretch>
        </p:blipFill>
        <p:spPr>
          <a:xfrm>
            <a:off x="5867467" y="899165"/>
            <a:ext cx="1983928" cy="2459283"/>
          </a:xfrm>
          <a:prstGeom prst="rect">
            <a:avLst/>
          </a:prstGeom>
        </p:spPr>
      </p:pic>
    </p:spTree>
    <p:extLst>
      <p:ext uri="{BB962C8B-B14F-4D97-AF65-F5344CB8AC3E}">
        <p14:creationId xmlns:p14="http://schemas.microsoft.com/office/powerpoint/2010/main" val="3461260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954" y="191280"/>
            <a:ext cx="9596003" cy="551589"/>
          </a:xfrm>
        </p:spPr>
        <p:txBody>
          <a:bodyPr/>
          <a:lstStyle/>
          <a:p>
            <a:r>
              <a:rPr lang="en-US" altLang="zh-CN" dirty="0">
                <a:latin typeface="Times New Roman" panose="02020603050405020304" pitchFamily="18" charset="0"/>
                <a:cs typeface="Times New Roman" panose="02020603050405020304" pitchFamily="18" charset="0"/>
              </a:rPr>
              <a:t>Planck’s</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hope to</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save the 2nd law of thermodynamics</a:t>
            </a:r>
            <a:endParaRPr lang="zh-CN" alt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6019" y="990946"/>
            <a:ext cx="7382164" cy="2165355"/>
          </a:xfrm>
        </p:spPr>
        <p:txBody>
          <a:bodyPr>
            <a:normAutofit fontScale="92500" lnSpcReduction="10000"/>
          </a:bodyPr>
          <a:lstStyle/>
          <a:p>
            <a:pPr>
              <a:lnSpc>
                <a:spcPct val="120000"/>
              </a:lnSpc>
            </a:pPr>
            <a:r>
              <a:rPr lang="en-US" altLang="zh-CN" dirty="0"/>
              <a:t>Atoms and molecules are real</a:t>
            </a:r>
          </a:p>
          <a:p>
            <a:pPr>
              <a:lnSpc>
                <a:spcPct val="120000"/>
              </a:lnSpc>
            </a:pPr>
            <a:r>
              <a:rPr lang="en-US" altLang="zh-CN" dirty="0"/>
              <a:t>The 2nd law is a probabilistic statement</a:t>
            </a:r>
          </a:p>
          <a:p>
            <a:pPr>
              <a:lnSpc>
                <a:spcPct val="120000"/>
              </a:lnSpc>
            </a:pPr>
            <a:r>
              <a:rPr lang="en-US" altLang="zh-CN" dirty="0"/>
              <a:t>The entropy of an isolated system are very, very, very …… unlikely to decrease over time</a:t>
            </a:r>
            <a:endParaRPr lang="zh-CN" altLang="en-US" dirty="0"/>
          </a:p>
        </p:txBody>
      </p:sp>
      <p:sp>
        <p:nvSpPr>
          <p:cNvPr id="6" name="Content Placeholder 2"/>
          <p:cNvSpPr txBox="1">
            <a:spLocks/>
          </p:cNvSpPr>
          <p:nvPr/>
        </p:nvSpPr>
        <p:spPr>
          <a:xfrm>
            <a:off x="2842797" y="3856238"/>
            <a:ext cx="7210408" cy="2286000"/>
          </a:xfrm>
          <a:prstGeom prst="rect">
            <a:avLst/>
          </a:prstGeom>
        </p:spPr>
        <p:txBody>
          <a:bodyPr vert="horz" lIns="91440" tIns="45720" rIns="91440" bIns="45720" rtlCol="0">
            <a:normAutofit fontScale="92500"/>
          </a:bodyPr>
          <a:lstStyle>
            <a:lvl1pPr marL="342882" indent="-342882" algn="l" defTabSz="914354" rtl="0" eaLnBrk="1" latinLnBrk="0" hangingPunct="1">
              <a:spcBef>
                <a:spcPts val="1200"/>
              </a:spcBef>
              <a:buFont typeface="Arial" panose="020B0604020202020204" pitchFamily="34" charset="0"/>
              <a:buChar char="•"/>
              <a:defRPr sz="2800" kern="1200">
                <a:solidFill>
                  <a:schemeClr val="tx1"/>
                </a:solidFill>
                <a:latin typeface="+mn-lt"/>
                <a:ea typeface="黑体" panose="02010609060101010101" pitchFamily="49" charset="-122"/>
                <a:cs typeface="+mn-cs"/>
              </a:defRPr>
            </a:lvl1pPr>
            <a:lvl2pPr marL="742913" indent="-285737" algn="l" defTabSz="914354" rtl="0" eaLnBrk="1" latinLnBrk="0" hangingPunct="1">
              <a:spcBef>
                <a:spcPts val="1200"/>
              </a:spcBef>
              <a:buFont typeface="Arial" panose="020B0604020202020204" pitchFamily="34" charset="0"/>
              <a:buChar char="–"/>
              <a:defRPr sz="2400" kern="1200">
                <a:solidFill>
                  <a:schemeClr val="tx1"/>
                </a:solidFill>
                <a:latin typeface="+mn-lt"/>
                <a:ea typeface="黑体" panose="02010609060101010101" pitchFamily="49" charset="-122"/>
                <a:cs typeface="+mn-cs"/>
              </a:defRPr>
            </a:lvl2pPr>
            <a:lvl3pPr marL="1142942" indent="-228589" algn="l" defTabSz="914354" rtl="0" eaLnBrk="1" latinLnBrk="0" hangingPunct="1">
              <a:spcBef>
                <a:spcPts val="1200"/>
              </a:spcBef>
              <a:buFont typeface="Arial" panose="020B0604020202020204" pitchFamily="34" charset="0"/>
              <a:buChar char="•"/>
              <a:defRPr sz="2000" kern="1200">
                <a:solidFill>
                  <a:schemeClr val="tx1"/>
                </a:solidFill>
                <a:latin typeface="+mn-lt"/>
                <a:ea typeface="黑体" panose="02010609060101010101" pitchFamily="49" charset="-122"/>
                <a:cs typeface="+mn-cs"/>
              </a:defRPr>
            </a:lvl3pPr>
            <a:lvl4pPr marL="1600120" indent="-228589" algn="l" defTabSz="914354" rtl="0" eaLnBrk="1" latinLnBrk="0" hangingPunct="1">
              <a:spcBef>
                <a:spcPts val="1200"/>
              </a:spcBef>
              <a:buFont typeface="Arial" panose="020B0604020202020204" pitchFamily="34" charset="0"/>
              <a:buChar char="–"/>
              <a:defRPr sz="1800" kern="1200">
                <a:solidFill>
                  <a:schemeClr val="tx1"/>
                </a:solidFill>
                <a:latin typeface="+mn-lt"/>
                <a:ea typeface="黑体" panose="02010609060101010101" pitchFamily="49" charset="-122"/>
                <a:cs typeface="+mn-cs"/>
              </a:defRPr>
            </a:lvl4pPr>
            <a:lvl5pPr marL="2057298" indent="-228589" algn="l" defTabSz="914354" rtl="0" eaLnBrk="1" latinLnBrk="0" hangingPunct="1">
              <a:spcBef>
                <a:spcPts val="1200"/>
              </a:spcBef>
              <a:buFont typeface="Arial" panose="020B0604020202020204" pitchFamily="34" charset="0"/>
              <a:buChar char="»"/>
              <a:defRPr sz="1800" kern="1200">
                <a:solidFill>
                  <a:schemeClr val="tx1"/>
                </a:solidFill>
                <a:latin typeface="+mn-lt"/>
                <a:ea typeface="黑体" panose="02010609060101010101" pitchFamily="49" charset="-122"/>
                <a:cs typeface="+mn-cs"/>
              </a:defRPr>
            </a:lvl5pPr>
            <a:lvl6pPr marL="2514474"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dirty="0"/>
              <a:t>The 2nd law is absolute</a:t>
            </a:r>
          </a:p>
          <a:p>
            <a:r>
              <a:rPr lang="en-US" altLang="zh-CN" dirty="0"/>
              <a:t>The entropy will never decrease</a:t>
            </a:r>
          </a:p>
          <a:p>
            <a:r>
              <a:rPr lang="en-US" altLang="zh-CN" dirty="0"/>
              <a:t>Atoms will be replaced by continuous matters</a:t>
            </a:r>
          </a:p>
          <a:p>
            <a:r>
              <a:rPr lang="en-US" altLang="zh-CN" dirty="0"/>
              <a:t>The blackbody radiation will prove all the above</a:t>
            </a:r>
          </a:p>
        </p:txBody>
      </p:sp>
      <p:grpSp>
        <p:nvGrpSpPr>
          <p:cNvPr id="7" name="Group 6"/>
          <p:cNvGrpSpPr/>
          <p:nvPr/>
        </p:nvGrpSpPr>
        <p:grpSpPr>
          <a:xfrm>
            <a:off x="8758980" y="990946"/>
            <a:ext cx="1803958" cy="2440761"/>
            <a:chOff x="6628843" y="1002891"/>
            <a:chExt cx="1803958" cy="2440761"/>
          </a:xfrm>
        </p:grpSpPr>
        <p:pic>
          <p:nvPicPr>
            <p:cNvPr id="4" name="Picture 3"/>
            <p:cNvPicPr>
              <a:picLocks noChangeAspect="1"/>
            </p:cNvPicPr>
            <p:nvPr/>
          </p:nvPicPr>
          <p:blipFill>
            <a:blip r:embed="rId3"/>
            <a:stretch>
              <a:fillRect/>
            </a:stretch>
          </p:blipFill>
          <p:spPr>
            <a:xfrm>
              <a:off x="6628843" y="1002891"/>
              <a:ext cx="1803958" cy="2071429"/>
            </a:xfrm>
            <a:prstGeom prst="rect">
              <a:avLst/>
            </a:prstGeom>
          </p:spPr>
        </p:pic>
        <p:sp>
          <p:nvSpPr>
            <p:cNvPr id="5" name="TextBox 4"/>
            <p:cNvSpPr txBox="1"/>
            <p:nvPr/>
          </p:nvSpPr>
          <p:spPr>
            <a:xfrm>
              <a:off x="6976824" y="3074320"/>
              <a:ext cx="1107996" cy="369332"/>
            </a:xfrm>
            <a:prstGeom prst="rect">
              <a:avLst/>
            </a:prstGeom>
            <a:noFill/>
          </p:spPr>
          <p:txBody>
            <a:bodyPr wrap="none" rtlCol="0">
              <a:spAutoFit/>
            </a:bodyPr>
            <a:lstStyle/>
            <a:p>
              <a:r>
                <a:rPr lang="zh-CN" altLang="en-US" dirty="0">
                  <a:ea typeface="黑体" panose="02010609060101010101" pitchFamily="49" charset="-122"/>
                </a:rPr>
                <a:t>玻尔兹曼</a:t>
              </a:r>
            </a:p>
          </p:txBody>
        </p:sp>
      </p:grpSp>
      <p:grpSp>
        <p:nvGrpSpPr>
          <p:cNvPr id="8" name="Group 7"/>
          <p:cNvGrpSpPr/>
          <p:nvPr/>
        </p:nvGrpSpPr>
        <p:grpSpPr>
          <a:xfrm>
            <a:off x="969881" y="3856238"/>
            <a:ext cx="1714500" cy="2534687"/>
            <a:chOff x="601582" y="4018218"/>
            <a:chExt cx="1714500" cy="2534687"/>
          </a:xfrm>
        </p:grpSpPr>
        <p:pic>
          <p:nvPicPr>
            <p:cNvPr id="2050" name="Picture 2" descr="「max planck」の画像検索結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582" y="4018218"/>
              <a:ext cx="1714500" cy="21653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1020250" y="6183573"/>
              <a:ext cx="877163" cy="369332"/>
            </a:xfrm>
            <a:prstGeom prst="rect">
              <a:avLst/>
            </a:prstGeom>
            <a:noFill/>
          </p:spPr>
          <p:txBody>
            <a:bodyPr wrap="none" rtlCol="0">
              <a:spAutoFit/>
            </a:bodyPr>
            <a:lstStyle/>
            <a:p>
              <a:r>
                <a:rPr lang="zh-CN" altLang="en-US" dirty="0">
                  <a:ea typeface="黑体" panose="02010609060101010101" pitchFamily="49" charset="-122"/>
                </a:rPr>
                <a:t>普朗克</a:t>
              </a:r>
            </a:p>
          </p:txBody>
        </p:sp>
      </p:grpSp>
    </p:spTree>
    <p:extLst>
      <p:ext uri="{BB962C8B-B14F-4D97-AF65-F5344CB8AC3E}">
        <p14:creationId xmlns:p14="http://schemas.microsoft.com/office/powerpoint/2010/main" val="30532856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500"/>
                                        <p:tgtEl>
                                          <p:spTgt spid="6">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fade">
                                      <p:cBhvr>
                                        <p:cTn id="25" dur="500"/>
                                        <p:tgtEl>
                                          <p:spTgt spid="6">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animEffect transition="in" filter="fade">
                                      <p:cBhvr>
                                        <p:cTn id="30" dur="500"/>
                                        <p:tgtEl>
                                          <p:spTgt spid="6">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Effect transition="in" filter="fade">
                                      <p:cBhvr>
                                        <p:cTn id="35"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3" y="188641"/>
            <a:ext cx="8910202" cy="551589"/>
          </a:xfrm>
        </p:spPr>
        <p:txBody>
          <a:bodyPr/>
          <a:lstStyle/>
          <a:p>
            <a:r>
              <a:rPr lang="en-US" altLang="zh-CN" dirty="0">
                <a:latin typeface="Times New Roman" panose="02020603050405020304" pitchFamily="18" charset="0"/>
                <a:cs typeface="Times New Roman" panose="02020603050405020304" pitchFamily="18" charset="0"/>
              </a:rPr>
              <a:t>Blackbody radiation</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07572" y="826289"/>
                <a:ext cx="9025889" cy="5931957"/>
              </a:xfrm>
            </p:spPr>
            <p:txBody>
              <a:bodyPr>
                <a:noAutofit/>
              </a:bodyPr>
              <a:lstStyle/>
              <a:p>
                <a:pPr marL="0" indent="0">
                  <a:lnSpc>
                    <a:spcPct val="150000"/>
                  </a:lnSpc>
                  <a:spcBef>
                    <a:spcPts val="1800"/>
                  </a:spcBef>
                  <a:buNone/>
                </a:pPr>
                <a:r>
                  <a:rPr lang="en-US" altLang="zh-CN" sz="2000" dirty="0">
                    <a:latin typeface="Times New Roman" panose="02020603050405020304" pitchFamily="18" charset="0"/>
                    <a:cs typeface="Times New Roman" panose="02020603050405020304" pitchFamily="18" charset="0"/>
                  </a:rPr>
                  <a:t>For a cavity blackbody at temperature </a:t>
                </a:r>
                <a:r>
                  <a:rPr lang="zh-CN" altLang="en-US" sz="2000" dirty="0">
                    <a:latin typeface="Times New Roman" panose="02020603050405020304" pitchFamily="18" charset="0"/>
                    <a:cs typeface="Times New Roman" panose="02020603050405020304" pitchFamily="18" charset="0"/>
                  </a:rPr>
                  <a:t>𝑇</a:t>
                </a:r>
                <a:endParaRPr lang="en-US" altLang="zh-CN" sz="2000" dirty="0">
                  <a:solidFill>
                    <a:srgbClr val="0070C0"/>
                  </a:solidFill>
                  <a:latin typeface="Times New Roman" panose="02020603050405020304" pitchFamily="18" charset="0"/>
                  <a:cs typeface="Times New Roman" panose="02020603050405020304" pitchFamily="18" charset="0"/>
                </a:endParaRPr>
              </a:p>
              <a:p>
                <a:pPr marL="342891" indent="-342891">
                  <a:lnSpc>
                    <a:spcPct val="150000"/>
                  </a:lnSpc>
                  <a:spcBef>
                    <a:spcPts val="1800"/>
                  </a:spcBef>
                </a:pPr>
                <a:r>
                  <a:rPr lang="en-US" altLang="zh-CN" sz="2000" dirty="0">
                    <a:solidFill>
                      <a:srgbClr val="0070C0"/>
                    </a:solidFill>
                    <a:latin typeface="Times New Roman" panose="02020603050405020304" pitchFamily="18" charset="0"/>
                    <a:cs typeface="Times New Roman" panose="02020603050405020304" pitchFamily="18" charset="0"/>
                  </a:rPr>
                  <a:t>Spectrum of energy density</a:t>
                </a:r>
                <a:endParaRPr lang="en-US" altLang="zh-CN" sz="2000" i="1" dirty="0">
                  <a:solidFill>
                    <a:srgbClr val="0070C0"/>
                  </a:solidFill>
                  <a:latin typeface="Cambria Math" panose="02040503050406030204" pitchFamily="18" charset="0"/>
                </a:endParaRPr>
              </a:p>
              <a:p>
                <a:pPr marL="0" indent="0">
                  <a:lnSpc>
                    <a:spcPct val="150000"/>
                  </a:lnSpc>
                  <a:spcBef>
                    <a:spcPts val="1800"/>
                  </a:spcBef>
                  <a:buNone/>
                </a:pPr>
                <a14:m>
                  <m:oMathPara xmlns:m="http://schemas.openxmlformats.org/officeDocument/2006/math">
                    <m:oMathParaPr>
                      <m:jc m:val="centerGroup"/>
                    </m:oMathParaPr>
                    <m:oMath xmlns:m="http://schemas.openxmlformats.org/officeDocument/2006/math">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𝑢</m:t>
                          </m:r>
                        </m:e>
                        <m:sub>
                          <m:r>
                            <a:rPr lang="en-US" altLang="zh-CN" sz="2000" i="1">
                              <a:solidFill>
                                <a:srgbClr val="0070C0"/>
                              </a:solidFill>
                              <a:latin typeface="Cambria Math" panose="02040503050406030204" pitchFamily="18" charset="0"/>
                            </a:rPr>
                            <m:t>𝜆</m:t>
                          </m:r>
                        </m:sub>
                      </m:sSub>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a:rPr>
                            <m:t>𝑇</m:t>
                          </m:r>
                        </m:e>
                      </m:d>
                      <m:r>
                        <a:rPr lang="en-US" altLang="zh-CN" sz="2000" b="0" i="0" smtClean="0">
                          <a:solidFill>
                            <a:srgbClr val="0070C0"/>
                          </a:solidFill>
                          <a:latin typeface="Cambria Math" panose="02040503050406030204" pitchFamily="18" charset="0"/>
                        </a:rPr>
                        <m:t>=</m:t>
                      </m:r>
                      <m:f>
                        <m:fPr>
                          <m:ctrlPr>
                            <a:rPr lang="en-US" altLang="zh-CN" sz="2000" b="0" i="1" smtClean="0">
                              <a:latin typeface="Cambria Math" panose="02040503050406030204" pitchFamily="18" charset="0"/>
                              <a:cs typeface="Times New Roman" panose="02020603050405020304" pitchFamily="18" charset="0"/>
                            </a:rPr>
                          </m:ctrlPr>
                        </m:fPr>
                        <m:num>
                          <m:r>
                            <m:rPr>
                              <m:sty m:val="p"/>
                            </m:rPr>
                            <a:rPr lang="en-US" altLang="zh-CN" sz="2000" b="0" i="0" smtClean="0">
                              <a:latin typeface="Cambria Math" panose="02040503050406030204" pitchFamily="18" charset="0"/>
                              <a:cs typeface="Times New Roman" panose="02020603050405020304" pitchFamily="18" charset="0"/>
                            </a:rPr>
                            <m:t>radiation</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energy</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inside</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the</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cavity</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smtClean="0">
                              <a:latin typeface="Cambria Math" panose="02040503050406030204" pitchFamily="18" charset="0"/>
                              <a:cs typeface="Times New Roman" panose="02020603050405020304" pitchFamily="18" charset="0"/>
                            </a:rPr>
                            <m:t>within</m:t>
                          </m:r>
                          <m:r>
                            <a:rPr lang="en-US" altLang="zh-CN" sz="2000">
                              <a:latin typeface="Cambria Math" panose="02040503050406030204" pitchFamily="18" charset="0"/>
                              <a:cs typeface="Times New Roman" panose="02020603050405020304" pitchFamily="18" charset="0"/>
                            </a:rPr>
                            <m:t> </m:t>
                          </m:r>
                          <m:r>
                            <m:rPr>
                              <m:sty m:val="p"/>
                            </m:rPr>
                            <a:rPr lang="en-US" altLang="zh-CN" sz="2000">
                              <a:latin typeface="Cambria Math" panose="02040503050406030204" pitchFamily="18" charset="0"/>
                              <a:cs typeface="Times New Roman" panose="02020603050405020304" pitchFamily="18" charset="0"/>
                            </a:rPr>
                            <m:t>the</m:t>
                          </m:r>
                          <m:r>
                            <a:rPr lang="en-US" altLang="zh-CN" sz="2000">
                              <a:latin typeface="Cambria Math" panose="02040503050406030204" pitchFamily="18" charset="0"/>
                              <a:cs typeface="Times New Roman" panose="02020603050405020304" pitchFamily="18" charset="0"/>
                            </a:rPr>
                            <m:t> </m:t>
                          </m:r>
                          <m:r>
                            <m:rPr>
                              <m:sty m:val="p"/>
                            </m:rPr>
                            <a:rPr lang="en-US" altLang="zh-CN" sz="2000">
                              <a:latin typeface="Cambria Math" panose="02040503050406030204" pitchFamily="18" charset="0"/>
                              <a:cs typeface="Times New Roman" panose="02020603050405020304" pitchFamily="18" charset="0"/>
                            </a:rPr>
                            <m:t>spectral</m:t>
                          </m:r>
                          <m:r>
                            <a:rPr lang="en-US" altLang="zh-CN" sz="2000">
                              <a:latin typeface="Cambria Math" panose="02040503050406030204" pitchFamily="18" charset="0"/>
                              <a:cs typeface="Times New Roman" panose="02020603050405020304" pitchFamily="18" charset="0"/>
                            </a:rPr>
                            <m:t> </m:t>
                          </m:r>
                          <m:r>
                            <m:rPr>
                              <m:sty m:val="p"/>
                            </m:rPr>
                            <a:rPr lang="en-US" altLang="zh-CN" sz="2000">
                              <a:latin typeface="Cambria Math" panose="02040503050406030204" pitchFamily="18" charset="0"/>
                              <a:cs typeface="Times New Roman" panose="02020603050405020304" pitchFamily="18" charset="0"/>
                            </a:rPr>
                            <m:t>range</m:t>
                          </m:r>
                          <m:r>
                            <a:rPr lang="en-US" altLang="zh-CN" sz="2000" b="0" i="0" smtClean="0">
                              <a:latin typeface="Cambria Math" panose="02040503050406030204" pitchFamily="18" charset="0"/>
                              <a:cs typeface="Times New Roman" panose="02020603050405020304" pitchFamily="18" charset="0"/>
                            </a:rPr>
                            <m:t> </m:t>
                          </m:r>
                          <m:d>
                            <m:dPr>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𝜆</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𝜆</m:t>
                              </m:r>
                              <m:r>
                                <a:rPr lang="en-US" altLang="zh-CN" sz="2000" b="0" i="1" smtClean="0">
                                  <a:latin typeface="Cambria Math" panose="02040503050406030204" pitchFamily="18" charset="0"/>
                                  <a:cs typeface="Times New Roman" panose="02020603050405020304" pitchFamily="18" charset="0"/>
                                </a:rPr>
                                <m:t>+</m:t>
                              </m:r>
                              <m:r>
                                <m:rPr>
                                  <m:sty m:val="p"/>
                                </m:rPr>
                                <a:rPr lang="en-US" altLang="zh-CN" sz="2000" b="0" i="0" smtClean="0">
                                  <a:latin typeface="Cambria Math" panose="02040503050406030204" pitchFamily="18" charset="0"/>
                                  <a:cs typeface="Times New Roman" panose="02020603050405020304" pitchFamily="18" charset="0"/>
                                </a:rPr>
                                <m:t>Δ</m:t>
                              </m:r>
                              <m:r>
                                <a:rPr lang="en-US" altLang="zh-CN" sz="2000" b="0" i="1" smtClean="0">
                                  <a:latin typeface="Cambria Math" panose="02040503050406030204" pitchFamily="18" charset="0"/>
                                  <a:cs typeface="Times New Roman" panose="02020603050405020304" pitchFamily="18" charset="0"/>
                                </a:rPr>
                                <m:t>𝜆</m:t>
                              </m:r>
                            </m:e>
                          </m:d>
                        </m:num>
                        <m:den>
                          <m:r>
                            <m:rPr>
                              <m:sty m:val="p"/>
                            </m:rPr>
                            <a:rPr lang="en-US" altLang="zh-CN" sz="2000" b="0" i="0" smtClean="0">
                              <a:latin typeface="Cambria Math" panose="02040503050406030204" pitchFamily="18" charset="0"/>
                              <a:cs typeface="Times New Roman" panose="02020603050405020304" pitchFamily="18" charset="0"/>
                            </a:rPr>
                            <m:t>volume</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of</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the</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cavity</m:t>
                          </m:r>
                          <m:r>
                            <a:rPr lang="en-US" altLang="zh-CN" sz="2000" b="0" i="1" smtClean="0">
                              <a:latin typeface="Cambria Math" panose="02040503050406030204" pitchFamily="18" charset="0"/>
                              <a:cs typeface="Times New Roman" panose="02020603050405020304" pitchFamily="18" charset="0"/>
                            </a:rPr>
                            <m:t>×</m:t>
                          </m:r>
                          <m:r>
                            <m:rPr>
                              <m:sty m:val="p"/>
                            </m:rPr>
                            <a:rPr lang="en-US" altLang="zh-CN" sz="2000" b="0" i="0" smtClean="0">
                              <a:latin typeface="Cambria Math" panose="02040503050406030204" pitchFamily="18" charset="0"/>
                              <a:cs typeface="Times New Roman" panose="02020603050405020304" pitchFamily="18" charset="0"/>
                            </a:rPr>
                            <m:t>Δ</m:t>
                          </m:r>
                          <m:r>
                            <a:rPr lang="en-US" altLang="zh-CN" sz="2000" b="0" i="1" smtClean="0">
                              <a:latin typeface="Cambria Math" panose="02040503050406030204" pitchFamily="18" charset="0"/>
                              <a:cs typeface="Times New Roman" panose="02020603050405020304" pitchFamily="18" charset="0"/>
                            </a:rPr>
                            <m:t>𝜆</m:t>
                          </m:r>
                        </m:den>
                      </m:f>
                    </m:oMath>
                  </m:oMathPara>
                </a14:m>
                <a:endParaRPr lang="en-US" altLang="zh-CN" sz="2000" dirty="0">
                  <a:latin typeface="Times New Roman" panose="02020603050405020304" pitchFamily="18" charset="0"/>
                  <a:cs typeface="Times New Roman" panose="02020603050405020304" pitchFamily="18" charset="0"/>
                </a:endParaRPr>
              </a:p>
              <a:p>
                <a:pPr>
                  <a:lnSpc>
                    <a:spcPct val="150000"/>
                  </a:lnSpc>
                  <a:spcBef>
                    <a:spcPts val="1800"/>
                  </a:spcBef>
                </a:pPr>
                <a:r>
                  <a:rPr lang="en-US" altLang="zh-CN" sz="2000" dirty="0">
                    <a:solidFill>
                      <a:srgbClr val="0070C0"/>
                    </a:solidFill>
                    <a:latin typeface="Times New Roman" panose="02020603050405020304" pitchFamily="18" charset="0"/>
                    <a:cs typeface="Times New Roman" panose="02020603050405020304" pitchFamily="18" charset="0"/>
                  </a:rPr>
                  <a:t>Spectrum of radiance (emissivity) </a:t>
                </a:r>
                <a:endParaRPr lang="en-US" altLang="zh-CN" sz="2000" i="1" dirty="0">
                  <a:solidFill>
                    <a:srgbClr val="0070C0"/>
                  </a:solidFill>
                  <a:latin typeface="Cambria Math" panose="02040503050406030204" pitchFamily="18" charset="0"/>
                </a:endParaRPr>
              </a:p>
              <a:p>
                <a:pPr marL="0" indent="0">
                  <a:lnSpc>
                    <a:spcPct val="150000"/>
                  </a:lnSpc>
                  <a:spcBef>
                    <a:spcPts val="1800"/>
                  </a:spcBef>
                  <a:buNone/>
                </a:pPr>
                <a14:m>
                  <m:oMathPara xmlns:m="http://schemas.openxmlformats.org/officeDocument/2006/math">
                    <m:oMathParaPr>
                      <m:jc m:val="centerGroup"/>
                    </m:oMathParaPr>
                    <m:oMath xmlns:m="http://schemas.openxmlformats.org/officeDocument/2006/math">
                      <m:sSub>
                        <m:sSubPr>
                          <m:ctrlPr>
                            <a:rPr lang="en-US" altLang="zh-CN" sz="2000" i="1">
                              <a:solidFill>
                                <a:srgbClr val="0070C0"/>
                              </a:solidFill>
                              <a:latin typeface="Cambria Math" panose="02040503050406030204" pitchFamily="18" charset="0"/>
                            </a:rPr>
                          </m:ctrlPr>
                        </m:sSubPr>
                        <m:e>
                          <m:r>
                            <a:rPr lang="en-US" altLang="zh-CN" sz="2000" b="0" i="1" smtClean="0">
                              <a:solidFill>
                                <a:srgbClr val="0070C0"/>
                              </a:solidFill>
                              <a:latin typeface="Cambria Math" panose="02040503050406030204" pitchFamily="18" charset="0"/>
                            </a:rPr>
                            <m:t>𝐼</m:t>
                          </m:r>
                        </m:e>
                        <m:sub>
                          <m:r>
                            <a:rPr lang="en-US" altLang="zh-CN" sz="2000" i="1">
                              <a:solidFill>
                                <a:srgbClr val="0070C0"/>
                              </a:solidFill>
                              <a:latin typeface="Cambria Math" panose="02040503050406030204" pitchFamily="18" charset="0"/>
                            </a:rPr>
                            <m:t>𝜆</m:t>
                          </m:r>
                        </m:sub>
                      </m:sSub>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a:rPr>
                            <m:t>𝑇</m:t>
                          </m:r>
                        </m:e>
                      </m:d>
                      <m:r>
                        <a:rPr lang="en-US" altLang="zh-CN" sz="2000">
                          <a:solidFill>
                            <a:srgbClr val="0070C0"/>
                          </a:solidFill>
                          <a:latin typeface="Cambria Math" panose="02040503050406030204" pitchFamily="18" charset="0"/>
                        </a:rPr>
                        <m:t>=</m:t>
                      </m:r>
                      <m:f>
                        <m:fPr>
                          <m:ctrlPr>
                            <a:rPr lang="en-US" altLang="zh-CN" sz="2000" i="1">
                              <a:latin typeface="Cambria Math" panose="02040503050406030204" pitchFamily="18" charset="0"/>
                              <a:cs typeface="Times New Roman" panose="02020603050405020304" pitchFamily="18" charset="0"/>
                            </a:rPr>
                          </m:ctrlPr>
                        </m:fPr>
                        <m:num>
                          <m:r>
                            <m:rPr>
                              <m:sty m:val="p"/>
                            </m:rPr>
                            <a:rPr lang="en-US" altLang="zh-CN" sz="2000">
                              <a:latin typeface="Cambria Math" panose="02040503050406030204" pitchFamily="18" charset="0"/>
                              <a:cs typeface="Times New Roman" panose="02020603050405020304" pitchFamily="18" charset="0"/>
                            </a:rPr>
                            <m:t>energy</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smtClean="0">
                              <a:latin typeface="Cambria Math" panose="02040503050406030204" pitchFamily="18" charset="0"/>
                              <a:cs typeface="Times New Roman" panose="02020603050405020304" pitchFamily="18" charset="0"/>
                            </a:rPr>
                            <m:t>emitted</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out</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of</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the</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cavity</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within</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the</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spectral</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range</m:t>
                          </m:r>
                          <m:r>
                            <a:rPr lang="en-US" altLang="zh-CN" sz="200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𝜆</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𝜆</m:t>
                          </m:r>
                          <m:r>
                            <a:rPr lang="en-US" altLang="zh-CN" sz="2000" i="1">
                              <a:latin typeface="Cambria Math" panose="02040503050406030204" pitchFamily="18" charset="0"/>
                              <a:cs typeface="Times New Roman" panose="02020603050405020304" pitchFamily="18" charset="0"/>
                            </a:rPr>
                            <m:t>+</m:t>
                          </m:r>
                          <m:r>
                            <m:rPr>
                              <m:sty m:val="p"/>
                            </m:rPr>
                            <a:rPr lang="en-US" altLang="zh-CN" sz="2000">
                              <a:latin typeface="Cambria Math" panose="02040503050406030204" pitchFamily="18" charset="0"/>
                              <a:cs typeface="Times New Roman" panose="02020603050405020304" pitchFamily="18" charset="0"/>
                            </a:rPr>
                            <m:t>Δ</m:t>
                          </m:r>
                          <m:r>
                            <a:rPr lang="en-US" altLang="zh-CN" sz="2000" i="1">
                              <a:latin typeface="Cambria Math" panose="02040503050406030204" pitchFamily="18" charset="0"/>
                              <a:cs typeface="Times New Roman" panose="02020603050405020304" pitchFamily="18" charset="0"/>
                            </a:rPr>
                            <m:t>𝜆</m:t>
                          </m:r>
                          <m:r>
                            <a:rPr lang="en-US" altLang="zh-CN" sz="2000" i="1">
                              <a:latin typeface="Cambria Math" panose="02040503050406030204" pitchFamily="18" charset="0"/>
                              <a:cs typeface="Times New Roman" panose="02020603050405020304" pitchFamily="18" charset="0"/>
                            </a:rPr>
                            <m:t>)</m:t>
                          </m:r>
                        </m:num>
                        <m:den>
                          <m:r>
                            <m:rPr>
                              <m:sty m:val="p"/>
                            </m:rPr>
                            <a:rPr lang="en-US" altLang="zh-CN" sz="2000" b="0" i="0" smtClean="0">
                              <a:latin typeface="Cambria Math" panose="02040503050406030204" pitchFamily="18" charset="0"/>
                              <a:cs typeface="Times New Roman" panose="02020603050405020304" pitchFamily="18" charset="0"/>
                            </a:rPr>
                            <m:t>time</m:t>
                          </m:r>
                          <m:r>
                            <a:rPr lang="en-US" altLang="zh-CN" sz="2000" b="0" i="1" smtClean="0">
                              <a:latin typeface="Cambria Math" panose="02040503050406030204" pitchFamily="18" charset="0"/>
                              <a:cs typeface="Times New Roman" panose="02020603050405020304" pitchFamily="18" charset="0"/>
                            </a:rPr>
                            <m:t>×</m:t>
                          </m:r>
                          <m:r>
                            <m:rPr>
                              <m:sty m:val="p"/>
                            </m:rPr>
                            <a:rPr lang="en-US" altLang="zh-CN" sz="2000" b="0" i="0" smtClean="0">
                              <a:latin typeface="Cambria Math" panose="02040503050406030204" pitchFamily="18" charset="0"/>
                              <a:cs typeface="Times New Roman" panose="02020603050405020304" pitchFamily="18" charset="0"/>
                            </a:rPr>
                            <m:t>opening</m:t>
                          </m:r>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area</m:t>
                          </m:r>
                          <m:r>
                            <a:rPr lang="en-US" altLang="zh-CN" sz="2000" i="1">
                              <a:latin typeface="Cambria Math" panose="02040503050406030204" pitchFamily="18" charset="0"/>
                              <a:cs typeface="Times New Roman" panose="02020603050405020304" pitchFamily="18" charset="0"/>
                            </a:rPr>
                            <m:t>×</m:t>
                          </m:r>
                          <m:r>
                            <m:rPr>
                              <m:sty m:val="p"/>
                            </m:rPr>
                            <a:rPr lang="en-US" altLang="zh-CN" sz="2000">
                              <a:latin typeface="Cambria Math" panose="02040503050406030204" pitchFamily="18" charset="0"/>
                              <a:cs typeface="Times New Roman" panose="02020603050405020304" pitchFamily="18" charset="0"/>
                            </a:rPr>
                            <m:t>Δ</m:t>
                          </m:r>
                          <m:r>
                            <a:rPr lang="en-US" altLang="zh-CN" sz="2000" i="1">
                              <a:latin typeface="Cambria Math" panose="02040503050406030204" pitchFamily="18" charset="0"/>
                              <a:cs typeface="Times New Roman" panose="02020603050405020304" pitchFamily="18" charset="0"/>
                            </a:rPr>
                            <m:t>𝜆</m:t>
                          </m:r>
                        </m:den>
                      </m:f>
                    </m:oMath>
                  </m:oMathPara>
                </a14:m>
                <a:endParaRPr lang="en-US" altLang="zh-CN" sz="2000" dirty="0">
                  <a:latin typeface="Times New Roman" panose="02020603050405020304" pitchFamily="18" charset="0"/>
                  <a:cs typeface="Times New Roman" panose="02020603050405020304" pitchFamily="18" charset="0"/>
                </a:endParaRPr>
              </a:p>
              <a:p>
                <a:pPr marL="457178" lvl="1" indent="0">
                  <a:lnSpc>
                    <a:spcPct val="150000"/>
                  </a:lnSpc>
                  <a:spcBef>
                    <a:spcPts val="1800"/>
                  </a:spcBef>
                  <a:buNone/>
                </a:pPr>
                <a:r>
                  <a:rPr lang="en-US" altLang="zh-CN" sz="2000" dirty="0">
                    <a:latin typeface="Times New Roman" panose="02020603050405020304" pitchFamily="18" charset="0"/>
                    <a:cs typeface="Times New Roman" panose="02020603050405020304" pitchFamily="18" charset="0"/>
                  </a:rPr>
                  <a:t>For a unidirectional radiation normal to a surface,</a:t>
                </a:r>
                <a:r>
                  <a:rPr lang="zh-CN" alt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000" i="1">
                        <a:solidFill>
                          <a:srgbClr val="0070C0"/>
                        </a:solidFill>
                        <a:latin typeface="Cambria Math"/>
                      </a:rPr>
                      <m:t>𝐼</m:t>
                    </m:r>
                    <m:r>
                      <a:rPr lang="en-US" altLang="zh-CN" sz="2000" i="1">
                        <a:solidFill>
                          <a:srgbClr val="0070C0"/>
                        </a:solidFill>
                        <a:latin typeface="Cambria Math"/>
                      </a:rPr>
                      <m:t>=</m:t>
                    </m:r>
                    <m:r>
                      <a:rPr lang="en-US" altLang="zh-CN" sz="2000" b="0" i="1" smtClean="0">
                        <a:solidFill>
                          <a:srgbClr val="0070C0"/>
                        </a:solidFill>
                        <a:latin typeface="Cambria Math" panose="02040503050406030204" pitchFamily="18" charset="0"/>
                      </a:rPr>
                      <m:t>𝑐</m:t>
                    </m:r>
                    <m:r>
                      <a:rPr lang="en-US" altLang="zh-CN" sz="2000" i="1">
                        <a:solidFill>
                          <a:srgbClr val="0070C0"/>
                        </a:solidFill>
                        <a:latin typeface="Cambria Math"/>
                      </a:rPr>
                      <m:t>𝑢</m:t>
                    </m:r>
                  </m:oMath>
                </a14:m>
                <a:r>
                  <a:rPr lang="en-US" altLang="zh-CN" sz="2000" dirty="0">
                    <a:latin typeface="Times New Roman" panose="02020603050405020304" pitchFamily="18" charset="0"/>
                    <a:cs typeface="Times New Roman" panose="02020603050405020304" pitchFamily="18" charset="0"/>
                  </a:rPr>
                  <a:t>. But the blackbody radiation inside the cavity is isotropic, thus, the emission intensity is  </a:t>
                </a:r>
                <a14:m>
                  <m:oMath xmlns:m="http://schemas.openxmlformats.org/officeDocument/2006/math">
                    <m:r>
                      <a:rPr lang="en-US" altLang="zh-CN" sz="2000" i="1">
                        <a:solidFill>
                          <a:srgbClr val="0070C0"/>
                        </a:solidFill>
                        <a:latin typeface="Cambria Math"/>
                      </a:rPr>
                      <m:t>𝐼</m:t>
                    </m:r>
                    <m:r>
                      <a:rPr lang="en-US" altLang="zh-CN" sz="2000" i="1">
                        <a:solidFill>
                          <a:srgbClr val="0070C0"/>
                        </a:solidFill>
                        <a:latin typeface="Cambria Math"/>
                      </a:rPr>
                      <m:t>=</m:t>
                    </m:r>
                    <m:f>
                      <m:fPr>
                        <m:ctrlPr>
                          <a:rPr lang="en-US" altLang="zh-CN" sz="2000" i="1">
                            <a:solidFill>
                              <a:srgbClr val="0070C0"/>
                            </a:solidFill>
                            <a:latin typeface="Cambria Math" panose="02040503050406030204" pitchFamily="18" charset="0"/>
                            <a:ea typeface="Cambria Math"/>
                          </a:rPr>
                        </m:ctrlPr>
                      </m:fPr>
                      <m:num>
                        <m:r>
                          <a:rPr lang="en-US" altLang="zh-CN" sz="2000" b="0" i="1" smtClean="0">
                            <a:solidFill>
                              <a:srgbClr val="0070C0"/>
                            </a:solidFill>
                            <a:latin typeface="Cambria Math" panose="02040503050406030204" pitchFamily="18" charset="0"/>
                            <a:ea typeface="Cambria Math"/>
                          </a:rPr>
                          <m:t>1</m:t>
                        </m:r>
                      </m:num>
                      <m:den>
                        <m:r>
                          <a:rPr lang="en-US" altLang="zh-CN" sz="2000" i="1">
                            <a:solidFill>
                              <a:srgbClr val="0070C0"/>
                            </a:solidFill>
                            <a:latin typeface="Cambria Math"/>
                            <a:ea typeface="Cambria Math"/>
                          </a:rPr>
                          <m:t>4</m:t>
                        </m:r>
                      </m:den>
                    </m:f>
                    <m:r>
                      <a:rPr lang="en-US" altLang="zh-CN" sz="2000" b="0" i="1" smtClean="0">
                        <a:solidFill>
                          <a:srgbClr val="0070C0"/>
                        </a:solidFill>
                        <a:latin typeface="Cambria Math" panose="02040503050406030204" pitchFamily="18" charset="0"/>
                        <a:ea typeface="Cambria Math"/>
                      </a:rPr>
                      <m:t>𝑐</m:t>
                    </m:r>
                    <m:r>
                      <a:rPr lang="en-US" altLang="zh-CN" sz="2000" i="1">
                        <a:solidFill>
                          <a:srgbClr val="0070C0"/>
                        </a:solidFill>
                        <a:latin typeface="Cambria Math"/>
                      </a:rPr>
                      <m:t>𝑢</m:t>
                    </m:r>
                    <m:r>
                      <a:rPr lang="en-US" altLang="zh-CN" sz="2000" i="1">
                        <a:solidFill>
                          <a:srgbClr val="0070C0"/>
                        </a:solidFill>
                        <a:latin typeface="Cambria Math"/>
                      </a:rPr>
                      <m:t> </m:t>
                    </m:r>
                  </m:oMath>
                </a14:m>
                <a:endParaRPr lang="en-US" sz="2000" dirty="0">
                  <a:latin typeface="Times New Roman" panose="02020603050405020304" pitchFamily="18" charset="0"/>
                  <a:cs typeface="Times New Roman" panose="02020603050405020304" pitchFamily="18" charset="0"/>
                </a:endParaRPr>
              </a:p>
              <a:p>
                <a:pPr marL="457178" lvl="1" indent="0">
                  <a:lnSpc>
                    <a:spcPct val="150000"/>
                  </a:lnSpc>
                  <a:spcBef>
                    <a:spcPts val="1800"/>
                  </a:spcBef>
                  <a:buNone/>
                </a:pPr>
                <a14:m>
                  <m:oMath xmlns:m="http://schemas.openxmlformats.org/officeDocument/2006/math">
                    <m:r>
                      <a:rPr lang="en-US" sz="2000" b="0" i="1" smtClean="0">
                        <a:latin typeface="Cambria Math" panose="02040503050406030204" pitchFamily="18" charset="0"/>
                        <a:cs typeface="Times New Roman" panose="02020603050405020304" pitchFamily="18" charset="0"/>
                      </a:rPr>
                      <m:t>𝐼</m:t>
                    </m:r>
                  </m:oMath>
                </a14:m>
                <a:r>
                  <a:rPr lang="en-US" sz="2000" dirty="0">
                    <a:latin typeface="Times New Roman" panose="02020603050405020304" pitchFamily="18" charset="0"/>
                    <a:cs typeface="Times New Roman" panose="02020603050405020304" pitchFamily="18" charset="0"/>
                  </a:rPr>
                  <a:t> and </a:t>
                </a:r>
                <a14:m>
                  <m:oMath xmlns:m="http://schemas.openxmlformats.org/officeDocument/2006/math">
                    <m:r>
                      <a:rPr lang="en-US" sz="2000" b="0" i="1" smtClean="0">
                        <a:latin typeface="Cambria Math" panose="02040503050406030204" pitchFamily="18" charset="0"/>
                        <a:cs typeface="Times New Roman" panose="02020603050405020304" pitchFamily="18" charset="0"/>
                      </a:rPr>
                      <m:t>𝑢</m:t>
                    </m:r>
                  </m:oMath>
                </a14:m>
                <a:r>
                  <a:rPr lang="en-US" sz="2000" dirty="0">
                    <a:latin typeface="Times New Roman" panose="02020603050405020304" pitchFamily="18" charset="0"/>
                    <a:cs typeface="Times New Roman" panose="02020603050405020304" pitchFamily="18" charset="0"/>
                  </a:rPr>
                  <a:t> only differs by a constant factor. We will focus on </a:t>
                </a:r>
                <a14:m>
                  <m:oMath xmlns:m="http://schemas.openxmlformats.org/officeDocument/2006/math">
                    <m:r>
                      <a:rPr lang="en-US" altLang="zh-CN" sz="2000" i="1" dirty="0" smtClean="0">
                        <a:solidFill>
                          <a:srgbClr val="0070C0"/>
                        </a:solidFill>
                        <a:latin typeface="Cambria Math" panose="02040503050406030204" pitchFamily="18" charset="0"/>
                        <a:cs typeface="Times New Roman" panose="02020603050405020304" pitchFamily="18" charset="0"/>
                      </a:rPr>
                      <m:t>𝑢</m:t>
                    </m:r>
                  </m:oMath>
                </a14:m>
                <a:r>
                  <a:rPr lang="en-US" altLang="zh-CN" sz="2000" i="1" dirty="0">
                    <a:solidFill>
                      <a:srgbClr val="0070C0"/>
                    </a:solidFill>
                    <a:latin typeface="Cambria Math" panose="02040503050406030204" pitchFamily="18" charset="0"/>
                  </a:rPr>
                  <a:t> </a:t>
                </a:r>
                <a:r>
                  <a:rPr lang="en-US" altLang="zh-CN" sz="2000" dirty="0">
                    <a:latin typeface="Cambria Math" panose="02040503050406030204" pitchFamily="18" charset="0"/>
                  </a:rPr>
                  <a:t>in what follows.</a:t>
                </a:r>
                <a:endParaRPr lang="en-US" altLang="zh-CN" sz="2000" i="1" dirty="0">
                  <a:latin typeface="Cambria Math" panose="02040503050406030204" pitchFamily="18" charset="0"/>
                </a:endParaRPr>
              </a:p>
              <a:p>
                <a:pPr marL="457178" lvl="1" indent="0">
                  <a:lnSpc>
                    <a:spcPct val="150000"/>
                  </a:lnSpc>
                  <a:spcBef>
                    <a:spcPts val="1800"/>
                  </a:spcBef>
                  <a:buNone/>
                </a:pPr>
                <a:endParaRPr lang="en-US" sz="20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07572" y="826289"/>
                <a:ext cx="9025889" cy="5931957"/>
              </a:xfrm>
              <a:blipFill>
                <a:blip r:embed="rId3"/>
                <a:stretch>
                  <a:fillRect l="-6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035150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1819" y="213708"/>
            <a:ext cx="8070980" cy="551589"/>
          </a:xfrm>
        </p:spPr>
        <p:txBody>
          <a:bodyPr/>
          <a:lstStyle/>
          <a:p>
            <a:r>
              <a:rPr lang="en-US" altLang="zh-CN" dirty="0">
                <a:latin typeface="Times New Roman" panose="02020603050405020304" pitchFamily="18" charset="0"/>
                <a:cs typeface="Times New Roman" panose="02020603050405020304" pitchFamily="18" charset="0"/>
              </a:rPr>
              <a:t>Two forms of spectrum of energy</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density</a:t>
            </a:r>
            <a:endParaRPr lang="zh-CN" altLang="en-US" dirty="0">
              <a:latin typeface="Times New Roman" panose="02020603050405020304" pitchFamily="18" charset="0"/>
              <a:cs typeface="Times New Roman" panose="02020603050405020304" pitchFamily="18" charset="0"/>
            </a:endParaRPr>
          </a:p>
        </p:txBody>
      </p:sp>
      <p:grpSp>
        <p:nvGrpSpPr>
          <p:cNvPr id="16" name="Group 15"/>
          <p:cNvGrpSpPr/>
          <p:nvPr/>
        </p:nvGrpSpPr>
        <p:grpSpPr>
          <a:xfrm>
            <a:off x="691818" y="1289525"/>
            <a:ext cx="8070981" cy="3954437"/>
            <a:chOff x="468059" y="1658976"/>
            <a:chExt cx="8185732" cy="4057068"/>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059" y="1658976"/>
              <a:ext cx="8185732" cy="40570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6243336" y="2551270"/>
              <a:ext cx="0" cy="2576306"/>
            </a:xfrm>
            <a:prstGeom prst="line">
              <a:avLst/>
            </a:prstGeom>
            <a:ln w="15875">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1734187" y="2671494"/>
              <a:ext cx="1695" cy="2456083"/>
            </a:xfrm>
            <a:prstGeom prst="line">
              <a:avLst/>
            </a:prstGeom>
            <a:ln w="15875">
              <a:solidFill>
                <a:srgbClr val="C00000"/>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p:cNvSpPr/>
                <p:nvPr/>
              </p:nvSpPr>
              <p:spPr>
                <a:xfrm>
                  <a:off x="5903512" y="5300138"/>
                  <a:ext cx="679648" cy="3473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solidFill>
                                  <a:srgbClr val="C00000"/>
                                </a:solidFill>
                                <a:latin typeface="Cambria Math" panose="02040503050406030204" pitchFamily="18" charset="0"/>
                              </a:rPr>
                            </m:ctrlPr>
                          </m:sSubPr>
                          <m:e>
                            <m:r>
                              <a:rPr lang="en-US" altLang="zh-CN" sz="1600" i="1">
                                <a:solidFill>
                                  <a:srgbClr val="C00000"/>
                                </a:solidFill>
                                <a:latin typeface="Cambria Math"/>
                              </a:rPr>
                              <m:t>𝜆</m:t>
                            </m:r>
                          </m:e>
                          <m:sub>
                            <m:r>
                              <a:rPr lang="en-US" altLang="zh-CN" sz="1600" i="1">
                                <a:solidFill>
                                  <a:srgbClr val="C00000"/>
                                </a:solidFill>
                                <a:latin typeface="Cambria Math"/>
                              </a:rPr>
                              <m:t>𝑚𝑎𝑥</m:t>
                            </m:r>
                          </m:sub>
                        </m:sSub>
                      </m:oMath>
                    </m:oMathPara>
                  </a14:m>
                  <a:endParaRPr lang="zh-CN" altLang="en-US" sz="1351" dirty="0">
                    <a:solidFill>
                      <a:srgbClr val="C0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5903512" y="5300138"/>
                  <a:ext cx="679648" cy="34734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399436" y="5300138"/>
                  <a:ext cx="669502" cy="3473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solidFill>
                                  <a:srgbClr val="C00000"/>
                                </a:solidFill>
                                <a:latin typeface="Cambria Math" panose="02040503050406030204" pitchFamily="18" charset="0"/>
                              </a:rPr>
                            </m:ctrlPr>
                          </m:sSubPr>
                          <m:e>
                            <m:r>
                              <a:rPr lang="en-US" altLang="zh-CN" sz="1600" i="1">
                                <a:solidFill>
                                  <a:srgbClr val="C00000"/>
                                </a:solidFill>
                                <a:latin typeface="Cambria Math"/>
                              </a:rPr>
                              <m:t>𝜈</m:t>
                            </m:r>
                          </m:e>
                          <m:sub>
                            <m:r>
                              <a:rPr lang="en-US" altLang="zh-CN" sz="1600" i="1">
                                <a:solidFill>
                                  <a:srgbClr val="C00000"/>
                                </a:solidFill>
                                <a:latin typeface="Cambria Math"/>
                              </a:rPr>
                              <m:t>𝑚𝑎𝑥</m:t>
                            </m:r>
                          </m:sub>
                        </m:sSub>
                      </m:oMath>
                    </m:oMathPara>
                  </a14:m>
                  <a:endParaRPr lang="zh-CN" altLang="en-US" sz="1351" dirty="0">
                    <a:solidFill>
                      <a:srgbClr val="0070C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1399436" y="5300138"/>
                  <a:ext cx="669502" cy="347341"/>
                </a:xfrm>
                <a:prstGeom prst="rect">
                  <a:avLst/>
                </a:prstGeom>
                <a:blipFill>
                  <a:blip r:embed="rId6"/>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2" name="Rectangle 11"/>
              <p:cNvSpPr/>
              <p:nvPr/>
            </p:nvSpPr>
            <p:spPr>
              <a:xfrm>
                <a:off x="1305731" y="921239"/>
                <a:ext cx="2910236" cy="369332"/>
              </a:xfrm>
              <a:prstGeom prst="rect">
                <a:avLst/>
              </a:prstGeom>
            </p:spPr>
            <p:txBody>
              <a:bodyPr wrap="square">
                <a:spAutoFit/>
              </a:bodyPr>
              <a:lstStyle/>
              <a:p>
                <a:r>
                  <a:rPr lang="en-US" altLang="zh-CN" dirty="0">
                    <a:solidFill>
                      <a:srgbClr val="0070C0"/>
                    </a:solidFill>
                    <a:latin typeface="Times New Roman" panose="02020603050405020304" pitchFamily="18" charset="0"/>
                    <a:cs typeface="Times New Roman" panose="02020603050405020304" pitchFamily="18" charset="0"/>
                  </a:rPr>
                  <a:t>Frequency spectrum</a:t>
                </a:r>
                <a:r>
                  <a:rPr lang="en-US" altLang="zh-CN" b="0" dirty="0">
                    <a:solidFill>
                      <a:srgbClr val="0070C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0" i="1" smtClean="0">
                            <a:solidFill>
                              <a:srgbClr val="0070C0"/>
                            </a:solidFill>
                            <a:latin typeface="Cambria Math" panose="02040503050406030204" pitchFamily="18" charset="0"/>
                          </a:rPr>
                        </m:ctrlPr>
                      </m:sSubPr>
                      <m:e>
                        <m:r>
                          <a:rPr lang="en-US" altLang="zh-CN" i="1" smtClean="0">
                            <a:solidFill>
                              <a:srgbClr val="0070C0"/>
                            </a:solidFill>
                            <a:latin typeface="Cambria Math" panose="02040503050406030204" pitchFamily="18" charset="0"/>
                          </a:rPr>
                          <m:t>𝑢</m:t>
                        </m:r>
                      </m:e>
                      <m:sub>
                        <m:r>
                          <a:rPr lang="en-US" altLang="zh-CN" b="0" i="1" smtClean="0">
                            <a:solidFill>
                              <a:srgbClr val="0070C0"/>
                            </a:solidFill>
                            <a:latin typeface="Cambria Math" panose="02040503050406030204" pitchFamily="18" charset="0"/>
                          </a:rPr>
                          <m:t>𝜈</m:t>
                        </m:r>
                      </m:sub>
                    </m:sSub>
                    <m:d>
                      <m:dPr>
                        <m:ctrlPr>
                          <a:rPr lang="en-US" altLang="zh-CN" i="1">
                            <a:solidFill>
                              <a:srgbClr val="0070C0"/>
                            </a:solidFill>
                            <a:latin typeface="Cambria Math" panose="02040503050406030204" pitchFamily="18" charset="0"/>
                          </a:rPr>
                        </m:ctrlPr>
                      </m:dPr>
                      <m:e>
                        <m:r>
                          <a:rPr lang="en-US" altLang="zh-CN" b="0" i="1" smtClean="0">
                            <a:solidFill>
                              <a:srgbClr val="0070C0"/>
                            </a:solidFill>
                            <a:latin typeface="Cambria Math" panose="02040503050406030204" pitchFamily="18" charset="0"/>
                          </a:rPr>
                          <m:t>𝜈</m:t>
                        </m:r>
                        <m:r>
                          <a:rPr lang="en-US" altLang="zh-CN" i="1">
                            <a:solidFill>
                              <a:srgbClr val="0070C0"/>
                            </a:solidFill>
                            <a:latin typeface="Cambria Math" panose="02040503050406030204" pitchFamily="18" charset="0"/>
                          </a:rPr>
                          <m:t>,</m:t>
                        </m:r>
                        <m:r>
                          <a:rPr lang="en-US" altLang="zh-CN" i="1">
                            <a:solidFill>
                              <a:srgbClr val="0070C0"/>
                            </a:solidFill>
                            <a:latin typeface="Cambria Math"/>
                          </a:rPr>
                          <m:t>𝑇</m:t>
                        </m:r>
                      </m:e>
                    </m:d>
                  </m:oMath>
                </a14:m>
                <a:endParaRPr lang="en-US" dirty="0">
                  <a:latin typeface="Times New Roman" panose="02020603050405020304" pitchFamily="18" charset="0"/>
                  <a:cs typeface="Times New Roman" panose="02020603050405020304" pitchFamily="18"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1305731" y="921239"/>
                <a:ext cx="2910236" cy="369332"/>
              </a:xfrm>
              <a:prstGeom prst="rect">
                <a:avLst/>
              </a:prstGeom>
              <a:blipFill>
                <a:blip r:embed="rId7"/>
                <a:stretch>
                  <a:fillRect l="-1674"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5621129" y="926441"/>
                <a:ext cx="3080710" cy="369332"/>
              </a:xfrm>
              <a:prstGeom prst="rect">
                <a:avLst/>
              </a:prstGeom>
            </p:spPr>
            <p:txBody>
              <a:bodyPr wrap="square">
                <a:spAutoFit/>
              </a:bodyPr>
              <a:lstStyle/>
              <a:p>
                <a:r>
                  <a:rPr lang="en-US" altLang="zh-CN" dirty="0">
                    <a:solidFill>
                      <a:srgbClr val="0070C0"/>
                    </a:solidFill>
                  </a:rPr>
                  <a:t>Wavelength spectrum</a:t>
                </a:r>
                <a:r>
                  <a:rPr lang="zh-CN" altLang="en-US" dirty="0">
                    <a:solidFill>
                      <a:srgbClr val="0070C0"/>
                    </a:solidFill>
                  </a:rPr>
                  <a:t> </a:t>
                </a:r>
                <a14:m>
                  <m:oMath xmlns:m="http://schemas.openxmlformats.org/officeDocument/2006/math">
                    <m:sSub>
                      <m:sSubPr>
                        <m:ctrlPr>
                          <a:rPr lang="en-US" altLang="zh-CN" b="0" i="1" smtClean="0">
                            <a:solidFill>
                              <a:srgbClr val="0070C0"/>
                            </a:solidFill>
                            <a:latin typeface="Cambria Math" panose="02040503050406030204" pitchFamily="18" charset="0"/>
                          </a:rPr>
                        </m:ctrlPr>
                      </m:sSubPr>
                      <m:e>
                        <m:r>
                          <a:rPr lang="en-US" altLang="zh-CN" i="1" smtClean="0">
                            <a:solidFill>
                              <a:srgbClr val="0070C0"/>
                            </a:solidFill>
                            <a:latin typeface="Cambria Math" panose="02040503050406030204" pitchFamily="18" charset="0"/>
                          </a:rPr>
                          <m:t>𝑢</m:t>
                        </m:r>
                      </m:e>
                      <m:sub>
                        <m:r>
                          <a:rPr lang="en-US" altLang="zh-CN" b="0" i="1" smtClean="0">
                            <a:solidFill>
                              <a:srgbClr val="0070C0"/>
                            </a:solidFill>
                            <a:latin typeface="Cambria Math" panose="02040503050406030204" pitchFamily="18" charset="0"/>
                          </a:rPr>
                          <m:t>𝜆</m:t>
                        </m:r>
                      </m:sub>
                    </m:sSub>
                    <m:d>
                      <m:dPr>
                        <m:ctrlPr>
                          <a:rPr lang="en-US" altLang="zh-CN" i="1">
                            <a:solidFill>
                              <a:srgbClr val="0070C0"/>
                            </a:solidFill>
                            <a:latin typeface="Cambria Math" panose="02040503050406030204" pitchFamily="18" charset="0"/>
                          </a:rPr>
                        </m:ctrlPr>
                      </m:dPr>
                      <m:e>
                        <m:r>
                          <a:rPr lang="en-US" altLang="zh-CN" i="1">
                            <a:solidFill>
                              <a:srgbClr val="0070C0"/>
                            </a:solidFill>
                            <a:latin typeface="Cambria Math" panose="02040503050406030204" pitchFamily="18" charset="0"/>
                          </a:rPr>
                          <m:t>𝜆</m:t>
                        </m:r>
                        <m:r>
                          <a:rPr lang="en-US" altLang="zh-CN" i="1">
                            <a:solidFill>
                              <a:srgbClr val="0070C0"/>
                            </a:solidFill>
                            <a:latin typeface="Cambria Math" panose="02040503050406030204" pitchFamily="18" charset="0"/>
                          </a:rPr>
                          <m:t>,</m:t>
                        </m:r>
                        <m:r>
                          <a:rPr lang="en-US" altLang="zh-CN" i="1">
                            <a:solidFill>
                              <a:srgbClr val="0070C0"/>
                            </a:solidFill>
                            <a:latin typeface="Cambria Math"/>
                          </a:rPr>
                          <m:t>𝑇</m:t>
                        </m:r>
                      </m:e>
                    </m:d>
                  </m:oMath>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5621129" y="926441"/>
                <a:ext cx="3080710" cy="369332"/>
              </a:xfrm>
              <a:prstGeom prst="rect">
                <a:avLst/>
              </a:prstGeom>
              <a:blipFill>
                <a:blip r:embed="rId8"/>
                <a:stretch>
                  <a:fillRect l="-1584" t="-9836"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203729" y="5341082"/>
                <a:ext cx="5088509" cy="873572"/>
              </a:xfrm>
              <a:prstGeom prst="rect">
                <a:avLst/>
              </a:prstGeom>
            </p:spPr>
            <p:txBody>
              <a:bodyPr wrap="none">
                <a:spAutoFit/>
              </a:bodyPr>
              <a:lstStyle/>
              <a:p>
                <a:pPr>
                  <a:lnSpc>
                    <a:spcPct val="150000"/>
                  </a:lnSpc>
                </a:pPr>
                <a14:m>
                  <m:oMath xmlns:m="http://schemas.openxmlformats.org/officeDocument/2006/math">
                    <m:sSub>
                      <m:sSubPr>
                        <m:ctrlPr>
                          <a:rPr lang="en-US" altLang="zh-CN" i="1">
                            <a:solidFill>
                              <a:srgbClr val="0070C0"/>
                            </a:solidFill>
                            <a:latin typeface="Cambria Math" panose="02040503050406030204" pitchFamily="18" charset="0"/>
                          </a:rPr>
                        </m:ctrlPr>
                      </m:sSubPr>
                      <m:e>
                        <m:r>
                          <a:rPr lang="en-US" altLang="zh-CN" i="1">
                            <a:solidFill>
                              <a:srgbClr val="0070C0"/>
                            </a:solidFill>
                            <a:latin typeface="Cambria Math" panose="02040503050406030204" pitchFamily="18" charset="0"/>
                          </a:rPr>
                          <m:t>𝑢</m:t>
                        </m:r>
                      </m:e>
                      <m:sub>
                        <m:r>
                          <a:rPr lang="en-US" altLang="zh-CN" i="1">
                            <a:solidFill>
                              <a:srgbClr val="0070C0"/>
                            </a:solidFill>
                            <a:latin typeface="Cambria Math" panose="02040503050406030204" pitchFamily="18" charset="0"/>
                          </a:rPr>
                          <m:t>𝜈</m:t>
                        </m:r>
                      </m:sub>
                    </m:sSub>
                    <m:d>
                      <m:dPr>
                        <m:ctrlPr>
                          <a:rPr lang="en-US" altLang="zh-CN" i="1">
                            <a:solidFill>
                              <a:srgbClr val="0070C0"/>
                            </a:solidFill>
                            <a:latin typeface="Cambria Math" panose="02040503050406030204" pitchFamily="18" charset="0"/>
                          </a:rPr>
                        </m:ctrlPr>
                      </m:dPr>
                      <m:e>
                        <m:r>
                          <a:rPr lang="en-US" altLang="zh-CN" i="1">
                            <a:solidFill>
                              <a:srgbClr val="0070C0"/>
                            </a:solidFill>
                            <a:latin typeface="Cambria Math" panose="02040503050406030204" pitchFamily="18" charset="0"/>
                          </a:rPr>
                          <m:t>𝜈</m:t>
                        </m:r>
                        <m:r>
                          <a:rPr lang="en-US" altLang="zh-CN" i="1">
                            <a:solidFill>
                              <a:srgbClr val="0070C0"/>
                            </a:solidFill>
                            <a:latin typeface="Cambria Math" panose="02040503050406030204" pitchFamily="18" charset="0"/>
                          </a:rPr>
                          <m:t>,</m:t>
                        </m:r>
                        <m:r>
                          <a:rPr lang="en-US" altLang="zh-CN" i="1">
                            <a:solidFill>
                              <a:srgbClr val="0070C0"/>
                            </a:solidFill>
                            <a:latin typeface="Cambria Math"/>
                          </a:rPr>
                          <m:t>𝑇</m:t>
                        </m:r>
                      </m:e>
                    </m:d>
                  </m:oMath>
                </a14:m>
                <a:r>
                  <a:rPr lang="en-US" altLang="zh-CN" dirty="0">
                    <a:solidFill>
                      <a:srgbClr val="0070C0"/>
                    </a:solidFill>
                    <a:latin typeface="Times New Roman" panose="02020603050405020304" pitchFamily="18" charset="0"/>
                    <a:cs typeface="Times New Roman" panose="02020603050405020304" pitchFamily="18" charset="0"/>
                  </a:rPr>
                  <a:t>: energy density per unit frequency interval</a:t>
                </a:r>
              </a:p>
              <a:p>
                <a:pPr>
                  <a:lnSpc>
                    <a:spcPct val="150000"/>
                  </a:lnSpc>
                </a:pPr>
                <a14:m>
                  <m:oMath xmlns:m="http://schemas.openxmlformats.org/officeDocument/2006/math">
                    <m:sSub>
                      <m:sSubPr>
                        <m:ctrlPr>
                          <a:rPr lang="en-US" altLang="zh-CN" i="1">
                            <a:solidFill>
                              <a:srgbClr val="0070C0"/>
                            </a:solidFill>
                            <a:latin typeface="Cambria Math" panose="02040503050406030204" pitchFamily="18" charset="0"/>
                          </a:rPr>
                        </m:ctrlPr>
                      </m:sSubPr>
                      <m:e>
                        <m:r>
                          <a:rPr lang="en-US" altLang="zh-CN" i="1">
                            <a:solidFill>
                              <a:srgbClr val="0070C0"/>
                            </a:solidFill>
                            <a:latin typeface="Cambria Math" panose="02040503050406030204" pitchFamily="18" charset="0"/>
                          </a:rPr>
                          <m:t>𝑢</m:t>
                        </m:r>
                      </m:e>
                      <m:sub>
                        <m:r>
                          <a:rPr lang="en-US" altLang="zh-CN" i="1">
                            <a:solidFill>
                              <a:srgbClr val="0070C0"/>
                            </a:solidFill>
                            <a:latin typeface="Cambria Math" panose="02040503050406030204" pitchFamily="18" charset="0"/>
                          </a:rPr>
                          <m:t>𝜆</m:t>
                        </m:r>
                      </m:sub>
                    </m:sSub>
                    <m:d>
                      <m:dPr>
                        <m:ctrlPr>
                          <a:rPr lang="en-US" altLang="zh-CN" i="1">
                            <a:solidFill>
                              <a:srgbClr val="0070C0"/>
                            </a:solidFill>
                            <a:latin typeface="Cambria Math" panose="02040503050406030204" pitchFamily="18" charset="0"/>
                          </a:rPr>
                        </m:ctrlPr>
                      </m:dPr>
                      <m:e>
                        <m:r>
                          <a:rPr lang="en-US" altLang="zh-CN" i="1">
                            <a:solidFill>
                              <a:srgbClr val="0070C0"/>
                            </a:solidFill>
                            <a:latin typeface="Cambria Math" panose="02040503050406030204" pitchFamily="18" charset="0"/>
                          </a:rPr>
                          <m:t>𝜆</m:t>
                        </m:r>
                        <m:r>
                          <a:rPr lang="en-US" altLang="zh-CN" i="1">
                            <a:solidFill>
                              <a:srgbClr val="0070C0"/>
                            </a:solidFill>
                            <a:latin typeface="Cambria Math" panose="02040503050406030204" pitchFamily="18" charset="0"/>
                          </a:rPr>
                          <m:t>,</m:t>
                        </m:r>
                        <m:r>
                          <a:rPr lang="en-US" altLang="zh-CN" i="1">
                            <a:solidFill>
                              <a:srgbClr val="0070C0"/>
                            </a:solidFill>
                            <a:latin typeface="Cambria Math"/>
                          </a:rPr>
                          <m:t>𝑇</m:t>
                        </m:r>
                      </m:e>
                    </m:d>
                  </m:oMath>
                </a14:m>
                <a:r>
                  <a:rPr lang="en-US" altLang="zh-CN" dirty="0">
                    <a:solidFill>
                      <a:srgbClr val="0070C0"/>
                    </a:solidFill>
                    <a:latin typeface="Times New Roman" panose="02020603050405020304" pitchFamily="18" charset="0"/>
                    <a:cs typeface="Times New Roman" panose="02020603050405020304" pitchFamily="18" charset="0"/>
                  </a:rPr>
                  <a:t>: energy density per unit wavelength interval</a:t>
                </a:r>
                <a:endParaRPr lang="en-US" altLang="zh-CN" i="1"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1203729" y="5341082"/>
                <a:ext cx="5088509" cy="873572"/>
              </a:xfrm>
              <a:prstGeom prst="rect">
                <a:avLst/>
              </a:prstGeom>
              <a:blipFill>
                <a:blip r:embed="rId9"/>
                <a:stretch>
                  <a:fillRect r="-479" b="-104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6908276" y="5371859"/>
                <a:ext cx="1682384" cy="842795"/>
              </a:xfrm>
              <a:prstGeom prst="rect">
                <a:avLst/>
              </a:prstGeom>
              <a:solidFill>
                <a:schemeClr val="accent5">
                  <a:lumMod val="40000"/>
                  <a:lumOff val="60000"/>
                </a:schemeClr>
              </a:solid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smtClean="0">
                          <a:solidFill>
                            <a:srgbClr val="0070C0"/>
                          </a:solidFill>
                          <a:latin typeface="Cambria Math" panose="02040503050406030204" pitchFamily="18" charset="0"/>
                        </a:rPr>
                        <m:t>𝜆</m:t>
                      </m:r>
                      <m:r>
                        <a:rPr lang="en-US" altLang="zh-CN" i="1" smtClean="0">
                          <a:solidFill>
                            <a:srgbClr val="0070C0"/>
                          </a:solidFill>
                          <a:latin typeface="Cambria Math" panose="02040503050406030204" pitchFamily="18" charset="0"/>
                        </a:rPr>
                        <m:t>=</m:t>
                      </m:r>
                      <m:f>
                        <m:fPr>
                          <m:ctrlPr>
                            <a:rPr lang="en-US" altLang="zh-CN" i="1">
                              <a:solidFill>
                                <a:srgbClr val="0070C0"/>
                              </a:solidFill>
                              <a:latin typeface="Cambria Math" panose="02040503050406030204" pitchFamily="18" charset="0"/>
                            </a:rPr>
                          </m:ctrlPr>
                        </m:fPr>
                        <m:num>
                          <m:r>
                            <a:rPr lang="en-US" altLang="zh-CN" i="1">
                              <a:solidFill>
                                <a:srgbClr val="0070C0"/>
                              </a:solidFill>
                              <a:latin typeface="Cambria Math" panose="02040503050406030204" pitchFamily="18" charset="0"/>
                            </a:rPr>
                            <m:t>𝑐</m:t>
                          </m:r>
                        </m:num>
                        <m:den>
                          <m:r>
                            <m:rPr>
                              <m:lit/>
                            </m:rPr>
                            <a:rPr lang="en-US" altLang="zh-CN" i="1">
                              <a:solidFill>
                                <a:srgbClr val="0070C0"/>
                              </a:solidFill>
                              <a:latin typeface="Cambria Math" panose="02040503050406030204" pitchFamily="18" charset="0"/>
                            </a:rPr>
                            <m:t> </m:t>
                          </m:r>
                          <m:r>
                            <a:rPr lang="en-US" altLang="zh-CN" i="1">
                              <a:solidFill>
                                <a:srgbClr val="0070C0"/>
                              </a:solidFill>
                              <a:latin typeface="Cambria Math" panose="02040503050406030204" pitchFamily="18" charset="0"/>
                            </a:rPr>
                            <m:t>𝜈</m:t>
                          </m:r>
                        </m:den>
                      </m:f>
                    </m:oMath>
                  </m:oMathPara>
                </a14:m>
                <a:endParaRPr lang="en-US" altLang="zh-CN" b="0" i="1" dirty="0">
                  <a:solidFill>
                    <a:srgbClr val="0070C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i="1" smtClean="0">
                              <a:solidFill>
                                <a:srgbClr val="0070C0"/>
                              </a:solidFill>
                              <a:latin typeface="Cambria Math" panose="02040503050406030204" pitchFamily="18" charset="0"/>
                            </a:rPr>
                          </m:ctrlPr>
                        </m:sSubPr>
                        <m:e>
                          <m:r>
                            <a:rPr lang="en-US" altLang="zh-CN" i="1">
                              <a:solidFill>
                                <a:srgbClr val="0070C0"/>
                              </a:solidFill>
                              <a:latin typeface="Cambria Math"/>
                            </a:rPr>
                            <m:t>𝑢</m:t>
                          </m:r>
                        </m:e>
                        <m:sub>
                          <m:r>
                            <a:rPr lang="en-US" altLang="zh-CN" i="1">
                              <a:solidFill>
                                <a:srgbClr val="0070C0"/>
                              </a:solidFill>
                              <a:latin typeface="Cambria Math"/>
                            </a:rPr>
                            <m:t>𝜈</m:t>
                          </m:r>
                        </m:sub>
                      </m:sSub>
                      <m:r>
                        <a:rPr lang="en-US" altLang="zh-CN" b="0" i="1" smtClean="0">
                          <a:solidFill>
                            <a:srgbClr val="0070C0"/>
                          </a:solidFill>
                          <a:latin typeface="Cambria Math" panose="02040503050406030204" pitchFamily="18" charset="0"/>
                        </a:rPr>
                        <m:t>𝑑</m:t>
                      </m:r>
                      <m:r>
                        <a:rPr lang="en-US" altLang="zh-CN" b="0" i="1" smtClean="0">
                          <a:solidFill>
                            <a:srgbClr val="0070C0"/>
                          </a:solidFill>
                          <a:latin typeface="Cambria Math" panose="02040503050406030204" pitchFamily="18" charset="0"/>
                        </a:rPr>
                        <m:t>𝜈</m:t>
                      </m:r>
                      <m:r>
                        <a:rPr lang="en-US" altLang="zh-CN" i="1">
                          <a:solidFill>
                            <a:srgbClr val="0070C0"/>
                          </a:solidFill>
                          <a:latin typeface="Cambria Math"/>
                        </a:rPr>
                        <m:t>=</m:t>
                      </m:r>
                      <m:sSub>
                        <m:sSubPr>
                          <m:ctrlPr>
                            <a:rPr lang="en-US" altLang="zh-CN" b="0" i="1" smtClean="0">
                              <a:solidFill>
                                <a:srgbClr val="0070C0"/>
                              </a:solidFill>
                              <a:latin typeface="Cambria Math" panose="02040503050406030204" pitchFamily="18" charset="0"/>
                            </a:rPr>
                          </m:ctrlPr>
                        </m:sSubPr>
                        <m:e>
                          <m:r>
                            <a:rPr lang="en-US" altLang="zh-CN" b="0" i="1" smtClean="0">
                              <a:solidFill>
                                <a:srgbClr val="0070C0"/>
                              </a:solidFill>
                              <a:latin typeface="Cambria Math" panose="02040503050406030204" pitchFamily="18" charset="0"/>
                            </a:rPr>
                            <m:t>𝑢</m:t>
                          </m:r>
                        </m:e>
                        <m:sub>
                          <m:r>
                            <a:rPr lang="en-US" altLang="zh-CN" b="0" i="1" smtClean="0">
                              <a:solidFill>
                                <a:srgbClr val="0070C0"/>
                              </a:solidFill>
                              <a:latin typeface="Cambria Math" panose="02040503050406030204" pitchFamily="18" charset="0"/>
                            </a:rPr>
                            <m:t>𝜆</m:t>
                          </m:r>
                        </m:sub>
                      </m:sSub>
                      <m:r>
                        <a:rPr lang="en-US" altLang="zh-CN" b="0" i="1" smtClean="0">
                          <a:solidFill>
                            <a:srgbClr val="0070C0"/>
                          </a:solidFill>
                          <a:latin typeface="Cambria Math" panose="02040503050406030204" pitchFamily="18" charset="0"/>
                        </a:rPr>
                        <m:t>𝑑</m:t>
                      </m:r>
                      <m:r>
                        <a:rPr lang="en-US" altLang="zh-CN" b="0" i="1" smtClean="0">
                          <a:solidFill>
                            <a:srgbClr val="0070C0"/>
                          </a:solidFill>
                          <a:latin typeface="Cambria Math" panose="02040503050406030204" pitchFamily="18" charset="0"/>
                        </a:rPr>
                        <m:t>𝜆</m:t>
                      </m:r>
                      <m:r>
                        <a:rPr lang="en-US" altLang="zh-CN" b="0" i="0" smtClean="0">
                          <a:solidFill>
                            <a:srgbClr val="0070C0"/>
                          </a:solidFill>
                          <a:latin typeface="Cambria Math" panose="02040503050406030204" pitchFamily="18" charset="0"/>
                        </a:rPr>
                        <m:t>  </m:t>
                      </m:r>
                    </m:oMath>
                  </m:oMathPara>
                </a14:m>
                <a:endParaRPr lang="en-US" altLang="zh-CN" b="0" i="0" dirty="0">
                  <a:solidFill>
                    <a:srgbClr val="0070C0"/>
                  </a:solidFill>
                  <a:latin typeface="Cambria Math" panose="02040503050406030204"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6908276" y="5371859"/>
                <a:ext cx="1682384" cy="842795"/>
              </a:xfrm>
              <a:prstGeom prst="rect">
                <a:avLst/>
              </a:prstGeom>
              <a:blipFill>
                <a:blip r:embed="rId10"/>
                <a:stretch>
                  <a:fillRect b="-725"/>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2118192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fade">
                                      <p:cBhvr>
                                        <p:cTn id="15" dur="500"/>
                                        <p:tgtEl>
                                          <p:spTgt spid="10">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xEl>
                                              <p:pRg st="1" end="1"/>
                                            </p:txEl>
                                          </p:spTgt>
                                        </p:tgtEl>
                                        <p:attrNameLst>
                                          <p:attrName>style.visibility</p:attrName>
                                        </p:attrNameLst>
                                      </p:cBhvr>
                                      <p:to>
                                        <p:strVal val="visible"/>
                                      </p:to>
                                    </p:set>
                                    <p:animEffect transition="in" filter="fade">
                                      <p:cBhvr>
                                        <p:cTn id="18" dur="500"/>
                                        <p:tgtEl>
                                          <p:spTgt spid="10">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948" y="155297"/>
            <a:ext cx="8070980" cy="551589"/>
          </a:xfrm>
        </p:spPr>
        <p:txBody>
          <a:bodyPr/>
          <a:lstStyle/>
          <a:p>
            <a:r>
              <a:rPr lang="en-US" altLang="zh-CN" sz="3200" dirty="0">
                <a:latin typeface="Times New Roman" panose="02020603050405020304" pitchFamily="18" charset="0"/>
                <a:cs typeface="Times New Roman" panose="02020603050405020304" pitchFamily="18" charset="0"/>
              </a:rPr>
              <a:t>Fitting the spectrum of blackbody radiation</a:t>
            </a:r>
            <a:endParaRPr lang="zh-CN" altLang="en-US" sz="3200" dirty="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2B013A9C-F846-471D-A0F9-BADF95D91565}"/>
              </a:ext>
            </a:extLst>
          </p:cNvPr>
          <p:cNvGrpSpPr/>
          <p:nvPr/>
        </p:nvGrpSpPr>
        <p:grpSpPr>
          <a:xfrm>
            <a:off x="465312" y="1201757"/>
            <a:ext cx="6566935" cy="4506519"/>
            <a:chOff x="4553203" y="2398877"/>
            <a:chExt cx="6936074" cy="4622243"/>
          </a:xfrm>
        </p:grpSpPr>
        <p:pic>
          <p:nvPicPr>
            <p:cNvPr id="3" name="Picture 2">
              <a:extLst>
                <a:ext uri="{FF2B5EF4-FFF2-40B4-BE49-F238E27FC236}">
                  <a16:creationId xmlns:a16="http://schemas.microsoft.com/office/drawing/2014/main" id="{24F7D521-C534-4654-B7E4-64EFFBEB2F69}"/>
                </a:ext>
              </a:extLst>
            </p:cNvPr>
            <p:cNvPicPr>
              <a:picLocks noChangeAspect="1"/>
            </p:cNvPicPr>
            <p:nvPr/>
          </p:nvPicPr>
          <p:blipFill>
            <a:blip r:embed="rId3"/>
            <a:stretch>
              <a:fillRect/>
            </a:stretch>
          </p:blipFill>
          <p:spPr>
            <a:xfrm>
              <a:off x="4553203" y="2398877"/>
              <a:ext cx="6936074" cy="4622243"/>
            </a:xfrm>
            <a:prstGeom prst="rect">
              <a:avLst/>
            </a:prstGeom>
          </p:spPr>
        </p:pic>
        <p:sp>
          <p:nvSpPr>
            <p:cNvPr id="10" name="TextBox 9"/>
            <p:cNvSpPr txBox="1"/>
            <p:nvPr/>
          </p:nvSpPr>
          <p:spPr>
            <a:xfrm>
              <a:off x="9015346" y="3213978"/>
              <a:ext cx="1514319" cy="400110"/>
            </a:xfrm>
            <a:prstGeom prst="rect">
              <a:avLst/>
            </a:prstGeom>
            <a:solidFill>
              <a:schemeClr val="bg1"/>
            </a:solidFill>
          </p:spPr>
          <p:txBody>
            <a:bodyPr wrap="square" rtlCol="0">
              <a:spAutoFit/>
            </a:bodyPr>
            <a:lstStyle/>
            <a:p>
              <a:pPr algn="ctr"/>
              <a:r>
                <a:rPr lang="en-US" altLang="zh-CN" sz="2000" dirty="0">
                  <a:ea typeface="黑体" panose="02010609060101010101" pitchFamily="49" charset="-122"/>
                  <a:cs typeface="Times New Roman" panose="02020603050405020304" pitchFamily="18" charset="0"/>
                </a:rPr>
                <a:t>Experiment</a:t>
              </a:r>
              <a:endParaRPr lang="en-US" sz="2000" dirty="0">
                <a:ea typeface="黑体" panose="02010609060101010101" pitchFamily="49"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8888DFC-DF63-4D14-9BB0-3A2D6485BCC5}"/>
                  </a:ext>
                </a:extLst>
              </p:cNvPr>
              <p:cNvSpPr txBox="1"/>
              <p:nvPr/>
            </p:nvSpPr>
            <p:spPr>
              <a:xfrm>
                <a:off x="7728497" y="3908452"/>
                <a:ext cx="3238259" cy="801886"/>
              </a:xfrm>
              <a:prstGeom prst="rect">
                <a:avLst/>
              </a:prstGeom>
              <a:noFill/>
              <a:ln w="22225">
                <a:solidFill>
                  <a:srgbClr val="0000FF"/>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a:rPr>
                            <m:t>𝑢</m:t>
                          </m:r>
                        </m:e>
                        <m:sub>
                          <m:r>
                            <a:rPr lang="en-US" altLang="zh-CN" sz="2400" i="1">
                              <a:solidFill>
                                <a:schemeClr val="tx1"/>
                              </a:solidFill>
                              <a:latin typeface="Cambria Math"/>
                            </a:rPr>
                            <m:t>𝜈</m:t>
                          </m:r>
                        </m:sub>
                      </m:sSub>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a:rPr>
                            <m:t>𝑇</m:t>
                          </m:r>
                        </m:e>
                      </m:d>
                      <m:r>
                        <a:rPr lang="en-US" altLang="zh-CN" sz="2400" i="1">
                          <a:solidFill>
                            <a:schemeClr val="tx1"/>
                          </a:solidFill>
                          <a:latin typeface="Cambria Math"/>
                        </a:rPr>
                        <m:t>=</m:t>
                      </m:r>
                      <m:r>
                        <a:rPr lang="en-US" altLang="zh-CN" sz="2400" b="0" i="1" smtClean="0">
                          <a:solidFill>
                            <a:schemeClr val="tx1"/>
                          </a:solidFill>
                          <a:latin typeface="Cambria Math" panose="02040503050406030204" pitchFamily="18" charset="0"/>
                        </a:rPr>
                        <m:t>𝛼</m:t>
                      </m:r>
                      <m:sSup>
                        <m:sSupPr>
                          <m:ctrlPr>
                            <a:rPr lang="en-US" altLang="zh-CN" sz="2400" b="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𝜈</m:t>
                          </m:r>
                        </m:e>
                        <m:sup>
                          <m:r>
                            <a:rPr lang="en-US" altLang="zh-CN" sz="2400" b="0" i="1" smtClean="0">
                              <a:solidFill>
                                <a:schemeClr val="tx1"/>
                              </a:solidFill>
                              <a:latin typeface="Cambria Math" panose="02040503050406030204" pitchFamily="18" charset="0"/>
                            </a:rPr>
                            <m:t>2</m:t>
                          </m:r>
                        </m:sup>
                      </m:sSup>
                      <m:f>
                        <m:fPr>
                          <m:ctrlPr>
                            <a:rPr lang="en-US" altLang="zh-CN" sz="2400" i="1">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𝛽</m:t>
                          </m:r>
                          <m:r>
                            <a:rPr lang="en-US" altLang="zh-CN" sz="2400" i="1">
                              <a:solidFill>
                                <a:schemeClr val="tx1"/>
                              </a:solidFill>
                              <a:latin typeface="Cambria Math"/>
                            </a:rPr>
                            <m:t>𝜈</m:t>
                          </m:r>
                        </m:num>
                        <m:den>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a:rPr>
                                <m:t>𝑒</m:t>
                              </m:r>
                            </m:e>
                            <m:sup>
                              <m:r>
                                <a:rPr lang="en-US" altLang="zh-CN" sz="2400" b="0" i="1" smtClean="0">
                                  <a:solidFill>
                                    <a:schemeClr val="tx1"/>
                                  </a:solidFill>
                                  <a:latin typeface="Cambria Math" panose="02040503050406030204" pitchFamily="18" charset="0"/>
                                </a:rPr>
                                <m:t>𝛽</m:t>
                              </m:r>
                              <m:r>
                                <a:rPr lang="en-US" altLang="zh-CN" sz="2400" i="1">
                                  <a:solidFill>
                                    <a:schemeClr val="tx1"/>
                                  </a:solidFill>
                                  <a:latin typeface="Cambria Math"/>
                                </a:rPr>
                                <m:t>𝜈</m:t>
                              </m:r>
                              <m:r>
                                <a:rPr lang="en-US" altLang="zh-CN" sz="2400" i="1">
                                  <a:solidFill>
                                    <a:schemeClr val="tx1"/>
                                  </a:solidFill>
                                  <a:latin typeface="Cambria Math"/>
                                </a:rPr>
                                <m:t>/</m:t>
                              </m:r>
                              <m:r>
                                <a:rPr lang="en-US" altLang="zh-CN" sz="2400" i="1">
                                  <a:solidFill>
                                    <a:schemeClr val="tx1"/>
                                  </a:solidFill>
                                  <a:latin typeface="Cambria Math"/>
                                </a:rPr>
                                <m:t>𝑇</m:t>
                              </m:r>
                            </m:sup>
                          </m:sSup>
                          <m:r>
                            <a:rPr lang="en-US" altLang="zh-CN" sz="2400" i="1">
                              <a:solidFill>
                                <a:schemeClr val="tx1"/>
                              </a:solidFill>
                              <a:latin typeface="Cambria Math"/>
                            </a:rPr>
                            <m:t>−1</m:t>
                          </m:r>
                        </m:den>
                      </m:f>
                    </m:oMath>
                  </m:oMathPara>
                </a14:m>
                <a:endParaRPr lang="zh-CN" altLang="en-US" sz="2400" dirty="0">
                  <a:solidFill>
                    <a:schemeClr val="tx1"/>
                  </a:solidFill>
                </a:endParaRPr>
              </a:p>
            </p:txBody>
          </p:sp>
        </mc:Choice>
        <mc:Fallback xmlns="">
          <p:sp>
            <p:nvSpPr>
              <p:cNvPr id="16" name="TextBox 15">
                <a:extLst>
                  <a:ext uri="{FF2B5EF4-FFF2-40B4-BE49-F238E27FC236}">
                    <a16:creationId xmlns:a16="http://schemas.microsoft.com/office/drawing/2014/main" id="{08888DFC-DF63-4D14-9BB0-3A2D6485BCC5}"/>
                  </a:ext>
                </a:extLst>
              </p:cNvPr>
              <p:cNvSpPr txBox="1">
                <a:spLocks noRot="1" noChangeAspect="1" noMove="1" noResize="1" noEditPoints="1" noAdjustHandles="1" noChangeArrowheads="1" noChangeShapeType="1" noTextEdit="1"/>
              </p:cNvSpPr>
              <p:nvPr/>
            </p:nvSpPr>
            <p:spPr>
              <a:xfrm>
                <a:off x="7728497" y="3908452"/>
                <a:ext cx="3238259" cy="801886"/>
              </a:xfrm>
              <a:prstGeom prst="rect">
                <a:avLst/>
              </a:prstGeom>
              <a:blipFill>
                <a:blip r:embed="rId4"/>
                <a:stretch>
                  <a:fillRect/>
                </a:stretch>
              </a:blipFill>
              <a:ln w="22225">
                <a:solidFill>
                  <a:srgbClr val="0000FF"/>
                </a:solidFill>
              </a:ln>
            </p:spPr>
            <p:txBody>
              <a:bodyPr/>
              <a:lstStyle/>
              <a:p>
                <a:r>
                  <a:rPr lang="zh-CN" altLang="en-US">
                    <a:noFill/>
                  </a:rPr>
                  <a:t> </a:t>
                </a:r>
              </a:p>
            </p:txBody>
          </p:sp>
        </mc:Fallback>
      </mc:AlternateContent>
      <p:sp>
        <p:nvSpPr>
          <p:cNvPr id="17" name="Rectangle 16">
            <a:extLst>
              <a:ext uri="{FF2B5EF4-FFF2-40B4-BE49-F238E27FC236}">
                <a16:creationId xmlns:a16="http://schemas.microsoft.com/office/drawing/2014/main" id="{EED9F7F2-02DB-46C2-8ADF-C2C77174CB30}"/>
              </a:ext>
            </a:extLst>
          </p:cNvPr>
          <p:cNvSpPr/>
          <p:nvPr/>
        </p:nvSpPr>
        <p:spPr>
          <a:xfrm>
            <a:off x="7398915" y="4943676"/>
            <a:ext cx="4006484" cy="707886"/>
          </a:xfrm>
          <a:prstGeom prst="rect">
            <a:avLst/>
          </a:prstGeom>
        </p:spPr>
        <p:txBody>
          <a:bodyPr wrap="square">
            <a:spAutoFit/>
          </a:bodyPr>
          <a:lstStyle/>
          <a:p>
            <a:pPr algn="ct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Planck constructed a formula that fits data of the entire frequency range</a:t>
            </a:r>
            <a:endParaRPr lang="zh-CN" altLang="en-US" sz="2000"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A0AFB06F-54E6-4195-A3E5-02AE28D50C7C}"/>
              </a:ext>
            </a:extLst>
          </p:cNvPr>
          <p:cNvGrpSpPr/>
          <p:nvPr/>
        </p:nvGrpSpPr>
        <p:grpSpPr>
          <a:xfrm>
            <a:off x="9347627" y="2205255"/>
            <a:ext cx="1209428" cy="1703196"/>
            <a:chOff x="2889253" y="1828131"/>
            <a:chExt cx="1209428" cy="1703196"/>
          </a:xfrm>
        </p:grpSpPr>
        <p:cxnSp>
          <p:nvCxnSpPr>
            <p:cNvPr id="20" name="Straight Arrow Connector 19">
              <a:extLst>
                <a:ext uri="{FF2B5EF4-FFF2-40B4-BE49-F238E27FC236}">
                  <a16:creationId xmlns:a16="http://schemas.microsoft.com/office/drawing/2014/main" id="{0565AB44-890F-41BD-A505-EBB2F0AA574F}"/>
                </a:ext>
              </a:extLst>
            </p:cNvPr>
            <p:cNvCxnSpPr>
              <a:cxnSpLocks/>
              <a:stCxn id="16" idx="0"/>
              <a:endCxn id="32" idx="2"/>
            </p:cNvCxnSpPr>
            <p:nvPr/>
          </p:nvCxnSpPr>
          <p:spPr>
            <a:xfrm flipV="1">
              <a:off x="2889253" y="1828131"/>
              <a:ext cx="1203814" cy="1703196"/>
            </a:xfrm>
            <a:prstGeom prst="straightConnector1">
              <a:avLst/>
            </a:prstGeom>
            <a:ln w="25400">
              <a:tailEnd type="arrow"/>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1EC1127F-3911-400F-83EB-F6CFB1CE4EB1}"/>
                    </a:ext>
                  </a:extLst>
                </p:cNvPr>
                <p:cNvSpPr/>
                <p:nvPr/>
              </p:nvSpPr>
              <p:spPr>
                <a:xfrm>
                  <a:off x="3073144" y="2432784"/>
                  <a:ext cx="1025537" cy="400110"/>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ea typeface="黑体" panose="02010609060101010101" pitchFamily="49" charset="-122"/>
                          </a:rPr>
                          <m:t>𝜈</m:t>
                        </m:r>
                        <m:r>
                          <a:rPr lang="en-US" altLang="zh-CN" sz="2000" b="0" i="1" smtClean="0">
                            <a:solidFill>
                              <a:schemeClr val="tx1"/>
                            </a:solidFill>
                            <a:latin typeface="Cambria Math" panose="02040503050406030204" pitchFamily="18" charset="0"/>
                            <a:ea typeface="Cambria Math" panose="02040503050406030204" pitchFamily="18" charset="0"/>
                          </a:rPr>
                          <m:t>→∞</m:t>
                        </m:r>
                      </m:oMath>
                    </m:oMathPara>
                  </a14:m>
                  <a:endParaRPr lang="zh-CN" altLang="en-US" sz="2000" dirty="0">
                    <a:solidFill>
                      <a:schemeClr val="tx1"/>
                    </a:solidFill>
                    <a:latin typeface="黑体" panose="02010609060101010101" pitchFamily="49" charset="-122"/>
                    <a:ea typeface="黑体" panose="02010609060101010101" pitchFamily="49" charset="-122"/>
                  </a:endParaRPr>
                </a:p>
              </p:txBody>
            </p:sp>
          </mc:Choice>
          <mc:Fallback xmlns="">
            <p:sp>
              <p:nvSpPr>
                <p:cNvPr id="21" name="Rectangle 20">
                  <a:extLst>
                    <a:ext uri="{FF2B5EF4-FFF2-40B4-BE49-F238E27FC236}">
                      <a16:creationId xmlns:a16="http://schemas.microsoft.com/office/drawing/2014/main" id="{1EC1127F-3911-400F-83EB-F6CFB1CE4EB1}"/>
                    </a:ext>
                  </a:extLst>
                </p:cNvPr>
                <p:cNvSpPr>
                  <a:spLocks noRot="1" noChangeAspect="1" noMove="1" noResize="1" noEditPoints="1" noAdjustHandles="1" noChangeArrowheads="1" noChangeShapeType="1" noTextEdit="1"/>
                </p:cNvSpPr>
                <p:nvPr/>
              </p:nvSpPr>
              <p:spPr>
                <a:xfrm>
                  <a:off x="3073144" y="2432784"/>
                  <a:ext cx="1025537" cy="400110"/>
                </a:xfrm>
                <a:prstGeom prst="rect">
                  <a:avLst/>
                </a:prstGeom>
                <a:blipFill>
                  <a:blip r:embed="rId5"/>
                  <a:stretch>
                    <a:fillRect/>
                  </a:stretch>
                </a:blipFill>
              </p:spPr>
              <p:txBody>
                <a:bodyPr/>
                <a:lstStyle/>
                <a:p>
                  <a:r>
                    <a:rPr lang="zh-CN" altLang="en-US">
                      <a:noFill/>
                    </a:rPr>
                    <a:t> </a:t>
                  </a:r>
                </a:p>
              </p:txBody>
            </p:sp>
          </mc:Fallback>
        </mc:AlternateContent>
      </p:grpSp>
      <p:grpSp>
        <p:nvGrpSpPr>
          <p:cNvPr id="22" name="Group 21">
            <a:extLst>
              <a:ext uri="{FF2B5EF4-FFF2-40B4-BE49-F238E27FC236}">
                <a16:creationId xmlns:a16="http://schemas.microsoft.com/office/drawing/2014/main" id="{110DF0D6-D934-48DE-84F3-59AAFBDBEBB2}"/>
              </a:ext>
            </a:extLst>
          </p:cNvPr>
          <p:cNvGrpSpPr/>
          <p:nvPr/>
        </p:nvGrpSpPr>
        <p:grpSpPr>
          <a:xfrm>
            <a:off x="8151192" y="2209935"/>
            <a:ext cx="1196435" cy="1698516"/>
            <a:chOff x="1790897" y="1729964"/>
            <a:chExt cx="1196435" cy="1698516"/>
          </a:xfrm>
        </p:grpSpPr>
        <p:cxnSp>
          <p:nvCxnSpPr>
            <p:cNvPr id="24" name="Straight Arrow Connector 23">
              <a:extLst>
                <a:ext uri="{FF2B5EF4-FFF2-40B4-BE49-F238E27FC236}">
                  <a16:creationId xmlns:a16="http://schemas.microsoft.com/office/drawing/2014/main" id="{D0143FA7-7260-43A2-B9CF-2EBC998B33BD}"/>
                </a:ext>
              </a:extLst>
            </p:cNvPr>
            <p:cNvCxnSpPr>
              <a:cxnSpLocks/>
              <a:stCxn id="16" idx="0"/>
              <a:endCxn id="28" idx="2"/>
            </p:cNvCxnSpPr>
            <p:nvPr/>
          </p:nvCxnSpPr>
          <p:spPr>
            <a:xfrm flipH="1" flipV="1">
              <a:off x="1790897" y="1729964"/>
              <a:ext cx="1196435" cy="1698516"/>
            </a:xfrm>
            <a:prstGeom prst="straightConnector1">
              <a:avLst/>
            </a:prstGeom>
            <a:ln w="25400">
              <a:tailEnd type="arrow"/>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F1B5A017-881E-4659-B45F-E6A00807E791}"/>
                    </a:ext>
                  </a:extLst>
                </p:cNvPr>
                <p:cNvSpPr/>
                <p:nvPr/>
              </p:nvSpPr>
              <p:spPr>
                <a:xfrm>
                  <a:off x="1832828" y="2326568"/>
                  <a:ext cx="1005403" cy="400110"/>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ea typeface="黑体" panose="02010609060101010101" pitchFamily="49" charset="-122"/>
                          </a:rPr>
                          <m:t>𝜈</m:t>
                        </m:r>
                        <m:r>
                          <a:rPr lang="en-US" altLang="zh-CN" sz="2000" b="0" i="1" smtClean="0">
                            <a:solidFill>
                              <a:schemeClr val="tx1"/>
                            </a:solidFill>
                            <a:latin typeface="Cambria Math" panose="02040503050406030204" pitchFamily="18" charset="0"/>
                            <a:ea typeface="Cambria Math" panose="02040503050406030204" pitchFamily="18" charset="0"/>
                          </a:rPr>
                          <m:t>→0</m:t>
                        </m:r>
                      </m:oMath>
                    </m:oMathPara>
                  </a14:m>
                  <a:endParaRPr lang="zh-CN" altLang="en-US" sz="2000" dirty="0">
                    <a:solidFill>
                      <a:schemeClr val="tx1"/>
                    </a:solidFill>
                    <a:latin typeface="黑体" panose="02010609060101010101" pitchFamily="49" charset="-122"/>
                    <a:ea typeface="黑体" panose="02010609060101010101" pitchFamily="49" charset="-122"/>
                  </a:endParaRPr>
                </a:p>
              </p:txBody>
            </p:sp>
          </mc:Choice>
          <mc:Fallback xmlns="">
            <p:sp>
              <p:nvSpPr>
                <p:cNvPr id="25" name="Rectangle 24">
                  <a:extLst>
                    <a:ext uri="{FF2B5EF4-FFF2-40B4-BE49-F238E27FC236}">
                      <a16:creationId xmlns:a16="http://schemas.microsoft.com/office/drawing/2014/main" id="{F1B5A017-881E-4659-B45F-E6A00807E791}"/>
                    </a:ext>
                  </a:extLst>
                </p:cNvPr>
                <p:cNvSpPr>
                  <a:spLocks noRot="1" noChangeAspect="1" noMove="1" noResize="1" noEditPoints="1" noAdjustHandles="1" noChangeArrowheads="1" noChangeShapeType="1" noTextEdit="1"/>
                </p:cNvSpPr>
                <p:nvPr/>
              </p:nvSpPr>
              <p:spPr>
                <a:xfrm>
                  <a:off x="1832828" y="2326568"/>
                  <a:ext cx="1005403" cy="400110"/>
                </a:xfrm>
                <a:prstGeom prst="rect">
                  <a:avLst/>
                </a:prstGeom>
                <a:blipFill>
                  <a:blip r:embed="rId6"/>
                  <a:stretch>
                    <a:fillRect/>
                  </a:stretch>
                </a:blipFill>
                <a:ln>
                  <a:noFill/>
                </a:ln>
              </p:spPr>
              <p:txBody>
                <a:bodyPr/>
                <a:lstStyle/>
                <a:p>
                  <a:r>
                    <a:rPr lang="zh-CN" altLang="en-US">
                      <a:noFill/>
                    </a:rPr>
                    <a:t> </a:t>
                  </a:r>
                </a:p>
              </p:txBody>
            </p:sp>
          </mc:Fallback>
        </mc:AlternateContent>
      </p:grpSp>
      <p:grpSp>
        <p:nvGrpSpPr>
          <p:cNvPr id="26" name="Group 25">
            <a:extLst>
              <a:ext uri="{FF2B5EF4-FFF2-40B4-BE49-F238E27FC236}">
                <a16:creationId xmlns:a16="http://schemas.microsoft.com/office/drawing/2014/main" id="{EADFF18C-CDB3-4A05-80BC-A0EB4946C250}"/>
              </a:ext>
            </a:extLst>
          </p:cNvPr>
          <p:cNvGrpSpPr/>
          <p:nvPr/>
        </p:nvGrpSpPr>
        <p:grpSpPr>
          <a:xfrm>
            <a:off x="7383058" y="1206438"/>
            <a:ext cx="1536268" cy="1003497"/>
            <a:chOff x="4997669" y="3691709"/>
            <a:chExt cx="1536268" cy="1003497"/>
          </a:xfrm>
        </p:grpSpPr>
        <p:sp>
          <p:nvSpPr>
            <p:cNvPr id="28" name="TextBox 27">
              <a:extLst>
                <a:ext uri="{FF2B5EF4-FFF2-40B4-BE49-F238E27FC236}">
                  <a16:creationId xmlns:a16="http://schemas.microsoft.com/office/drawing/2014/main" id="{AB4D4FC9-C395-4F51-AAE0-C44EDD141520}"/>
                </a:ext>
              </a:extLst>
            </p:cNvPr>
            <p:cNvSpPr txBox="1"/>
            <p:nvPr/>
          </p:nvSpPr>
          <p:spPr>
            <a:xfrm>
              <a:off x="4997669" y="3691709"/>
              <a:ext cx="1536268" cy="1003497"/>
            </a:xfrm>
            <a:prstGeom prst="rect">
              <a:avLst/>
            </a:prstGeom>
            <a:noFill/>
            <a:ln w="25400">
              <a:solidFill>
                <a:schemeClr val="accent2">
                  <a:lumMod val="75000"/>
                </a:schemeClr>
              </a:solidFill>
            </a:ln>
          </p:spPr>
          <p:txBody>
            <a:bodyPr wrap="none" rtlCol="0">
              <a:noAutofit/>
            </a:bodyPr>
            <a:lstStyle/>
            <a:p>
              <a:r>
                <a:rPr lang="en-US" altLang="zh-CN" dirty="0">
                  <a:ea typeface="黑体" panose="02010609060101010101" pitchFamily="49" charset="-122"/>
                </a:rPr>
                <a:t>Rayleigh-Jeans</a:t>
              </a:r>
              <a:endParaRPr lang="zh-CN" altLang="en-US" dirty="0">
                <a:ea typeface="黑体" panose="02010609060101010101" pitchFamily="49" charset="-122"/>
              </a:endParaRP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74E0B58B-C263-4485-8EF2-FDB8740E9822}"/>
                    </a:ext>
                  </a:extLst>
                </p:cNvPr>
                <p:cNvSpPr/>
                <p:nvPr/>
              </p:nvSpPr>
              <p:spPr>
                <a:xfrm>
                  <a:off x="5370056" y="4160485"/>
                  <a:ext cx="82394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schemeClr val="tx1"/>
                            </a:solidFill>
                            <a:latin typeface="Cambria Math" panose="02040503050406030204" pitchFamily="18" charset="0"/>
                          </a:rPr>
                          <m:t>𝛼</m:t>
                        </m:r>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panose="02040503050406030204" pitchFamily="18" charset="0"/>
                              </a:rPr>
                              <m:t>𝜈</m:t>
                            </m:r>
                          </m:e>
                          <m:sup>
                            <m:r>
                              <a:rPr lang="en-US" altLang="zh-CN" sz="2000" i="1">
                                <a:solidFill>
                                  <a:schemeClr val="tx1"/>
                                </a:solidFill>
                                <a:latin typeface="Cambria Math" panose="02040503050406030204" pitchFamily="18" charset="0"/>
                              </a:rPr>
                              <m:t>2</m:t>
                            </m:r>
                          </m:sup>
                        </m:sSup>
                        <m:r>
                          <a:rPr lang="en-US" altLang="zh-CN" sz="2000" i="1" smtClean="0">
                            <a:solidFill>
                              <a:schemeClr val="tx1"/>
                            </a:solidFill>
                            <a:latin typeface="Cambria Math"/>
                          </a:rPr>
                          <m:t>𝑇</m:t>
                        </m:r>
                      </m:oMath>
                    </m:oMathPara>
                  </a14:m>
                  <a:endParaRPr lang="en-US" altLang="zh-CN" sz="2000" dirty="0">
                    <a:solidFill>
                      <a:schemeClr val="tx1"/>
                    </a:solidFill>
                  </a:endParaRPr>
                </a:p>
              </p:txBody>
            </p:sp>
          </mc:Choice>
          <mc:Fallback xmlns="">
            <p:sp>
              <p:nvSpPr>
                <p:cNvPr id="27" name="Rectangle 26">
                  <a:extLst>
                    <a:ext uri="{FF2B5EF4-FFF2-40B4-BE49-F238E27FC236}">
                      <a16:creationId xmlns:a16="http://schemas.microsoft.com/office/drawing/2014/main" id="{74E0B58B-C263-4485-8EF2-FDB8740E9822}"/>
                    </a:ext>
                  </a:extLst>
                </p:cNvPr>
                <p:cNvSpPr>
                  <a:spLocks noRot="1" noChangeAspect="1" noMove="1" noResize="1" noEditPoints="1" noAdjustHandles="1" noChangeArrowheads="1" noChangeShapeType="1" noTextEdit="1"/>
                </p:cNvSpPr>
                <p:nvPr/>
              </p:nvSpPr>
              <p:spPr>
                <a:xfrm>
                  <a:off x="5370056" y="4160485"/>
                  <a:ext cx="823944" cy="400110"/>
                </a:xfrm>
                <a:prstGeom prst="rect">
                  <a:avLst/>
                </a:prstGeom>
                <a:blipFill>
                  <a:blip r:embed="rId7"/>
                  <a:stretch>
                    <a:fillRect/>
                  </a:stretch>
                </a:blipFill>
              </p:spPr>
              <p:txBody>
                <a:bodyPr/>
                <a:lstStyle/>
                <a:p>
                  <a:r>
                    <a:rPr lang="zh-CN" altLang="en-US">
                      <a:noFill/>
                    </a:rPr>
                    <a:t> </a:t>
                  </a:r>
                </a:p>
              </p:txBody>
            </p:sp>
          </mc:Fallback>
        </mc:AlternateContent>
      </p:grpSp>
      <p:grpSp>
        <p:nvGrpSpPr>
          <p:cNvPr id="29" name="Group 28">
            <a:extLst>
              <a:ext uri="{FF2B5EF4-FFF2-40B4-BE49-F238E27FC236}">
                <a16:creationId xmlns:a16="http://schemas.microsoft.com/office/drawing/2014/main" id="{77B9E41B-88E2-476D-8C1B-9D9B750403ED}"/>
              </a:ext>
            </a:extLst>
          </p:cNvPr>
          <p:cNvGrpSpPr/>
          <p:nvPr/>
        </p:nvGrpSpPr>
        <p:grpSpPr>
          <a:xfrm>
            <a:off x="9827865" y="1201757"/>
            <a:ext cx="1447151" cy="1008178"/>
            <a:chOff x="644309" y="3736881"/>
            <a:chExt cx="1447151" cy="1008178"/>
          </a:xfrm>
        </p:grpSpPr>
        <p:sp>
          <p:nvSpPr>
            <p:cNvPr id="32" name="TextBox 31">
              <a:extLst>
                <a:ext uri="{FF2B5EF4-FFF2-40B4-BE49-F238E27FC236}">
                  <a16:creationId xmlns:a16="http://schemas.microsoft.com/office/drawing/2014/main" id="{A3C02C9E-B3E6-4718-9B3D-81AC9D6EA433}"/>
                </a:ext>
              </a:extLst>
            </p:cNvPr>
            <p:cNvSpPr txBox="1"/>
            <p:nvPr/>
          </p:nvSpPr>
          <p:spPr>
            <a:xfrm>
              <a:off x="644309" y="3736881"/>
              <a:ext cx="1447151" cy="1003498"/>
            </a:xfrm>
            <a:prstGeom prst="rect">
              <a:avLst/>
            </a:prstGeom>
            <a:noFill/>
            <a:ln w="25400">
              <a:solidFill>
                <a:srgbClr val="DD00A8"/>
              </a:solidFill>
            </a:ln>
          </p:spPr>
          <p:txBody>
            <a:bodyPr wrap="none" rtlCol="0">
              <a:noAutofit/>
            </a:bodyPr>
            <a:lstStyle/>
            <a:p>
              <a:pPr algn="ctr"/>
              <a:r>
                <a:rPr lang="en-US" altLang="zh-CN" dirty="0">
                  <a:solidFill>
                    <a:schemeClr val="accent2">
                      <a:lumMod val="50000"/>
                    </a:schemeClr>
                  </a:solidFill>
                  <a:ea typeface="黑体" panose="02010609060101010101" pitchFamily="49" charset="-122"/>
                </a:rPr>
                <a:t>Wien</a:t>
              </a:r>
              <a:endParaRPr lang="zh-CN" altLang="en-US" dirty="0">
                <a:solidFill>
                  <a:schemeClr val="accent2">
                    <a:lumMod val="50000"/>
                  </a:schemeClr>
                </a:solidFill>
                <a:ea typeface="黑体" panose="02010609060101010101" pitchFamily="49" charset="-122"/>
              </a:endParaRPr>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7834E5A3-B9C7-4712-8616-5FCFC5D9D633}"/>
                    </a:ext>
                  </a:extLst>
                </p:cNvPr>
                <p:cNvSpPr/>
                <p:nvPr/>
              </p:nvSpPr>
              <p:spPr>
                <a:xfrm>
                  <a:off x="644310" y="4061410"/>
                  <a:ext cx="1362232" cy="68364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schemeClr val="accent2">
                                <a:lumMod val="50000"/>
                              </a:schemeClr>
                            </a:solidFill>
                            <a:latin typeface="Cambria Math" panose="02040503050406030204" pitchFamily="18" charset="0"/>
                          </a:rPr>
                          <m:t>𝛼</m:t>
                        </m:r>
                        <m:sSup>
                          <m:sSupPr>
                            <m:ctrlPr>
                              <a:rPr lang="en-US" altLang="zh-CN" sz="2000" i="1">
                                <a:solidFill>
                                  <a:schemeClr val="accent2">
                                    <a:lumMod val="50000"/>
                                  </a:schemeClr>
                                </a:solidFill>
                                <a:latin typeface="Cambria Math" panose="02040503050406030204" pitchFamily="18" charset="0"/>
                              </a:rPr>
                            </m:ctrlPr>
                          </m:sSupPr>
                          <m:e>
                            <m:r>
                              <a:rPr lang="en-US" altLang="zh-CN" sz="2000" i="1">
                                <a:solidFill>
                                  <a:schemeClr val="accent2">
                                    <a:lumMod val="50000"/>
                                  </a:schemeClr>
                                </a:solidFill>
                                <a:latin typeface="Cambria Math" panose="02040503050406030204" pitchFamily="18" charset="0"/>
                              </a:rPr>
                              <m:t>𝜈</m:t>
                            </m:r>
                          </m:e>
                          <m:sup>
                            <m:r>
                              <a:rPr lang="en-US" altLang="zh-CN" sz="2000" i="1">
                                <a:solidFill>
                                  <a:schemeClr val="accent2">
                                    <a:lumMod val="50000"/>
                                  </a:schemeClr>
                                </a:solidFill>
                                <a:latin typeface="Cambria Math" panose="02040503050406030204" pitchFamily="18" charset="0"/>
                              </a:rPr>
                              <m:t>2</m:t>
                            </m:r>
                          </m:sup>
                        </m:sSup>
                        <m:f>
                          <m:fPr>
                            <m:ctrlPr>
                              <a:rPr lang="en-US" altLang="zh-CN" sz="2000" i="1" smtClean="0">
                                <a:solidFill>
                                  <a:schemeClr val="accent2">
                                    <a:lumMod val="50000"/>
                                  </a:schemeClr>
                                </a:solidFill>
                                <a:latin typeface="Cambria Math" panose="02040503050406030204" pitchFamily="18" charset="0"/>
                              </a:rPr>
                            </m:ctrlPr>
                          </m:fPr>
                          <m:num>
                            <m:r>
                              <a:rPr lang="en-US" altLang="zh-CN" sz="2000" b="0" i="1" smtClean="0">
                                <a:solidFill>
                                  <a:schemeClr val="accent2">
                                    <a:lumMod val="50000"/>
                                  </a:schemeClr>
                                </a:solidFill>
                                <a:latin typeface="Cambria Math" panose="02040503050406030204" pitchFamily="18" charset="0"/>
                              </a:rPr>
                              <m:t>𝛽</m:t>
                            </m:r>
                            <m:r>
                              <a:rPr lang="en-US" altLang="zh-CN" sz="2000" i="1">
                                <a:solidFill>
                                  <a:schemeClr val="accent2">
                                    <a:lumMod val="50000"/>
                                  </a:schemeClr>
                                </a:solidFill>
                                <a:latin typeface="Cambria Math"/>
                              </a:rPr>
                              <m:t>𝜈</m:t>
                            </m:r>
                          </m:num>
                          <m:den>
                            <m:sSup>
                              <m:sSupPr>
                                <m:ctrlPr>
                                  <a:rPr lang="en-US" altLang="zh-CN" sz="2000" i="1">
                                    <a:solidFill>
                                      <a:schemeClr val="accent2">
                                        <a:lumMod val="50000"/>
                                      </a:schemeClr>
                                    </a:solidFill>
                                    <a:latin typeface="Cambria Math" panose="02040503050406030204" pitchFamily="18" charset="0"/>
                                  </a:rPr>
                                </m:ctrlPr>
                              </m:sSupPr>
                              <m:e>
                                <m:r>
                                  <a:rPr lang="en-US" altLang="zh-CN" sz="2000" i="1">
                                    <a:solidFill>
                                      <a:schemeClr val="accent2">
                                        <a:lumMod val="50000"/>
                                      </a:schemeClr>
                                    </a:solidFill>
                                    <a:latin typeface="Cambria Math"/>
                                  </a:rPr>
                                  <m:t>𝑒</m:t>
                                </m:r>
                              </m:e>
                              <m:sup>
                                <m:r>
                                  <a:rPr lang="en-US" altLang="zh-CN" sz="2000" b="0" i="1" smtClean="0">
                                    <a:solidFill>
                                      <a:schemeClr val="accent2">
                                        <a:lumMod val="50000"/>
                                      </a:schemeClr>
                                    </a:solidFill>
                                    <a:latin typeface="Cambria Math" panose="02040503050406030204" pitchFamily="18" charset="0"/>
                                  </a:rPr>
                                  <m:t>𝛽</m:t>
                                </m:r>
                                <m:r>
                                  <a:rPr lang="en-US" altLang="zh-CN" sz="2000" i="1">
                                    <a:solidFill>
                                      <a:schemeClr val="accent2">
                                        <a:lumMod val="50000"/>
                                      </a:schemeClr>
                                    </a:solidFill>
                                    <a:latin typeface="Cambria Math"/>
                                  </a:rPr>
                                  <m:t>𝜈</m:t>
                                </m:r>
                                <m:r>
                                  <a:rPr lang="en-US" altLang="zh-CN" sz="2000" i="1">
                                    <a:solidFill>
                                      <a:schemeClr val="accent2">
                                        <a:lumMod val="50000"/>
                                      </a:schemeClr>
                                    </a:solidFill>
                                    <a:latin typeface="Cambria Math"/>
                                  </a:rPr>
                                  <m:t>/</m:t>
                                </m:r>
                                <m:r>
                                  <a:rPr lang="en-US" altLang="zh-CN" sz="2000" i="1">
                                    <a:solidFill>
                                      <a:schemeClr val="accent2">
                                        <a:lumMod val="50000"/>
                                      </a:schemeClr>
                                    </a:solidFill>
                                    <a:latin typeface="Cambria Math"/>
                                  </a:rPr>
                                  <m:t>𝑇</m:t>
                                </m:r>
                              </m:sup>
                            </m:sSup>
                          </m:den>
                        </m:f>
                        <m:r>
                          <a:rPr lang="en-US" altLang="zh-CN" sz="2000" i="1">
                            <a:solidFill>
                              <a:schemeClr val="accent2">
                                <a:lumMod val="50000"/>
                              </a:schemeClr>
                            </a:solidFill>
                            <a:latin typeface="Cambria Math"/>
                          </a:rPr>
                          <m:t> </m:t>
                        </m:r>
                      </m:oMath>
                    </m:oMathPara>
                  </a14:m>
                  <a:endParaRPr lang="en-US" altLang="zh-CN" sz="2000" dirty="0">
                    <a:solidFill>
                      <a:schemeClr val="accent2">
                        <a:lumMod val="50000"/>
                      </a:schemeClr>
                    </a:solidFill>
                  </a:endParaRPr>
                </a:p>
              </p:txBody>
            </p:sp>
          </mc:Choice>
          <mc:Fallback xmlns="">
            <p:sp>
              <p:nvSpPr>
                <p:cNvPr id="30" name="Rectangle 29">
                  <a:extLst>
                    <a:ext uri="{FF2B5EF4-FFF2-40B4-BE49-F238E27FC236}">
                      <a16:creationId xmlns:a16="http://schemas.microsoft.com/office/drawing/2014/main" id="{7834E5A3-B9C7-4712-8616-5FCFC5D9D633}"/>
                    </a:ext>
                  </a:extLst>
                </p:cNvPr>
                <p:cNvSpPr>
                  <a:spLocks noRot="1" noChangeAspect="1" noMove="1" noResize="1" noEditPoints="1" noAdjustHandles="1" noChangeArrowheads="1" noChangeShapeType="1" noTextEdit="1"/>
                </p:cNvSpPr>
                <p:nvPr/>
              </p:nvSpPr>
              <p:spPr>
                <a:xfrm>
                  <a:off x="644310" y="4061410"/>
                  <a:ext cx="1362232" cy="683649"/>
                </a:xfrm>
                <a:prstGeom prst="rect">
                  <a:avLst/>
                </a:prstGeom>
                <a:blipFill>
                  <a:blip r:embed="rId8"/>
                  <a:stretch>
                    <a:fillRect/>
                  </a:stretch>
                </a:blipFill>
              </p:spPr>
              <p:txBody>
                <a:bodyPr/>
                <a:lstStyle/>
                <a:p>
                  <a:r>
                    <a:rPr lang="zh-CN" altLang="en-US">
                      <a:noFill/>
                    </a:rPr>
                    <a:t> </a:t>
                  </a:r>
                </a:p>
              </p:txBody>
            </p:sp>
          </mc:Fallback>
        </mc:AlternateContent>
      </p:grpSp>
      <p:sp>
        <p:nvSpPr>
          <p:cNvPr id="58" name="TextBox 57">
            <a:extLst>
              <a:ext uri="{FF2B5EF4-FFF2-40B4-BE49-F238E27FC236}">
                <a16:creationId xmlns:a16="http://schemas.microsoft.com/office/drawing/2014/main" id="{A00332EB-4DA5-429A-ABCB-7C1647060AB3}"/>
              </a:ext>
            </a:extLst>
          </p:cNvPr>
          <p:cNvSpPr txBox="1"/>
          <p:nvPr/>
        </p:nvSpPr>
        <p:spPr>
          <a:xfrm>
            <a:off x="1049778" y="5884900"/>
            <a:ext cx="9916978" cy="646331"/>
          </a:xfrm>
          <a:prstGeom prst="rect">
            <a:avLst/>
          </a:prstGeom>
          <a:noFill/>
        </p:spPr>
        <p:txBody>
          <a:bodyPr wrap="square">
            <a:spAutoFit/>
          </a:bodyPr>
          <a:lstStyle/>
          <a:p>
            <a:r>
              <a:rPr lang="en-US" altLang="zh-CN" sz="1800" dirty="0"/>
              <a:t>“I knew the problem was fundamental, and I knew the answer. I had to find a theoretical explanation at any cost, except for the inviolability of the two laws of thermodynamics”</a:t>
            </a:r>
          </a:p>
        </p:txBody>
      </p:sp>
    </p:spTree>
    <p:extLst>
      <p:ext uri="{BB962C8B-B14F-4D97-AF65-F5344CB8AC3E}">
        <p14:creationId xmlns:p14="http://schemas.microsoft.com/office/powerpoint/2010/main" val="18236835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down)">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5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explanation of Planck’s formula</a:t>
            </a:r>
            <a:endParaRPr lang="zh-CN" altLang="en-US" dirty="0"/>
          </a:p>
        </p:txBody>
      </p:sp>
      <mc:AlternateContent xmlns:mc="http://schemas.openxmlformats.org/markup-compatibility/2006">
        <mc:Choice xmlns:a14="http://schemas.microsoft.com/office/drawing/2010/main" Requires="a14">
          <p:sp>
            <p:nvSpPr>
              <p:cNvPr id="8" name="TextBox 7"/>
              <p:cNvSpPr txBox="1"/>
              <p:nvPr/>
            </p:nvSpPr>
            <p:spPr>
              <a:xfrm>
                <a:off x="668378" y="1554952"/>
                <a:ext cx="11309248" cy="1704249"/>
              </a:xfrm>
              <a:prstGeom prst="rect">
                <a:avLst/>
              </a:prstGeom>
              <a:noFill/>
            </p:spPr>
            <p:txBody>
              <a:bodyPr wrap="square" rtlCol="0">
                <a:spAutoFit/>
              </a:bodyPr>
              <a:lstStyle/>
              <a:p>
                <a:pPr>
                  <a:lnSpc>
                    <a:spcPct val="150000"/>
                  </a:lnSpc>
                </a:pP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𝑢</m:t>
                        </m:r>
                      </m:e>
                      <m:sub>
                        <m:r>
                          <a:rPr lang="en-US" altLang="zh-CN" i="1">
                            <a:latin typeface="Cambria Math"/>
                          </a:rPr>
                          <m:t>𝜈</m:t>
                        </m:r>
                      </m:sub>
                    </m:sSub>
                    <m:d>
                      <m:dPr>
                        <m:ctrlPr>
                          <a:rPr lang="en-US" altLang="zh-CN" i="1">
                            <a:latin typeface="Cambria Math" panose="02040503050406030204" pitchFamily="18" charset="0"/>
                          </a:rPr>
                        </m:ctrlPr>
                      </m:dPr>
                      <m:e>
                        <m:r>
                          <a:rPr lang="en-US" altLang="zh-CN" i="1">
                            <a:latin typeface="Cambria Math"/>
                          </a:rPr>
                          <m:t>𝑇</m:t>
                        </m:r>
                        <m:r>
                          <a:rPr lang="en-US" altLang="zh-CN" i="1">
                            <a:latin typeface="Cambria Math" panose="02040503050406030204" pitchFamily="18" charset="0"/>
                          </a:rPr>
                          <m:t>,</m:t>
                        </m:r>
                        <m:r>
                          <a:rPr lang="en-US" altLang="zh-CN" i="1">
                            <a:latin typeface="Cambria Math" panose="02040503050406030204" pitchFamily="18" charset="0"/>
                          </a:rPr>
                          <m:t>𝜈</m:t>
                        </m:r>
                      </m:e>
                    </m:d>
                    <m:r>
                      <a:rPr lang="en-US" altLang="zh-CN" i="1">
                        <a:latin typeface="Cambria Math"/>
                      </a:rPr>
                      <m:t> </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The spectral energy density of  EM radiation at frequency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𝜈 </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radiation energy per unit volume per unit frequency interval at frequency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𝜈 </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14:m>
                  <m:oMath xmlns:m="http://schemas.openxmlformats.org/officeDocument/2006/math">
                    <m:r>
                      <a:rPr lang="en-US" altLang="zh-CN" i="1">
                        <a:latin typeface="Cambria Math" panose="02040503050406030204" pitchFamily="18" charset="0"/>
                      </a:rPr>
                      <m:t>= </m:t>
                    </m:r>
                  </m:oMath>
                </a14:m>
                <a:r>
                  <a:rPr lang="en-US" altLang="zh-CN" dirty="0">
                    <a:latin typeface="Cambria Math" panose="02040503050406030204" pitchFamily="18" charset="0"/>
                  </a:rPr>
                  <a:t>the number of modes per unit volume per unit frequency interval at frequency </a:t>
                </a:r>
                <a:r>
                  <a:rPr lang="zh-CN" altLang="en-US" dirty="0">
                    <a:latin typeface="Cambria Math" panose="02040503050406030204" pitchFamily="18" charset="0"/>
                  </a:rPr>
                  <a:t>𝜈</a:t>
                </a:r>
                <a:r>
                  <a:rPr lang="en-US" altLang="zh-CN" dirty="0">
                    <a:latin typeface="Cambria Math" panose="02040503050406030204" pitchFamily="18" charset="0"/>
                  </a:rPr>
                  <a:t> (</a:t>
                </a:r>
                <a:r>
                  <a:rPr lang="en-US" altLang="zh-CN" dirty="0">
                    <a:solidFill>
                      <a:srgbClr val="C00000"/>
                    </a:solidFill>
                    <a:latin typeface="Cambria Math" panose="02040503050406030204" pitchFamily="18" charset="0"/>
                  </a:rPr>
                  <a:t>mode density) </a:t>
                </a:r>
                <a14:m>
                  <m:oMath xmlns:m="http://schemas.openxmlformats.org/officeDocument/2006/math">
                    <m:r>
                      <a:rPr lang="zh-CN" altLang="en-US" i="1" smtClean="0">
                        <a:latin typeface="Cambria Math" panose="02040503050406030204" pitchFamily="18" charset="0"/>
                      </a:rPr>
                      <m:t>×</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the average energy per mode </a:t>
                </a:r>
                <a:endParaRPr lang="en-US" altLang="zh-CN" b="0" i="1" dirty="0">
                  <a:solidFill>
                    <a:srgbClr val="0000FF"/>
                  </a:solidFill>
                  <a:latin typeface="Cambria Math" panose="02040503050406030204" pitchFamily="18" charset="0"/>
                </a:endParaRPr>
              </a:p>
            </p:txBody>
          </p:sp>
        </mc:Choice>
        <mc:Fallback>
          <p:sp>
            <p:nvSpPr>
              <p:cNvPr id="8" name="TextBox 7"/>
              <p:cNvSpPr txBox="1">
                <a:spLocks noRot="1" noChangeAspect="1" noMove="1" noResize="1" noEditPoints="1" noAdjustHandles="1" noChangeArrowheads="1" noChangeShapeType="1" noTextEdit="1"/>
              </p:cNvSpPr>
              <p:nvPr/>
            </p:nvSpPr>
            <p:spPr>
              <a:xfrm>
                <a:off x="668378" y="1554952"/>
                <a:ext cx="11309248" cy="1704249"/>
              </a:xfrm>
              <a:prstGeom prst="rect">
                <a:avLst/>
              </a:prstGeom>
              <a:blipFill>
                <a:blip r:embed="rId3"/>
                <a:stretch>
                  <a:fillRect l="-485" b="-4643"/>
                </a:stretch>
              </a:blipFill>
            </p:spPr>
            <p:txBody>
              <a:bodyPr/>
              <a:lstStyle/>
              <a:p>
                <a:r>
                  <a:rPr lang="zh-CN" altLang="en-US">
                    <a:noFill/>
                  </a:rPr>
                  <a:t> </a:t>
                </a:r>
              </a:p>
            </p:txBody>
          </p:sp>
        </mc:Fallback>
      </mc:AlternateContent>
      <p:pic>
        <p:nvPicPr>
          <p:cNvPr id="9" name="Picture 8"/>
          <p:cNvPicPr>
            <a:picLocks noChangeAspect="1"/>
          </p:cNvPicPr>
          <p:nvPr/>
        </p:nvPicPr>
        <p:blipFill>
          <a:blip r:embed="rId4"/>
          <a:stretch>
            <a:fillRect/>
          </a:stretch>
        </p:blipFill>
        <p:spPr>
          <a:xfrm>
            <a:off x="7278145" y="3284541"/>
            <a:ext cx="3034256" cy="3003761"/>
          </a:xfrm>
          <a:prstGeom prst="rect">
            <a:avLst/>
          </a:prstGeom>
        </p:spPr>
      </p:pic>
      <mc:AlternateContent xmlns:mc="http://schemas.openxmlformats.org/markup-compatibility/2006">
        <mc:Choice xmlns:a14="http://schemas.microsoft.com/office/drawing/2010/main" Requires="a14">
          <p:sp>
            <p:nvSpPr>
              <p:cNvPr id="11" name="Rectangle 10"/>
              <p:cNvSpPr/>
              <p:nvPr/>
            </p:nvSpPr>
            <p:spPr>
              <a:xfrm>
                <a:off x="592305" y="821727"/>
                <a:ext cx="10812757" cy="707886"/>
              </a:xfrm>
              <a:prstGeom prst="rect">
                <a:avLst/>
              </a:prstGeom>
            </p:spPr>
            <p:txBody>
              <a:bodyPr wrap="square">
                <a:spAutoFit/>
              </a:bodyPr>
              <a:lstStyle/>
              <a:p>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An mode, or state, of EM wave is determined by its frequency, propagation direction, and polarization.</a:t>
                </a:r>
              </a:p>
              <a:p>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The first 2 conditions are wrapped in wavevector </a:t>
                </a:r>
                <a14:m>
                  <m:oMath xmlns:m="http://schemas.openxmlformats.org/officeDocument/2006/math">
                    <m:r>
                      <a:rPr lang="en-US" altLang="zh-CN" sz="2000" b="1" i="1">
                        <a:solidFill>
                          <a:srgbClr val="0070C0"/>
                        </a:solidFill>
                        <a:latin typeface="Cambria Math" panose="02040503050406030204" pitchFamily="18" charset="0"/>
                        <a:ea typeface="黑体" panose="02010609060101010101" pitchFamily="49" charset="-122"/>
                      </a:rPr>
                      <m:t>𝒌</m:t>
                    </m:r>
                  </m:oMath>
                </a14:m>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11" name="Rectangle 10"/>
              <p:cNvSpPr>
                <a:spLocks noRot="1" noChangeAspect="1" noMove="1" noResize="1" noEditPoints="1" noAdjustHandles="1" noChangeArrowheads="1" noChangeShapeType="1" noTextEdit="1"/>
              </p:cNvSpPr>
              <p:nvPr/>
            </p:nvSpPr>
            <p:spPr>
              <a:xfrm>
                <a:off x="592305" y="821727"/>
                <a:ext cx="10812757" cy="707886"/>
              </a:xfrm>
              <a:prstGeom prst="rect">
                <a:avLst/>
              </a:prstGeom>
              <a:blipFill>
                <a:blip r:embed="rId5"/>
                <a:stretch>
                  <a:fillRect l="-564" t="-5172" b="-146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1936520" y="3721878"/>
                <a:ext cx="273491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i="1">
                              <a:solidFill>
                                <a:schemeClr val="tx1"/>
                              </a:solidFill>
                              <a:latin typeface="Cambria Math"/>
                            </a:rPr>
                            <m:t>𝑢</m:t>
                          </m:r>
                        </m:e>
                        <m:sub>
                          <m:r>
                            <a:rPr lang="en-US" altLang="zh-CN" sz="2000" i="1">
                              <a:solidFill>
                                <a:schemeClr val="tx1"/>
                              </a:solidFill>
                              <a:latin typeface="Cambria Math"/>
                            </a:rPr>
                            <m:t>𝜈</m:t>
                          </m:r>
                        </m:sub>
                      </m:sSub>
                      <m:d>
                        <m:dPr>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a:rPr>
                            <m:t>𝑇</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𝜈</m:t>
                          </m:r>
                        </m:e>
                      </m:d>
                      <m:r>
                        <a:rPr lang="en-US" altLang="zh-CN" sz="2000" i="1">
                          <a:solidFill>
                            <a:schemeClr val="tx1"/>
                          </a:solidFill>
                          <a:latin typeface="Cambria Math"/>
                        </a:rPr>
                        <m:t>=</m:t>
                      </m:r>
                      <m:r>
                        <a:rPr lang="en-US" altLang="zh-CN" sz="2000" i="1" smtClean="0">
                          <a:solidFill>
                            <a:srgbClr val="C00000"/>
                          </a:solidFill>
                          <a:latin typeface="Cambria Math"/>
                        </a:rPr>
                        <m:t>𝑔</m:t>
                      </m:r>
                      <m:r>
                        <a:rPr lang="en-US" altLang="zh-CN" sz="2000" b="0" i="1" smtClean="0">
                          <a:solidFill>
                            <a:srgbClr val="C00000"/>
                          </a:solidFill>
                          <a:latin typeface="Cambria Math" panose="02040503050406030204" pitchFamily="18" charset="0"/>
                        </a:rPr>
                        <m:t>(</m:t>
                      </m:r>
                      <m:r>
                        <a:rPr lang="en-US" altLang="zh-CN" sz="2000" b="0" i="1" smtClean="0">
                          <a:solidFill>
                            <a:srgbClr val="C00000"/>
                          </a:solidFill>
                          <a:latin typeface="Cambria Math" panose="02040503050406030204" pitchFamily="18" charset="0"/>
                        </a:rPr>
                        <m:t>𝜈</m:t>
                      </m:r>
                      <m:r>
                        <a:rPr lang="en-US" altLang="zh-CN" sz="2000" b="0" i="1" smtClean="0">
                          <a:solidFill>
                            <a:srgbClr val="C00000"/>
                          </a:solidFill>
                          <a:latin typeface="Cambria Math" panose="02040503050406030204" pitchFamily="18" charset="0"/>
                        </a:rPr>
                        <m:t>)×</m:t>
                      </m:r>
                      <m:acc>
                        <m:accPr>
                          <m:chr m:val="̅"/>
                          <m:ctrlPr>
                            <a:rPr lang="en-US" altLang="zh-CN" sz="2000" i="1" smtClean="0">
                              <a:solidFill>
                                <a:srgbClr val="0000FF"/>
                              </a:solidFill>
                              <a:latin typeface="Cambria Math" panose="02040503050406030204" pitchFamily="18" charset="0"/>
                            </a:rPr>
                          </m:ctrlPr>
                        </m:accPr>
                        <m:e>
                          <m:r>
                            <a:rPr lang="en-US" altLang="zh-CN" sz="2000" i="1">
                              <a:solidFill>
                                <a:srgbClr val="0000FF"/>
                              </a:solidFill>
                              <a:latin typeface="Cambria Math"/>
                            </a:rPr>
                            <m:t>𝜖</m:t>
                          </m:r>
                        </m:e>
                      </m:acc>
                      <m:r>
                        <a:rPr lang="en-US" altLang="zh-CN" sz="2000" b="0" i="1" smtClean="0">
                          <a:solidFill>
                            <a:srgbClr val="0000FF"/>
                          </a:solidFill>
                          <a:latin typeface="Cambria Math" panose="02040503050406030204" pitchFamily="18" charset="0"/>
                        </a:rPr>
                        <m:t>(</m:t>
                      </m:r>
                      <m:r>
                        <a:rPr lang="en-US" altLang="zh-CN" sz="2000" b="0" i="1" smtClean="0">
                          <a:solidFill>
                            <a:srgbClr val="0000FF"/>
                          </a:solidFill>
                          <a:latin typeface="Cambria Math" panose="02040503050406030204" pitchFamily="18" charset="0"/>
                        </a:rPr>
                        <m:t>𝜈</m:t>
                      </m:r>
                      <m:r>
                        <a:rPr lang="en-US" altLang="zh-CN" sz="2000" b="0" i="1" smtClean="0">
                          <a:solidFill>
                            <a:srgbClr val="0000FF"/>
                          </a:solidFill>
                          <a:latin typeface="Cambria Math" panose="02040503050406030204" pitchFamily="18" charset="0"/>
                        </a:rPr>
                        <m:t>)</m:t>
                      </m:r>
                    </m:oMath>
                  </m:oMathPara>
                </a14:m>
                <a:endParaRPr lang="zh-CN" altLang="en-US" sz="2000" dirty="0">
                  <a:solidFill>
                    <a:srgbClr val="0070C0"/>
                  </a:solidFill>
                  <a:ea typeface="黑体" panose="02010609060101010101" pitchFamily="49" charset="-122"/>
                </a:endParaRPr>
              </a:p>
            </p:txBody>
          </p:sp>
        </mc:Choice>
        <mc:Fallback>
          <p:sp>
            <p:nvSpPr>
              <p:cNvPr id="10" name="TextBox 9"/>
              <p:cNvSpPr txBox="1">
                <a:spLocks noRot="1" noChangeAspect="1" noMove="1" noResize="1" noEditPoints="1" noAdjustHandles="1" noChangeArrowheads="1" noChangeShapeType="1" noTextEdit="1"/>
              </p:cNvSpPr>
              <p:nvPr/>
            </p:nvSpPr>
            <p:spPr>
              <a:xfrm>
                <a:off x="1936520" y="3721878"/>
                <a:ext cx="2734915" cy="400110"/>
              </a:xfrm>
              <a:prstGeom prst="rect">
                <a:avLst/>
              </a:prstGeom>
              <a:blipFill>
                <a:blip r:embed="rId6"/>
                <a:stretch>
                  <a:fillRect b="-153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23BB9C68-49FE-44BA-A122-1B4A2E25FCF5}"/>
                  </a:ext>
                </a:extLst>
              </p:cNvPr>
              <p:cNvSpPr/>
              <p:nvPr/>
            </p:nvSpPr>
            <p:spPr>
              <a:xfrm>
                <a:off x="668378" y="4600821"/>
                <a:ext cx="5330305" cy="1480598"/>
              </a:xfrm>
              <a:prstGeom prst="rect">
                <a:avLst/>
              </a:prstGeom>
            </p:spPr>
            <p:txBody>
              <a:bodyPr wrap="none">
                <a:spAutoFit/>
              </a:bodyPr>
              <a:lstStyle/>
              <a:p>
                <a:pPr>
                  <a:lnSpc>
                    <a:spcPct val="150000"/>
                  </a:lnSpc>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Classical electrodynamics gives the </a:t>
                </a:r>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mode density </a:t>
                </a:r>
                <a:endParaRPr lang="en-US" altLang="zh-CN" sz="2000" i="1" dirty="0">
                  <a:solidFill>
                    <a:srgbClr val="C00000"/>
                  </a:solidFill>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i="1" dirty="0">
                          <a:latin typeface="Cambria Math" panose="02040503050406030204" pitchFamily="18" charset="0"/>
                        </a:rPr>
                        <m:t>	</m:t>
                      </m:r>
                      <m:r>
                        <a:rPr lang="en-US" altLang="zh-CN" sz="2000" i="1" smtClean="0">
                          <a:solidFill>
                            <a:srgbClr val="C00000"/>
                          </a:solidFill>
                          <a:latin typeface="Cambria Math"/>
                        </a:rPr>
                        <m:t>𝑔</m:t>
                      </m:r>
                      <m:d>
                        <m:dPr>
                          <m:ctrlPr>
                            <a:rPr lang="en-US" altLang="zh-CN" sz="2000" i="1">
                              <a:solidFill>
                                <a:srgbClr val="C00000"/>
                              </a:solidFill>
                              <a:latin typeface="Cambria Math" panose="02040503050406030204" pitchFamily="18" charset="0"/>
                            </a:rPr>
                          </m:ctrlPr>
                        </m:dPr>
                        <m:e>
                          <m:r>
                            <a:rPr lang="en-US" altLang="zh-CN" sz="2000" i="1">
                              <a:solidFill>
                                <a:srgbClr val="C00000"/>
                              </a:solidFill>
                              <a:latin typeface="Cambria Math"/>
                            </a:rPr>
                            <m:t>𝜈</m:t>
                          </m:r>
                        </m:e>
                      </m:d>
                      <m:r>
                        <a:rPr lang="en-US" altLang="zh-CN" sz="2000" i="1">
                          <a:solidFill>
                            <a:srgbClr val="C00000"/>
                          </a:solidFill>
                          <a:latin typeface="Cambria Math"/>
                        </a:rPr>
                        <m:t>=</m:t>
                      </m:r>
                      <m:f>
                        <m:fPr>
                          <m:ctrlPr>
                            <a:rPr lang="en-US" altLang="zh-CN" sz="2000" i="1">
                              <a:solidFill>
                                <a:srgbClr val="C00000"/>
                              </a:solidFill>
                              <a:latin typeface="Cambria Math" panose="02040503050406030204" pitchFamily="18" charset="0"/>
                            </a:rPr>
                          </m:ctrlPr>
                        </m:fPr>
                        <m:num>
                          <m:r>
                            <a:rPr lang="en-US" altLang="zh-CN" sz="2000" i="1">
                              <a:solidFill>
                                <a:srgbClr val="C00000"/>
                              </a:solidFill>
                              <a:latin typeface="Cambria Math"/>
                            </a:rPr>
                            <m:t>8</m:t>
                          </m:r>
                          <m:r>
                            <a:rPr lang="zh-CN" altLang="en-US" sz="2000" i="1">
                              <a:solidFill>
                                <a:srgbClr val="C00000"/>
                              </a:solidFill>
                              <a:latin typeface="Cambria Math"/>
                            </a:rPr>
                            <m:t>𝜋</m:t>
                          </m:r>
                          <m:sSup>
                            <m:sSupPr>
                              <m:ctrlPr>
                                <a:rPr lang="en-US" altLang="zh-CN" sz="2000" i="1">
                                  <a:solidFill>
                                    <a:srgbClr val="C00000"/>
                                  </a:solidFill>
                                  <a:latin typeface="Cambria Math" panose="02040503050406030204" pitchFamily="18" charset="0"/>
                                </a:rPr>
                              </m:ctrlPr>
                            </m:sSupPr>
                            <m:e>
                              <m:r>
                                <a:rPr lang="zh-CN" altLang="en-US" sz="2000" i="1">
                                  <a:solidFill>
                                    <a:srgbClr val="C00000"/>
                                  </a:solidFill>
                                  <a:latin typeface="Cambria Math"/>
                                </a:rPr>
                                <m:t>𝜈</m:t>
                              </m:r>
                            </m:e>
                            <m:sup>
                              <m:r>
                                <a:rPr lang="en-US" altLang="zh-CN" sz="2000" i="1">
                                  <a:solidFill>
                                    <a:srgbClr val="C00000"/>
                                  </a:solidFill>
                                  <a:latin typeface="Cambria Math"/>
                                </a:rPr>
                                <m:t>2</m:t>
                              </m:r>
                            </m:sup>
                          </m:sSup>
                        </m:num>
                        <m:den>
                          <m:sSup>
                            <m:sSupPr>
                              <m:ctrlPr>
                                <a:rPr lang="en-US" altLang="zh-CN" sz="2000" i="1">
                                  <a:solidFill>
                                    <a:srgbClr val="C00000"/>
                                  </a:solidFill>
                                  <a:latin typeface="Cambria Math" panose="02040503050406030204" pitchFamily="18" charset="0"/>
                                </a:rPr>
                              </m:ctrlPr>
                            </m:sSupPr>
                            <m:e>
                              <m:r>
                                <a:rPr lang="en-US" altLang="zh-CN" sz="2000" i="1">
                                  <a:solidFill>
                                    <a:srgbClr val="C00000"/>
                                  </a:solidFill>
                                  <a:latin typeface="Cambria Math"/>
                                </a:rPr>
                                <m:t>𝑐</m:t>
                              </m:r>
                            </m:e>
                            <m:sup>
                              <m:r>
                                <a:rPr lang="en-US" altLang="zh-CN" sz="2000" i="1">
                                  <a:solidFill>
                                    <a:srgbClr val="C00000"/>
                                  </a:solidFill>
                                  <a:latin typeface="Cambria Math"/>
                                </a:rPr>
                                <m:t>3</m:t>
                              </m:r>
                            </m:sup>
                          </m:sSup>
                        </m:den>
                      </m:f>
                    </m:oMath>
                  </m:oMathPara>
                </a14:m>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12" name="Rectangle 11">
                <a:extLst>
                  <a:ext uri="{FF2B5EF4-FFF2-40B4-BE49-F238E27FC236}">
                    <a16:creationId xmlns:a16="http://schemas.microsoft.com/office/drawing/2014/main" id="{23BB9C68-49FE-44BA-A122-1B4A2E25FCF5}"/>
                  </a:ext>
                </a:extLst>
              </p:cNvPr>
              <p:cNvSpPr>
                <a:spLocks noRot="1" noChangeAspect="1" noMove="1" noResize="1" noEditPoints="1" noAdjustHandles="1" noChangeArrowheads="1" noChangeShapeType="1" noTextEdit="1"/>
              </p:cNvSpPr>
              <p:nvPr/>
            </p:nvSpPr>
            <p:spPr>
              <a:xfrm>
                <a:off x="668378" y="4600821"/>
                <a:ext cx="5330305" cy="1480598"/>
              </a:xfrm>
              <a:prstGeom prst="rect">
                <a:avLst/>
              </a:prstGeom>
              <a:blipFill>
                <a:blip r:embed="rId7"/>
                <a:stretch>
                  <a:fillRect l="-1259" r="-2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95267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5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1" end="1"/>
                                            </p:txEl>
                                          </p:spTgt>
                                        </p:tgtEl>
                                        <p:attrNameLst>
                                          <p:attrName>style.visibility</p:attrName>
                                        </p:attrNameLst>
                                      </p:cBhvr>
                                      <p:to>
                                        <p:strVal val="visible"/>
                                      </p:to>
                                    </p:set>
                                    <p:animEffect transition="in" filter="fade">
                                      <p:cBhvr>
                                        <p:cTn id="22" dur="500"/>
                                        <p:tgtEl>
                                          <p:spTgt spid="1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3622" y="32209"/>
            <a:ext cx="8070980" cy="551589"/>
          </a:xfrm>
        </p:spPr>
        <p:txBody>
          <a:bodyPr/>
          <a:lstStyle/>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optical mode density</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TextBox 4"/>
              <p:cNvSpPr txBox="1"/>
              <p:nvPr/>
            </p:nvSpPr>
            <p:spPr>
              <a:xfrm>
                <a:off x="791063" y="927495"/>
                <a:ext cx="10251587" cy="4137928"/>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Assume a cubic cavity with side length </a:t>
                </a:r>
                <a14:m>
                  <m:oMath xmlns:m="http://schemas.openxmlformats.org/officeDocument/2006/math">
                    <m:r>
                      <a:rPr lang="en-US" altLang="zh-CN" i="1">
                        <a:latin typeface="Cambria Math"/>
                      </a:rPr>
                      <m:t>𝐿</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(BR is independent of cavity shape)</a:t>
                </a:r>
                <a:endPar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endPar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endPar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Assume </a:t>
                </a:r>
                <a14:m>
                  <m:oMath xmlns:m="http://schemas.openxmlformats.org/officeDocument/2006/math">
                    <m:r>
                      <a:rPr lang="en-US" altLang="zh-CN" b="0" i="1" dirty="0" smtClean="0">
                        <a:solidFill>
                          <a:srgbClr val="C00000"/>
                        </a:solidFill>
                        <a:latin typeface="Cambria Math" panose="02040503050406030204" pitchFamily="18" charset="0"/>
                        <a:ea typeface="黑体" panose="02010609060101010101" pitchFamily="49" charset="-122"/>
                      </a:rPr>
                      <m:t>𝐸</m:t>
                    </m:r>
                    <m:r>
                      <a:rPr lang="en-US" altLang="zh-CN" b="0" i="1" dirty="0" smtClean="0">
                        <a:solidFill>
                          <a:srgbClr val="C00000"/>
                        </a:solidFill>
                        <a:latin typeface="Cambria Math" panose="02040503050406030204" pitchFamily="18" charset="0"/>
                        <a:ea typeface="黑体" panose="02010609060101010101" pitchFamily="49" charset="-122"/>
                      </a:rPr>
                      <m:t>=0</m:t>
                    </m:r>
                  </m:oMath>
                </a14:m>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the boundary</a:t>
                </a: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(For </a:t>
                </a:r>
                <a14:m>
                  <m:oMath xmlns:m="http://schemas.openxmlformats.org/officeDocument/2006/math">
                    <m:r>
                      <a:rPr lang="en-US" altLang="zh-CN" b="0" i="1" smtClean="0">
                        <a:solidFill>
                          <a:srgbClr val="C00000"/>
                        </a:solidFill>
                        <a:latin typeface="Cambria Math" panose="02040503050406030204" pitchFamily="18" charset="0"/>
                        <a:ea typeface="黑体" panose="02010609060101010101" pitchFamily="49" charset="-122"/>
                        <a:cs typeface="Times New Roman" panose="02020603050405020304" pitchFamily="18" charset="0"/>
                      </a:rPr>
                      <m:t>𝐿</m:t>
                    </m:r>
                    <m:r>
                      <a:rPr lang="en-US" altLang="zh-CN" b="0" i="1" smtClean="0">
                        <a:solidFill>
                          <a:srgbClr val="C0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b="0" i="1" smtClean="0">
                        <a:solidFill>
                          <a:srgbClr val="C00000"/>
                        </a:solidFill>
                        <a:latin typeface="Cambria Math" panose="02040503050406030204" pitchFamily="18" charset="0"/>
                        <a:ea typeface="黑体" panose="02010609060101010101" pitchFamily="49" charset="-122"/>
                        <a:cs typeface="Times New Roman" panose="02020603050405020304" pitchFamily="18" charset="0"/>
                      </a:rPr>
                      <m:t>𝜆</m:t>
                    </m:r>
                  </m:oMath>
                </a14:m>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the exact boundary condition is irrelevant)</a:t>
                </a:r>
              </a:p>
              <a:p>
                <a:pPr>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The solution of the wave equations is a standing wave:</a:t>
                </a: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𝐸</m:t>
                      </m:r>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0</m:t>
                          </m:r>
                        </m:sub>
                      </m:sSub>
                      <m:func>
                        <m:func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funcPr>
                        <m:fName>
                          <m:r>
                            <m:rPr>
                              <m:sty m:val="p"/>
                            </m:rPr>
                            <a:rPr lang="en-US" altLang="zh-CN" b="0" i="0" smtClean="0">
                              <a:latin typeface="Cambria Math" panose="02040503050406030204" pitchFamily="18" charset="0"/>
                              <a:ea typeface="黑体" panose="02010609060101010101" pitchFamily="49" charset="-122"/>
                              <a:cs typeface="Times New Roman" panose="02020603050405020304" pitchFamily="18" charset="0"/>
                            </a:rPr>
                            <m:t>sin</m:t>
                          </m:r>
                        </m:fName>
                        <m:e>
                          <m:d>
                            <m:d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i="1">
                                      <a:latin typeface="Cambria Math" panose="02040503050406030204" pitchFamily="18" charset="0"/>
                                      <a:ea typeface="黑体" panose="02010609060101010101" pitchFamily="49" charset="-122"/>
                                      <a:cs typeface="Times New Roman" panose="02020603050405020304" pitchFamily="18" charset="0"/>
                                    </a:rPr>
                                    <m:t>𝑘</m:t>
                                  </m:r>
                                </m:e>
                                <m:sub>
                                  <m:r>
                                    <a:rPr lang="en-US" altLang="zh-CN" i="1">
                                      <a:latin typeface="Cambria Math" panose="02040503050406030204" pitchFamily="18" charset="0"/>
                                      <a:ea typeface="黑体" panose="02010609060101010101" pitchFamily="49" charset="-122"/>
                                      <a:cs typeface="Times New Roman" panose="02020603050405020304" pitchFamily="18" charset="0"/>
                                    </a:rPr>
                                    <m:t>𝑥</m:t>
                                  </m:r>
                                </m:sub>
                              </m:sSub>
                              <m:r>
                                <a:rPr lang="en-US" altLang="zh-CN" i="1">
                                  <a:latin typeface="Cambria Math" panose="02040503050406030204" pitchFamily="18" charset="0"/>
                                  <a:ea typeface="黑体" panose="02010609060101010101" pitchFamily="49" charset="-122"/>
                                  <a:cs typeface="Times New Roman" panose="02020603050405020304" pitchFamily="18" charset="0"/>
                                </a:rPr>
                                <m:t>𝑥</m:t>
                              </m:r>
                            </m:e>
                          </m:d>
                          <m:func>
                            <m:func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funcPr>
                            <m:fName>
                              <m:r>
                                <m:rPr>
                                  <m:sty m:val="p"/>
                                </m:rPr>
                                <a:rPr lang="en-US" altLang="zh-CN">
                                  <a:latin typeface="Cambria Math" panose="02040503050406030204" pitchFamily="18" charset="0"/>
                                  <a:ea typeface="黑体" panose="02010609060101010101" pitchFamily="49" charset="-122"/>
                                  <a:cs typeface="Times New Roman" panose="02020603050405020304" pitchFamily="18" charset="0"/>
                                </a:rPr>
                                <m:t>sin</m:t>
                              </m:r>
                            </m:fName>
                            <m:e>
                              <m:d>
                                <m:dPr>
                                  <m:ctrlPr>
                                    <a:rPr lang="en-US" altLang="zh-CN" i="1">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i="1" smtClean="0">
                                          <a:latin typeface="Cambria Math" panose="02040503050406030204" pitchFamily="18" charset="0"/>
                                          <a:ea typeface="黑体" panose="02010609060101010101" pitchFamily="49" charset="-122"/>
                                          <a:cs typeface="Times New Roman" panose="02020603050405020304" pitchFamily="18" charset="0"/>
                                        </a:rPr>
                                        <m:t>𝑘</m:t>
                                      </m:r>
                                    </m:e>
                                    <m:sub>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𝑦</m:t>
                                      </m:r>
                                    </m:sub>
                                  </m:sSub>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𝑦</m:t>
                                  </m:r>
                                </m:e>
                              </m:d>
                              <m:func>
                                <m:funcPr>
                                  <m:ctrlPr>
                                    <a:rPr lang="en-US" altLang="zh-CN" i="1">
                                      <a:latin typeface="Cambria Math" panose="02040503050406030204" pitchFamily="18" charset="0"/>
                                      <a:ea typeface="黑体" panose="02010609060101010101" pitchFamily="49" charset="-122"/>
                                      <a:cs typeface="Times New Roman" panose="02020603050405020304" pitchFamily="18" charset="0"/>
                                    </a:rPr>
                                  </m:ctrlPr>
                                </m:funcPr>
                                <m:fName>
                                  <m:r>
                                    <m:rPr>
                                      <m:sty m:val="p"/>
                                    </m:rPr>
                                    <a:rPr lang="en-US" altLang="zh-CN">
                                      <a:latin typeface="Cambria Math" panose="02040503050406030204" pitchFamily="18" charset="0"/>
                                      <a:ea typeface="黑体" panose="02010609060101010101" pitchFamily="49" charset="-122"/>
                                      <a:cs typeface="Times New Roman" panose="02020603050405020304" pitchFamily="18" charset="0"/>
                                    </a:rPr>
                                    <m:t>sin</m:t>
                                  </m:r>
                                </m:fName>
                                <m:e>
                                  <m:d>
                                    <m:dPr>
                                      <m:ctrlPr>
                                        <a:rPr lang="en-US" altLang="zh-CN" i="1">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𝑘</m:t>
                                          </m:r>
                                        </m:e>
                                        <m:sub>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𝑧</m:t>
                                          </m:r>
                                        </m:sub>
                                      </m:sSub>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𝑧</m:t>
                                      </m:r>
                                    </m:e>
                                  </m:d>
                                  <m:func>
                                    <m:funcPr>
                                      <m:ctrlPr>
                                        <a:rPr lang="en-US" altLang="zh-CN" i="1">
                                          <a:latin typeface="Cambria Math" panose="02040503050406030204" pitchFamily="18" charset="0"/>
                                          <a:ea typeface="黑体" panose="02010609060101010101" pitchFamily="49" charset="-122"/>
                                          <a:cs typeface="Times New Roman" panose="02020603050405020304" pitchFamily="18" charset="0"/>
                                        </a:rPr>
                                      </m:ctrlPr>
                                    </m:funcPr>
                                    <m:fName>
                                      <m:r>
                                        <m:rPr>
                                          <m:sty m:val="p"/>
                                        </m:rPr>
                                        <a:rPr lang="en-US" altLang="zh-CN">
                                          <a:latin typeface="Cambria Math" panose="02040503050406030204" pitchFamily="18" charset="0"/>
                                          <a:ea typeface="黑体" panose="02010609060101010101" pitchFamily="49" charset="-122"/>
                                          <a:cs typeface="Times New Roman" panose="02020603050405020304" pitchFamily="18" charset="0"/>
                                        </a:rPr>
                                        <m:t>sin</m:t>
                                      </m:r>
                                    </m:fName>
                                    <m:e>
                                      <m:d>
                                        <m:dPr>
                                          <m:ctrlPr>
                                            <a:rPr lang="en-US" altLang="zh-CN" i="1">
                                              <a:latin typeface="Cambria Math" panose="02040503050406030204" pitchFamily="18" charset="0"/>
                                              <a:ea typeface="黑体" panose="02010609060101010101" pitchFamily="49" charset="-122"/>
                                              <a:cs typeface="Times New Roman" panose="02020603050405020304" pitchFamily="18" charset="0"/>
                                            </a:rPr>
                                          </m:ctrlPr>
                                        </m:dPr>
                                        <m:e>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2</m:t>
                                          </m:r>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𝜋</m:t>
                                          </m:r>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𝑓𝑡</m:t>
                                          </m:r>
                                        </m:e>
                                      </m:d>
                                    </m:e>
                                  </m:func>
                                </m:e>
                              </m:func>
                            </m:e>
                          </m:func>
                        </m:e>
                      </m:func>
                      <m:r>
                        <a:rPr lang="en-US" altLang="zh-CN" b="0" i="0"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   </m:t>
                      </m:r>
                      <m:sSubSup>
                        <m:sSubSupPr>
                          <m:ctrlPr>
                            <a:rPr lang="en-US" altLang="zh-CN" i="1">
                              <a:latin typeface="Cambria Math" panose="02040503050406030204" pitchFamily="18" charset="0"/>
                              <a:ea typeface="黑体" panose="02010609060101010101" pitchFamily="49" charset="-122"/>
                            </a:rPr>
                          </m:ctrlPr>
                        </m:sSubSupPr>
                        <m:e>
                          <m:r>
                            <a:rPr lang="en-US" altLang="zh-CN" i="1">
                              <a:latin typeface="Cambria Math" panose="02040503050406030204" pitchFamily="18" charset="0"/>
                              <a:ea typeface="黑体" panose="02010609060101010101" pitchFamily="49" charset="-122"/>
                            </a:rPr>
                            <m:t>𝑘</m:t>
                          </m:r>
                        </m:e>
                        <m:sub>
                          <m:r>
                            <a:rPr lang="en-US" altLang="zh-CN" i="1">
                              <a:latin typeface="Cambria Math" panose="02040503050406030204" pitchFamily="18" charset="0"/>
                              <a:ea typeface="黑体" panose="02010609060101010101" pitchFamily="49" charset="-122"/>
                            </a:rPr>
                            <m:t>𝑥</m:t>
                          </m:r>
                        </m:sub>
                        <m:sup>
                          <m:r>
                            <a:rPr lang="en-US" altLang="zh-CN" i="1">
                              <a:latin typeface="Cambria Math" panose="02040503050406030204" pitchFamily="18" charset="0"/>
                              <a:ea typeface="黑体" panose="02010609060101010101" pitchFamily="49" charset="-122"/>
                            </a:rPr>
                            <m:t>2</m:t>
                          </m:r>
                        </m:sup>
                      </m:sSubSup>
                      <m:r>
                        <a:rPr lang="en-US" altLang="zh-CN" i="1">
                          <a:latin typeface="Cambria Math" panose="02040503050406030204" pitchFamily="18" charset="0"/>
                          <a:ea typeface="黑体" panose="02010609060101010101" pitchFamily="49" charset="-122"/>
                        </a:rPr>
                        <m:t>+</m:t>
                      </m:r>
                      <m:sSubSup>
                        <m:sSubSupPr>
                          <m:ctrlPr>
                            <a:rPr lang="en-US" altLang="zh-CN" i="1">
                              <a:latin typeface="Cambria Math" panose="02040503050406030204" pitchFamily="18" charset="0"/>
                              <a:ea typeface="黑体" panose="02010609060101010101" pitchFamily="49" charset="-122"/>
                            </a:rPr>
                          </m:ctrlPr>
                        </m:sSubSupPr>
                        <m:e>
                          <m:r>
                            <a:rPr lang="en-US" altLang="zh-CN" i="1">
                              <a:latin typeface="Cambria Math" panose="02040503050406030204" pitchFamily="18" charset="0"/>
                              <a:ea typeface="黑体" panose="02010609060101010101" pitchFamily="49" charset="-122"/>
                            </a:rPr>
                            <m:t>𝑘</m:t>
                          </m:r>
                        </m:e>
                        <m:sub>
                          <m:r>
                            <a:rPr lang="en-US" altLang="zh-CN" i="1">
                              <a:latin typeface="Cambria Math" panose="02040503050406030204" pitchFamily="18" charset="0"/>
                              <a:ea typeface="黑体" panose="02010609060101010101" pitchFamily="49" charset="-122"/>
                            </a:rPr>
                            <m:t>𝑦</m:t>
                          </m:r>
                        </m:sub>
                        <m:sup>
                          <m:r>
                            <a:rPr lang="en-US" altLang="zh-CN" i="1">
                              <a:latin typeface="Cambria Math" panose="02040503050406030204" pitchFamily="18" charset="0"/>
                              <a:ea typeface="黑体" panose="02010609060101010101" pitchFamily="49" charset="-122"/>
                            </a:rPr>
                            <m:t>2</m:t>
                          </m:r>
                        </m:sup>
                      </m:sSubSup>
                      <m:r>
                        <a:rPr lang="en-US" altLang="zh-CN" i="1">
                          <a:latin typeface="Cambria Math" panose="02040503050406030204" pitchFamily="18" charset="0"/>
                          <a:ea typeface="黑体" panose="02010609060101010101" pitchFamily="49" charset="-122"/>
                        </a:rPr>
                        <m:t>+</m:t>
                      </m:r>
                      <m:sSubSup>
                        <m:sSubSupPr>
                          <m:ctrlPr>
                            <a:rPr lang="en-US" altLang="zh-CN" i="1">
                              <a:latin typeface="Cambria Math" panose="02040503050406030204" pitchFamily="18" charset="0"/>
                              <a:ea typeface="黑体" panose="02010609060101010101" pitchFamily="49" charset="-122"/>
                            </a:rPr>
                          </m:ctrlPr>
                        </m:sSubSupPr>
                        <m:e>
                          <m:r>
                            <a:rPr lang="en-US" altLang="zh-CN" i="1">
                              <a:latin typeface="Cambria Math" panose="02040503050406030204" pitchFamily="18" charset="0"/>
                              <a:ea typeface="黑体" panose="02010609060101010101" pitchFamily="49" charset="-122"/>
                            </a:rPr>
                            <m:t>𝑘</m:t>
                          </m:r>
                        </m:e>
                        <m:sub>
                          <m:r>
                            <a:rPr lang="en-US" altLang="zh-CN" i="1">
                              <a:latin typeface="Cambria Math" panose="02040503050406030204" pitchFamily="18" charset="0"/>
                              <a:ea typeface="黑体" panose="02010609060101010101" pitchFamily="49" charset="-122"/>
                            </a:rPr>
                            <m:t>𝑧</m:t>
                          </m:r>
                        </m:sub>
                        <m:sup>
                          <m:r>
                            <a:rPr lang="en-US" altLang="zh-CN" i="1">
                              <a:latin typeface="Cambria Math" panose="02040503050406030204" pitchFamily="18" charset="0"/>
                              <a:ea typeface="黑体" panose="02010609060101010101" pitchFamily="49" charset="-122"/>
                            </a:rPr>
                            <m:t>2</m:t>
                          </m:r>
                        </m:sup>
                      </m:sSubSup>
                      <m:r>
                        <a:rPr lang="en-US" altLang="zh-CN" i="1">
                          <a:latin typeface="Cambria Math" panose="02040503050406030204" pitchFamily="18" charset="0"/>
                          <a:ea typeface="黑体" panose="02010609060101010101" pitchFamily="49" charset="-122"/>
                        </a:rPr>
                        <m:t>=</m:t>
                      </m:r>
                      <m:sSup>
                        <m:sSupPr>
                          <m:ctrlPr>
                            <a:rPr lang="en-US" altLang="zh-CN" i="1">
                              <a:latin typeface="Cambria Math" panose="02040503050406030204" pitchFamily="18" charset="0"/>
                              <a:ea typeface="黑体" panose="02010609060101010101" pitchFamily="49" charset="-122"/>
                            </a:rPr>
                          </m:ctrlPr>
                        </m:sSupPr>
                        <m:e>
                          <m:r>
                            <a:rPr lang="en-US" altLang="zh-CN" i="1">
                              <a:latin typeface="Cambria Math" panose="02040503050406030204" pitchFamily="18" charset="0"/>
                              <a:ea typeface="黑体" panose="02010609060101010101" pitchFamily="49" charset="-122"/>
                            </a:rPr>
                            <m:t>𝑘</m:t>
                          </m:r>
                        </m:e>
                        <m:sup>
                          <m:r>
                            <a:rPr lang="en-US" altLang="zh-CN" i="1">
                              <a:latin typeface="Cambria Math" panose="02040503050406030204" pitchFamily="18" charset="0"/>
                              <a:ea typeface="黑体" panose="02010609060101010101" pitchFamily="49" charset="-122"/>
                            </a:rPr>
                            <m:t>2</m:t>
                          </m:r>
                        </m:sup>
                      </m:sSup>
                    </m:oMath>
                  </m:oMathPara>
                </a14:m>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The boundary condition requires</a:t>
                </a: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𝑘</m:t>
                          </m:r>
                        </m:e>
                        <m:sub>
                          <m:r>
                            <a:rPr lang="en-US" altLang="zh-CN" i="1">
                              <a:latin typeface="Cambria Math" panose="02040503050406030204" pitchFamily="18" charset="0"/>
                              <a:ea typeface="黑体" panose="02010609060101010101" pitchFamily="49" charset="-122"/>
                            </a:rPr>
                            <m:t>𝑥</m:t>
                          </m:r>
                        </m:sub>
                      </m:sSub>
                      <m:r>
                        <a:rPr lang="en-US" altLang="zh-CN" i="1">
                          <a:latin typeface="Cambria Math" panose="02040503050406030204" pitchFamily="18" charset="0"/>
                          <a:ea typeface="黑体" panose="02010609060101010101" pitchFamily="49" charset="-122"/>
                        </a:rPr>
                        <m:t>=</m:t>
                      </m:r>
                      <m:f>
                        <m:fPr>
                          <m:ctrlPr>
                            <a:rPr lang="en-US" altLang="zh-CN" i="1">
                              <a:latin typeface="Cambria Math" panose="02040503050406030204" pitchFamily="18" charset="0"/>
                              <a:ea typeface="黑体" panose="02010609060101010101" pitchFamily="49" charset="-122"/>
                            </a:rPr>
                          </m:ctrlPr>
                        </m:fPr>
                        <m:num>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𝑛</m:t>
                              </m:r>
                            </m:e>
                            <m:sub>
                              <m:r>
                                <a:rPr lang="en-US" altLang="zh-CN" i="1">
                                  <a:latin typeface="Cambria Math" panose="02040503050406030204" pitchFamily="18" charset="0"/>
                                  <a:ea typeface="黑体" panose="02010609060101010101" pitchFamily="49" charset="-122"/>
                                </a:rPr>
                                <m:t>1</m:t>
                              </m:r>
                            </m:sub>
                          </m:sSub>
                          <m:r>
                            <a:rPr lang="en-US" altLang="zh-CN" i="1">
                              <a:latin typeface="Cambria Math" panose="02040503050406030204" pitchFamily="18" charset="0"/>
                              <a:ea typeface="黑体" panose="02010609060101010101" pitchFamily="49" charset="-122"/>
                            </a:rPr>
                            <m:t>𝜋</m:t>
                          </m:r>
                        </m:num>
                        <m:den>
                          <m:r>
                            <a:rPr lang="en-US" altLang="zh-CN" i="1">
                              <a:latin typeface="Cambria Math" panose="02040503050406030204" pitchFamily="18" charset="0"/>
                              <a:ea typeface="黑体" panose="02010609060101010101" pitchFamily="49" charset="-122"/>
                            </a:rPr>
                            <m:t>𝐿</m:t>
                          </m:r>
                        </m:den>
                      </m:f>
                      <m:r>
                        <a:rPr lang="en-US" altLang="zh-CN" i="1">
                          <a:latin typeface="Cambria Math" panose="02040503050406030204" pitchFamily="18" charset="0"/>
                          <a:ea typeface="黑体" panose="02010609060101010101" pitchFamily="49" charset="-122"/>
                        </a:rPr>
                        <m:t>, </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𝑘</m:t>
                          </m:r>
                        </m:e>
                        <m:sub>
                          <m:r>
                            <a:rPr lang="en-US" altLang="zh-CN" i="1">
                              <a:latin typeface="Cambria Math" panose="02040503050406030204" pitchFamily="18" charset="0"/>
                              <a:ea typeface="黑体" panose="02010609060101010101" pitchFamily="49" charset="-122"/>
                            </a:rPr>
                            <m:t>𝑦</m:t>
                          </m:r>
                        </m:sub>
                      </m:sSub>
                      <m:r>
                        <a:rPr lang="en-US" altLang="zh-CN" i="1">
                          <a:latin typeface="Cambria Math" panose="02040503050406030204" pitchFamily="18" charset="0"/>
                          <a:ea typeface="黑体" panose="02010609060101010101" pitchFamily="49" charset="-122"/>
                        </a:rPr>
                        <m:t>=</m:t>
                      </m:r>
                      <m:f>
                        <m:fPr>
                          <m:ctrlPr>
                            <a:rPr lang="en-US" altLang="zh-CN" i="1">
                              <a:latin typeface="Cambria Math" panose="02040503050406030204" pitchFamily="18" charset="0"/>
                              <a:ea typeface="黑体" panose="02010609060101010101" pitchFamily="49" charset="-122"/>
                            </a:rPr>
                          </m:ctrlPr>
                        </m:fPr>
                        <m:num>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𝑛</m:t>
                              </m:r>
                            </m:e>
                            <m:sub>
                              <m:r>
                                <a:rPr lang="en-US" altLang="zh-CN" i="1">
                                  <a:latin typeface="Cambria Math" panose="02040503050406030204" pitchFamily="18" charset="0"/>
                                  <a:ea typeface="黑体" panose="02010609060101010101" pitchFamily="49" charset="-122"/>
                                </a:rPr>
                                <m:t>2</m:t>
                              </m:r>
                            </m:sub>
                          </m:sSub>
                          <m:r>
                            <a:rPr lang="en-US" altLang="zh-CN" i="1">
                              <a:latin typeface="Cambria Math" panose="02040503050406030204" pitchFamily="18" charset="0"/>
                              <a:ea typeface="黑体" panose="02010609060101010101" pitchFamily="49" charset="-122"/>
                            </a:rPr>
                            <m:t>𝜋</m:t>
                          </m:r>
                        </m:num>
                        <m:den>
                          <m:r>
                            <a:rPr lang="en-US" altLang="zh-CN" i="1">
                              <a:latin typeface="Cambria Math" panose="02040503050406030204" pitchFamily="18" charset="0"/>
                              <a:ea typeface="黑体" panose="02010609060101010101" pitchFamily="49" charset="-122"/>
                            </a:rPr>
                            <m:t>𝐿</m:t>
                          </m:r>
                        </m:den>
                      </m:f>
                      <m:r>
                        <a:rPr lang="en-US" altLang="zh-CN" i="1">
                          <a:latin typeface="Cambria Math" panose="02040503050406030204" pitchFamily="18" charset="0"/>
                          <a:ea typeface="黑体" panose="02010609060101010101" pitchFamily="49" charset="-122"/>
                        </a:rPr>
                        <m:t>, </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𝑘</m:t>
                          </m:r>
                        </m:e>
                        <m:sub>
                          <m:r>
                            <a:rPr lang="en-US" altLang="zh-CN" i="1">
                              <a:latin typeface="Cambria Math" panose="02040503050406030204" pitchFamily="18" charset="0"/>
                              <a:ea typeface="黑体" panose="02010609060101010101" pitchFamily="49" charset="-122"/>
                            </a:rPr>
                            <m:t>𝑧</m:t>
                          </m:r>
                        </m:sub>
                      </m:sSub>
                      <m:r>
                        <a:rPr lang="en-US" altLang="zh-CN" i="1">
                          <a:latin typeface="Cambria Math" panose="02040503050406030204" pitchFamily="18" charset="0"/>
                          <a:ea typeface="黑体" panose="02010609060101010101" pitchFamily="49" charset="-122"/>
                        </a:rPr>
                        <m:t>=</m:t>
                      </m:r>
                      <m:f>
                        <m:fPr>
                          <m:ctrlPr>
                            <a:rPr lang="en-US" altLang="zh-CN" i="1">
                              <a:latin typeface="Cambria Math" panose="02040503050406030204" pitchFamily="18" charset="0"/>
                              <a:ea typeface="黑体" panose="02010609060101010101" pitchFamily="49" charset="-122"/>
                            </a:rPr>
                          </m:ctrlPr>
                        </m:fPr>
                        <m:num>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𝑛</m:t>
                              </m:r>
                            </m:e>
                            <m:sub>
                              <m:r>
                                <a:rPr lang="en-US" altLang="zh-CN" i="1">
                                  <a:latin typeface="Cambria Math" panose="02040503050406030204" pitchFamily="18" charset="0"/>
                                  <a:ea typeface="黑体" panose="02010609060101010101" pitchFamily="49" charset="-122"/>
                                </a:rPr>
                                <m:t>3</m:t>
                              </m:r>
                            </m:sub>
                          </m:sSub>
                          <m:r>
                            <a:rPr lang="en-US" altLang="zh-CN" i="1">
                              <a:latin typeface="Cambria Math" panose="02040503050406030204" pitchFamily="18" charset="0"/>
                              <a:ea typeface="黑体" panose="02010609060101010101" pitchFamily="49" charset="-122"/>
                            </a:rPr>
                            <m:t>𝜋</m:t>
                          </m:r>
                        </m:num>
                        <m:den>
                          <m:r>
                            <a:rPr lang="en-US" altLang="zh-CN" i="1">
                              <a:latin typeface="Cambria Math" panose="02040503050406030204" pitchFamily="18" charset="0"/>
                              <a:ea typeface="黑体" panose="02010609060101010101" pitchFamily="49" charset="-122"/>
                            </a:rPr>
                            <m:t>𝐿</m:t>
                          </m:r>
                        </m:den>
                      </m:f>
                    </m:oMath>
                  </m:oMathPara>
                </a14:m>
                <a:endParaRPr lang="zh-CN" altLang="en-US" dirty="0"/>
              </a:p>
              <a:p>
                <a:pPr>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where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𝑛</m:t>
                        </m:r>
                      </m:e>
                      <m:sub>
                        <m:r>
                          <a:rPr lang="en-US" altLang="zh-CN" i="1">
                            <a:latin typeface="Cambria Math" panose="02040503050406030204" pitchFamily="18" charset="0"/>
                          </a:rPr>
                          <m:t>1</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𝑛</m:t>
                        </m:r>
                      </m:e>
                      <m:sub>
                        <m:r>
                          <a:rPr lang="en-US" altLang="zh-CN" i="1">
                            <a:latin typeface="Cambria Math" panose="02040503050406030204" pitchFamily="18" charset="0"/>
                          </a:rPr>
                          <m:t>2</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𝑛</m:t>
                        </m:r>
                      </m:e>
                      <m:sub>
                        <m:r>
                          <a:rPr lang="en-US" altLang="zh-CN" i="1">
                            <a:latin typeface="Cambria Math" panose="02040503050406030204" pitchFamily="18" charset="0"/>
                          </a:rPr>
                          <m:t>3</m:t>
                        </m:r>
                      </m:sub>
                    </m:sSub>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to be integers. Since </a:t>
                </a:r>
                <a14:m>
                  <m:oMath xmlns:m="http://schemas.openxmlformats.org/officeDocument/2006/math">
                    <m:r>
                      <a:rPr lang="en-US" altLang="zh-CN" i="1" dirty="0">
                        <a:latin typeface="Cambria Math" panose="02040503050406030204" pitchFamily="18" charset="0"/>
                        <a:ea typeface="黑体" panose="02010609060101010101" pitchFamily="49" charset="-122"/>
                      </a:rPr>
                      <m:t>±</m:t>
                    </m:r>
                    <m:sSub>
                      <m:sSubPr>
                        <m:ctrlPr>
                          <a:rPr lang="en-US" altLang="zh-CN" i="1" dirty="0">
                            <a:latin typeface="Cambria Math" panose="02040503050406030204" pitchFamily="18" charset="0"/>
                            <a:ea typeface="黑体" panose="02010609060101010101" pitchFamily="49" charset="-122"/>
                          </a:rPr>
                        </m:ctrlPr>
                      </m:sSubPr>
                      <m:e>
                        <m:r>
                          <a:rPr lang="en-US" altLang="zh-CN" i="1" dirty="0">
                            <a:latin typeface="Cambria Math" panose="02040503050406030204" pitchFamily="18" charset="0"/>
                            <a:ea typeface="黑体" panose="02010609060101010101" pitchFamily="49" charset="-122"/>
                          </a:rPr>
                          <m:t>𝑛</m:t>
                        </m:r>
                      </m:e>
                      <m:sub>
                        <m:r>
                          <a:rPr lang="en-US" altLang="zh-CN" i="1" dirty="0">
                            <a:latin typeface="Cambria Math" panose="02040503050406030204" pitchFamily="18" charset="0"/>
                            <a:ea typeface="黑体" panose="02010609060101010101" pitchFamily="49" charset="-122"/>
                          </a:rPr>
                          <m:t>𝑖</m:t>
                        </m:r>
                      </m:sub>
                    </m:sSub>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represents the same standing wave, we choose them to be positive </a:t>
                </a:r>
              </a:p>
            </p:txBody>
          </p:sp>
        </mc:Choice>
        <mc:Fallback>
          <p:sp>
            <p:nvSpPr>
              <p:cNvPr id="5" name="TextBox 4"/>
              <p:cNvSpPr txBox="1">
                <a:spLocks noRot="1" noChangeAspect="1" noMove="1" noResize="1" noEditPoints="1" noAdjustHandles="1" noChangeArrowheads="1" noChangeShapeType="1" noTextEdit="1"/>
              </p:cNvSpPr>
              <p:nvPr/>
            </p:nvSpPr>
            <p:spPr>
              <a:xfrm>
                <a:off x="791063" y="927495"/>
                <a:ext cx="10251587" cy="4137928"/>
              </a:xfrm>
              <a:prstGeom prst="rect">
                <a:avLst/>
              </a:prstGeom>
              <a:blipFill>
                <a:blip r:embed="rId3"/>
                <a:stretch>
                  <a:fillRect l="-535" b="-1325"/>
                </a:stretch>
              </a:blipFill>
            </p:spPr>
            <p:txBody>
              <a:bodyPr/>
              <a:lstStyle/>
              <a:p>
                <a:r>
                  <a:rPr lang="zh-CN" altLang="en-US">
                    <a:noFill/>
                  </a:rPr>
                  <a:t> </a:t>
                </a:r>
              </a:p>
            </p:txBody>
          </p:sp>
        </mc:Fallback>
      </mc:AlternateContent>
      <p:pic>
        <p:nvPicPr>
          <p:cNvPr id="4" name="Picture 3"/>
          <p:cNvPicPr>
            <a:picLocks noChangeAspect="1"/>
          </p:cNvPicPr>
          <p:nvPr/>
        </p:nvPicPr>
        <p:blipFill>
          <a:blip r:embed="rId4"/>
          <a:stretch>
            <a:fillRect/>
          </a:stretch>
        </p:blipFill>
        <p:spPr>
          <a:xfrm>
            <a:off x="9083899" y="991635"/>
            <a:ext cx="1777755" cy="1767739"/>
          </a:xfrm>
          <a:prstGeom prst="rect">
            <a:avLst/>
          </a:prstGeom>
        </p:spPr>
      </p:pic>
      <p:pic>
        <p:nvPicPr>
          <p:cNvPr id="3074" name="Picture 2" descr="http://hyperphysics.phy-astr.gsu.edu/hbase/quantum/imgqua/rj1.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4878" y="1367003"/>
            <a:ext cx="3411015" cy="83251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8" name="Rectangle 7"/>
              <p:cNvSpPr/>
              <p:nvPr/>
            </p:nvSpPr>
            <p:spPr>
              <a:xfrm>
                <a:off x="791063" y="5179847"/>
                <a:ext cx="6841809" cy="1008481"/>
              </a:xfrm>
              <a:prstGeom prst="rect">
                <a:avLst/>
              </a:prstGeom>
            </p:spPr>
            <p:txBody>
              <a:bodyPr wrap="none">
                <a:spAutoFit/>
              </a:bodyPr>
              <a:lstStyle/>
              <a:p>
                <a:pPr>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Every configuration </a:t>
                </a:r>
                <a14:m>
                  <m:oMath xmlns:m="http://schemas.openxmlformats.org/officeDocument/2006/math">
                    <m:d>
                      <m:dPr>
                        <m:ctrlPr>
                          <a:rPr lang="en-US" altLang="zh-CN" i="1" dirty="0" smtClean="0">
                            <a:latin typeface="Cambria Math" panose="02040503050406030204" pitchFamily="18" charset="0"/>
                            <a:ea typeface="黑体" panose="02010609060101010101" pitchFamily="49" charset="-122"/>
                          </a:rPr>
                        </m:ctrlPr>
                      </m:dPr>
                      <m:e>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𝑘</m:t>
                            </m:r>
                          </m:e>
                          <m:sub>
                            <m:r>
                              <a:rPr lang="en-US" altLang="zh-CN" i="1">
                                <a:latin typeface="Cambria Math" panose="02040503050406030204" pitchFamily="18" charset="0"/>
                                <a:ea typeface="黑体" panose="02010609060101010101" pitchFamily="49" charset="-122"/>
                              </a:rPr>
                              <m:t>𝑥</m:t>
                            </m:r>
                          </m:sub>
                        </m:sSub>
                        <m:r>
                          <a:rPr lang="en-US" altLang="zh-CN" b="0" i="1" smtClean="0">
                            <a:latin typeface="Cambria Math" panose="02040503050406030204" pitchFamily="18" charset="0"/>
                            <a:ea typeface="黑体" panose="02010609060101010101" pitchFamily="49" charset="-122"/>
                          </a:rPr>
                          <m:t>, </m:t>
                        </m:r>
                        <m:sSub>
                          <m:sSubPr>
                            <m:ctrlPr>
                              <a:rPr lang="en-US" altLang="zh-CN" b="0" i="1" smtClean="0">
                                <a:latin typeface="Cambria Math" panose="02040503050406030204" pitchFamily="18" charset="0"/>
                                <a:ea typeface="黑体" panose="02010609060101010101" pitchFamily="49" charset="-122"/>
                              </a:rPr>
                            </m:ctrlPr>
                          </m:sSubPr>
                          <m:e>
                            <m:r>
                              <a:rPr lang="en-US" altLang="zh-CN" b="0" i="1" smtClean="0">
                                <a:latin typeface="Cambria Math" panose="02040503050406030204" pitchFamily="18" charset="0"/>
                                <a:ea typeface="黑体" panose="02010609060101010101" pitchFamily="49" charset="-122"/>
                              </a:rPr>
                              <m:t>𝑘</m:t>
                            </m:r>
                          </m:e>
                          <m:sub>
                            <m:r>
                              <a:rPr lang="en-US" altLang="zh-CN" b="0" i="1" smtClean="0">
                                <a:latin typeface="Cambria Math" panose="02040503050406030204" pitchFamily="18" charset="0"/>
                                <a:ea typeface="黑体" panose="02010609060101010101" pitchFamily="49" charset="-122"/>
                              </a:rPr>
                              <m:t>𝑦</m:t>
                            </m:r>
                          </m:sub>
                        </m:sSub>
                        <m:r>
                          <a:rPr lang="en-US" altLang="zh-CN" b="0" i="1" smtClean="0">
                            <a:latin typeface="Cambria Math" panose="02040503050406030204" pitchFamily="18" charset="0"/>
                            <a:ea typeface="黑体" panose="02010609060101010101" pitchFamily="49" charset="-122"/>
                          </a:rPr>
                          <m:t>, </m:t>
                        </m:r>
                        <m:sSub>
                          <m:sSubPr>
                            <m:ctrlPr>
                              <a:rPr lang="en-US" altLang="zh-CN" b="0" i="1" smtClean="0">
                                <a:latin typeface="Cambria Math" panose="02040503050406030204" pitchFamily="18" charset="0"/>
                                <a:ea typeface="黑体" panose="02010609060101010101" pitchFamily="49" charset="-122"/>
                              </a:rPr>
                            </m:ctrlPr>
                          </m:sSubPr>
                          <m:e>
                            <m:r>
                              <a:rPr lang="en-US" altLang="zh-CN" b="0" i="1" smtClean="0">
                                <a:latin typeface="Cambria Math" panose="02040503050406030204" pitchFamily="18" charset="0"/>
                                <a:ea typeface="黑体" panose="02010609060101010101" pitchFamily="49" charset="-122"/>
                              </a:rPr>
                              <m:t>𝑘</m:t>
                            </m:r>
                          </m:e>
                          <m:sub>
                            <m:r>
                              <a:rPr lang="en-US" altLang="zh-CN" b="0" i="1" smtClean="0">
                                <a:latin typeface="Cambria Math" panose="02040503050406030204" pitchFamily="18" charset="0"/>
                                <a:ea typeface="黑体" panose="02010609060101010101" pitchFamily="49" charset="-122"/>
                              </a:rPr>
                              <m:t>𝑧</m:t>
                            </m:r>
                          </m:sub>
                        </m:sSub>
                      </m:e>
                    </m:d>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represents a mode of standing wave.</a:t>
                </a:r>
              </a:p>
              <a:p>
                <a:pPr>
                  <a:lnSpc>
                    <a:spcPct val="150000"/>
                  </a:lnSpc>
                </a:pPr>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The larger the </a:t>
                </a:r>
                <a14:m>
                  <m:oMath xmlns:m="http://schemas.openxmlformats.org/officeDocument/2006/math">
                    <m:r>
                      <a:rPr lang="en-US" altLang="zh-CN" b="0" i="1" smtClean="0">
                        <a:solidFill>
                          <a:srgbClr val="C00000"/>
                        </a:solidFill>
                        <a:latin typeface="Cambria Math" panose="02040503050406030204" pitchFamily="18" charset="0"/>
                        <a:ea typeface="黑体" panose="02010609060101010101" pitchFamily="49" charset="-122"/>
                        <a:cs typeface="Times New Roman" panose="02020603050405020304" pitchFamily="18" charset="0"/>
                      </a:rPr>
                      <m:t>𝑘</m:t>
                    </m:r>
                  </m:oMath>
                </a14:m>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the more possible configurations of </a:t>
                </a:r>
                <a14:m>
                  <m:oMath xmlns:m="http://schemas.openxmlformats.org/officeDocument/2006/math">
                    <m:d>
                      <m:dPr>
                        <m:ctrlPr>
                          <a:rPr lang="en-US" altLang="zh-CN" i="1" dirty="0">
                            <a:solidFill>
                              <a:srgbClr val="C00000"/>
                            </a:solidFill>
                            <a:latin typeface="Cambria Math" panose="02040503050406030204" pitchFamily="18" charset="0"/>
                            <a:ea typeface="黑体" panose="02010609060101010101" pitchFamily="49" charset="-122"/>
                          </a:rPr>
                        </m:ctrlPr>
                      </m:dPr>
                      <m:e>
                        <m:sSub>
                          <m:sSubPr>
                            <m:ctrlPr>
                              <a:rPr lang="en-US" altLang="zh-CN" i="1">
                                <a:solidFill>
                                  <a:srgbClr val="C00000"/>
                                </a:solidFill>
                                <a:latin typeface="Cambria Math" panose="02040503050406030204" pitchFamily="18" charset="0"/>
                                <a:ea typeface="黑体" panose="02010609060101010101" pitchFamily="49" charset="-122"/>
                              </a:rPr>
                            </m:ctrlPr>
                          </m:sSubPr>
                          <m:e>
                            <m:r>
                              <a:rPr lang="en-US" altLang="zh-CN" i="1">
                                <a:solidFill>
                                  <a:srgbClr val="C00000"/>
                                </a:solidFill>
                                <a:latin typeface="Cambria Math" panose="02040503050406030204" pitchFamily="18" charset="0"/>
                                <a:ea typeface="黑体" panose="02010609060101010101" pitchFamily="49" charset="-122"/>
                              </a:rPr>
                              <m:t>𝑘</m:t>
                            </m:r>
                          </m:e>
                          <m:sub>
                            <m:r>
                              <a:rPr lang="en-US" altLang="zh-CN" i="1">
                                <a:solidFill>
                                  <a:srgbClr val="C00000"/>
                                </a:solidFill>
                                <a:latin typeface="Cambria Math" panose="02040503050406030204" pitchFamily="18" charset="0"/>
                                <a:ea typeface="黑体" panose="02010609060101010101" pitchFamily="49" charset="-122"/>
                              </a:rPr>
                              <m:t>𝑥</m:t>
                            </m:r>
                          </m:sub>
                        </m:sSub>
                        <m:r>
                          <a:rPr lang="en-US" altLang="zh-CN" i="1">
                            <a:solidFill>
                              <a:srgbClr val="C00000"/>
                            </a:solidFill>
                            <a:latin typeface="Cambria Math" panose="02040503050406030204" pitchFamily="18" charset="0"/>
                            <a:ea typeface="黑体" panose="02010609060101010101" pitchFamily="49" charset="-122"/>
                          </a:rPr>
                          <m:t>, </m:t>
                        </m:r>
                        <m:sSub>
                          <m:sSubPr>
                            <m:ctrlPr>
                              <a:rPr lang="en-US" altLang="zh-CN" i="1">
                                <a:solidFill>
                                  <a:srgbClr val="C00000"/>
                                </a:solidFill>
                                <a:latin typeface="Cambria Math" panose="02040503050406030204" pitchFamily="18" charset="0"/>
                                <a:ea typeface="黑体" panose="02010609060101010101" pitchFamily="49" charset="-122"/>
                              </a:rPr>
                            </m:ctrlPr>
                          </m:sSubPr>
                          <m:e>
                            <m:r>
                              <a:rPr lang="en-US" altLang="zh-CN" i="1">
                                <a:solidFill>
                                  <a:srgbClr val="C00000"/>
                                </a:solidFill>
                                <a:latin typeface="Cambria Math" panose="02040503050406030204" pitchFamily="18" charset="0"/>
                                <a:ea typeface="黑体" panose="02010609060101010101" pitchFamily="49" charset="-122"/>
                              </a:rPr>
                              <m:t>𝑘</m:t>
                            </m:r>
                          </m:e>
                          <m:sub>
                            <m:r>
                              <a:rPr lang="en-US" altLang="zh-CN" i="1">
                                <a:solidFill>
                                  <a:srgbClr val="C00000"/>
                                </a:solidFill>
                                <a:latin typeface="Cambria Math" panose="02040503050406030204" pitchFamily="18" charset="0"/>
                                <a:ea typeface="黑体" panose="02010609060101010101" pitchFamily="49" charset="-122"/>
                              </a:rPr>
                              <m:t>𝑦</m:t>
                            </m:r>
                          </m:sub>
                        </m:sSub>
                        <m:r>
                          <a:rPr lang="en-US" altLang="zh-CN" i="1">
                            <a:solidFill>
                              <a:srgbClr val="C00000"/>
                            </a:solidFill>
                            <a:latin typeface="Cambria Math" panose="02040503050406030204" pitchFamily="18" charset="0"/>
                            <a:ea typeface="黑体" panose="02010609060101010101" pitchFamily="49" charset="-122"/>
                          </a:rPr>
                          <m:t>, </m:t>
                        </m:r>
                        <m:sSub>
                          <m:sSubPr>
                            <m:ctrlPr>
                              <a:rPr lang="en-US" altLang="zh-CN" i="1">
                                <a:solidFill>
                                  <a:srgbClr val="C00000"/>
                                </a:solidFill>
                                <a:latin typeface="Cambria Math" panose="02040503050406030204" pitchFamily="18" charset="0"/>
                                <a:ea typeface="黑体" panose="02010609060101010101" pitchFamily="49" charset="-122"/>
                              </a:rPr>
                            </m:ctrlPr>
                          </m:sSubPr>
                          <m:e>
                            <m:r>
                              <a:rPr lang="en-US" altLang="zh-CN" i="1">
                                <a:solidFill>
                                  <a:srgbClr val="C00000"/>
                                </a:solidFill>
                                <a:latin typeface="Cambria Math" panose="02040503050406030204" pitchFamily="18" charset="0"/>
                                <a:ea typeface="黑体" panose="02010609060101010101" pitchFamily="49" charset="-122"/>
                              </a:rPr>
                              <m:t>𝑘</m:t>
                            </m:r>
                          </m:e>
                          <m:sub>
                            <m:r>
                              <a:rPr lang="en-US" altLang="zh-CN" i="1">
                                <a:solidFill>
                                  <a:srgbClr val="C00000"/>
                                </a:solidFill>
                                <a:latin typeface="Cambria Math" panose="02040503050406030204" pitchFamily="18" charset="0"/>
                                <a:ea typeface="黑体" panose="02010609060101010101" pitchFamily="49" charset="-122"/>
                              </a:rPr>
                              <m:t>𝑧</m:t>
                            </m:r>
                          </m:sub>
                        </m:sSub>
                      </m:e>
                    </m:d>
                  </m:oMath>
                </a14:m>
                <a:endPar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791063" y="5179847"/>
                <a:ext cx="6841809" cy="1008481"/>
              </a:xfrm>
              <a:prstGeom prst="rect">
                <a:avLst/>
              </a:prstGeom>
              <a:blipFill>
                <a:blip r:embed="rId6"/>
                <a:stretch>
                  <a:fillRect l="-802" b="-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554651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fade">
                                      <p:cBhvr>
                                        <p:cTn id="37" dur="500"/>
                                        <p:tgtEl>
                                          <p:spTgt spid="5">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074"/>
                                        </p:tgtEl>
                                        <p:attrNameLst>
                                          <p:attrName>style.visibility</p:attrName>
                                        </p:attrNameLst>
                                      </p:cBhvr>
                                      <p:to>
                                        <p:strVal val="visible"/>
                                      </p:to>
                                    </p:set>
                                    <p:animEffect transition="in" filter="fade">
                                      <p:cBhvr>
                                        <p:cTn id="45" dur="500"/>
                                        <p:tgtEl>
                                          <p:spTgt spid="307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8528183" y="721700"/>
            <a:ext cx="2957056" cy="2767658"/>
          </a:xfrm>
          <a:prstGeom prst="rect">
            <a:avLst/>
          </a:prstGeom>
        </p:spPr>
      </p:pic>
      <mc:AlternateContent xmlns:mc="http://schemas.openxmlformats.org/markup-compatibility/2006">
        <mc:Choice xmlns:a14="http://schemas.microsoft.com/office/drawing/2010/main" Requires="a14">
          <p:sp>
            <p:nvSpPr>
              <p:cNvPr id="6" name="TextBox 5"/>
              <p:cNvSpPr txBox="1"/>
              <p:nvPr/>
            </p:nvSpPr>
            <p:spPr>
              <a:xfrm>
                <a:off x="416507" y="1223669"/>
                <a:ext cx="7957333" cy="5397824"/>
              </a:xfrm>
              <a:prstGeom prst="rect">
                <a:avLst/>
              </a:prstGeom>
              <a:noFill/>
            </p:spPr>
            <p:txBody>
              <a:bodyPr wrap="square" rtlCol="0">
                <a:spAutoFit/>
              </a:bodyPr>
              <a:lstStyle/>
              <a:p>
                <a:pPr>
                  <a:lnSpc>
                    <a:spcPct val="150000"/>
                  </a:lnSpc>
                </a:pPr>
                <a:r>
                  <a:rPr lang="en-US" altLang="zh-CN" dirty="0"/>
                  <a:t>Treat </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a:rPr>
                          <m:t>𝑘</m:t>
                        </m:r>
                      </m:e>
                      <m:sub>
                        <m:r>
                          <a:rPr lang="en-US" altLang="zh-CN" i="1">
                            <a:latin typeface="Cambria Math"/>
                          </a:rPr>
                          <m:t>𝑥</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𝑘</m:t>
                        </m:r>
                      </m:e>
                      <m:sub>
                        <m:r>
                          <a:rPr lang="en-US" altLang="zh-CN" i="1">
                            <a:latin typeface="Cambria Math"/>
                          </a:rPr>
                          <m:t>𝑦</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𝑘</m:t>
                        </m:r>
                      </m:e>
                      <m:sub>
                        <m:r>
                          <a:rPr lang="en-US" altLang="zh-CN" i="1">
                            <a:latin typeface="Cambria Math"/>
                          </a:rPr>
                          <m:t>𝑧</m:t>
                        </m:r>
                      </m:sub>
                    </m:sSub>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as the Cartesian coordinates of a grid point in a fictitious 3D space </a:t>
                </a:r>
                <a14:m>
                  <m:oMath xmlns:m="http://schemas.openxmlformats.org/officeDocument/2006/math">
                    <m:r>
                      <a:rPr lang="en-US" altLang="zh-CN" i="1">
                        <a:solidFill>
                          <a:srgbClr val="0070C0"/>
                        </a:solidFill>
                        <a:latin typeface="Cambria Math"/>
                      </a:rPr>
                      <m:t>𝑘</m:t>
                    </m:r>
                  </m:oMath>
                </a14:m>
                <a:r>
                  <a:rPr lang="en-US" altLang="zh-CN"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-space.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Then each point represents a mode, all points lie in the first octant. The grid interval is </a:t>
                </a:r>
                <a14:m>
                  <m:oMath xmlns:m="http://schemas.openxmlformats.org/officeDocument/2006/math">
                    <m:r>
                      <a:rPr lang="en-US" altLang="zh-CN" i="1" smtClean="0">
                        <a:solidFill>
                          <a:schemeClr val="tx1"/>
                        </a:solidFill>
                        <a:latin typeface="Cambria Math"/>
                      </a:rPr>
                      <m:t>𝜋</m:t>
                    </m:r>
                    <m:r>
                      <a:rPr lang="en-US" altLang="zh-CN" i="1" smtClean="0">
                        <a:solidFill>
                          <a:schemeClr val="tx1"/>
                        </a:solidFill>
                        <a:latin typeface="Cambria Math"/>
                      </a:rPr>
                      <m:t>/</m:t>
                    </m:r>
                    <m:r>
                      <a:rPr lang="en-US" altLang="zh-CN" i="1" smtClean="0">
                        <a:solidFill>
                          <a:schemeClr val="tx1"/>
                        </a:solidFill>
                        <a:latin typeface="Cambria Math"/>
                      </a:rPr>
                      <m:t>𝐿</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so each grid occupies a volume of </a:t>
                </a:r>
                <a14:m>
                  <m:oMath xmlns:m="http://schemas.openxmlformats.org/officeDocument/2006/math">
                    <m:sSup>
                      <m:sSupPr>
                        <m:ctrlPr>
                          <a:rPr lang="en-US" altLang="zh-CN" i="1" smtClean="0">
                            <a:solidFill>
                              <a:schemeClr val="tx1"/>
                            </a:solidFill>
                            <a:latin typeface="Cambria Math" panose="02040503050406030204" pitchFamily="18" charset="0"/>
                          </a:rPr>
                        </m:ctrlPr>
                      </m:sSupPr>
                      <m:e>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a:rPr>
                              <m:t>𝜋</m:t>
                            </m:r>
                            <m:r>
                              <a:rPr lang="en-US" altLang="zh-CN" i="1">
                                <a:solidFill>
                                  <a:schemeClr val="tx1"/>
                                </a:solidFill>
                                <a:latin typeface="Cambria Math"/>
                              </a:rPr>
                              <m:t>/</m:t>
                            </m:r>
                            <m:r>
                              <a:rPr lang="en-US" altLang="zh-CN" i="1">
                                <a:solidFill>
                                  <a:schemeClr val="tx1"/>
                                </a:solidFill>
                                <a:latin typeface="Cambria Math"/>
                              </a:rPr>
                              <m:t>𝐿</m:t>
                            </m:r>
                          </m:e>
                        </m:d>
                      </m:e>
                      <m:sup>
                        <m:r>
                          <a:rPr lang="en-US" altLang="zh-CN" i="1">
                            <a:solidFill>
                              <a:schemeClr val="tx1"/>
                            </a:solidFill>
                            <a:latin typeface="Cambria Math"/>
                          </a:rPr>
                          <m:t>3</m:t>
                        </m:r>
                      </m:sup>
                    </m:sSup>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The distance of a grid point to the origin is </a:t>
                </a:r>
                <a14:m>
                  <m:oMath xmlns:m="http://schemas.openxmlformats.org/officeDocument/2006/math">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𝑘</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Therefore,</a:t>
                </a:r>
              </a:p>
              <a:p>
                <a:pPr>
                  <a:lnSpc>
                    <a:spcPct val="150000"/>
                  </a:lnSpc>
                </a:pPr>
                <a:r>
                  <a:rPr lang="en-US" altLang="zh-CN"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The number of modes between </a:t>
                </a:r>
                <a14:m>
                  <m:oMath xmlns:m="http://schemas.openxmlformats.org/officeDocument/2006/math">
                    <m:r>
                      <a:rPr lang="en-US" altLang="zh-CN" i="1">
                        <a:solidFill>
                          <a:schemeClr val="accent1"/>
                        </a:solidFill>
                        <a:latin typeface="Cambria Math" panose="02040503050406030204" pitchFamily="18" charset="0"/>
                      </a:rPr>
                      <m:t>𝑘</m:t>
                    </m:r>
                    <m:r>
                      <a:rPr lang="en-US" altLang="zh-CN" i="1">
                        <a:solidFill>
                          <a:schemeClr val="accent1"/>
                        </a:solidFill>
                        <a:latin typeface="Cambria Math" panose="02040503050406030204" pitchFamily="18" charset="0"/>
                      </a:rPr>
                      <m:t>~</m:t>
                    </m:r>
                    <m:r>
                      <a:rPr lang="en-US" altLang="zh-CN" i="1">
                        <a:solidFill>
                          <a:schemeClr val="accent1"/>
                        </a:solidFill>
                        <a:latin typeface="Cambria Math" panose="02040503050406030204" pitchFamily="18" charset="0"/>
                      </a:rPr>
                      <m:t>𝑘</m:t>
                    </m:r>
                    <m:r>
                      <a:rPr lang="en-US" altLang="zh-CN" i="1">
                        <a:solidFill>
                          <a:schemeClr val="accent1"/>
                        </a:solidFill>
                        <a:latin typeface="Cambria Math" panose="02040503050406030204" pitchFamily="18" charset="0"/>
                      </a:rPr>
                      <m:t>+</m:t>
                    </m:r>
                    <m:r>
                      <a:rPr lang="en-US" altLang="zh-CN" i="1">
                        <a:solidFill>
                          <a:schemeClr val="accent1"/>
                        </a:solidFill>
                        <a:latin typeface="Cambria Math" panose="02040503050406030204" pitchFamily="18" charset="0"/>
                      </a:rPr>
                      <m:t>𝑑𝑘</m:t>
                    </m:r>
                  </m:oMath>
                </a14:m>
                <a:r>
                  <a:rPr lang="en-US" altLang="zh-CN" dirty="0">
                    <a:solidFill>
                      <a:schemeClr val="accent1"/>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i="1">
                        <a:solidFill>
                          <a:schemeClr val="accent1"/>
                        </a:solidFill>
                        <a:latin typeface="Cambria Math" panose="02040503050406030204" pitchFamily="18" charset="0"/>
                      </a:rPr>
                      <m:t>=</m:t>
                    </m:r>
                    <m:r>
                      <a:rPr lang="en-US" altLang="zh-CN" b="0" i="0" smtClean="0">
                        <a:solidFill>
                          <a:schemeClr val="accent1"/>
                        </a:solidFill>
                        <a:latin typeface="Cambria Math" panose="02040503050406030204" pitchFamily="18" charset="0"/>
                      </a:rPr>
                      <m:t> </m:t>
                    </m:r>
                  </m:oMath>
                </a14:m>
                <a:r>
                  <a:rPr lang="en-US" altLang="zh-CN" dirty="0">
                    <a:solidFill>
                      <a:schemeClr val="accent1"/>
                    </a:solidFill>
                    <a:latin typeface="Times New Roman" panose="02020603050405020304" pitchFamily="18" charset="0"/>
                    <a:cs typeface="Times New Roman" panose="02020603050405020304" pitchFamily="18" charset="0"/>
                  </a:rPr>
                  <a:t>the number of grids inside the 1st-octant segment of the shell with radius </a:t>
                </a:r>
                <a14:m>
                  <m:oMath xmlns:m="http://schemas.openxmlformats.org/officeDocument/2006/math">
                    <m:r>
                      <a:rPr lang="zh-CN" altLang="en-US" i="1">
                        <a:solidFill>
                          <a:schemeClr val="accent1"/>
                        </a:solidFill>
                        <a:latin typeface="Cambria Math" panose="02040503050406030204" pitchFamily="18" charset="0"/>
                      </a:rPr>
                      <m:t>𝑘</m:t>
                    </m:r>
                  </m:oMath>
                </a14:m>
                <a:r>
                  <a:rPr lang="zh-CN" altLang="en-US" dirty="0">
                    <a:solidFill>
                      <a:schemeClr val="accent1"/>
                    </a:solidFill>
                    <a:latin typeface="Times New Roman" panose="02020603050405020304" pitchFamily="18" charset="0"/>
                    <a:cs typeface="Times New Roman" panose="02020603050405020304" pitchFamily="18" charset="0"/>
                  </a:rPr>
                  <a:t> </a:t>
                </a:r>
                <a:r>
                  <a:rPr lang="en-US" altLang="zh-CN" dirty="0">
                    <a:solidFill>
                      <a:schemeClr val="accent1"/>
                    </a:solidFill>
                    <a:latin typeface="Times New Roman" panose="02020603050405020304" pitchFamily="18" charset="0"/>
                    <a:cs typeface="Times New Roman" panose="02020603050405020304" pitchFamily="18" charset="0"/>
                  </a:rPr>
                  <a:t>and thickness </a:t>
                </a:r>
                <a14:m>
                  <m:oMath xmlns:m="http://schemas.openxmlformats.org/officeDocument/2006/math">
                    <m:r>
                      <a:rPr lang="en-US" altLang="zh-CN" b="0" i="1" smtClean="0">
                        <a:solidFill>
                          <a:schemeClr val="accent1"/>
                        </a:solidFill>
                        <a:latin typeface="Cambria Math" panose="02040503050406030204" pitchFamily="18" charset="0"/>
                        <a:cs typeface="Times New Roman" panose="02020603050405020304" pitchFamily="18" charset="0"/>
                      </a:rPr>
                      <m:t>𝑑𝑘</m:t>
                    </m:r>
                  </m:oMath>
                </a14:m>
                <a:br>
                  <a:rPr lang="zh-CN" altLang="en-US" dirty="0">
                    <a:solidFill>
                      <a:schemeClr val="accent1"/>
                    </a:solidFill>
                    <a:latin typeface="Times New Roman" panose="02020603050405020304" pitchFamily="18"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US" altLang="zh-CN" i="1" dirty="0">
                          <a:solidFill>
                            <a:schemeClr val="accent1"/>
                          </a:solidFill>
                          <a:latin typeface="Cambria Math" panose="02040503050406030204" pitchFamily="18" charset="0"/>
                        </a:rPr>
                        <m:t>≈</m:t>
                      </m:r>
                      <m:f>
                        <m:fPr>
                          <m:ctrlPr>
                            <a:rPr lang="en-US" altLang="zh-CN" i="1" dirty="0" smtClean="0">
                              <a:solidFill>
                                <a:schemeClr val="accent1"/>
                              </a:solidFill>
                              <a:latin typeface="Cambria Math" panose="02040503050406030204" pitchFamily="18" charset="0"/>
                            </a:rPr>
                          </m:ctrlPr>
                        </m:fPr>
                        <m:num>
                          <m:r>
                            <m:rPr>
                              <m:sty m:val="p"/>
                            </m:rPr>
                            <a:rPr lang="en-US" altLang="zh-CN" b="0" i="0" dirty="0" smtClean="0">
                              <a:solidFill>
                                <a:schemeClr val="accent1"/>
                              </a:solidFill>
                              <a:latin typeface="Cambria Math" panose="02040503050406030204" pitchFamily="18" charset="0"/>
                            </a:rPr>
                            <m:t>shell</m:t>
                          </m:r>
                          <m:r>
                            <a:rPr lang="en-US" altLang="zh-CN" b="0" i="0" dirty="0" smtClean="0">
                              <a:solidFill>
                                <a:schemeClr val="accent1"/>
                              </a:solidFill>
                              <a:latin typeface="Cambria Math" panose="02040503050406030204" pitchFamily="18" charset="0"/>
                            </a:rPr>
                            <m:t> </m:t>
                          </m:r>
                          <m:r>
                            <m:rPr>
                              <m:sty m:val="p"/>
                            </m:rPr>
                            <a:rPr lang="en-US" altLang="zh-CN" b="0" i="0" dirty="0" smtClean="0">
                              <a:solidFill>
                                <a:schemeClr val="accent1"/>
                              </a:solidFill>
                              <a:latin typeface="Cambria Math" panose="02040503050406030204" pitchFamily="18" charset="0"/>
                            </a:rPr>
                            <m:t>volume</m:t>
                          </m:r>
                          <m:r>
                            <a:rPr lang="en-US" altLang="zh-CN" i="1" dirty="0">
                              <a:solidFill>
                                <a:schemeClr val="accent1"/>
                              </a:solidFill>
                              <a:latin typeface="Cambria Math" panose="02040503050406030204" pitchFamily="18" charset="0"/>
                            </a:rPr>
                            <m:t>/8</m:t>
                          </m:r>
                        </m:num>
                        <m:den>
                          <m:r>
                            <m:rPr>
                              <m:sty m:val="p"/>
                            </m:rPr>
                            <a:rPr lang="en-US" altLang="zh-CN" b="0" i="0" dirty="0" smtClean="0">
                              <a:solidFill>
                                <a:schemeClr val="accent1"/>
                              </a:solidFill>
                              <a:latin typeface="Cambria Math" panose="02040503050406030204" pitchFamily="18" charset="0"/>
                            </a:rPr>
                            <m:t>grid</m:t>
                          </m:r>
                          <m:r>
                            <a:rPr lang="en-US" altLang="zh-CN" b="0" i="0" dirty="0" smtClean="0">
                              <a:solidFill>
                                <a:schemeClr val="accent1"/>
                              </a:solidFill>
                              <a:latin typeface="Cambria Math" panose="02040503050406030204" pitchFamily="18" charset="0"/>
                            </a:rPr>
                            <m:t> </m:t>
                          </m:r>
                          <m:r>
                            <m:rPr>
                              <m:sty m:val="p"/>
                            </m:rPr>
                            <a:rPr lang="en-US" altLang="zh-CN" dirty="0">
                              <a:solidFill>
                                <a:schemeClr val="accent1"/>
                              </a:solidFill>
                              <a:latin typeface="Cambria Math" panose="02040503050406030204" pitchFamily="18" charset="0"/>
                            </a:rPr>
                            <m:t>volume</m:t>
                          </m:r>
                        </m:den>
                      </m:f>
                      <m:r>
                        <a:rPr lang="en-US" altLang="zh-CN" i="1" dirty="0">
                          <a:solidFill>
                            <a:schemeClr val="accent1"/>
                          </a:solidFill>
                          <a:latin typeface="Cambria Math" panose="02040503050406030204" pitchFamily="18" charset="0"/>
                        </a:rPr>
                        <m:t>=</m:t>
                      </m:r>
                      <m:f>
                        <m:fPr>
                          <m:ctrlPr>
                            <a:rPr lang="en-US" altLang="zh-CN" i="1" dirty="0">
                              <a:solidFill>
                                <a:schemeClr val="accent1"/>
                              </a:solidFill>
                              <a:latin typeface="Cambria Math" panose="02040503050406030204" pitchFamily="18" charset="0"/>
                            </a:rPr>
                          </m:ctrlPr>
                        </m:fPr>
                        <m:num>
                          <m:r>
                            <a:rPr lang="en-US" altLang="zh-CN" i="1" dirty="0">
                              <a:solidFill>
                                <a:schemeClr val="accent1"/>
                              </a:solidFill>
                              <a:latin typeface="Cambria Math" panose="02040503050406030204" pitchFamily="18" charset="0"/>
                            </a:rPr>
                            <m:t>4</m:t>
                          </m:r>
                          <m:r>
                            <a:rPr lang="en-US" altLang="zh-CN" i="1" dirty="0">
                              <a:solidFill>
                                <a:schemeClr val="accent1"/>
                              </a:solidFill>
                              <a:latin typeface="Cambria Math" panose="02040503050406030204" pitchFamily="18" charset="0"/>
                            </a:rPr>
                            <m:t>𝜋</m:t>
                          </m:r>
                          <m:sSup>
                            <m:sSupPr>
                              <m:ctrlPr>
                                <a:rPr lang="en-US" altLang="zh-CN" i="1" dirty="0">
                                  <a:solidFill>
                                    <a:schemeClr val="accent1"/>
                                  </a:solidFill>
                                  <a:latin typeface="Cambria Math" panose="02040503050406030204" pitchFamily="18" charset="0"/>
                                </a:rPr>
                              </m:ctrlPr>
                            </m:sSupPr>
                            <m:e>
                              <m:r>
                                <a:rPr lang="en-US" altLang="zh-CN" i="1" dirty="0">
                                  <a:solidFill>
                                    <a:schemeClr val="accent1"/>
                                  </a:solidFill>
                                  <a:latin typeface="Cambria Math" panose="02040503050406030204" pitchFamily="18" charset="0"/>
                                </a:rPr>
                                <m:t>𝑘</m:t>
                              </m:r>
                            </m:e>
                            <m:sup>
                              <m:r>
                                <a:rPr lang="en-US" altLang="zh-CN" i="1" dirty="0">
                                  <a:solidFill>
                                    <a:schemeClr val="accent1"/>
                                  </a:solidFill>
                                  <a:latin typeface="Cambria Math" panose="02040503050406030204" pitchFamily="18" charset="0"/>
                                </a:rPr>
                                <m:t>2</m:t>
                              </m:r>
                            </m:sup>
                          </m:sSup>
                          <m:r>
                            <a:rPr lang="en-US" altLang="zh-CN" i="1" dirty="0">
                              <a:solidFill>
                                <a:schemeClr val="accent1"/>
                              </a:solidFill>
                              <a:latin typeface="Cambria Math" panose="02040503050406030204" pitchFamily="18" charset="0"/>
                            </a:rPr>
                            <m:t>𝑑𝑘</m:t>
                          </m:r>
                          <m:r>
                            <a:rPr lang="en-US" altLang="zh-CN" b="0" i="1" dirty="0" smtClean="0">
                              <a:solidFill>
                                <a:schemeClr val="accent1"/>
                              </a:solidFill>
                              <a:latin typeface="Cambria Math" panose="02040503050406030204" pitchFamily="18" charset="0"/>
                            </a:rPr>
                            <m:t>/8</m:t>
                          </m:r>
                        </m:num>
                        <m:den>
                          <m:sSup>
                            <m:sSupPr>
                              <m:ctrlPr>
                                <a:rPr lang="en-US" altLang="zh-CN" i="1">
                                  <a:solidFill>
                                    <a:schemeClr val="accent1"/>
                                  </a:solidFill>
                                  <a:latin typeface="Cambria Math" panose="02040503050406030204" pitchFamily="18" charset="0"/>
                                </a:rPr>
                              </m:ctrlPr>
                            </m:sSupPr>
                            <m:e>
                              <m:d>
                                <m:dPr>
                                  <m:ctrlPr>
                                    <a:rPr lang="en-US" altLang="zh-CN" i="1">
                                      <a:solidFill>
                                        <a:schemeClr val="accent1"/>
                                      </a:solidFill>
                                      <a:latin typeface="Cambria Math" panose="02040503050406030204" pitchFamily="18" charset="0"/>
                                    </a:rPr>
                                  </m:ctrlPr>
                                </m:dPr>
                                <m:e>
                                  <m:r>
                                    <a:rPr lang="en-US" altLang="zh-CN" i="1">
                                      <a:solidFill>
                                        <a:schemeClr val="accent1"/>
                                      </a:solidFill>
                                      <a:latin typeface="Cambria Math" panose="02040503050406030204" pitchFamily="18" charset="0"/>
                                    </a:rPr>
                                    <m:t>𝜋</m:t>
                                  </m:r>
                                  <m:r>
                                    <a:rPr lang="en-US" altLang="zh-CN" i="1">
                                      <a:solidFill>
                                        <a:schemeClr val="accent1"/>
                                      </a:solidFill>
                                      <a:latin typeface="Cambria Math" panose="02040503050406030204" pitchFamily="18" charset="0"/>
                                    </a:rPr>
                                    <m:t>/</m:t>
                                  </m:r>
                                  <m:r>
                                    <a:rPr lang="en-US" altLang="zh-CN" i="1">
                                      <a:solidFill>
                                        <a:schemeClr val="accent1"/>
                                      </a:solidFill>
                                      <a:latin typeface="Cambria Math" panose="02040503050406030204" pitchFamily="18" charset="0"/>
                                    </a:rPr>
                                    <m:t>𝐿</m:t>
                                  </m:r>
                                </m:e>
                              </m:d>
                            </m:e>
                            <m:sup>
                              <m:r>
                                <a:rPr lang="en-US" altLang="zh-CN" i="1">
                                  <a:solidFill>
                                    <a:schemeClr val="accent1"/>
                                  </a:solidFill>
                                  <a:latin typeface="Cambria Math" panose="02040503050406030204" pitchFamily="18" charset="0"/>
                                </a:rPr>
                                <m:t>3</m:t>
                              </m:r>
                            </m:sup>
                          </m:sSup>
                        </m:den>
                      </m:f>
                      <m:r>
                        <a:rPr lang="en-US" altLang="zh-CN" i="1" dirty="0">
                          <a:solidFill>
                            <a:schemeClr val="accent1"/>
                          </a:solidFill>
                          <a:latin typeface="Cambria Math" panose="02040503050406030204" pitchFamily="18" charset="0"/>
                        </a:rPr>
                        <m:t>=</m:t>
                      </m:r>
                      <m:f>
                        <m:fPr>
                          <m:ctrlPr>
                            <a:rPr lang="en-US" altLang="zh-CN" i="1" dirty="0">
                              <a:solidFill>
                                <a:schemeClr val="accent1"/>
                              </a:solidFill>
                              <a:latin typeface="Cambria Math" panose="02040503050406030204" pitchFamily="18" charset="0"/>
                            </a:rPr>
                          </m:ctrlPr>
                        </m:fPr>
                        <m:num>
                          <m:sSup>
                            <m:sSupPr>
                              <m:ctrlPr>
                                <a:rPr lang="en-US" altLang="zh-CN" i="1" dirty="0">
                                  <a:solidFill>
                                    <a:schemeClr val="accent1"/>
                                  </a:solidFill>
                                  <a:latin typeface="Cambria Math" panose="02040503050406030204" pitchFamily="18" charset="0"/>
                                </a:rPr>
                              </m:ctrlPr>
                            </m:sSupPr>
                            <m:e>
                              <m:r>
                                <a:rPr lang="en-US" altLang="zh-CN" i="1" dirty="0">
                                  <a:solidFill>
                                    <a:schemeClr val="accent1"/>
                                  </a:solidFill>
                                  <a:latin typeface="Cambria Math" panose="02040503050406030204" pitchFamily="18" charset="0"/>
                                </a:rPr>
                                <m:t>𝑘</m:t>
                              </m:r>
                            </m:e>
                            <m:sup>
                              <m:r>
                                <a:rPr lang="en-US" altLang="zh-CN" i="1" dirty="0">
                                  <a:solidFill>
                                    <a:schemeClr val="accent1"/>
                                  </a:solidFill>
                                  <a:latin typeface="Cambria Math" panose="02040503050406030204" pitchFamily="18" charset="0"/>
                                </a:rPr>
                                <m:t>2</m:t>
                              </m:r>
                            </m:sup>
                          </m:sSup>
                        </m:num>
                        <m:den>
                          <m:r>
                            <a:rPr lang="en-US" altLang="zh-CN" i="1" dirty="0">
                              <a:solidFill>
                                <a:schemeClr val="accent1"/>
                              </a:solidFill>
                              <a:latin typeface="Cambria Math" panose="02040503050406030204" pitchFamily="18" charset="0"/>
                            </a:rPr>
                            <m:t>2</m:t>
                          </m:r>
                          <m:sSup>
                            <m:sSupPr>
                              <m:ctrlPr>
                                <a:rPr lang="en-US" altLang="zh-CN" i="1" dirty="0">
                                  <a:solidFill>
                                    <a:schemeClr val="accent1"/>
                                  </a:solidFill>
                                  <a:latin typeface="Cambria Math" panose="02040503050406030204" pitchFamily="18" charset="0"/>
                                </a:rPr>
                              </m:ctrlPr>
                            </m:sSupPr>
                            <m:e>
                              <m:r>
                                <a:rPr lang="en-US" altLang="zh-CN" i="1" dirty="0">
                                  <a:solidFill>
                                    <a:schemeClr val="accent1"/>
                                  </a:solidFill>
                                  <a:latin typeface="Cambria Math" panose="02040503050406030204" pitchFamily="18" charset="0"/>
                                </a:rPr>
                                <m:t>𝜋</m:t>
                              </m:r>
                            </m:e>
                            <m:sup>
                              <m:r>
                                <a:rPr lang="en-US" altLang="zh-CN" i="1" dirty="0">
                                  <a:solidFill>
                                    <a:schemeClr val="accent1"/>
                                  </a:solidFill>
                                  <a:latin typeface="Cambria Math" panose="02040503050406030204" pitchFamily="18" charset="0"/>
                                </a:rPr>
                                <m:t>2</m:t>
                              </m:r>
                            </m:sup>
                          </m:sSup>
                        </m:den>
                      </m:f>
                      <m:sSup>
                        <m:sSupPr>
                          <m:ctrlPr>
                            <a:rPr lang="en-US" altLang="zh-CN" i="1" dirty="0">
                              <a:solidFill>
                                <a:schemeClr val="accent1"/>
                              </a:solidFill>
                              <a:latin typeface="Cambria Math" panose="02040503050406030204" pitchFamily="18" charset="0"/>
                            </a:rPr>
                          </m:ctrlPr>
                        </m:sSupPr>
                        <m:e>
                          <m:r>
                            <a:rPr lang="en-US" altLang="zh-CN" i="1" dirty="0">
                              <a:solidFill>
                                <a:schemeClr val="accent1"/>
                              </a:solidFill>
                              <a:latin typeface="Cambria Math" panose="02040503050406030204" pitchFamily="18" charset="0"/>
                            </a:rPr>
                            <m:t>𝐿</m:t>
                          </m:r>
                        </m:e>
                        <m:sup>
                          <m:r>
                            <a:rPr lang="en-US" altLang="zh-CN" i="1" dirty="0">
                              <a:solidFill>
                                <a:schemeClr val="accent1"/>
                              </a:solidFill>
                              <a:latin typeface="Cambria Math" panose="02040503050406030204" pitchFamily="18" charset="0"/>
                            </a:rPr>
                            <m:t>3</m:t>
                          </m:r>
                        </m:sup>
                      </m:sSup>
                      <m:r>
                        <a:rPr lang="en-US" altLang="zh-CN" i="1" dirty="0">
                          <a:solidFill>
                            <a:schemeClr val="accent1"/>
                          </a:solidFill>
                          <a:latin typeface="Cambria Math" panose="02040503050406030204" pitchFamily="18" charset="0"/>
                        </a:rPr>
                        <m:t>𝑑</m:t>
                      </m:r>
                      <m:r>
                        <a:rPr lang="en-US" altLang="zh-CN" i="1" dirty="0" smtClean="0">
                          <a:solidFill>
                            <a:schemeClr val="accent1"/>
                          </a:solidFill>
                          <a:latin typeface="Cambria Math" panose="02040503050406030204" pitchFamily="18" charset="0"/>
                        </a:rPr>
                        <m:t>𝑘</m:t>
                      </m:r>
                    </m:oMath>
                  </m:oMathPara>
                </a14:m>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Counting in the two independent polarizations, the mode number becomes  </a:t>
                </a:r>
                <a14:m>
                  <m:oMath xmlns:m="http://schemas.openxmlformats.org/officeDocument/2006/math">
                    <m:f>
                      <m:fPr>
                        <m:ctrlPr>
                          <a:rPr lang="en-US" altLang="zh-CN" i="1" dirty="0">
                            <a:solidFill>
                              <a:srgbClr val="0070C0"/>
                            </a:solidFill>
                            <a:latin typeface="Cambria Math" panose="02040503050406030204" pitchFamily="18" charset="0"/>
                          </a:rPr>
                        </m:ctrlPr>
                      </m:fPr>
                      <m:num>
                        <m:sSup>
                          <m:sSupPr>
                            <m:ctrlPr>
                              <a:rPr lang="en-US" altLang="zh-CN" i="1" dirty="0">
                                <a:solidFill>
                                  <a:srgbClr val="0070C0"/>
                                </a:solidFill>
                                <a:latin typeface="Cambria Math" panose="02040503050406030204" pitchFamily="18" charset="0"/>
                              </a:rPr>
                            </m:ctrlPr>
                          </m:sSupPr>
                          <m:e>
                            <m:r>
                              <a:rPr lang="en-US" altLang="zh-CN" i="1" dirty="0">
                                <a:solidFill>
                                  <a:srgbClr val="0070C0"/>
                                </a:solidFill>
                                <a:latin typeface="Cambria Math" panose="02040503050406030204" pitchFamily="18" charset="0"/>
                              </a:rPr>
                              <m:t>𝑘</m:t>
                            </m:r>
                          </m:e>
                          <m:sup>
                            <m:r>
                              <a:rPr lang="en-US" altLang="zh-CN" i="1" dirty="0">
                                <a:solidFill>
                                  <a:srgbClr val="0070C0"/>
                                </a:solidFill>
                                <a:latin typeface="Cambria Math" panose="02040503050406030204" pitchFamily="18" charset="0"/>
                              </a:rPr>
                              <m:t>2</m:t>
                            </m:r>
                          </m:sup>
                        </m:sSup>
                      </m:num>
                      <m:den>
                        <m:sSup>
                          <m:sSupPr>
                            <m:ctrlPr>
                              <a:rPr lang="en-US" altLang="zh-CN" i="1" dirty="0">
                                <a:solidFill>
                                  <a:srgbClr val="0070C0"/>
                                </a:solidFill>
                                <a:latin typeface="Cambria Math" panose="02040503050406030204" pitchFamily="18" charset="0"/>
                              </a:rPr>
                            </m:ctrlPr>
                          </m:sSupPr>
                          <m:e>
                            <m:r>
                              <a:rPr lang="en-US" altLang="zh-CN" i="1" dirty="0">
                                <a:solidFill>
                                  <a:srgbClr val="0070C0"/>
                                </a:solidFill>
                                <a:latin typeface="Cambria Math" panose="02040503050406030204" pitchFamily="18" charset="0"/>
                              </a:rPr>
                              <m:t>𝜋</m:t>
                            </m:r>
                          </m:e>
                          <m:sup>
                            <m:r>
                              <a:rPr lang="en-US" altLang="zh-CN" i="1" dirty="0">
                                <a:solidFill>
                                  <a:srgbClr val="0070C0"/>
                                </a:solidFill>
                                <a:latin typeface="Cambria Math" panose="02040503050406030204" pitchFamily="18" charset="0"/>
                              </a:rPr>
                              <m:t>2</m:t>
                            </m:r>
                          </m:sup>
                        </m:sSup>
                      </m:den>
                    </m:f>
                    <m:sSup>
                      <m:sSupPr>
                        <m:ctrlPr>
                          <a:rPr lang="en-US" altLang="zh-CN" i="1" dirty="0">
                            <a:solidFill>
                              <a:srgbClr val="0070C0"/>
                            </a:solidFill>
                            <a:latin typeface="Cambria Math" panose="02040503050406030204" pitchFamily="18" charset="0"/>
                          </a:rPr>
                        </m:ctrlPr>
                      </m:sSupPr>
                      <m:e>
                        <m:r>
                          <a:rPr lang="en-US" altLang="zh-CN" i="1" dirty="0">
                            <a:solidFill>
                              <a:srgbClr val="0070C0"/>
                            </a:solidFill>
                            <a:latin typeface="Cambria Math" panose="02040503050406030204" pitchFamily="18" charset="0"/>
                          </a:rPr>
                          <m:t>𝐿</m:t>
                        </m:r>
                      </m:e>
                      <m:sup>
                        <m:r>
                          <a:rPr lang="en-US" altLang="zh-CN" i="1" dirty="0">
                            <a:solidFill>
                              <a:srgbClr val="0070C0"/>
                            </a:solidFill>
                            <a:latin typeface="Cambria Math" panose="02040503050406030204" pitchFamily="18" charset="0"/>
                          </a:rPr>
                          <m:t>3</m:t>
                        </m:r>
                      </m:sup>
                    </m:sSup>
                    <m:r>
                      <a:rPr lang="en-US" altLang="zh-CN" i="1" dirty="0">
                        <a:solidFill>
                          <a:srgbClr val="0070C0"/>
                        </a:solidFill>
                        <a:latin typeface="Cambria Math" panose="02040503050406030204" pitchFamily="18" charset="0"/>
                      </a:rPr>
                      <m:t>𝑑𝑘</m:t>
                    </m:r>
                  </m:oMath>
                </a14:m>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Using </a:t>
                </a:r>
                <a14:m>
                  <m:oMath xmlns:m="http://schemas.openxmlformats.org/officeDocument/2006/math">
                    <m:r>
                      <a:rPr lang="en-US" altLang="zh-CN" i="1">
                        <a:latin typeface="Cambria Math"/>
                      </a:rPr>
                      <m:t>𝑘</m:t>
                    </m:r>
                    <m:r>
                      <a:rPr lang="en-US" altLang="zh-CN" i="1">
                        <a:latin typeface="Cambria Math"/>
                      </a:rPr>
                      <m:t>=</m:t>
                    </m:r>
                    <m:f>
                      <m:fPr>
                        <m:ctrlPr>
                          <a:rPr lang="en-US" altLang="zh-CN" i="1">
                            <a:latin typeface="Cambria Math" panose="02040503050406030204" pitchFamily="18" charset="0"/>
                          </a:rPr>
                        </m:ctrlPr>
                      </m:fPr>
                      <m:num>
                        <m:r>
                          <a:rPr lang="en-US" altLang="zh-CN" i="1">
                            <a:latin typeface="Cambria Math"/>
                          </a:rPr>
                          <m:t>2</m:t>
                        </m:r>
                        <m:r>
                          <a:rPr lang="en-US" altLang="zh-CN" i="1">
                            <a:latin typeface="Cambria Math"/>
                          </a:rPr>
                          <m:t>𝜋</m:t>
                        </m:r>
                      </m:num>
                      <m:den>
                        <m:r>
                          <a:rPr lang="en-US" altLang="zh-CN" i="1">
                            <a:latin typeface="Cambria Math"/>
                          </a:rPr>
                          <m:t>𝑐</m:t>
                        </m:r>
                      </m:den>
                    </m:f>
                    <m:r>
                      <a:rPr lang="en-US" altLang="zh-CN" i="1">
                        <a:latin typeface="Cambria Math"/>
                      </a:rPr>
                      <m:t>𝜈</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the mode number between </a:t>
                </a:r>
                <a14:m>
                  <m:oMath xmlns:m="http://schemas.openxmlformats.org/officeDocument/2006/math">
                    <m:r>
                      <a:rPr lang="en-US" altLang="zh-CN" i="1">
                        <a:latin typeface="Cambria Math"/>
                      </a:rPr>
                      <m:t>𝜈</m:t>
                    </m:r>
                    <m:r>
                      <a:rPr lang="en-US" altLang="zh-CN" i="1">
                        <a:latin typeface="Cambria Math"/>
                        <a:ea typeface="Cambria Math"/>
                      </a:rPr>
                      <m:t>~</m:t>
                    </m:r>
                    <m:r>
                      <a:rPr lang="en-US" altLang="zh-CN" i="1">
                        <a:latin typeface="Cambria Math"/>
                        <a:ea typeface="Cambria Math"/>
                      </a:rPr>
                      <m:t>𝜈</m:t>
                    </m:r>
                    <m:r>
                      <a:rPr lang="en-US" altLang="zh-CN" i="1">
                        <a:latin typeface="Cambria Math"/>
                        <a:ea typeface="Cambria Math"/>
                      </a:rPr>
                      <m:t>+</m:t>
                    </m:r>
                    <m:r>
                      <a:rPr lang="en-US" altLang="zh-CN" i="1">
                        <a:latin typeface="Cambria Math"/>
                        <a:ea typeface="Cambria Math"/>
                      </a:rPr>
                      <m:t>𝑑</m:t>
                    </m:r>
                    <m:r>
                      <a:rPr lang="en-US" altLang="zh-CN" i="1">
                        <a:latin typeface="Cambria Math"/>
                        <a:ea typeface="Cambria Math"/>
                      </a:rPr>
                      <m:t>𝜈</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is </a:t>
                </a:r>
                <a14:m>
                  <m:oMath xmlns:m="http://schemas.openxmlformats.org/officeDocument/2006/math">
                    <m:f>
                      <m:fPr>
                        <m:ctrlPr>
                          <a:rPr lang="en-US" altLang="zh-CN" i="1" dirty="0" smtClean="0">
                            <a:solidFill>
                              <a:srgbClr val="0070C0"/>
                            </a:solidFill>
                            <a:latin typeface="Cambria Math" panose="02040503050406030204" pitchFamily="18" charset="0"/>
                          </a:rPr>
                        </m:ctrlPr>
                      </m:fPr>
                      <m:num>
                        <m:sSup>
                          <m:sSupPr>
                            <m:ctrlPr>
                              <a:rPr lang="en-US" altLang="zh-CN" i="1" dirty="0">
                                <a:solidFill>
                                  <a:srgbClr val="0070C0"/>
                                </a:solidFill>
                                <a:latin typeface="Cambria Math" panose="02040503050406030204" pitchFamily="18" charset="0"/>
                              </a:rPr>
                            </m:ctrlPr>
                          </m:sSupPr>
                          <m:e>
                            <m:r>
                              <a:rPr lang="en-US" altLang="zh-CN" i="1" dirty="0">
                                <a:solidFill>
                                  <a:srgbClr val="0070C0"/>
                                </a:solidFill>
                                <a:latin typeface="Cambria Math"/>
                              </a:rPr>
                              <m:t>8</m:t>
                            </m:r>
                            <m:r>
                              <a:rPr lang="en-US" altLang="zh-CN" i="1" dirty="0">
                                <a:solidFill>
                                  <a:srgbClr val="0070C0"/>
                                </a:solidFill>
                                <a:latin typeface="Cambria Math"/>
                              </a:rPr>
                              <m:t>𝜋𝜈</m:t>
                            </m:r>
                          </m:e>
                          <m:sup>
                            <m:r>
                              <a:rPr lang="en-US" altLang="zh-CN" i="1" dirty="0">
                                <a:solidFill>
                                  <a:srgbClr val="0070C0"/>
                                </a:solidFill>
                                <a:latin typeface="Cambria Math"/>
                              </a:rPr>
                              <m:t>2</m:t>
                            </m:r>
                          </m:sup>
                        </m:sSup>
                      </m:num>
                      <m:den>
                        <m:sSup>
                          <m:sSupPr>
                            <m:ctrlPr>
                              <a:rPr lang="en-US" altLang="zh-CN" i="1" dirty="0">
                                <a:solidFill>
                                  <a:srgbClr val="0070C0"/>
                                </a:solidFill>
                                <a:latin typeface="Cambria Math" panose="02040503050406030204" pitchFamily="18" charset="0"/>
                              </a:rPr>
                            </m:ctrlPr>
                          </m:sSupPr>
                          <m:e>
                            <m:r>
                              <a:rPr lang="en-US" altLang="zh-CN" i="1" dirty="0">
                                <a:solidFill>
                                  <a:srgbClr val="0070C0"/>
                                </a:solidFill>
                                <a:latin typeface="Cambria Math"/>
                              </a:rPr>
                              <m:t>𝑐</m:t>
                            </m:r>
                          </m:e>
                          <m:sup>
                            <m:r>
                              <a:rPr lang="en-US" altLang="zh-CN" i="1" dirty="0">
                                <a:solidFill>
                                  <a:srgbClr val="0070C0"/>
                                </a:solidFill>
                                <a:latin typeface="Cambria Math"/>
                              </a:rPr>
                              <m:t>3</m:t>
                            </m:r>
                          </m:sup>
                        </m:sSup>
                      </m:den>
                    </m:f>
                    <m:sSup>
                      <m:sSupPr>
                        <m:ctrlPr>
                          <a:rPr lang="en-US" altLang="zh-CN" i="1" dirty="0">
                            <a:solidFill>
                              <a:srgbClr val="0070C0"/>
                            </a:solidFill>
                            <a:latin typeface="Cambria Math" panose="02040503050406030204" pitchFamily="18" charset="0"/>
                          </a:rPr>
                        </m:ctrlPr>
                      </m:sSupPr>
                      <m:e>
                        <m:r>
                          <a:rPr lang="en-US" altLang="zh-CN" i="1" dirty="0">
                            <a:solidFill>
                              <a:srgbClr val="0070C0"/>
                            </a:solidFill>
                            <a:latin typeface="Cambria Math"/>
                          </a:rPr>
                          <m:t>𝐿</m:t>
                        </m:r>
                      </m:e>
                      <m:sup>
                        <m:r>
                          <a:rPr lang="en-US" altLang="zh-CN" i="1" dirty="0">
                            <a:solidFill>
                              <a:srgbClr val="0070C0"/>
                            </a:solidFill>
                            <a:latin typeface="Cambria Math"/>
                          </a:rPr>
                          <m:t>3</m:t>
                        </m:r>
                      </m:sup>
                    </m:sSup>
                    <m:r>
                      <a:rPr lang="en-US" altLang="zh-CN" i="1" dirty="0">
                        <a:solidFill>
                          <a:srgbClr val="0070C0"/>
                        </a:solidFill>
                        <a:latin typeface="Cambria Math"/>
                      </a:rPr>
                      <m:t>𝑑</m:t>
                    </m:r>
                    <m:r>
                      <a:rPr lang="en-US" altLang="zh-CN" i="1" dirty="0">
                        <a:solidFill>
                          <a:srgbClr val="0070C0"/>
                        </a:solidFill>
                        <a:latin typeface="Cambria Math"/>
                      </a:rPr>
                      <m:t>𝜈</m:t>
                    </m:r>
                  </m:oMath>
                </a14:m>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Thus, the</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mode density, which is the number of modes per unit volume per unit frequency interval is </a:t>
                </a:r>
                <a14:m>
                  <m:oMath xmlns:m="http://schemas.openxmlformats.org/officeDocument/2006/math">
                    <m:r>
                      <a:rPr lang="en-US" altLang="zh-CN" i="1" smtClean="0">
                        <a:solidFill>
                          <a:srgbClr val="C00000"/>
                        </a:solidFill>
                        <a:latin typeface="Cambria Math"/>
                      </a:rPr>
                      <m:t>𝑔</m:t>
                    </m:r>
                    <m:d>
                      <m:dPr>
                        <m:ctrlPr>
                          <a:rPr lang="en-US" altLang="zh-CN" i="1">
                            <a:solidFill>
                              <a:srgbClr val="C00000"/>
                            </a:solidFill>
                            <a:latin typeface="Cambria Math" panose="02040503050406030204" pitchFamily="18" charset="0"/>
                          </a:rPr>
                        </m:ctrlPr>
                      </m:dPr>
                      <m:e>
                        <m:r>
                          <a:rPr lang="en-US" altLang="zh-CN" i="1">
                            <a:solidFill>
                              <a:srgbClr val="C00000"/>
                            </a:solidFill>
                            <a:latin typeface="Cambria Math"/>
                          </a:rPr>
                          <m:t>𝜈</m:t>
                        </m:r>
                      </m:e>
                    </m:d>
                    <m:r>
                      <a:rPr lang="en-US" altLang="zh-CN" i="1">
                        <a:solidFill>
                          <a:srgbClr val="C00000"/>
                        </a:solidFill>
                        <a:latin typeface="Cambria Math"/>
                      </a:rPr>
                      <m:t>=</m:t>
                    </m:r>
                    <m:f>
                      <m:fPr>
                        <m:ctrlPr>
                          <a:rPr lang="en-US" altLang="zh-CN" i="1" dirty="0">
                            <a:solidFill>
                              <a:srgbClr val="C00000"/>
                            </a:solidFill>
                            <a:latin typeface="Cambria Math" panose="02040503050406030204" pitchFamily="18" charset="0"/>
                          </a:rPr>
                        </m:ctrlPr>
                      </m:fPr>
                      <m:num>
                        <m:sSup>
                          <m:sSupPr>
                            <m:ctrlPr>
                              <a:rPr lang="en-US" altLang="zh-CN" i="1" dirty="0">
                                <a:solidFill>
                                  <a:srgbClr val="C00000"/>
                                </a:solidFill>
                                <a:latin typeface="Cambria Math" panose="02040503050406030204" pitchFamily="18" charset="0"/>
                              </a:rPr>
                            </m:ctrlPr>
                          </m:sSupPr>
                          <m:e>
                            <m:r>
                              <a:rPr lang="en-US" altLang="zh-CN" i="1" dirty="0">
                                <a:solidFill>
                                  <a:srgbClr val="C00000"/>
                                </a:solidFill>
                                <a:latin typeface="Cambria Math"/>
                              </a:rPr>
                              <m:t>8</m:t>
                            </m:r>
                            <m:r>
                              <a:rPr lang="en-US" altLang="zh-CN" i="1" dirty="0">
                                <a:solidFill>
                                  <a:srgbClr val="C00000"/>
                                </a:solidFill>
                                <a:latin typeface="Cambria Math"/>
                              </a:rPr>
                              <m:t>𝜋𝜈</m:t>
                            </m:r>
                          </m:e>
                          <m:sup>
                            <m:r>
                              <a:rPr lang="en-US" altLang="zh-CN" i="1" dirty="0">
                                <a:solidFill>
                                  <a:srgbClr val="C00000"/>
                                </a:solidFill>
                                <a:latin typeface="Cambria Math"/>
                              </a:rPr>
                              <m:t>2</m:t>
                            </m:r>
                          </m:sup>
                        </m:sSup>
                      </m:num>
                      <m:den>
                        <m:sSup>
                          <m:sSupPr>
                            <m:ctrlPr>
                              <a:rPr lang="en-US" altLang="zh-CN" i="1" dirty="0">
                                <a:solidFill>
                                  <a:srgbClr val="C00000"/>
                                </a:solidFill>
                                <a:latin typeface="Cambria Math" panose="02040503050406030204" pitchFamily="18" charset="0"/>
                              </a:rPr>
                            </m:ctrlPr>
                          </m:sSupPr>
                          <m:e>
                            <m:r>
                              <a:rPr lang="en-US" altLang="zh-CN" i="1" dirty="0">
                                <a:solidFill>
                                  <a:srgbClr val="C00000"/>
                                </a:solidFill>
                                <a:latin typeface="Cambria Math"/>
                              </a:rPr>
                              <m:t>𝑐</m:t>
                            </m:r>
                          </m:e>
                          <m:sup>
                            <m:r>
                              <a:rPr lang="en-US" altLang="zh-CN" i="1" dirty="0">
                                <a:solidFill>
                                  <a:srgbClr val="C00000"/>
                                </a:solidFill>
                                <a:latin typeface="Cambria Math"/>
                              </a:rPr>
                              <m:t>3</m:t>
                            </m:r>
                          </m:sup>
                        </m:sSup>
                      </m:den>
                    </m:f>
                  </m:oMath>
                </a14:m>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6" name="TextBox 5"/>
              <p:cNvSpPr txBox="1">
                <a:spLocks noRot="1" noChangeAspect="1" noMove="1" noResize="1" noEditPoints="1" noAdjustHandles="1" noChangeArrowheads="1" noChangeShapeType="1" noTextEdit="1"/>
              </p:cNvSpPr>
              <p:nvPr/>
            </p:nvSpPr>
            <p:spPr>
              <a:xfrm>
                <a:off x="416507" y="1223669"/>
                <a:ext cx="7957333" cy="5397824"/>
              </a:xfrm>
              <a:prstGeom prst="rect">
                <a:avLst/>
              </a:prstGeom>
              <a:blipFill>
                <a:blip r:embed="rId4"/>
                <a:stretch>
                  <a:fillRect l="-613" r="-11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1214059" y="751104"/>
                <a:ext cx="5913093" cy="472565"/>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solidFill>
                                <a:schemeClr val="accent1"/>
                              </a:solidFill>
                              <a:latin typeface="Cambria Math" panose="02040503050406030204" pitchFamily="18" charset="0"/>
                              <a:ea typeface="黑体" panose="02010609060101010101" pitchFamily="49" charset="-122"/>
                            </a:rPr>
                          </m:ctrlPr>
                        </m:sSubPr>
                        <m:e>
                          <m:r>
                            <a:rPr lang="en-US" altLang="zh-CN" b="0" i="1" smtClean="0">
                              <a:solidFill>
                                <a:schemeClr val="accent1"/>
                              </a:solidFill>
                              <a:latin typeface="Cambria Math" panose="02040503050406030204" pitchFamily="18" charset="0"/>
                              <a:ea typeface="黑体" panose="02010609060101010101" pitchFamily="49" charset="-122"/>
                            </a:rPr>
                            <m:t>𝑘</m:t>
                          </m:r>
                        </m:e>
                        <m:sub>
                          <m:r>
                            <a:rPr lang="en-US" altLang="zh-CN" b="0" i="1" smtClean="0">
                              <a:solidFill>
                                <a:schemeClr val="accent1"/>
                              </a:solidFill>
                              <a:latin typeface="Cambria Math" panose="02040503050406030204" pitchFamily="18" charset="0"/>
                              <a:ea typeface="黑体" panose="02010609060101010101" pitchFamily="49" charset="-122"/>
                            </a:rPr>
                            <m:t>𝑥</m:t>
                          </m:r>
                        </m:sub>
                      </m:sSub>
                      <m:r>
                        <a:rPr lang="en-US" altLang="zh-CN" b="0" i="1" smtClean="0">
                          <a:solidFill>
                            <a:schemeClr val="accent1"/>
                          </a:solidFill>
                          <a:latin typeface="Cambria Math" panose="02040503050406030204" pitchFamily="18" charset="0"/>
                          <a:ea typeface="黑体" panose="02010609060101010101" pitchFamily="49" charset="-122"/>
                        </a:rPr>
                        <m:t>=</m:t>
                      </m:r>
                      <m:f>
                        <m:fPr>
                          <m:ctrlPr>
                            <a:rPr lang="en-US" altLang="zh-CN" b="0" i="1" smtClean="0">
                              <a:solidFill>
                                <a:schemeClr val="accent1"/>
                              </a:solidFill>
                              <a:latin typeface="Cambria Math" panose="02040503050406030204" pitchFamily="18" charset="0"/>
                              <a:ea typeface="黑体" panose="02010609060101010101" pitchFamily="49" charset="-122"/>
                            </a:rPr>
                          </m:ctrlPr>
                        </m:fPr>
                        <m:num>
                          <m:sSub>
                            <m:sSubPr>
                              <m:ctrlPr>
                                <a:rPr lang="en-US" altLang="zh-CN" b="0" i="1" smtClean="0">
                                  <a:solidFill>
                                    <a:schemeClr val="accent1"/>
                                  </a:solidFill>
                                  <a:latin typeface="Cambria Math" panose="02040503050406030204" pitchFamily="18" charset="0"/>
                                  <a:ea typeface="黑体" panose="02010609060101010101" pitchFamily="49" charset="-122"/>
                                </a:rPr>
                              </m:ctrlPr>
                            </m:sSubPr>
                            <m:e>
                              <m:r>
                                <a:rPr lang="en-US" altLang="zh-CN" b="0" i="1" smtClean="0">
                                  <a:solidFill>
                                    <a:schemeClr val="accent1"/>
                                  </a:solidFill>
                                  <a:latin typeface="Cambria Math" panose="02040503050406030204" pitchFamily="18" charset="0"/>
                                  <a:ea typeface="黑体" panose="02010609060101010101" pitchFamily="49" charset="-122"/>
                                </a:rPr>
                                <m:t>𝑛</m:t>
                              </m:r>
                            </m:e>
                            <m:sub>
                              <m:r>
                                <a:rPr lang="en-US" altLang="zh-CN" b="0" i="1" smtClean="0">
                                  <a:solidFill>
                                    <a:schemeClr val="accent1"/>
                                  </a:solidFill>
                                  <a:latin typeface="Cambria Math" panose="02040503050406030204" pitchFamily="18" charset="0"/>
                                  <a:ea typeface="黑体" panose="02010609060101010101" pitchFamily="49" charset="-122"/>
                                </a:rPr>
                                <m:t>1</m:t>
                              </m:r>
                            </m:sub>
                          </m:sSub>
                          <m:r>
                            <a:rPr lang="en-US" altLang="zh-CN" b="0" i="1" smtClean="0">
                              <a:solidFill>
                                <a:schemeClr val="accent1"/>
                              </a:solidFill>
                              <a:latin typeface="Cambria Math" panose="02040503050406030204" pitchFamily="18" charset="0"/>
                              <a:ea typeface="黑体" panose="02010609060101010101" pitchFamily="49" charset="-122"/>
                            </a:rPr>
                            <m:t>𝜋</m:t>
                          </m:r>
                        </m:num>
                        <m:den>
                          <m:r>
                            <a:rPr lang="en-US" altLang="zh-CN" b="0" i="1" smtClean="0">
                              <a:solidFill>
                                <a:schemeClr val="accent1"/>
                              </a:solidFill>
                              <a:latin typeface="Cambria Math" panose="02040503050406030204" pitchFamily="18" charset="0"/>
                              <a:ea typeface="黑体" panose="02010609060101010101" pitchFamily="49" charset="-122"/>
                            </a:rPr>
                            <m:t>𝐿</m:t>
                          </m:r>
                        </m:den>
                      </m:f>
                      <m:r>
                        <a:rPr lang="en-US" altLang="zh-CN" b="0" i="1" smtClean="0">
                          <a:solidFill>
                            <a:schemeClr val="accent1"/>
                          </a:solidFill>
                          <a:latin typeface="Cambria Math" panose="02040503050406030204" pitchFamily="18" charset="0"/>
                          <a:ea typeface="黑体" panose="02010609060101010101" pitchFamily="49" charset="-122"/>
                        </a:rPr>
                        <m:t>, </m:t>
                      </m:r>
                      <m:sSub>
                        <m:sSubPr>
                          <m:ctrlPr>
                            <a:rPr lang="en-US" altLang="zh-CN" i="1">
                              <a:solidFill>
                                <a:schemeClr val="accent1"/>
                              </a:solidFill>
                              <a:latin typeface="Cambria Math" panose="02040503050406030204" pitchFamily="18" charset="0"/>
                              <a:ea typeface="黑体" panose="02010609060101010101" pitchFamily="49" charset="-122"/>
                            </a:rPr>
                          </m:ctrlPr>
                        </m:sSubPr>
                        <m:e>
                          <m:r>
                            <a:rPr lang="en-US" altLang="zh-CN" i="1">
                              <a:solidFill>
                                <a:schemeClr val="accent1"/>
                              </a:solidFill>
                              <a:latin typeface="Cambria Math" panose="02040503050406030204" pitchFamily="18" charset="0"/>
                              <a:ea typeface="黑体" panose="02010609060101010101" pitchFamily="49" charset="-122"/>
                            </a:rPr>
                            <m:t>𝑘</m:t>
                          </m:r>
                        </m:e>
                        <m:sub>
                          <m:r>
                            <a:rPr lang="en-US" altLang="zh-CN" i="1">
                              <a:solidFill>
                                <a:schemeClr val="accent1"/>
                              </a:solidFill>
                              <a:latin typeface="Cambria Math" panose="02040503050406030204" pitchFamily="18" charset="0"/>
                              <a:ea typeface="黑体" panose="02010609060101010101" pitchFamily="49" charset="-122"/>
                            </a:rPr>
                            <m:t>𝑦</m:t>
                          </m:r>
                        </m:sub>
                      </m:sSub>
                      <m:r>
                        <a:rPr lang="en-US" altLang="zh-CN" i="1">
                          <a:solidFill>
                            <a:schemeClr val="accent1"/>
                          </a:solidFill>
                          <a:latin typeface="Cambria Math" panose="02040503050406030204" pitchFamily="18" charset="0"/>
                          <a:ea typeface="黑体" panose="02010609060101010101" pitchFamily="49" charset="-122"/>
                        </a:rPr>
                        <m:t>=</m:t>
                      </m:r>
                      <m:f>
                        <m:fPr>
                          <m:ctrlPr>
                            <a:rPr lang="en-US" altLang="zh-CN" i="1">
                              <a:solidFill>
                                <a:schemeClr val="accent1"/>
                              </a:solidFill>
                              <a:latin typeface="Cambria Math" panose="02040503050406030204" pitchFamily="18" charset="0"/>
                              <a:ea typeface="黑体" panose="02010609060101010101" pitchFamily="49" charset="-122"/>
                            </a:rPr>
                          </m:ctrlPr>
                        </m:fPr>
                        <m:num>
                          <m:sSub>
                            <m:sSubPr>
                              <m:ctrlPr>
                                <a:rPr lang="en-US" altLang="zh-CN" i="1">
                                  <a:solidFill>
                                    <a:schemeClr val="accent1"/>
                                  </a:solidFill>
                                  <a:latin typeface="Cambria Math" panose="02040503050406030204" pitchFamily="18" charset="0"/>
                                  <a:ea typeface="黑体" panose="02010609060101010101" pitchFamily="49" charset="-122"/>
                                </a:rPr>
                              </m:ctrlPr>
                            </m:sSubPr>
                            <m:e>
                              <m:r>
                                <a:rPr lang="en-US" altLang="zh-CN" i="1">
                                  <a:solidFill>
                                    <a:schemeClr val="accent1"/>
                                  </a:solidFill>
                                  <a:latin typeface="Cambria Math" panose="02040503050406030204" pitchFamily="18" charset="0"/>
                                  <a:ea typeface="黑体" panose="02010609060101010101" pitchFamily="49" charset="-122"/>
                                </a:rPr>
                                <m:t>𝑛</m:t>
                              </m:r>
                            </m:e>
                            <m:sub>
                              <m:r>
                                <a:rPr lang="en-US" altLang="zh-CN" i="1">
                                  <a:solidFill>
                                    <a:schemeClr val="accent1"/>
                                  </a:solidFill>
                                  <a:latin typeface="Cambria Math" panose="02040503050406030204" pitchFamily="18" charset="0"/>
                                  <a:ea typeface="黑体" panose="02010609060101010101" pitchFamily="49" charset="-122"/>
                                </a:rPr>
                                <m:t>2</m:t>
                              </m:r>
                            </m:sub>
                          </m:sSub>
                          <m:r>
                            <a:rPr lang="en-US" altLang="zh-CN" i="1">
                              <a:solidFill>
                                <a:schemeClr val="accent1"/>
                              </a:solidFill>
                              <a:latin typeface="Cambria Math" panose="02040503050406030204" pitchFamily="18" charset="0"/>
                              <a:ea typeface="黑体" panose="02010609060101010101" pitchFamily="49" charset="-122"/>
                            </a:rPr>
                            <m:t>𝜋</m:t>
                          </m:r>
                        </m:num>
                        <m:den>
                          <m:r>
                            <a:rPr lang="en-US" altLang="zh-CN" i="1">
                              <a:solidFill>
                                <a:schemeClr val="accent1"/>
                              </a:solidFill>
                              <a:latin typeface="Cambria Math" panose="02040503050406030204" pitchFamily="18" charset="0"/>
                              <a:ea typeface="黑体" panose="02010609060101010101" pitchFamily="49" charset="-122"/>
                            </a:rPr>
                            <m:t>𝐿</m:t>
                          </m:r>
                        </m:den>
                      </m:f>
                      <m:r>
                        <a:rPr lang="en-US" altLang="zh-CN" i="1">
                          <a:solidFill>
                            <a:schemeClr val="accent1"/>
                          </a:solidFill>
                          <a:latin typeface="Cambria Math" panose="02040503050406030204" pitchFamily="18" charset="0"/>
                          <a:ea typeface="黑体" panose="02010609060101010101" pitchFamily="49" charset="-122"/>
                        </a:rPr>
                        <m:t>,</m:t>
                      </m:r>
                      <m:r>
                        <a:rPr lang="en-US" altLang="zh-CN" b="0" i="1" smtClean="0">
                          <a:solidFill>
                            <a:schemeClr val="accent1"/>
                          </a:solidFill>
                          <a:latin typeface="Cambria Math" panose="02040503050406030204" pitchFamily="18" charset="0"/>
                          <a:ea typeface="黑体" panose="02010609060101010101" pitchFamily="49" charset="-122"/>
                        </a:rPr>
                        <m:t> </m:t>
                      </m:r>
                      <m:sSub>
                        <m:sSubPr>
                          <m:ctrlPr>
                            <a:rPr lang="en-US" altLang="zh-CN" i="1">
                              <a:solidFill>
                                <a:schemeClr val="accent1"/>
                              </a:solidFill>
                              <a:latin typeface="Cambria Math" panose="02040503050406030204" pitchFamily="18" charset="0"/>
                              <a:ea typeface="黑体" panose="02010609060101010101" pitchFamily="49" charset="-122"/>
                            </a:rPr>
                          </m:ctrlPr>
                        </m:sSubPr>
                        <m:e>
                          <m:r>
                            <a:rPr lang="en-US" altLang="zh-CN" i="1">
                              <a:solidFill>
                                <a:schemeClr val="accent1"/>
                              </a:solidFill>
                              <a:latin typeface="Cambria Math" panose="02040503050406030204" pitchFamily="18" charset="0"/>
                              <a:ea typeface="黑体" panose="02010609060101010101" pitchFamily="49" charset="-122"/>
                            </a:rPr>
                            <m:t>𝑘</m:t>
                          </m:r>
                        </m:e>
                        <m:sub>
                          <m:r>
                            <a:rPr lang="en-US" altLang="zh-CN" i="1">
                              <a:solidFill>
                                <a:schemeClr val="accent1"/>
                              </a:solidFill>
                              <a:latin typeface="Cambria Math" panose="02040503050406030204" pitchFamily="18" charset="0"/>
                              <a:ea typeface="黑体" panose="02010609060101010101" pitchFamily="49" charset="-122"/>
                            </a:rPr>
                            <m:t>𝑧</m:t>
                          </m:r>
                        </m:sub>
                      </m:sSub>
                      <m:r>
                        <a:rPr lang="en-US" altLang="zh-CN" i="1">
                          <a:solidFill>
                            <a:schemeClr val="accent1"/>
                          </a:solidFill>
                          <a:latin typeface="Cambria Math" panose="02040503050406030204" pitchFamily="18" charset="0"/>
                          <a:ea typeface="黑体" panose="02010609060101010101" pitchFamily="49" charset="-122"/>
                        </a:rPr>
                        <m:t>=</m:t>
                      </m:r>
                      <m:f>
                        <m:fPr>
                          <m:ctrlPr>
                            <a:rPr lang="en-US" altLang="zh-CN" i="1">
                              <a:solidFill>
                                <a:schemeClr val="accent1"/>
                              </a:solidFill>
                              <a:latin typeface="Cambria Math" panose="02040503050406030204" pitchFamily="18" charset="0"/>
                              <a:ea typeface="黑体" panose="02010609060101010101" pitchFamily="49" charset="-122"/>
                            </a:rPr>
                          </m:ctrlPr>
                        </m:fPr>
                        <m:num>
                          <m:sSub>
                            <m:sSubPr>
                              <m:ctrlPr>
                                <a:rPr lang="en-US" altLang="zh-CN" i="1">
                                  <a:solidFill>
                                    <a:schemeClr val="accent1"/>
                                  </a:solidFill>
                                  <a:latin typeface="Cambria Math" panose="02040503050406030204" pitchFamily="18" charset="0"/>
                                  <a:ea typeface="黑体" panose="02010609060101010101" pitchFamily="49" charset="-122"/>
                                </a:rPr>
                              </m:ctrlPr>
                            </m:sSubPr>
                            <m:e>
                              <m:r>
                                <a:rPr lang="en-US" altLang="zh-CN" i="1">
                                  <a:solidFill>
                                    <a:schemeClr val="accent1"/>
                                  </a:solidFill>
                                  <a:latin typeface="Cambria Math" panose="02040503050406030204" pitchFamily="18" charset="0"/>
                                  <a:ea typeface="黑体" panose="02010609060101010101" pitchFamily="49" charset="-122"/>
                                </a:rPr>
                                <m:t>𝑛</m:t>
                              </m:r>
                            </m:e>
                            <m:sub>
                              <m:r>
                                <a:rPr lang="en-US" altLang="zh-CN" i="1">
                                  <a:solidFill>
                                    <a:schemeClr val="accent1"/>
                                  </a:solidFill>
                                  <a:latin typeface="Cambria Math" panose="02040503050406030204" pitchFamily="18" charset="0"/>
                                  <a:ea typeface="黑体" panose="02010609060101010101" pitchFamily="49" charset="-122"/>
                                </a:rPr>
                                <m:t>3</m:t>
                              </m:r>
                            </m:sub>
                          </m:sSub>
                          <m:r>
                            <a:rPr lang="en-US" altLang="zh-CN" i="1">
                              <a:solidFill>
                                <a:schemeClr val="accent1"/>
                              </a:solidFill>
                              <a:latin typeface="Cambria Math" panose="02040503050406030204" pitchFamily="18" charset="0"/>
                              <a:ea typeface="黑体" panose="02010609060101010101" pitchFamily="49" charset="-122"/>
                            </a:rPr>
                            <m:t>𝜋</m:t>
                          </m:r>
                        </m:num>
                        <m:den>
                          <m:r>
                            <a:rPr lang="en-US" altLang="zh-CN" i="1">
                              <a:solidFill>
                                <a:schemeClr val="accent1"/>
                              </a:solidFill>
                              <a:latin typeface="Cambria Math" panose="02040503050406030204" pitchFamily="18" charset="0"/>
                              <a:ea typeface="黑体" panose="02010609060101010101" pitchFamily="49" charset="-122"/>
                            </a:rPr>
                            <m:t>𝐿</m:t>
                          </m:r>
                        </m:den>
                      </m:f>
                      <m:r>
                        <a:rPr lang="en-US" altLang="zh-CN" b="0" i="1" smtClean="0">
                          <a:solidFill>
                            <a:schemeClr val="accent1"/>
                          </a:solidFill>
                          <a:latin typeface="Cambria Math" panose="02040503050406030204" pitchFamily="18" charset="0"/>
                          <a:ea typeface="黑体" panose="02010609060101010101" pitchFamily="49" charset="-122"/>
                        </a:rPr>
                        <m:t>                   </m:t>
                      </m:r>
                      <m:sSubSup>
                        <m:sSubSupPr>
                          <m:ctrlPr>
                            <a:rPr lang="en-US" altLang="zh-CN" i="1">
                              <a:solidFill>
                                <a:schemeClr val="accent1"/>
                              </a:solidFill>
                              <a:latin typeface="Cambria Math" panose="02040503050406030204" pitchFamily="18" charset="0"/>
                              <a:ea typeface="黑体" panose="02010609060101010101" pitchFamily="49" charset="-122"/>
                            </a:rPr>
                          </m:ctrlPr>
                        </m:sSubSupPr>
                        <m:e>
                          <m:r>
                            <a:rPr lang="en-US" altLang="zh-CN" i="1">
                              <a:solidFill>
                                <a:schemeClr val="accent1"/>
                              </a:solidFill>
                              <a:latin typeface="Cambria Math" panose="02040503050406030204" pitchFamily="18" charset="0"/>
                              <a:ea typeface="黑体" panose="02010609060101010101" pitchFamily="49" charset="-122"/>
                            </a:rPr>
                            <m:t>𝑘</m:t>
                          </m:r>
                        </m:e>
                        <m:sub>
                          <m:r>
                            <a:rPr lang="en-US" altLang="zh-CN" i="1">
                              <a:solidFill>
                                <a:schemeClr val="accent1"/>
                              </a:solidFill>
                              <a:latin typeface="Cambria Math" panose="02040503050406030204" pitchFamily="18" charset="0"/>
                              <a:ea typeface="黑体" panose="02010609060101010101" pitchFamily="49" charset="-122"/>
                            </a:rPr>
                            <m:t>𝑥</m:t>
                          </m:r>
                        </m:sub>
                        <m:sup>
                          <m:r>
                            <a:rPr lang="en-US" altLang="zh-CN" i="1">
                              <a:solidFill>
                                <a:schemeClr val="accent1"/>
                              </a:solidFill>
                              <a:latin typeface="Cambria Math" panose="02040503050406030204" pitchFamily="18" charset="0"/>
                              <a:ea typeface="黑体" panose="02010609060101010101" pitchFamily="49" charset="-122"/>
                            </a:rPr>
                            <m:t>2</m:t>
                          </m:r>
                        </m:sup>
                      </m:sSubSup>
                      <m:r>
                        <a:rPr lang="en-US" altLang="zh-CN" i="1">
                          <a:solidFill>
                            <a:schemeClr val="accent1"/>
                          </a:solidFill>
                          <a:latin typeface="Cambria Math" panose="02040503050406030204" pitchFamily="18" charset="0"/>
                          <a:ea typeface="黑体" panose="02010609060101010101" pitchFamily="49" charset="-122"/>
                        </a:rPr>
                        <m:t>+</m:t>
                      </m:r>
                      <m:sSubSup>
                        <m:sSubSupPr>
                          <m:ctrlPr>
                            <a:rPr lang="en-US" altLang="zh-CN" i="1">
                              <a:solidFill>
                                <a:schemeClr val="accent1"/>
                              </a:solidFill>
                              <a:latin typeface="Cambria Math" panose="02040503050406030204" pitchFamily="18" charset="0"/>
                              <a:ea typeface="黑体" panose="02010609060101010101" pitchFamily="49" charset="-122"/>
                            </a:rPr>
                          </m:ctrlPr>
                        </m:sSubSupPr>
                        <m:e>
                          <m:r>
                            <a:rPr lang="en-US" altLang="zh-CN" i="1">
                              <a:solidFill>
                                <a:schemeClr val="accent1"/>
                              </a:solidFill>
                              <a:latin typeface="Cambria Math" panose="02040503050406030204" pitchFamily="18" charset="0"/>
                              <a:ea typeface="黑体" panose="02010609060101010101" pitchFamily="49" charset="-122"/>
                            </a:rPr>
                            <m:t>𝑘</m:t>
                          </m:r>
                        </m:e>
                        <m:sub>
                          <m:r>
                            <a:rPr lang="en-US" altLang="zh-CN" i="1">
                              <a:solidFill>
                                <a:schemeClr val="accent1"/>
                              </a:solidFill>
                              <a:latin typeface="Cambria Math" panose="02040503050406030204" pitchFamily="18" charset="0"/>
                              <a:ea typeface="黑体" panose="02010609060101010101" pitchFamily="49" charset="-122"/>
                            </a:rPr>
                            <m:t>𝑦</m:t>
                          </m:r>
                        </m:sub>
                        <m:sup>
                          <m:r>
                            <a:rPr lang="en-US" altLang="zh-CN" i="1">
                              <a:solidFill>
                                <a:schemeClr val="accent1"/>
                              </a:solidFill>
                              <a:latin typeface="Cambria Math" panose="02040503050406030204" pitchFamily="18" charset="0"/>
                              <a:ea typeface="黑体" panose="02010609060101010101" pitchFamily="49" charset="-122"/>
                            </a:rPr>
                            <m:t>2</m:t>
                          </m:r>
                        </m:sup>
                      </m:sSubSup>
                      <m:r>
                        <a:rPr lang="en-US" altLang="zh-CN" i="1">
                          <a:solidFill>
                            <a:schemeClr val="accent1"/>
                          </a:solidFill>
                          <a:latin typeface="Cambria Math" panose="02040503050406030204" pitchFamily="18" charset="0"/>
                          <a:ea typeface="黑体" panose="02010609060101010101" pitchFamily="49" charset="-122"/>
                        </a:rPr>
                        <m:t>+</m:t>
                      </m:r>
                      <m:sSubSup>
                        <m:sSubSupPr>
                          <m:ctrlPr>
                            <a:rPr lang="en-US" altLang="zh-CN" i="1">
                              <a:solidFill>
                                <a:schemeClr val="accent1"/>
                              </a:solidFill>
                              <a:latin typeface="Cambria Math" panose="02040503050406030204" pitchFamily="18" charset="0"/>
                              <a:ea typeface="黑体" panose="02010609060101010101" pitchFamily="49" charset="-122"/>
                            </a:rPr>
                          </m:ctrlPr>
                        </m:sSubSupPr>
                        <m:e>
                          <m:r>
                            <a:rPr lang="en-US" altLang="zh-CN" i="1">
                              <a:solidFill>
                                <a:schemeClr val="accent1"/>
                              </a:solidFill>
                              <a:latin typeface="Cambria Math" panose="02040503050406030204" pitchFamily="18" charset="0"/>
                              <a:ea typeface="黑体" panose="02010609060101010101" pitchFamily="49" charset="-122"/>
                            </a:rPr>
                            <m:t>𝑘</m:t>
                          </m:r>
                        </m:e>
                        <m:sub>
                          <m:r>
                            <a:rPr lang="en-US" altLang="zh-CN" i="1">
                              <a:solidFill>
                                <a:schemeClr val="accent1"/>
                              </a:solidFill>
                              <a:latin typeface="Cambria Math" panose="02040503050406030204" pitchFamily="18" charset="0"/>
                              <a:ea typeface="黑体" panose="02010609060101010101" pitchFamily="49" charset="-122"/>
                            </a:rPr>
                            <m:t>𝑧</m:t>
                          </m:r>
                        </m:sub>
                        <m:sup>
                          <m:r>
                            <a:rPr lang="en-US" altLang="zh-CN" i="1">
                              <a:solidFill>
                                <a:schemeClr val="accent1"/>
                              </a:solidFill>
                              <a:latin typeface="Cambria Math" panose="02040503050406030204" pitchFamily="18" charset="0"/>
                              <a:ea typeface="黑体" panose="02010609060101010101" pitchFamily="49" charset="-122"/>
                            </a:rPr>
                            <m:t>2</m:t>
                          </m:r>
                        </m:sup>
                      </m:sSubSup>
                      <m:r>
                        <a:rPr lang="en-US" altLang="zh-CN" i="1">
                          <a:solidFill>
                            <a:schemeClr val="accent1"/>
                          </a:solidFill>
                          <a:latin typeface="Cambria Math" panose="02040503050406030204" pitchFamily="18" charset="0"/>
                          <a:ea typeface="黑体" panose="02010609060101010101" pitchFamily="49" charset="-122"/>
                        </a:rPr>
                        <m:t>=</m:t>
                      </m:r>
                      <m:sSup>
                        <m:sSupPr>
                          <m:ctrlPr>
                            <a:rPr lang="en-US" altLang="zh-CN" i="1">
                              <a:solidFill>
                                <a:schemeClr val="accent1"/>
                              </a:solidFill>
                              <a:latin typeface="Cambria Math" panose="02040503050406030204" pitchFamily="18" charset="0"/>
                              <a:ea typeface="黑体" panose="02010609060101010101" pitchFamily="49" charset="-122"/>
                            </a:rPr>
                          </m:ctrlPr>
                        </m:sSupPr>
                        <m:e>
                          <m:r>
                            <a:rPr lang="en-US" altLang="zh-CN" i="1">
                              <a:solidFill>
                                <a:schemeClr val="accent1"/>
                              </a:solidFill>
                              <a:latin typeface="Cambria Math" panose="02040503050406030204" pitchFamily="18" charset="0"/>
                              <a:ea typeface="黑体" panose="02010609060101010101" pitchFamily="49" charset="-122"/>
                            </a:rPr>
                            <m:t>𝑘</m:t>
                          </m:r>
                        </m:e>
                        <m:sup>
                          <m:r>
                            <a:rPr lang="en-US" altLang="zh-CN" i="1">
                              <a:solidFill>
                                <a:schemeClr val="accent1"/>
                              </a:solidFill>
                              <a:latin typeface="Cambria Math" panose="02040503050406030204" pitchFamily="18" charset="0"/>
                              <a:ea typeface="黑体" panose="02010609060101010101" pitchFamily="49" charset="-122"/>
                            </a:rPr>
                            <m:t>2</m:t>
                          </m:r>
                        </m:sup>
                      </m:sSup>
                    </m:oMath>
                  </m:oMathPara>
                </a14:m>
                <a:endParaRPr lang="zh-CN" altLang="en-US" dirty="0">
                  <a:solidFill>
                    <a:schemeClr val="accent1"/>
                  </a:solidFill>
                </a:endParaRPr>
              </a:p>
            </p:txBody>
          </p:sp>
        </mc:Choice>
        <mc:Fallback>
          <p:sp>
            <p:nvSpPr>
              <p:cNvPr id="11" name="TextBox 10"/>
              <p:cNvSpPr txBox="1">
                <a:spLocks noRot="1" noChangeAspect="1" noMove="1" noResize="1" noEditPoints="1" noAdjustHandles="1" noChangeArrowheads="1" noChangeShapeType="1" noTextEdit="1"/>
              </p:cNvSpPr>
              <p:nvPr/>
            </p:nvSpPr>
            <p:spPr>
              <a:xfrm>
                <a:off x="1214059" y="751104"/>
                <a:ext cx="5913093" cy="472565"/>
              </a:xfrm>
              <a:prstGeom prst="rect">
                <a:avLst/>
              </a:prstGeom>
              <a:blipFill>
                <a:blip r:embed="rId5"/>
                <a:stretch>
                  <a:fillRect/>
                </a:stretch>
              </a:blipFill>
              <a:ln>
                <a:noFill/>
              </a:ln>
            </p:spPr>
            <p:txBody>
              <a:bodyPr/>
              <a:lstStyle/>
              <a:p>
                <a:r>
                  <a:rPr lang="zh-CN" altLang="en-US">
                    <a:noFill/>
                  </a:rPr>
                  <a:t> </a:t>
                </a:r>
              </a:p>
            </p:txBody>
          </p:sp>
        </mc:Fallback>
      </mc:AlternateContent>
      <p:grpSp>
        <p:nvGrpSpPr>
          <p:cNvPr id="24" name="Group 23"/>
          <p:cNvGrpSpPr/>
          <p:nvPr/>
        </p:nvGrpSpPr>
        <p:grpSpPr>
          <a:xfrm>
            <a:off x="8425288" y="721700"/>
            <a:ext cx="3406877" cy="3340996"/>
            <a:chOff x="8469738" y="809252"/>
            <a:chExt cx="3166739" cy="3105580"/>
          </a:xfrm>
        </p:grpSpPr>
        <p:pic>
          <p:nvPicPr>
            <p:cNvPr id="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69738" y="809252"/>
              <a:ext cx="3166739" cy="31055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3" name="Straight Connector 12"/>
            <p:cNvCxnSpPr/>
            <p:nvPr/>
          </p:nvCxnSpPr>
          <p:spPr>
            <a:xfrm flipV="1">
              <a:off x="10836275" y="1928811"/>
              <a:ext cx="312738" cy="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0836275" y="1990726"/>
              <a:ext cx="31273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1004550" y="1743074"/>
              <a:ext cx="0" cy="185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11004550" y="1985962"/>
              <a:ext cx="0" cy="166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11172826" y="1805700"/>
                  <a:ext cx="386965"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rgbClr val="0070C0"/>
                            </a:solidFill>
                            <a:latin typeface="Cambria Math" panose="02040503050406030204" pitchFamily="18" charset="0"/>
                            <a:ea typeface="黑体" panose="02010609060101010101" pitchFamily="49" charset="-122"/>
                          </a:rPr>
                          <m:t>𝜋</m:t>
                        </m:r>
                        <m:r>
                          <a:rPr lang="en-US" altLang="zh-CN" sz="1600" b="0" i="1" smtClean="0">
                            <a:solidFill>
                              <a:srgbClr val="0070C0"/>
                            </a:solidFill>
                            <a:latin typeface="Cambria Math" panose="02040503050406030204" pitchFamily="18" charset="0"/>
                            <a:ea typeface="黑体" panose="02010609060101010101" pitchFamily="49" charset="-122"/>
                          </a:rPr>
                          <m:t>/</m:t>
                        </m:r>
                        <m:r>
                          <a:rPr lang="en-US" altLang="zh-CN" sz="1600" b="0" i="1" smtClean="0">
                            <a:solidFill>
                              <a:srgbClr val="0070C0"/>
                            </a:solidFill>
                            <a:latin typeface="Cambria Math" panose="02040503050406030204" pitchFamily="18" charset="0"/>
                            <a:ea typeface="黑体" panose="02010609060101010101" pitchFamily="49" charset="-122"/>
                          </a:rPr>
                          <m:t>𝐿</m:t>
                        </m:r>
                      </m:oMath>
                    </m:oMathPara>
                  </a14:m>
                  <a:endParaRPr lang="zh-CN" altLang="en-US" sz="1600" dirty="0">
                    <a:solidFill>
                      <a:srgbClr val="0070C0"/>
                    </a:solidFill>
                    <a:ea typeface="黑体" panose="02010609060101010101" pitchFamily="49" charset="-122"/>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11172826" y="1805700"/>
                  <a:ext cx="386965" cy="246221"/>
                </a:xfrm>
                <a:prstGeom prst="rect">
                  <a:avLst/>
                </a:prstGeom>
                <a:blipFill>
                  <a:blip r:embed="rId7"/>
                  <a:stretch>
                    <a:fillRect l="-7937" r="-11111" b="-3170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9CD2CA-D77C-4953-B4A4-D6DC193B6EF6}"/>
                  </a:ext>
                </a:extLst>
              </p:cNvPr>
              <p:cNvSpPr txBox="1"/>
              <p:nvPr/>
            </p:nvSpPr>
            <p:spPr>
              <a:xfrm>
                <a:off x="8372767" y="4262512"/>
                <a:ext cx="3406877" cy="1711366"/>
              </a:xfrm>
              <a:prstGeom prst="rect">
                <a:avLst/>
              </a:prstGeom>
              <a:solidFill>
                <a:schemeClr val="accent5">
                  <a:lumMod val="20000"/>
                  <a:lumOff val="80000"/>
                </a:schemeClr>
              </a:solidFill>
              <a:ln>
                <a:noFill/>
              </a:ln>
            </p:spPr>
            <p:txBody>
              <a:bodyPr wrap="square" rtlCol="0">
                <a:spAutoFit/>
              </a:bodyPr>
              <a:lstStyle/>
              <a:p>
                <a:pPr>
                  <a:lnSpc>
                    <a:spcPct val="150000"/>
                  </a:lnSpc>
                </a:pPr>
                <a:r>
                  <a:rPr lang="en-US" altLang="zh-CN" dirty="0">
                    <a:ea typeface="黑体" panose="02010609060101010101" pitchFamily="49" charset="-122"/>
                  </a:rPr>
                  <a:t>This formula is valid only when </a:t>
                </a:r>
                <a14:m>
                  <m:oMath xmlns:m="http://schemas.openxmlformats.org/officeDocument/2006/math">
                    <m:r>
                      <a:rPr lang="en-US" altLang="zh-CN" b="0" i="1" smtClean="0">
                        <a:latin typeface="Cambria Math" panose="02040503050406030204" pitchFamily="18" charset="0"/>
                        <a:ea typeface="黑体" panose="02010609060101010101" pitchFamily="49" charset="-122"/>
                      </a:rPr>
                      <m:t>𝑘</m:t>
                    </m:r>
                    <m:r>
                      <a:rPr lang="en-US" altLang="zh-CN" b="0" i="1" smtClean="0">
                        <a:latin typeface="Cambria Math" panose="02040503050406030204" pitchFamily="18" charset="0"/>
                        <a:ea typeface="黑体" panose="02010609060101010101" pitchFamily="49" charset="-122"/>
                      </a:rPr>
                      <m:t>≫</m:t>
                    </m:r>
                    <m:r>
                      <a:rPr lang="en-US" altLang="zh-CN" b="0" i="1" smtClean="0">
                        <a:latin typeface="Cambria Math" panose="02040503050406030204" pitchFamily="18" charset="0"/>
                        <a:ea typeface="黑体" panose="02010609060101010101" pitchFamily="49" charset="-122"/>
                      </a:rPr>
                      <m:t>𝜋</m:t>
                    </m:r>
                    <m:r>
                      <a:rPr lang="en-US" altLang="zh-CN" b="0" i="1" smtClean="0">
                        <a:latin typeface="Cambria Math" panose="02040503050406030204" pitchFamily="18" charset="0"/>
                        <a:ea typeface="黑体" panose="02010609060101010101" pitchFamily="49" charset="-122"/>
                      </a:rPr>
                      <m:t>/</m:t>
                    </m:r>
                    <m:r>
                      <a:rPr lang="en-US" altLang="zh-CN" b="0" i="1" smtClean="0">
                        <a:latin typeface="Cambria Math" panose="02040503050406030204" pitchFamily="18" charset="0"/>
                        <a:ea typeface="黑体" panose="02010609060101010101" pitchFamily="49" charset="-122"/>
                      </a:rPr>
                      <m:t>𝐿</m:t>
                    </m:r>
                  </m:oMath>
                </a14:m>
                <a:r>
                  <a:rPr lang="en-US" altLang="zh-CN" dirty="0">
                    <a:ea typeface="黑体" panose="02010609060101010101" pitchFamily="49" charset="-122"/>
                  </a:rPr>
                  <a:t>, which is guaranteed in a typical experiment of blackbody radiation.</a:t>
                </a:r>
                <a:endParaRPr lang="en-US" dirty="0">
                  <a:ea typeface="黑体" panose="02010609060101010101" pitchFamily="49" charset="-122"/>
                </a:endParaRPr>
              </a:p>
            </p:txBody>
          </p:sp>
        </mc:Choice>
        <mc:Fallback xmlns="">
          <p:sp>
            <p:nvSpPr>
              <p:cNvPr id="2" name="TextBox 1">
                <a:extLst>
                  <a:ext uri="{FF2B5EF4-FFF2-40B4-BE49-F238E27FC236}">
                    <a16:creationId xmlns:a16="http://schemas.microsoft.com/office/drawing/2014/main" id="{439CD2CA-D77C-4953-B4A4-D6DC193B6EF6}"/>
                  </a:ext>
                </a:extLst>
              </p:cNvPr>
              <p:cNvSpPr txBox="1">
                <a:spLocks noRot="1" noChangeAspect="1" noMove="1" noResize="1" noEditPoints="1" noAdjustHandles="1" noChangeArrowheads="1" noChangeShapeType="1" noTextEdit="1"/>
              </p:cNvSpPr>
              <p:nvPr/>
            </p:nvSpPr>
            <p:spPr>
              <a:xfrm>
                <a:off x="8372767" y="4262512"/>
                <a:ext cx="3406877" cy="1711366"/>
              </a:xfrm>
              <a:prstGeom prst="rect">
                <a:avLst/>
              </a:prstGeom>
              <a:blipFill>
                <a:blip r:embed="rId8"/>
                <a:stretch>
                  <a:fillRect l="-1431" r="-2504" b="-4626"/>
                </a:stretch>
              </a:blipFill>
              <a:ln>
                <a:noFill/>
              </a:ln>
            </p:spPr>
            <p:txBody>
              <a:bodyPr/>
              <a:lstStyle/>
              <a:p>
                <a:r>
                  <a:rPr lang="en-US">
                    <a:noFill/>
                  </a:rPr>
                  <a:t> </a:t>
                </a:r>
              </a:p>
            </p:txBody>
          </p:sp>
        </mc:Fallback>
      </mc:AlternateContent>
      <p:sp>
        <p:nvSpPr>
          <p:cNvPr id="15" name="Title 1">
            <a:extLst>
              <a:ext uri="{FF2B5EF4-FFF2-40B4-BE49-F238E27FC236}">
                <a16:creationId xmlns:a16="http://schemas.microsoft.com/office/drawing/2014/main" id="{18E43DB1-2F79-4642-AEEA-1529A2FFEDDA}"/>
              </a:ext>
            </a:extLst>
          </p:cNvPr>
          <p:cNvSpPr>
            <a:spLocks noGrp="1"/>
          </p:cNvSpPr>
          <p:nvPr>
            <p:ph type="title"/>
          </p:nvPr>
        </p:nvSpPr>
        <p:spPr>
          <a:xfrm>
            <a:off x="3757356" y="16684"/>
            <a:ext cx="4256113" cy="551589"/>
          </a:xfrm>
        </p:spPr>
        <p:txBody>
          <a:bodyPr/>
          <a:lstStyle/>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optical mode density</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4390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701343" y="195379"/>
                <a:ext cx="9034939" cy="551589"/>
              </a:xfrm>
            </p:spPr>
            <p:txBody>
              <a:bodyPr/>
              <a:lstStyle/>
              <a:p>
                <a:r>
                  <a:rPr lang="en-US" altLang="zh-CN" dirty="0">
                    <a:latin typeface="Times New Roman" panose="02020603050405020304" pitchFamily="18" charset="0"/>
                    <a:cs typeface="Times New Roman" panose="02020603050405020304" pitchFamily="18" charset="0"/>
                  </a:rPr>
                  <a:t>Boltzmann distribution and the average mode energy </a:t>
                </a:r>
                <a14:m>
                  <m:oMath xmlns:m="http://schemas.openxmlformats.org/officeDocument/2006/math">
                    <m:acc>
                      <m:accPr>
                        <m:chr m:val="̅"/>
                        <m:ctrlPr>
                          <a:rPr lang="en-US" altLang="zh-CN" sz="2800" i="1" smtClean="0">
                            <a:solidFill>
                              <a:srgbClr val="0000FF"/>
                            </a:solidFill>
                            <a:latin typeface="Cambria Math" panose="02040503050406030204" pitchFamily="18" charset="0"/>
                          </a:rPr>
                        </m:ctrlPr>
                      </m:accPr>
                      <m:e>
                        <m:r>
                          <a:rPr lang="en-US" altLang="zh-CN" sz="2800" i="1">
                            <a:solidFill>
                              <a:srgbClr val="0000FF"/>
                            </a:solidFill>
                            <a:latin typeface="Cambria Math"/>
                          </a:rPr>
                          <m:t>𝜖</m:t>
                        </m:r>
                      </m:e>
                    </m:acc>
                    <m:r>
                      <a:rPr lang="en-US" altLang="zh-CN" sz="2800" b="0" i="1" smtClean="0">
                        <a:solidFill>
                          <a:srgbClr val="0000FF"/>
                        </a:solidFill>
                        <a:latin typeface="Cambria Math" panose="02040503050406030204" pitchFamily="18" charset="0"/>
                      </a:rPr>
                      <m:t>(</m:t>
                    </m:r>
                    <m:r>
                      <a:rPr lang="en-US" altLang="zh-CN" sz="2800" b="0" i="1" smtClean="0">
                        <a:solidFill>
                          <a:srgbClr val="0000FF"/>
                        </a:solidFill>
                        <a:latin typeface="Cambria Math" panose="02040503050406030204" pitchFamily="18" charset="0"/>
                      </a:rPr>
                      <m:t>𝜈</m:t>
                    </m:r>
                    <m:r>
                      <a:rPr lang="en-US" altLang="zh-CN" sz="2800" b="0" i="1" smtClean="0">
                        <a:solidFill>
                          <a:srgbClr val="0000FF"/>
                        </a:solidFill>
                        <a:latin typeface="Cambria Math" panose="02040503050406030204" pitchFamily="18" charset="0"/>
                      </a:rPr>
                      <m:t>)</m:t>
                    </m:r>
                  </m:oMath>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701343" y="195379"/>
                <a:ext cx="9034939" cy="551589"/>
              </a:xfrm>
              <a:blipFill>
                <a:blip r:embed="rId3"/>
                <a:stretch>
                  <a:fillRect l="-1282" t="-8791" b="-274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18855" y="746968"/>
                <a:ext cx="11154288" cy="2877454"/>
              </a:xfrm>
              <a:prstGeom prst="rect">
                <a:avLst/>
              </a:prstGeom>
              <a:ln>
                <a:solidFill>
                  <a:srgbClr val="0070C0"/>
                </a:solidFill>
              </a:ln>
            </p:spPr>
            <p:txBody>
              <a:bodyPr wrap="square">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probability for a (thermal) equilibrium system in a particular state </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𝑗</m:t>
                    </m:r>
                  </m:oMath>
                </a14:m>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sSub>
                      <m:sSubPr>
                        <m:ctrlPr>
                          <a:rPr lang="en-US" altLang="zh-CN" sz="2000" b="0" i="1" smtClean="0">
                            <a:solidFill>
                              <a:srgbClr val="0070C0"/>
                            </a:solidFill>
                            <a:latin typeface="Cambria Math" panose="02040503050406030204" pitchFamily="18" charset="0"/>
                          </a:rPr>
                        </m:ctrlPr>
                      </m:sSubPr>
                      <m:e>
                        <m:r>
                          <a:rPr lang="en-US" altLang="zh-CN" sz="2000" b="0" i="1" smtClean="0">
                            <a:solidFill>
                              <a:srgbClr val="0070C0"/>
                            </a:solidFill>
                            <a:latin typeface="Cambria Math" panose="02040503050406030204" pitchFamily="18" charset="0"/>
                          </a:rPr>
                          <m:t>𝑃</m:t>
                        </m:r>
                      </m:e>
                      <m:sub>
                        <m:r>
                          <a:rPr lang="en-US" altLang="zh-CN" sz="2000" b="0" i="1" smtClean="0">
                            <a:solidFill>
                              <a:srgbClr val="0070C0"/>
                            </a:solidFill>
                            <a:latin typeface="Cambria Math" panose="02040503050406030204" pitchFamily="18" charset="0"/>
                          </a:rPr>
                          <m:t>𝑗</m:t>
                        </m:r>
                      </m:sub>
                    </m:sSub>
                    <m:r>
                      <a:rPr lang="en-US" altLang="zh-CN" sz="2000" b="0" i="1" smtClean="0">
                        <a:solidFill>
                          <a:srgbClr val="0070C0"/>
                        </a:solidFill>
                        <a:latin typeface="Cambria Math" panose="02040503050406030204" pitchFamily="18" charset="0"/>
                      </a:rPr>
                      <m:t>=</m:t>
                    </m:r>
                    <m:f>
                      <m:fPr>
                        <m:ctrlPr>
                          <a:rPr lang="en-US" altLang="zh-CN" sz="2000" b="0" i="1" smtClean="0">
                            <a:solidFill>
                              <a:srgbClr val="0070C0"/>
                            </a:solidFill>
                            <a:latin typeface="Cambria Math" panose="02040503050406030204" pitchFamily="18" charset="0"/>
                          </a:rPr>
                        </m:ctrlPr>
                      </m:fPr>
                      <m:num>
                        <m:sSup>
                          <m:sSupPr>
                            <m:ctrlPr>
                              <a:rPr lang="en-US" altLang="zh-CN" sz="2000" b="0" i="1" smtClean="0">
                                <a:solidFill>
                                  <a:srgbClr val="0070C0"/>
                                </a:solidFill>
                                <a:latin typeface="Cambria Math" panose="02040503050406030204" pitchFamily="18" charset="0"/>
                              </a:rPr>
                            </m:ctrlPr>
                          </m:sSupPr>
                          <m:e>
                            <m:r>
                              <a:rPr lang="en-US" altLang="zh-CN" sz="2000" b="0" i="1" smtClean="0">
                                <a:solidFill>
                                  <a:srgbClr val="0070C0"/>
                                </a:solidFill>
                                <a:latin typeface="Cambria Math" panose="02040503050406030204" pitchFamily="18" charset="0"/>
                              </a:rPr>
                              <m:t>𝑒</m:t>
                            </m:r>
                          </m:e>
                          <m:sup>
                            <m:r>
                              <a:rPr lang="en-US" altLang="zh-CN" sz="2000" b="0" i="1" smtClean="0">
                                <a:solidFill>
                                  <a:srgbClr val="0070C0"/>
                                </a:solidFill>
                                <a:latin typeface="Cambria Math" panose="02040503050406030204" pitchFamily="18" charset="0"/>
                              </a:rPr>
                              <m:t>−</m:t>
                            </m:r>
                            <m:f>
                              <m:fPr>
                                <m:ctrlPr>
                                  <a:rPr lang="en-US" altLang="zh-CN" sz="2000" b="0" i="1" smtClean="0">
                                    <a:solidFill>
                                      <a:srgbClr val="0070C0"/>
                                    </a:solidFill>
                                    <a:latin typeface="Cambria Math" panose="02040503050406030204" pitchFamily="18" charset="0"/>
                                  </a:rPr>
                                </m:ctrlPr>
                              </m:fPr>
                              <m:num>
                                <m:sSub>
                                  <m:sSubPr>
                                    <m:ctrlPr>
                                      <a:rPr lang="en-US" altLang="zh-CN" sz="2000" b="0" i="1" smtClean="0">
                                        <a:solidFill>
                                          <a:srgbClr val="0070C0"/>
                                        </a:solidFill>
                                        <a:latin typeface="Cambria Math" panose="02040503050406030204" pitchFamily="18" charset="0"/>
                                      </a:rPr>
                                    </m:ctrlPr>
                                  </m:sSubPr>
                                  <m:e>
                                    <m:r>
                                      <a:rPr lang="en-US" altLang="zh-CN" sz="2000" b="0" i="1" smtClean="0">
                                        <a:solidFill>
                                          <a:srgbClr val="0070C0"/>
                                        </a:solidFill>
                                        <a:latin typeface="Cambria Math" panose="02040503050406030204" pitchFamily="18" charset="0"/>
                                      </a:rPr>
                                      <m:t>𝜖</m:t>
                                    </m:r>
                                  </m:e>
                                  <m:sub>
                                    <m:r>
                                      <a:rPr lang="en-US" altLang="zh-CN" sz="2000" b="0" i="1" smtClean="0">
                                        <a:solidFill>
                                          <a:srgbClr val="0070C0"/>
                                        </a:solidFill>
                                        <a:latin typeface="Cambria Math" panose="02040503050406030204" pitchFamily="18" charset="0"/>
                                      </a:rPr>
                                      <m:t>𝑗</m:t>
                                    </m:r>
                                  </m:sub>
                                </m:sSub>
                              </m:num>
                              <m:den>
                                <m:sSub>
                                  <m:sSubPr>
                                    <m:ctrlPr>
                                      <a:rPr lang="en-US" altLang="zh-CN" sz="2000" b="0" i="1" smtClean="0">
                                        <a:solidFill>
                                          <a:srgbClr val="0070C0"/>
                                        </a:solidFill>
                                        <a:latin typeface="Cambria Math" panose="02040503050406030204" pitchFamily="18" charset="0"/>
                                      </a:rPr>
                                    </m:ctrlPr>
                                  </m:sSubPr>
                                  <m:e>
                                    <m:r>
                                      <a:rPr lang="en-US" altLang="zh-CN" sz="2000" b="0" i="1" smtClean="0">
                                        <a:solidFill>
                                          <a:srgbClr val="0070C0"/>
                                        </a:solidFill>
                                        <a:latin typeface="Cambria Math" panose="02040503050406030204" pitchFamily="18" charset="0"/>
                                      </a:rPr>
                                      <m:t>𝑘</m:t>
                                    </m:r>
                                  </m:e>
                                  <m:sub>
                                    <m:r>
                                      <a:rPr lang="en-US" altLang="zh-CN" sz="2000" b="0" i="1" smtClean="0">
                                        <a:solidFill>
                                          <a:srgbClr val="0070C0"/>
                                        </a:solidFill>
                                        <a:latin typeface="Cambria Math" panose="02040503050406030204" pitchFamily="18" charset="0"/>
                                      </a:rPr>
                                      <m:t>𝐵</m:t>
                                    </m:r>
                                  </m:sub>
                                </m:sSub>
                                <m:r>
                                  <a:rPr lang="en-US" altLang="zh-CN" sz="2000" b="0" i="1" smtClean="0">
                                    <a:solidFill>
                                      <a:srgbClr val="0070C0"/>
                                    </a:solidFill>
                                    <a:latin typeface="Cambria Math" panose="02040503050406030204" pitchFamily="18" charset="0"/>
                                  </a:rPr>
                                  <m:t>𝑇</m:t>
                                </m:r>
                              </m:den>
                            </m:f>
                          </m:sup>
                        </m:sSup>
                      </m:num>
                      <m:den>
                        <m:nary>
                          <m:naryPr>
                            <m:chr m:val="∑"/>
                            <m:supHide m:val="on"/>
                            <m:ctrlPr>
                              <a:rPr lang="en-US" altLang="zh-CN" sz="2000" b="0" i="1" smtClean="0">
                                <a:solidFill>
                                  <a:srgbClr val="0070C0"/>
                                </a:solidFill>
                                <a:latin typeface="Cambria Math" panose="02040503050406030204" pitchFamily="18" charset="0"/>
                              </a:rPr>
                            </m:ctrlPr>
                          </m:naryPr>
                          <m:sub>
                            <m:r>
                              <m:rPr>
                                <m:brk m:alnAt="7"/>
                              </m:rPr>
                              <a:rPr lang="en-US" altLang="zh-CN" sz="2000" b="0" i="1" smtClean="0">
                                <a:solidFill>
                                  <a:srgbClr val="0070C0"/>
                                </a:solidFill>
                                <a:latin typeface="Cambria Math" panose="02040503050406030204" pitchFamily="18" charset="0"/>
                              </a:rPr>
                              <m:t>𝑖</m:t>
                            </m:r>
                          </m:sub>
                          <m:sup/>
                          <m:e>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panose="02040503050406030204" pitchFamily="18" charset="0"/>
                                  </a:rPr>
                                  <m:t>𝑒</m:t>
                                </m:r>
                              </m:e>
                              <m:sup>
                                <m:r>
                                  <a:rPr lang="en-US" altLang="zh-CN" sz="2000" i="1">
                                    <a:solidFill>
                                      <a:srgbClr val="0070C0"/>
                                    </a:solidFill>
                                    <a:latin typeface="Cambria Math" panose="02040503050406030204" pitchFamily="18" charset="0"/>
                                  </a:rPr>
                                  <m:t>−</m:t>
                                </m:r>
                                <m:f>
                                  <m:fPr>
                                    <m:ctrlPr>
                                      <a:rPr lang="en-US" altLang="zh-CN" sz="2000" i="1" smtClean="0">
                                        <a:solidFill>
                                          <a:srgbClr val="0070C0"/>
                                        </a:solidFill>
                                        <a:latin typeface="Cambria Math" panose="02040503050406030204" pitchFamily="18" charset="0"/>
                                      </a:rPr>
                                    </m:ctrlPr>
                                  </m:fPr>
                                  <m:num>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𝜖</m:t>
                                        </m:r>
                                      </m:e>
                                      <m:sub>
                                        <m:r>
                                          <a:rPr lang="en-US" altLang="zh-CN" sz="2000" i="1">
                                            <a:solidFill>
                                              <a:srgbClr val="0070C0"/>
                                            </a:solidFill>
                                            <a:latin typeface="Cambria Math" panose="02040503050406030204" pitchFamily="18" charset="0"/>
                                          </a:rPr>
                                          <m:t>𝑖</m:t>
                                        </m:r>
                                      </m:sub>
                                    </m:sSub>
                                  </m:num>
                                  <m:den>
                                    <m:sSub>
                                      <m:sSubPr>
                                        <m:ctrlPr>
                                          <a:rPr lang="en-US" altLang="zh-CN" sz="2000" b="0" i="1" smtClean="0">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𝑘</m:t>
                                        </m:r>
                                      </m:e>
                                      <m:sub>
                                        <m:r>
                                          <a:rPr lang="en-US" altLang="zh-CN" sz="2000" b="0" i="1" smtClean="0">
                                            <a:solidFill>
                                              <a:srgbClr val="0070C0"/>
                                            </a:solidFill>
                                            <a:latin typeface="Cambria Math" panose="02040503050406030204" pitchFamily="18" charset="0"/>
                                          </a:rPr>
                                          <m:t>𝐵</m:t>
                                        </m:r>
                                      </m:sub>
                                    </m:sSub>
                                    <m:r>
                                      <a:rPr lang="en-US" altLang="zh-CN" sz="2000" i="1">
                                        <a:solidFill>
                                          <a:srgbClr val="0070C0"/>
                                        </a:solidFill>
                                        <a:latin typeface="Cambria Math" panose="02040503050406030204" pitchFamily="18" charset="0"/>
                                      </a:rPr>
                                      <m:t>𝑇</m:t>
                                    </m:r>
                                  </m:den>
                                </m:f>
                              </m:sup>
                            </m:sSup>
                          </m:e>
                        </m:nary>
                      </m:den>
                    </m:f>
                  </m:oMath>
                </a14:m>
                <a:r>
                  <a:rPr lang="en-US" altLang="zh-CN" sz="2000" dirty="0">
                    <a:latin typeface="Times New Roman" panose="02020603050405020304" pitchFamily="18" charset="0"/>
                    <a:cs typeface="Times New Roman" panose="02020603050405020304" pitchFamily="18" charset="0"/>
                  </a:rPr>
                  <a:t>,</a:t>
                </a:r>
              </a:p>
              <a:p>
                <a:pPr indent="446088"/>
                <a:r>
                  <a:rPr lang="en-US" altLang="zh-CN" sz="20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𝜖</m:t>
                        </m:r>
                      </m:e>
                      <m:sub>
                        <m:r>
                          <a:rPr lang="en-US" altLang="zh-CN" sz="2000" i="1">
                            <a:latin typeface="Cambria Math" panose="02040503050406030204" pitchFamily="18" charset="0"/>
                          </a:rPr>
                          <m:t>𝑗</m:t>
                        </m:r>
                      </m:sub>
                    </m:sSub>
                  </m:oMath>
                </a14:m>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is the energy of state </a:t>
                </a:r>
                <a14:m>
                  <m:oMath xmlns:m="http://schemas.openxmlformats.org/officeDocument/2006/math">
                    <m:r>
                      <a:rPr lang="en-US" altLang="zh-CN" sz="2000" i="1">
                        <a:latin typeface="Cambria Math" panose="02040503050406030204" pitchFamily="18" charset="0"/>
                        <a:ea typeface="黑体" panose="02010609060101010101" pitchFamily="49" charset="-122"/>
                      </a:rPr>
                      <m:t>𝑗</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𝑘</m:t>
                        </m:r>
                      </m:e>
                      <m:sub>
                        <m:r>
                          <a:rPr lang="en-US" altLang="zh-CN" sz="2000" b="0" i="1" smtClean="0">
                            <a:latin typeface="Cambria Math" panose="02040503050406030204" pitchFamily="18" charset="0"/>
                            <a:ea typeface="黑体" panose="02010609060101010101" pitchFamily="49" charset="-122"/>
                          </a:rPr>
                          <m:t>𝐵</m:t>
                        </m:r>
                      </m:sub>
                    </m:sSub>
                  </m:oMath>
                </a14:m>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is Boltzmann const., </a:t>
                </a:r>
                <a14:m>
                  <m:oMath xmlns:m="http://schemas.openxmlformats.org/officeDocument/2006/math">
                    <m:r>
                      <a:rPr lang="en-US" altLang="zh-CN" sz="2000" b="0" i="1" smtClean="0">
                        <a:latin typeface="Cambria Math" panose="02040503050406030204" pitchFamily="18" charset="0"/>
                        <a:ea typeface="黑体" panose="02010609060101010101" pitchFamily="49" charset="-122"/>
                        <a:cs typeface="Times New Roman" panose="02020603050405020304" pitchFamily="18" charset="0"/>
                      </a:rPr>
                      <m:t>𝑇</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is temperature of the system</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average energy for each state is </a:t>
                </a:r>
                <a14:m>
                  <m:oMath xmlns:m="http://schemas.openxmlformats.org/officeDocument/2006/math">
                    <m:acc>
                      <m:accPr>
                        <m:chr m:val="̅"/>
                        <m:ctrlPr>
                          <a:rPr lang="en-US" altLang="zh-CN" sz="2000" i="1" smtClean="0">
                            <a:solidFill>
                              <a:srgbClr val="0070C0"/>
                            </a:solidFill>
                            <a:latin typeface="Cambria Math" panose="02040503050406030204" pitchFamily="18" charset="0"/>
                            <a:ea typeface="黑体" panose="02010609060101010101" pitchFamily="49" charset="-122"/>
                          </a:rPr>
                        </m:ctrlPr>
                      </m:accPr>
                      <m:e>
                        <m:r>
                          <a:rPr lang="en-US" altLang="zh-CN" sz="2000" b="0" i="1" smtClean="0">
                            <a:solidFill>
                              <a:srgbClr val="0070C0"/>
                            </a:solidFill>
                            <a:latin typeface="Cambria Math" panose="02040503050406030204" pitchFamily="18" charset="0"/>
                            <a:ea typeface="黑体" panose="02010609060101010101" pitchFamily="49" charset="-122"/>
                          </a:rPr>
                          <m:t>𝜖</m:t>
                        </m:r>
                      </m:e>
                    </m:acc>
                    <m:r>
                      <a:rPr lang="en-US" altLang="zh-CN" sz="2000" b="0" i="1" smtClean="0">
                        <a:solidFill>
                          <a:srgbClr val="0070C0"/>
                        </a:solidFill>
                        <a:latin typeface="Cambria Math" panose="02040503050406030204" pitchFamily="18" charset="0"/>
                        <a:ea typeface="黑体" panose="02010609060101010101" pitchFamily="49" charset="-122"/>
                      </a:rPr>
                      <m:t>=</m:t>
                    </m:r>
                    <m:nary>
                      <m:naryPr>
                        <m:chr m:val="∑"/>
                        <m:supHide m:val="on"/>
                        <m:ctrlPr>
                          <a:rPr lang="en-US" altLang="zh-CN" sz="2000" b="0" i="1" smtClean="0">
                            <a:solidFill>
                              <a:srgbClr val="0070C0"/>
                            </a:solidFill>
                            <a:latin typeface="Cambria Math" panose="02040503050406030204" pitchFamily="18" charset="0"/>
                            <a:ea typeface="黑体" panose="02010609060101010101" pitchFamily="49" charset="-122"/>
                          </a:rPr>
                        </m:ctrlPr>
                      </m:naryPr>
                      <m:sub>
                        <m:r>
                          <m:rPr>
                            <m:brk m:alnAt="7"/>
                          </m:rPr>
                          <a:rPr lang="en-US" altLang="zh-CN" sz="2000" b="0" i="1" smtClean="0">
                            <a:solidFill>
                              <a:srgbClr val="0070C0"/>
                            </a:solidFill>
                            <a:latin typeface="Cambria Math" panose="02040503050406030204" pitchFamily="18" charset="0"/>
                            <a:ea typeface="黑体" panose="02010609060101010101" pitchFamily="49" charset="-122"/>
                          </a:rPr>
                          <m:t>𝑗</m:t>
                        </m:r>
                      </m:sub>
                      <m:sup/>
                      <m:e>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𝜖</m:t>
                            </m:r>
                          </m:e>
                          <m:sub>
                            <m:r>
                              <a:rPr lang="en-US" altLang="zh-CN" sz="2000" i="1">
                                <a:solidFill>
                                  <a:srgbClr val="0070C0"/>
                                </a:solidFill>
                                <a:latin typeface="Cambria Math" panose="02040503050406030204" pitchFamily="18" charset="0"/>
                              </a:rPr>
                              <m:t>𝑗</m:t>
                            </m:r>
                          </m:sub>
                        </m:sSub>
                      </m:e>
                    </m:nary>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𝑃</m:t>
                        </m:r>
                      </m:e>
                      <m:sub>
                        <m:r>
                          <a:rPr lang="en-US" altLang="zh-CN" sz="2000" i="1">
                            <a:solidFill>
                              <a:srgbClr val="0070C0"/>
                            </a:solidFill>
                            <a:latin typeface="Cambria Math" panose="02040503050406030204" pitchFamily="18" charset="0"/>
                          </a:rPr>
                          <m:t>𝑗</m:t>
                        </m:r>
                      </m:sub>
                    </m:sSub>
                  </m:oMath>
                </a14:m>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If the state continuously depends on some variable </a:t>
                </a:r>
                <a14:m>
                  <m:oMath xmlns:m="http://schemas.openxmlformats.org/officeDocument/2006/math">
                    <m:r>
                      <a:rPr lang="en-US" altLang="zh-CN" sz="2000" b="0" i="1" smtClean="0">
                        <a:latin typeface="Cambria Math" panose="02040503050406030204" pitchFamily="18" charset="0"/>
                        <a:ea typeface="黑体" panose="02010609060101010101" pitchFamily="49" charset="-122"/>
                        <a:cs typeface="Times New Roman" panose="02020603050405020304" pitchFamily="18" charset="0"/>
                      </a:rPr>
                      <m:t>𝑞</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then probability</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probability density </a:t>
                </a:r>
                <a14:m>
                  <m:oMath xmlns:m="http://schemas.openxmlformats.org/officeDocument/2006/math">
                    <m:r>
                      <a:rPr lang="en-US" altLang="zh-CN" sz="2000" b="0" i="1" smtClean="0">
                        <a:solidFill>
                          <a:srgbClr val="0070C0"/>
                        </a:solidFill>
                        <a:latin typeface="Cambria Math" panose="02040503050406030204" pitchFamily="18" charset="0"/>
                      </a:rPr>
                      <m:t>𝑓</m:t>
                    </m:r>
                    <m:d>
                      <m:dPr>
                        <m:ctrlPr>
                          <a:rPr lang="en-US" altLang="zh-CN" sz="2000" b="0" i="1" smtClean="0">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𝑞</m:t>
                        </m:r>
                      </m:e>
                    </m:d>
                    <m:r>
                      <a:rPr lang="en-US" altLang="zh-CN" sz="2000" b="0" i="1" smtClean="0">
                        <a:solidFill>
                          <a:srgbClr val="0070C0"/>
                        </a:solidFill>
                        <a:latin typeface="Cambria Math" panose="02040503050406030204" pitchFamily="18" charset="0"/>
                      </a:rPr>
                      <m:t>=</m:t>
                    </m:r>
                    <m:sSup>
                      <m:sSupPr>
                        <m:ctrlPr>
                          <a:rPr lang="en-US" altLang="zh-CN" sz="2000" i="1">
                            <a:solidFill>
                              <a:srgbClr val="0070C0"/>
                            </a:solidFill>
                            <a:latin typeface="Cambria Math" panose="02040503050406030204" pitchFamily="18" charset="0"/>
                          </a:rPr>
                        </m:ctrlPr>
                      </m:sSupPr>
                      <m:e>
                        <m:r>
                          <a:rPr lang="en-US" altLang="zh-CN" sz="2000" b="0" i="1" smtClean="0">
                            <a:solidFill>
                              <a:srgbClr val="0070C0"/>
                            </a:solidFill>
                            <a:latin typeface="Cambria Math" panose="02040503050406030204" pitchFamily="18" charset="0"/>
                          </a:rPr>
                          <m:t>𝑁</m:t>
                        </m:r>
                        <m:r>
                          <a:rPr lang="en-US" altLang="zh-CN" sz="2000" i="1">
                            <a:solidFill>
                              <a:srgbClr val="0070C0"/>
                            </a:solidFill>
                            <a:latin typeface="Cambria Math" panose="02040503050406030204" pitchFamily="18" charset="0"/>
                          </a:rPr>
                          <m:t>𝑒</m:t>
                        </m:r>
                      </m:e>
                      <m:sup>
                        <m:r>
                          <a:rPr lang="en-US" altLang="zh-CN" sz="2000" i="1">
                            <a:solidFill>
                              <a:srgbClr val="0070C0"/>
                            </a:solidFill>
                            <a:latin typeface="Cambria Math" panose="02040503050406030204" pitchFamily="18" charset="0"/>
                          </a:rPr>
                          <m:t>−</m:t>
                        </m:r>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panose="02040503050406030204" pitchFamily="18" charset="0"/>
                              </a:rPr>
                              <m:t>𝜖</m:t>
                            </m:r>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𝑞</m:t>
                                </m:r>
                              </m:e>
                            </m:d>
                          </m:num>
                          <m:den>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𝑘</m:t>
                                </m:r>
                              </m:e>
                              <m:sub>
                                <m:r>
                                  <a:rPr lang="en-US" altLang="zh-CN" sz="2000" i="1">
                                    <a:solidFill>
                                      <a:srgbClr val="0070C0"/>
                                    </a:solidFill>
                                    <a:latin typeface="Cambria Math" panose="02040503050406030204" pitchFamily="18" charset="0"/>
                                  </a:rPr>
                                  <m:t>𝐵</m:t>
                                </m:r>
                              </m:sub>
                            </m:sSub>
                            <m:r>
                              <a:rPr lang="en-US" altLang="zh-CN" sz="2000" i="1">
                                <a:solidFill>
                                  <a:srgbClr val="0070C0"/>
                                </a:solidFill>
                                <a:latin typeface="Cambria Math" panose="02040503050406030204" pitchFamily="18" charset="0"/>
                              </a:rPr>
                              <m:t>𝑇</m:t>
                            </m:r>
                          </m:den>
                        </m:f>
                      </m:sup>
                    </m:sSup>
                  </m:oMath>
                </a14:m>
                <a:r>
                  <a:rPr lang="en-US" altLang="zh-CN" sz="2000" b="0" i="0" dirty="0">
                    <a:latin typeface="Times New Roman" panose="02020603050405020304" pitchFamily="18" charset="0"/>
                    <a:cs typeface="Times New Roman" panose="02020603050405020304" pitchFamily="18" charset="0"/>
                  </a:rPr>
                  <a:t>, where </a:t>
                </a:r>
                <a14:m>
                  <m:oMath xmlns:m="http://schemas.openxmlformats.org/officeDocument/2006/math">
                    <m:r>
                      <a:rPr lang="en-US" altLang="zh-CN" sz="2000" b="0" i="1" smtClean="0">
                        <a:latin typeface="Cambria Math" panose="02040503050406030204" pitchFamily="18" charset="0"/>
                      </a:rPr>
                      <m:t>𝑁</m:t>
                    </m:r>
                  </m:oMath>
                </a14:m>
                <a:r>
                  <a:rPr lang="en-US" altLang="zh-CN" sz="2000" b="0" i="0" dirty="0">
                    <a:latin typeface="Times New Roman" panose="02020603050405020304" pitchFamily="18" charset="0"/>
                    <a:cs typeface="Times New Roman" panose="02020603050405020304" pitchFamily="18" charset="0"/>
                  </a:rPr>
                  <a:t> is a normalization factor to make </a:t>
                </a:r>
                <a14:m>
                  <m:oMath xmlns:m="http://schemas.openxmlformats.org/officeDocument/2006/math">
                    <m:nary>
                      <m:naryPr>
                        <m:limLoc m:val="undOvr"/>
                        <m:subHide m:val="on"/>
                        <m:supHide m:val="on"/>
                        <m:ctrlPr>
                          <a:rPr lang="en-US" altLang="zh-CN" sz="2000" i="1" smtClean="0">
                            <a:solidFill>
                              <a:srgbClr val="0070C0"/>
                            </a:solidFill>
                            <a:latin typeface="Cambria Math" panose="02040503050406030204" pitchFamily="18" charset="0"/>
                            <a:ea typeface="黑体" panose="02010609060101010101" pitchFamily="49" charset="-122"/>
                          </a:rPr>
                        </m:ctrlPr>
                      </m:naryPr>
                      <m:sub/>
                      <m:sup/>
                      <m:e>
                        <m:r>
                          <a:rPr lang="en-US" altLang="zh-CN" sz="2000" i="1">
                            <a:solidFill>
                              <a:srgbClr val="0070C0"/>
                            </a:solidFill>
                            <a:latin typeface="Cambria Math" panose="02040503050406030204" pitchFamily="18" charset="0"/>
                            <a:ea typeface="黑体" panose="02010609060101010101" pitchFamily="49" charset="-122"/>
                          </a:rPr>
                          <m:t>𝑑𝑞</m:t>
                        </m:r>
                        <m:r>
                          <a:rPr lang="en-US" altLang="zh-CN" sz="2000" i="1">
                            <a:solidFill>
                              <a:srgbClr val="0070C0"/>
                            </a:solidFill>
                            <a:latin typeface="Cambria Math" panose="02040503050406030204" pitchFamily="18" charset="0"/>
                            <a:ea typeface="黑体" panose="02010609060101010101" pitchFamily="49" charset="-122"/>
                          </a:rPr>
                          <m:t> </m:t>
                        </m:r>
                        <m:r>
                          <a:rPr lang="en-US" altLang="zh-CN" sz="2000" i="1">
                            <a:solidFill>
                              <a:srgbClr val="0070C0"/>
                            </a:solidFill>
                            <a:latin typeface="Cambria Math" panose="02040503050406030204" pitchFamily="18" charset="0"/>
                          </a:rPr>
                          <m:t>𝑓</m:t>
                        </m:r>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𝑞</m:t>
                            </m:r>
                          </m:e>
                        </m:d>
                      </m:e>
                    </m:nary>
                    <m:r>
                      <a:rPr lang="en-US" altLang="zh-CN" sz="2000" b="0" i="0" smtClean="0">
                        <a:solidFill>
                          <a:srgbClr val="0070C0"/>
                        </a:solidFill>
                        <a:latin typeface="Cambria Math" panose="02040503050406030204" pitchFamily="18" charset="0"/>
                      </a:rPr>
                      <m:t>=1</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average energy is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acc>
                      <m:accPr>
                        <m:chr m:val="̅"/>
                        <m:ctrlPr>
                          <a:rPr lang="en-US" altLang="zh-CN" sz="2000" i="1" smtClean="0">
                            <a:solidFill>
                              <a:srgbClr val="0070C0"/>
                            </a:solidFill>
                            <a:latin typeface="Cambria Math" panose="02040503050406030204" pitchFamily="18" charset="0"/>
                            <a:ea typeface="黑体" panose="02010609060101010101" pitchFamily="49" charset="-122"/>
                          </a:rPr>
                        </m:ctrlPr>
                      </m:accPr>
                      <m:e>
                        <m:r>
                          <a:rPr lang="en-US" altLang="zh-CN" sz="2000" i="1">
                            <a:solidFill>
                              <a:srgbClr val="0070C0"/>
                            </a:solidFill>
                            <a:latin typeface="Cambria Math" panose="02040503050406030204" pitchFamily="18" charset="0"/>
                            <a:ea typeface="黑体" panose="02010609060101010101" pitchFamily="49" charset="-122"/>
                          </a:rPr>
                          <m:t>𝜖</m:t>
                        </m:r>
                      </m:e>
                    </m:acc>
                    <m:r>
                      <a:rPr lang="en-US" altLang="zh-CN" sz="2000" i="1">
                        <a:solidFill>
                          <a:srgbClr val="0070C0"/>
                        </a:solidFill>
                        <a:latin typeface="Cambria Math" panose="02040503050406030204" pitchFamily="18" charset="0"/>
                        <a:ea typeface="黑体" panose="02010609060101010101" pitchFamily="49" charset="-122"/>
                      </a:rPr>
                      <m:t>=</m:t>
                    </m:r>
                    <m:nary>
                      <m:naryPr>
                        <m:limLoc m:val="undOvr"/>
                        <m:subHide m:val="on"/>
                        <m:supHide m:val="on"/>
                        <m:ctrlPr>
                          <a:rPr lang="en-US" altLang="zh-CN" sz="2000" i="1" smtClean="0">
                            <a:solidFill>
                              <a:srgbClr val="0070C0"/>
                            </a:solidFill>
                            <a:latin typeface="Cambria Math" panose="02040503050406030204" pitchFamily="18" charset="0"/>
                            <a:ea typeface="黑体" panose="02010609060101010101" pitchFamily="49" charset="-122"/>
                          </a:rPr>
                        </m:ctrlPr>
                      </m:naryPr>
                      <m:sub/>
                      <m:sup/>
                      <m:e>
                        <m:r>
                          <a:rPr lang="en-US" altLang="zh-CN" sz="2000" b="0" i="1" smtClean="0">
                            <a:solidFill>
                              <a:srgbClr val="0070C0"/>
                            </a:solidFill>
                            <a:latin typeface="Cambria Math" panose="02040503050406030204" pitchFamily="18" charset="0"/>
                            <a:ea typeface="黑体" panose="02010609060101010101" pitchFamily="49" charset="-122"/>
                          </a:rPr>
                          <m:t>𝑑𝑞</m:t>
                        </m:r>
                        <m:r>
                          <a:rPr lang="en-US" altLang="zh-CN" sz="2000" b="0" i="1" smtClean="0">
                            <a:solidFill>
                              <a:srgbClr val="0070C0"/>
                            </a:solidFill>
                            <a:latin typeface="Cambria Math" panose="02040503050406030204" pitchFamily="18" charset="0"/>
                            <a:ea typeface="黑体" panose="02010609060101010101" pitchFamily="49" charset="-122"/>
                          </a:rPr>
                          <m:t> </m:t>
                        </m:r>
                        <m:r>
                          <a:rPr lang="en-US" altLang="zh-CN" sz="2000" i="1">
                            <a:solidFill>
                              <a:srgbClr val="0070C0"/>
                            </a:solidFill>
                            <a:latin typeface="Cambria Math" panose="02040503050406030204" pitchFamily="18" charset="0"/>
                          </a:rPr>
                          <m:t>𝜖</m:t>
                        </m:r>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𝑞</m:t>
                            </m:r>
                          </m:e>
                        </m:d>
                        <m:r>
                          <a:rPr lang="en-US" altLang="zh-CN" sz="2000" i="1">
                            <a:solidFill>
                              <a:srgbClr val="0070C0"/>
                            </a:solidFill>
                            <a:latin typeface="Cambria Math" panose="02040503050406030204" pitchFamily="18" charset="0"/>
                          </a:rPr>
                          <m:t>𝑓</m:t>
                        </m:r>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𝑞</m:t>
                            </m:r>
                          </m:e>
                        </m:d>
                      </m:e>
                    </m:nary>
                  </m:oMath>
                </a14:m>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518855" y="746968"/>
                <a:ext cx="11154288" cy="2877454"/>
              </a:xfrm>
              <a:prstGeom prst="rect">
                <a:avLst/>
              </a:prstGeom>
              <a:blipFill>
                <a:blip r:embed="rId4"/>
                <a:stretch>
                  <a:fillRect l="-491" r="-1638" b="-29747"/>
                </a:stretch>
              </a:blipFill>
              <a:ln>
                <a:solidFill>
                  <a:srgbClr val="0070C0"/>
                </a:solidFill>
              </a:ln>
            </p:spPr>
            <p:txBody>
              <a:bodyPr/>
              <a:lstStyle/>
              <a:p>
                <a:r>
                  <a:rPr lang="zh-CN" altLang="en-US">
                    <a:noFill/>
                  </a:rPr>
                  <a:t> </a:t>
                </a:r>
              </a:p>
            </p:txBody>
          </p:sp>
        </mc:Fallback>
      </mc:AlternateContent>
      <p:sp>
        <p:nvSpPr>
          <p:cNvPr id="5" name="Rectangle 4">
            <a:extLst>
              <a:ext uri="{FF2B5EF4-FFF2-40B4-BE49-F238E27FC236}">
                <a16:creationId xmlns:a16="http://schemas.microsoft.com/office/drawing/2014/main" id="{70C870B8-F1F2-41FC-B49D-572D0590DCB6}"/>
              </a:ext>
            </a:extLst>
          </p:cNvPr>
          <p:cNvSpPr/>
          <p:nvPr/>
        </p:nvSpPr>
        <p:spPr>
          <a:xfrm>
            <a:off x="649785" y="3863533"/>
            <a:ext cx="10892429" cy="1477328"/>
          </a:xfrm>
          <a:prstGeom prst="rect">
            <a:avLst/>
          </a:prstGeom>
        </p:spPr>
        <p:txBody>
          <a:bodyPr wrap="square">
            <a:spAutoFit/>
          </a:bodyPr>
          <a:lstStyle/>
          <a:p>
            <a:pPr marL="285750" indent="-285750">
              <a:buFont typeface="Arial" panose="020B0604020202020204" pitchFamily="34" charset="0"/>
              <a:buChar char="•"/>
            </a:pPr>
            <a:r>
              <a:rPr lang="en-US" altLang="zh-CN" dirty="0">
                <a:ea typeface="黑体" panose="02010609060101010101" pitchFamily="49" charset="-122"/>
              </a:rPr>
              <a:t>Since electromagnetic waves do not interact with each other, thermal equilibrium of the radiation field is achieved through the interaction of light with the cavity walls. </a:t>
            </a:r>
          </a:p>
          <a:p>
            <a:pPr marL="285750" indent="-285750">
              <a:buFont typeface="Arial" panose="020B0604020202020204" pitchFamily="34" charset="0"/>
              <a:buChar char="•"/>
            </a:pPr>
            <a:r>
              <a:rPr lang="en-US" altLang="zh-CN" dirty="0">
                <a:ea typeface="黑体" panose="02010609060101010101" pitchFamily="49" charset="-122"/>
              </a:rPr>
              <a:t>He hypothesizes the walls of the cavity as an enormous array of harmonic oscillators.</a:t>
            </a:r>
          </a:p>
          <a:p>
            <a:pPr marL="285750" indent="-285750">
              <a:buFont typeface="Arial" panose="020B0604020202020204" pitchFamily="34" charset="0"/>
              <a:buChar char="•"/>
            </a:pPr>
            <a:r>
              <a:rPr lang="en-US" altLang="zh-CN" dirty="0">
                <a:ea typeface="黑体" panose="02010609060101010101" pitchFamily="49" charset="-122"/>
              </a:rPr>
              <a:t>Each oscillator emits only a single frequency, collectively they emit the entire range of frequencies found within the blackbody.</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B39C210A-0DA8-4C8A-B6D0-93D98A62171B}"/>
                  </a:ext>
                </a:extLst>
              </p:cNvPr>
              <p:cNvSpPr/>
              <p:nvPr/>
            </p:nvSpPr>
            <p:spPr>
              <a:xfrm>
                <a:off x="5672134" y="5617859"/>
                <a:ext cx="4441536" cy="976999"/>
              </a:xfrm>
              <a:prstGeom prst="rect">
                <a:avLst/>
              </a:prstGeom>
            </p:spPr>
            <p:txBody>
              <a:bodyPr wrap="non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altLang="zh-CN" sz="2000" i="1" smtClean="0">
                              <a:solidFill>
                                <a:srgbClr val="0070C0"/>
                              </a:solidFill>
                              <a:latin typeface="Cambria Math" panose="02040503050406030204" pitchFamily="18" charset="0"/>
                            </a:rPr>
                          </m:ctrlPr>
                        </m:accPr>
                        <m:e>
                          <m:r>
                            <a:rPr lang="en-US" altLang="zh-CN" sz="2000" i="1">
                              <a:solidFill>
                                <a:srgbClr val="0070C0"/>
                              </a:solidFill>
                              <a:latin typeface="Cambria Math"/>
                            </a:rPr>
                            <m:t>𝜖</m:t>
                          </m:r>
                        </m:e>
                      </m:acc>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a:rPr>
                            <m:t>𝑇</m:t>
                          </m:r>
                        </m:e>
                      </m:d>
                      <m:r>
                        <a:rPr lang="en-US" altLang="zh-CN" sz="2000" i="1">
                          <a:solidFill>
                            <a:srgbClr val="0070C0"/>
                          </a:solidFill>
                          <a:latin typeface="Cambria Math"/>
                        </a:rPr>
                        <m:t>=</m:t>
                      </m:r>
                      <m:nary>
                        <m:naryPr>
                          <m:chr m:val="∬"/>
                          <m:limLoc m:val="undOvr"/>
                          <m:subHide m:val="on"/>
                          <m:supHide m:val="on"/>
                          <m:ctrlPr>
                            <a:rPr lang="en-US" altLang="zh-CN" sz="2000" i="1" smtClean="0">
                              <a:solidFill>
                                <a:srgbClr val="0070C0"/>
                              </a:solidFill>
                              <a:latin typeface="Cambria Math" panose="02040503050406030204" pitchFamily="18" charset="0"/>
                            </a:rPr>
                          </m:ctrlPr>
                        </m:naryPr>
                        <m:sub/>
                        <m:sup/>
                        <m:e>
                          <m:r>
                            <a:rPr lang="en-US" altLang="zh-CN" sz="2000" b="0" i="1" smtClean="0">
                              <a:solidFill>
                                <a:srgbClr val="0070C0"/>
                              </a:solidFill>
                              <a:latin typeface="Cambria Math" panose="02040503050406030204" pitchFamily="18" charset="0"/>
                            </a:rPr>
                            <m:t>𝑑𝑥𝑑𝑝</m:t>
                          </m:r>
                          <m:r>
                            <a:rPr lang="en-US" altLang="zh-CN" sz="2000" b="0" i="1" smtClean="0">
                              <a:solidFill>
                                <a:srgbClr val="0070C0"/>
                              </a:solidFill>
                              <a:latin typeface="Cambria Math" panose="02040503050406030204" pitchFamily="18" charset="0"/>
                            </a:rPr>
                            <m:t> </m:t>
                          </m:r>
                          <m:r>
                            <a:rPr lang="en-US" altLang="zh-CN" sz="2000" i="1">
                              <a:solidFill>
                                <a:srgbClr val="0070C0"/>
                              </a:solidFill>
                              <a:latin typeface="Cambria Math"/>
                            </a:rPr>
                            <m:t>𝜖</m:t>
                          </m:r>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𝑥</m:t>
                              </m:r>
                              <m:r>
                                <a:rPr lang="en-US" altLang="zh-CN" sz="2000" i="1">
                                  <a:solidFill>
                                    <a:srgbClr val="0070C0"/>
                                  </a:solidFill>
                                  <a:latin typeface="Cambria Math" panose="02040503050406030204" pitchFamily="18" charset="0"/>
                                </a:rPr>
                                <m:t>,</m:t>
                              </m:r>
                              <m:r>
                                <a:rPr lang="en-US" altLang="zh-CN" sz="2000" i="1">
                                  <a:solidFill>
                                    <a:srgbClr val="0070C0"/>
                                  </a:solidFill>
                                  <a:latin typeface="Cambria Math" panose="02040503050406030204" pitchFamily="18" charset="0"/>
                                </a:rPr>
                                <m:t>𝑝</m:t>
                              </m:r>
                            </m:e>
                          </m:d>
                          <m:r>
                            <a:rPr lang="en-US" altLang="zh-CN" sz="2000" b="0" i="1" smtClean="0">
                              <a:solidFill>
                                <a:srgbClr val="0070C0"/>
                              </a:solidFill>
                              <a:latin typeface="Cambria Math" panose="02040503050406030204" pitchFamily="18" charset="0"/>
                            </a:rPr>
                            <m:t> </m:t>
                          </m:r>
                          <m:sSup>
                            <m:sSupPr>
                              <m:ctrlPr>
                                <a:rPr lang="en-US" altLang="zh-CN" sz="2000" b="0" i="1" smtClean="0">
                                  <a:solidFill>
                                    <a:srgbClr val="0070C0"/>
                                  </a:solidFill>
                                  <a:latin typeface="Cambria Math" panose="02040503050406030204" pitchFamily="18" charset="0"/>
                                </a:rPr>
                              </m:ctrlPr>
                            </m:sSupPr>
                            <m:e>
                              <m:r>
                                <a:rPr lang="en-US" altLang="zh-CN" sz="2000" b="0" i="1" smtClean="0">
                                  <a:solidFill>
                                    <a:srgbClr val="0070C0"/>
                                  </a:solidFill>
                                  <a:latin typeface="Cambria Math" panose="02040503050406030204" pitchFamily="18" charset="0"/>
                                </a:rPr>
                                <m:t>𝑒</m:t>
                              </m:r>
                            </m:e>
                            <m:sup>
                              <m:r>
                                <a:rPr lang="en-US" altLang="zh-CN" sz="2000" b="0" i="1" smtClean="0">
                                  <a:solidFill>
                                    <a:srgbClr val="0070C0"/>
                                  </a:solidFill>
                                  <a:latin typeface="Cambria Math" panose="02040503050406030204" pitchFamily="18" charset="0"/>
                                </a:rPr>
                                <m:t>−</m:t>
                              </m:r>
                              <m:f>
                                <m:fPr>
                                  <m:ctrlPr>
                                    <a:rPr lang="en-US" altLang="zh-CN" sz="2000" b="0" i="1" smtClean="0">
                                      <a:solidFill>
                                        <a:srgbClr val="0070C0"/>
                                      </a:solidFill>
                                      <a:latin typeface="Cambria Math" panose="02040503050406030204" pitchFamily="18" charset="0"/>
                                    </a:rPr>
                                  </m:ctrlPr>
                                </m:fPr>
                                <m:num>
                                  <m:r>
                                    <a:rPr lang="en-US" altLang="zh-CN" sz="2000" i="1">
                                      <a:solidFill>
                                        <a:srgbClr val="0070C0"/>
                                      </a:solidFill>
                                      <a:latin typeface="Cambria Math"/>
                                    </a:rPr>
                                    <m:t>𝜖</m:t>
                                  </m:r>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𝑥</m:t>
                                      </m:r>
                                      <m:r>
                                        <a:rPr lang="en-US" altLang="zh-CN" sz="2000" i="1">
                                          <a:solidFill>
                                            <a:srgbClr val="0070C0"/>
                                          </a:solidFill>
                                          <a:latin typeface="Cambria Math" panose="02040503050406030204" pitchFamily="18" charset="0"/>
                                        </a:rPr>
                                        <m:t>,</m:t>
                                      </m:r>
                                      <m:r>
                                        <a:rPr lang="en-US" altLang="zh-CN" sz="2000" i="1">
                                          <a:solidFill>
                                            <a:srgbClr val="0070C0"/>
                                          </a:solidFill>
                                          <a:latin typeface="Cambria Math" panose="02040503050406030204" pitchFamily="18" charset="0"/>
                                        </a:rPr>
                                        <m:t>𝑝</m:t>
                                      </m:r>
                                    </m:e>
                                  </m:d>
                                </m:num>
                                <m:den>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𝑘</m:t>
                                      </m:r>
                                    </m:e>
                                    <m:sub>
                                      <m:r>
                                        <a:rPr lang="en-US" altLang="zh-CN" sz="2000" i="1">
                                          <a:solidFill>
                                            <a:srgbClr val="0070C0"/>
                                          </a:solidFill>
                                          <a:latin typeface="Cambria Math"/>
                                        </a:rPr>
                                        <m:t>𝐵</m:t>
                                      </m:r>
                                    </m:sub>
                                  </m:sSub>
                                  <m:r>
                                    <a:rPr lang="en-US" altLang="zh-CN" sz="2000" i="1">
                                      <a:solidFill>
                                        <a:srgbClr val="0070C0"/>
                                      </a:solidFill>
                                      <a:latin typeface="Cambria Math"/>
                                    </a:rPr>
                                    <m:t>𝑇</m:t>
                                  </m:r>
                                </m:den>
                              </m:f>
                            </m:sup>
                          </m:sSup>
                        </m:e>
                      </m:nary>
                      <m:r>
                        <a:rPr lang="en-US" altLang="zh-CN" sz="2000" b="0" i="1" smtClean="0">
                          <a:solidFill>
                            <a:srgbClr val="0070C0"/>
                          </a:solidFill>
                          <a:latin typeface="Cambria Math" panose="02040503050406030204" pitchFamily="18" charset="0"/>
                        </a:rPr>
                        <m:t>=</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𝑘</m:t>
                          </m:r>
                        </m:e>
                        <m:sub>
                          <m:r>
                            <a:rPr lang="en-US" altLang="zh-CN" sz="2000" i="1">
                              <a:solidFill>
                                <a:srgbClr val="0070C0"/>
                              </a:solidFill>
                              <a:latin typeface="Cambria Math"/>
                            </a:rPr>
                            <m:t>𝐵</m:t>
                          </m:r>
                        </m:sub>
                      </m:sSub>
                      <m:r>
                        <a:rPr lang="en-US" altLang="zh-CN" sz="2000" i="1">
                          <a:solidFill>
                            <a:srgbClr val="0070C0"/>
                          </a:solidFill>
                          <a:latin typeface="Cambria Math"/>
                        </a:rPr>
                        <m:t>𝑇</m:t>
                      </m:r>
                    </m:oMath>
                  </m:oMathPara>
                </a14:m>
                <a:endParaRPr lang="en-US" altLang="zh-CN" sz="2000" dirty="0">
                  <a:ea typeface="黑体" panose="02010609060101010101" pitchFamily="49" charset="-122"/>
                </a:endParaRPr>
              </a:p>
            </p:txBody>
          </p:sp>
        </mc:Choice>
        <mc:Fallback xmlns="">
          <p:sp>
            <p:nvSpPr>
              <p:cNvPr id="9" name="Rectangle 8">
                <a:extLst>
                  <a:ext uri="{FF2B5EF4-FFF2-40B4-BE49-F238E27FC236}">
                    <a16:creationId xmlns:a16="http://schemas.microsoft.com/office/drawing/2014/main" id="{B39C210A-0DA8-4C8A-B6D0-93D98A62171B}"/>
                  </a:ext>
                </a:extLst>
              </p:cNvPr>
              <p:cNvSpPr>
                <a:spLocks noRot="1" noChangeAspect="1" noMove="1" noResize="1" noEditPoints="1" noAdjustHandles="1" noChangeArrowheads="1" noChangeShapeType="1" noTextEdit="1"/>
              </p:cNvSpPr>
              <p:nvPr/>
            </p:nvSpPr>
            <p:spPr>
              <a:xfrm>
                <a:off x="5672134" y="5617859"/>
                <a:ext cx="4441536" cy="9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A34FAFD-81FF-463B-9765-EAA585E410F2}"/>
                  </a:ext>
                </a:extLst>
              </p:cNvPr>
              <p:cNvSpPr/>
              <p:nvPr/>
            </p:nvSpPr>
            <p:spPr>
              <a:xfrm>
                <a:off x="1485066" y="5617859"/>
                <a:ext cx="3494638" cy="786882"/>
              </a:xfrm>
              <a:prstGeom prst="rect">
                <a:avLst/>
              </a:prstGeom>
            </p:spPr>
            <p:txBody>
              <a:bodyPr wrap="squar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i="1" smtClean="0">
                          <a:solidFill>
                            <a:srgbClr val="0070C0"/>
                          </a:solidFill>
                          <a:latin typeface="Cambria Math"/>
                        </a:rPr>
                        <m:t>𝜖</m:t>
                      </m:r>
                      <m:r>
                        <a:rPr lang="en-US" altLang="zh-CN" sz="2000" b="0" i="1" smtClean="0">
                          <a:solidFill>
                            <a:srgbClr val="0070C0"/>
                          </a:solidFill>
                          <a:latin typeface="Cambria Math" panose="02040503050406030204" pitchFamily="18" charset="0"/>
                        </a:rPr>
                        <m:t>(</m:t>
                      </m:r>
                      <m:r>
                        <a:rPr lang="en-US" altLang="zh-CN" sz="2000" b="0" i="1" smtClean="0">
                          <a:solidFill>
                            <a:srgbClr val="0070C0"/>
                          </a:solidFill>
                          <a:latin typeface="Cambria Math" panose="02040503050406030204" pitchFamily="18" charset="0"/>
                        </a:rPr>
                        <m:t>𝑥</m:t>
                      </m:r>
                      <m:r>
                        <a:rPr lang="en-US" altLang="zh-CN" sz="2000" b="0" i="1" smtClean="0">
                          <a:solidFill>
                            <a:srgbClr val="0070C0"/>
                          </a:solidFill>
                          <a:latin typeface="Cambria Math" panose="02040503050406030204" pitchFamily="18" charset="0"/>
                        </a:rPr>
                        <m:t>,</m:t>
                      </m:r>
                      <m:r>
                        <a:rPr lang="en-US" altLang="zh-CN" sz="2000" b="0" i="1" smtClean="0">
                          <a:solidFill>
                            <a:srgbClr val="0070C0"/>
                          </a:solidFill>
                          <a:latin typeface="Cambria Math" panose="02040503050406030204" pitchFamily="18" charset="0"/>
                        </a:rPr>
                        <m:t>𝑝</m:t>
                      </m:r>
                      <m:r>
                        <a:rPr lang="en-US" altLang="zh-CN" sz="2000" b="0" i="1" smtClean="0">
                          <a:solidFill>
                            <a:srgbClr val="0070C0"/>
                          </a:solidFill>
                          <a:latin typeface="Cambria Math" panose="02040503050406030204" pitchFamily="18" charset="0"/>
                        </a:rPr>
                        <m:t>)=</m:t>
                      </m:r>
                      <m:f>
                        <m:fPr>
                          <m:ctrlPr>
                            <a:rPr lang="en-US" altLang="zh-CN" sz="2000" b="0" i="1" smtClean="0">
                              <a:solidFill>
                                <a:srgbClr val="0070C0"/>
                              </a:solidFill>
                              <a:latin typeface="Cambria Math" panose="02040503050406030204" pitchFamily="18" charset="0"/>
                            </a:rPr>
                          </m:ctrlPr>
                        </m:fPr>
                        <m:num>
                          <m:r>
                            <a:rPr lang="en-US" altLang="zh-CN" sz="2000" b="0" i="1" smtClean="0">
                              <a:solidFill>
                                <a:srgbClr val="0070C0"/>
                              </a:solidFill>
                              <a:latin typeface="Cambria Math" panose="02040503050406030204" pitchFamily="18" charset="0"/>
                            </a:rPr>
                            <m:t>1</m:t>
                          </m:r>
                        </m:num>
                        <m:den>
                          <m:r>
                            <a:rPr lang="en-US" altLang="zh-CN" sz="2000" b="0" i="1" smtClean="0">
                              <a:solidFill>
                                <a:srgbClr val="0070C0"/>
                              </a:solidFill>
                              <a:latin typeface="Cambria Math" panose="02040503050406030204" pitchFamily="18" charset="0"/>
                            </a:rPr>
                            <m:t>2</m:t>
                          </m:r>
                        </m:den>
                      </m:f>
                      <m:r>
                        <a:rPr lang="en-US" altLang="zh-CN" sz="2000" b="0" i="1" smtClean="0">
                          <a:solidFill>
                            <a:srgbClr val="0070C0"/>
                          </a:solidFill>
                          <a:latin typeface="Cambria Math" panose="02040503050406030204" pitchFamily="18" charset="0"/>
                        </a:rPr>
                        <m:t>𝑚</m:t>
                      </m:r>
                      <m:sSubSup>
                        <m:sSubSupPr>
                          <m:ctrlPr>
                            <a:rPr lang="en-US" altLang="zh-CN" sz="2000" b="0" i="1" smtClean="0">
                              <a:solidFill>
                                <a:srgbClr val="0070C0"/>
                              </a:solidFill>
                              <a:latin typeface="Cambria Math" panose="02040503050406030204" pitchFamily="18" charset="0"/>
                            </a:rPr>
                          </m:ctrlPr>
                        </m:sSubSupPr>
                        <m:e>
                          <m:r>
                            <a:rPr lang="en-US" altLang="zh-CN" sz="2000" b="0" i="1" smtClean="0">
                              <a:solidFill>
                                <a:srgbClr val="0070C0"/>
                              </a:solidFill>
                              <a:latin typeface="Cambria Math" panose="02040503050406030204" pitchFamily="18" charset="0"/>
                            </a:rPr>
                            <m:t>𝜔</m:t>
                          </m:r>
                        </m:e>
                        <m:sub>
                          <m:r>
                            <a:rPr lang="en-US" altLang="zh-CN" sz="2000" b="0" i="1" smtClean="0">
                              <a:solidFill>
                                <a:srgbClr val="0070C0"/>
                              </a:solidFill>
                              <a:latin typeface="Cambria Math" panose="02040503050406030204" pitchFamily="18" charset="0"/>
                            </a:rPr>
                            <m:t>0</m:t>
                          </m:r>
                        </m:sub>
                        <m:sup>
                          <m:r>
                            <a:rPr lang="en-US" altLang="zh-CN" sz="2000" b="0" i="1" smtClean="0">
                              <a:solidFill>
                                <a:srgbClr val="0070C0"/>
                              </a:solidFill>
                              <a:latin typeface="Cambria Math" panose="02040503050406030204" pitchFamily="18" charset="0"/>
                            </a:rPr>
                            <m:t>2</m:t>
                          </m:r>
                        </m:sup>
                      </m:sSubSup>
                      <m:sSup>
                        <m:sSupPr>
                          <m:ctrlPr>
                            <a:rPr lang="en-US" altLang="zh-CN" sz="2000" b="0" i="1" smtClean="0">
                              <a:solidFill>
                                <a:srgbClr val="0070C0"/>
                              </a:solidFill>
                              <a:latin typeface="Cambria Math" panose="02040503050406030204" pitchFamily="18" charset="0"/>
                            </a:rPr>
                          </m:ctrlPr>
                        </m:sSupPr>
                        <m:e>
                          <m:r>
                            <a:rPr lang="en-US" altLang="zh-CN" sz="2000" b="0" i="1" smtClean="0">
                              <a:solidFill>
                                <a:srgbClr val="0070C0"/>
                              </a:solidFill>
                              <a:latin typeface="Cambria Math" panose="02040503050406030204" pitchFamily="18" charset="0"/>
                            </a:rPr>
                            <m:t>𝑥</m:t>
                          </m:r>
                        </m:e>
                        <m:sup>
                          <m:r>
                            <a:rPr lang="en-US" altLang="zh-CN" sz="2000" b="0" i="1" smtClean="0">
                              <a:solidFill>
                                <a:srgbClr val="0070C0"/>
                              </a:solidFill>
                              <a:latin typeface="Cambria Math" panose="02040503050406030204" pitchFamily="18" charset="0"/>
                            </a:rPr>
                            <m:t>2</m:t>
                          </m:r>
                        </m:sup>
                      </m:sSup>
                      <m:r>
                        <a:rPr lang="en-US" altLang="zh-CN" sz="2000" b="0" i="1" smtClean="0">
                          <a:solidFill>
                            <a:srgbClr val="0070C0"/>
                          </a:solidFill>
                          <a:latin typeface="Cambria Math" panose="02040503050406030204" pitchFamily="18" charset="0"/>
                        </a:rPr>
                        <m:t>+</m:t>
                      </m:r>
                      <m:f>
                        <m:fPr>
                          <m:ctrlPr>
                            <a:rPr lang="en-US" altLang="zh-CN" sz="2000" b="0" i="1" smtClean="0">
                              <a:solidFill>
                                <a:srgbClr val="0070C0"/>
                              </a:solidFill>
                              <a:latin typeface="Cambria Math" panose="02040503050406030204" pitchFamily="18" charset="0"/>
                            </a:rPr>
                          </m:ctrlPr>
                        </m:fPr>
                        <m:num>
                          <m:sSup>
                            <m:sSupPr>
                              <m:ctrlPr>
                                <a:rPr lang="en-US" altLang="zh-CN" sz="2000" b="0" i="1" smtClean="0">
                                  <a:solidFill>
                                    <a:srgbClr val="0070C0"/>
                                  </a:solidFill>
                                  <a:latin typeface="Cambria Math" panose="02040503050406030204" pitchFamily="18" charset="0"/>
                                </a:rPr>
                              </m:ctrlPr>
                            </m:sSupPr>
                            <m:e>
                              <m:r>
                                <a:rPr lang="en-US" altLang="zh-CN" sz="2000" b="0" i="1" smtClean="0">
                                  <a:solidFill>
                                    <a:srgbClr val="0070C0"/>
                                  </a:solidFill>
                                  <a:latin typeface="Cambria Math" panose="02040503050406030204" pitchFamily="18" charset="0"/>
                                </a:rPr>
                                <m:t>𝑝</m:t>
                              </m:r>
                            </m:e>
                            <m:sup>
                              <m:r>
                                <a:rPr lang="en-US" altLang="zh-CN" sz="2000" b="0" i="1" smtClean="0">
                                  <a:solidFill>
                                    <a:srgbClr val="0070C0"/>
                                  </a:solidFill>
                                  <a:latin typeface="Cambria Math" panose="02040503050406030204" pitchFamily="18" charset="0"/>
                                </a:rPr>
                                <m:t>2</m:t>
                              </m:r>
                            </m:sup>
                          </m:sSup>
                        </m:num>
                        <m:den>
                          <m:r>
                            <a:rPr lang="en-US" altLang="zh-CN" sz="2000" b="0" i="1" smtClean="0">
                              <a:solidFill>
                                <a:srgbClr val="0070C0"/>
                              </a:solidFill>
                              <a:latin typeface="Cambria Math" panose="02040503050406030204" pitchFamily="18" charset="0"/>
                            </a:rPr>
                            <m:t>2</m:t>
                          </m:r>
                          <m:r>
                            <a:rPr lang="en-US" altLang="zh-CN" sz="2000" b="0" i="1" smtClean="0">
                              <a:solidFill>
                                <a:srgbClr val="0070C0"/>
                              </a:solidFill>
                              <a:latin typeface="Cambria Math" panose="02040503050406030204" pitchFamily="18" charset="0"/>
                            </a:rPr>
                            <m:t>𝑚</m:t>
                          </m:r>
                        </m:den>
                      </m:f>
                    </m:oMath>
                  </m:oMathPara>
                </a14:m>
                <a:endParaRPr lang="en-US" altLang="zh-CN" sz="2000" dirty="0">
                  <a:ea typeface="黑体" panose="02010609060101010101" pitchFamily="49" charset="-122"/>
                </a:endParaRPr>
              </a:p>
            </p:txBody>
          </p:sp>
        </mc:Choice>
        <mc:Fallback xmlns="">
          <p:sp>
            <p:nvSpPr>
              <p:cNvPr id="7" name="Rectangle 6">
                <a:extLst>
                  <a:ext uri="{FF2B5EF4-FFF2-40B4-BE49-F238E27FC236}">
                    <a16:creationId xmlns:a16="http://schemas.microsoft.com/office/drawing/2014/main" id="{CA34FAFD-81FF-463B-9765-EAA585E410F2}"/>
                  </a:ext>
                </a:extLst>
              </p:cNvPr>
              <p:cNvSpPr>
                <a:spLocks noRot="1" noChangeAspect="1" noMove="1" noResize="1" noEditPoints="1" noAdjustHandles="1" noChangeArrowheads="1" noChangeShapeType="1" noTextEdit="1"/>
              </p:cNvSpPr>
              <p:nvPr/>
            </p:nvSpPr>
            <p:spPr>
              <a:xfrm>
                <a:off x="1485066" y="5617859"/>
                <a:ext cx="3494638" cy="78688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891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5100" y="112568"/>
            <a:ext cx="7610607" cy="551589"/>
          </a:xfrm>
        </p:spPr>
        <p:txBody>
          <a:bodyPr/>
          <a:lstStyle/>
          <a:p>
            <a:r>
              <a:rPr lang="en-US" altLang="zh-CN" dirty="0">
                <a:latin typeface="Times New Roman" panose="02020603050405020304" pitchFamily="18" charset="0"/>
                <a:cs typeface="Times New Roman" panose="02020603050405020304" pitchFamily="18" charset="0"/>
              </a:rPr>
              <a:t>Rayleigh-Jeans vs. Planck</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TextBox 5"/>
              <p:cNvSpPr txBox="1"/>
              <p:nvPr/>
            </p:nvSpPr>
            <p:spPr>
              <a:xfrm>
                <a:off x="615462" y="1564703"/>
                <a:ext cx="8149159" cy="2461700"/>
              </a:xfrm>
              <a:prstGeom prst="rect">
                <a:avLst/>
              </a:prstGeom>
              <a:noFill/>
              <a:ln>
                <a:solidFill>
                  <a:schemeClr val="accent1"/>
                </a:solidFill>
              </a:ln>
            </p:spPr>
            <p:txBody>
              <a:bodyPr wrap="square" rtlCol="0">
                <a:spAutoFit/>
              </a:bodyPr>
              <a:lstStyle/>
              <a:p>
                <a:pPr>
                  <a:spcBef>
                    <a:spcPts val="600"/>
                  </a:spcBef>
                  <a:spcAft>
                    <a:spcPts val="600"/>
                  </a:spcAft>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Average mode energy</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acc>
                      <m:accPr>
                        <m:chr m:val="̅"/>
                        <m:ctrlPr>
                          <a:rPr lang="en-US" altLang="zh-CN" sz="2000" i="1">
                            <a:solidFill>
                              <a:srgbClr val="C00000"/>
                            </a:solidFill>
                            <a:latin typeface="Cambria Math" panose="02040503050406030204" pitchFamily="18" charset="0"/>
                          </a:rPr>
                        </m:ctrlPr>
                      </m:accPr>
                      <m:e>
                        <m:r>
                          <a:rPr lang="en-US" altLang="zh-CN" sz="2000" i="1">
                            <a:solidFill>
                              <a:srgbClr val="C00000"/>
                            </a:solidFill>
                            <a:latin typeface="Cambria Math"/>
                          </a:rPr>
                          <m:t>𝜖</m:t>
                        </m:r>
                      </m:e>
                    </m:acc>
                    <m:d>
                      <m:dPr>
                        <m:ctrlPr>
                          <a:rPr lang="en-US" altLang="zh-CN" sz="2000" i="1">
                            <a:solidFill>
                              <a:srgbClr val="C00000"/>
                            </a:solidFill>
                            <a:latin typeface="Cambria Math" panose="02040503050406030204" pitchFamily="18" charset="0"/>
                          </a:rPr>
                        </m:ctrlPr>
                      </m:dPr>
                      <m:e>
                        <m:r>
                          <a:rPr lang="en-US" altLang="zh-CN" sz="2000" i="1">
                            <a:solidFill>
                              <a:srgbClr val="C00000"/>
                            </a:solidFill>
                            <a:latin typeface="Cambria Math"/>
                          </a:rPr>
                          <m:t>𝜈</m:t>
                        </m:r>
                        <m:r>
                          <a:rPr lang="en-US" altLang="zh-CN" sz="2000" i="1">
                            <a:solidFill>
                              <a:srgbClr val="C00000"/>
                            </a:solidFill>
                            <a:latin typeface="Cambria Math"/>
                          </a:rPr>
                          <m:t>,</m:t>
                        </m:r>
                        <m:r>
                          <a:rPr lang="en-US" altLang="zh-CN" sz="2000" i="1">
                            <a:solidFill>
                              <a:srgbClr val="C00000"/>
                            </a:solidFill>
                            <a:latin typeface="Cambria Math"/>
                          </a:rPr>
                          <m:t>𝑇</m:t>
                        </m:r>
                      </m:e>
                    </m:d>
                    <m:r>
                      <a:rPr lang="en-US" altLang="zh-CN" sz="2000" i="1">
                        <a:solidFill>
                          <a:srgbClr val="C00000"/>
                        </a:solidFill>
                        <a:latin typeface="Cambria Math"/>
                      </a:rPr>
                      <m:t>=</m:t>
                    </m:r>
                    <m:r>
                      <a:rPr lang="en-US" altLang="zh-CN" sz="2000" i="1">
                        <a:solidFill>
                          <a:srgbClr val="C00000"/>
                        </a:solidFill>
                        <a:latin typeface="Cambria Math" panose="02040503050406030204" pitchFamily="18" charset="0"/>
                      </a:rPr>
                      <m:t>2×</m:t>
                    </m:r>
                    <m:f>
                      <m:fPr>
                        <m:ctrlPr>
                          <a:rPr lang="en-US" altLang="zh-CN" sz="2000" i="1">
                            <a:solidFill>
                              <a:srgbClr val="C00000"/>
                            </a:solidFill>
                            <a:latin typeface="Cambria Math" panose="02040503050406030204" pitchFamily="18" charset="0"/>
                          </a:rPr>
                        </m:ctrlPr>
                      </m:fPr>
                      <m:num>
                        <m:sSub>
                          <m:sSubPr>
                            <m:ctrlPr>
                              <a:rPr lang="en-US" altLang="zh-CN" sz="2000" i="1">
                                <a:solidFill>
                                  <a:srgbClr val="C00000"/>
                                </a:solidFill>
                                <a:latin typeface="Cambria Math" panose="02040503050406030204" pitchFamily="18" charset="0"/>
                              </a:rPr>
                            </m:ctrlPr>
                          </m:sSubPr>
                          <m:e>
                            <m:r>
                              <a:rPr lang="en-US" altLang="zh-CN" sz="2000" i="1">
                                <a:solidFill>
                                  <a:srgbClr val="C00000"/>
                                </a:solidFill>
                                <a:latin typeface="Cambria Math"/>
                              </a:rPr>
                              <m:t>𝑘</m:t>
                            </m:r>
                          </m:e>
                          <m:sub>
                            <m:r>
                              <a:rPr lang="en-US" altLang="zh-CN" sz="2000" i="1">
                                <a:solidFill>
                                  <a:srgbClr val="C00000"/>
                                </a:solidFill>
                                <a:latin typeface="Cambria Math"/>
                              </a:rPr>
                              <m:t>𝐵</m:t>
                            </m:r>
                          </m:sub>
                        </m:sSub>
                        <m:r>
                          <a:rPr lang="en-US" altLang="zh-CN" sz="2000" i="1">
                            <a:solidFill>
                              <a:srgbClr val="C00000"/>
                            </a:solidFill>
                            <a:latin typeface="Cambria Math"/>
                          </a:rPr>
                          <m:t>𝑇</m:t>
                        </m:r>
                      </m:num>
                      <m:den>
                        <m:r>
                          <a:rPr lang="en-US" altLang="zh-CN" sz="2000" i="1">
                            <a:solidFill>
                              <a:srgbClr val="C00000"/>
                            </a:solidFill>
                            <a:latin typeface="Cambria Math" panose="02040503050406030204" pitchFamily="18" charset="0"/>
                          </a:rPr>
                          <m:t>2</m:t>
                        </m:r>
                      </m:den>
                    </m:f>
                    <m:r>
                      <a:rPr lang="en-US" altLang="zh-CN" sz="2000" i="1">
                        <a:solidFill>
                          <a:srgbClr val="C00000"/>
                        </a:solidFill>
                        <a:latin typeface="Cambria Math" panose="02040503050406030204" pitchFamily="18" charset="0"/>
                      </a:rPr>
                      <m:t>=</m:t>
                    </m:r>
                    <m:sSub>
                      <m:sSubPr>
                        <m:ctrlPr>
                          <a:rPr lang="en-US" altLang="zh-CN" sz="2000" i="1">
                            <a:solidFill>
                              <a:srgbClr val="C00000"/>
                            </a:solidFill>
                            <a:latin typeface="Cambria Math" panose="02040503050406030204" pitchFamily="18" charset="0"/>
                          </a:rPr>
                        </m:ctrlPr>
                      </m:sSubPr>
                      <m:e>
                        <m:r>
                          <a:rPr lang="en-US" altLang="zh-CN" sz="2000" i="1">
                            <a:solidFill>
                              <a:srgbClr val="C00000"/>
                            </a:solidFill>
                            <a:latin typeface="Cambria Math"/>
                          </a:rPr>
                          <m:t>𝑘</m:t>
                        </m:r>
                      </m:e>
                      <m:sub>
                        <m:r>
                          <a:rPr lang="en-US" altLang="zh-CN" sz="2000" i="1">
                            <a:solidFill>
                              <a:srgbClr val="C00000"/>
                            </a:solidFill>
                            <a:latin typeface="Cambria Math"/>
                          </a:rPr>
                          <m:t>𝐵</m:t>
                        </m:r>
                      </m:sub>
                    </m:sSub>
                    <m:r>
                      <a:rPr lang="en-US" altLang="zh-CN" sz="2000" i="1">
                        <a:solidFill>
                          <a:srgbClr val="C00000"/>
                        </a:solidFill>
                        <a:latin typeface="Cambria Math"/>
                      </a:rPr>
                      <m:t>𝑇</m:t>
                    </m:r>
                  </m:oMath>
                </a14:m>
                <a:endPar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i="1">
                              <a:solidFill>
                                <a:schemeClr val="tx1"/>
                              </a:solidFill>
                              <a:latin typeface="Cambria Math"/>
                            </a:rPr>
                            <m:t>𝑢</m:t>
                          </m:r>
                        </m:e>
                        <m:sub>
                          <m:r>
                            <a:rPr lang="en-US" altLang="zh-CN" sz="2000" i="1">
                              <a:solidFill>
                                <a:schemeClr val="tx1"/>
                              </a:solidFill>
                              <a:latin typeface="Cambria Math"/>
                            </a:rPr>
                            <m:t>𝜈</m:t>
                          </m:r>
                        </m:sub>
                      </m:sSub>
                      <m:d>
                        <m:dPr>
                          <m:ctrlPr>
                            <a:rPr lang="en-US" altLang="zh-CN" sz="2000" i="1">
                              <a:solidFill>
                                <a:schemeClr val="tx1"/>
                              </a:solidFill>
                              <a:latin typeface="Cambria Math" panose="02040503050406030204" pitchFamily="18" charset="0"/>
                            </a:rPr>
                          </m:ctrlPr>
                        </m:dPr>
                        <m:e>
                          <m:r>
                            <a:rPr lang="en-US" altLang="zh-CN" sz="2000" i="1" smtClean="0">
                              <a:solidFill>
                                <a:schemeClr val="tx1"/>
                              </a:solidFill>
                              <a:latin typeface="Cambria Math"/>
                            </a:rPr>
                            <m:t>𝑇</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𝜈</m:t>
                          </m:r>
                        </m:e>
                      </m:d>
                      <m:r>
                        <a:rPr lang="en-US" altLang="zh-CN" sz="2000" i="1">
                          <a:solidFill>
                            <a:schemeClr val="tx1"/>
                          </a:solidFill>
                          <a:latin typeface="Cambria Math" panose="02040503050406030204" pitchFamily="18" charset="0"/>
                        </a:rPr>
                        <m:t>=</m:t>
                      </m:r>
                      <m:r>
                        <a:rPr lang="en-US" altLang="zh-CN" sz="2000" i="1" smtClean="0">
                          <a:solidFill>
                            <a:srgbClr val="0000FF"/>
                          </a:solidFill>
                          <a:latin typeface="Cambria Math"/>
                        </a:rPr>
                        <m:t>𝑔</m:t>
                      </m:r>
                      <m:d>
                        <m:dPr>
                          <m:ctrlPr>
                            <a:rPr lang="en-US" altLang="zh-CN" sz="2000" i="1">
                              <a:solidFill>
                                <a:srgbClr val="0000FF"/>
                              </a:solidFill>
                              <a:latin typeface="Cambria Math" panose="02040503050406030204" pitchFamily="18" charset="0"/>
                            </a:rPr>
                          </m:ctrlPr>
                        </m:dPr>
                        <m:e>
                          <m:r>
                            <a:rPr lang="en-US" altLang="zh-CN" sz="2000" i="1">
                              <a:solidFill>
                                <a:srgbClr val="0000FF"/>
                              </a:solidFill>
                              <a:latin typeface="Cambria Math"/>
                            </a:rPr>
                            <m:t>𝜈</m:t>
                          </m:r>
                        </m:e>
                      </m:d>
                      <m:acc>
                        <m:accPr>
                          <m:chr m:val="̅"/>
                          <m:ctrlPr>
                            <a:rPr lang="en-US" altLang="zh-CN" sz="2000" i="1" smtClean="0">
                              <a:solidFill>
                                <a:srgbClr val="C00000"/>
                              </a:solidFill>
                              <a:latin typeface="Cambria Math" panose="02040503050406030204" pitchFamily="18" charset="0"/>
                            </a:rPr>
                          </m:ctrlPr>
                        </m:accPr>
                        <m:e>
                          <m:r>
                            <a:rPr lang="en-US" altLang="zh-CN" sz="2000" i="1">
                              <a:solidFill>
                                <a:srgbClr val="C00000"/>
                              </a:solidFill>
                              <a:latin typeface="Cambria Math"/>
                            </a:rPr>
                            <m:t>𝜖</m:t>
                          </m:r>
                        </m:e>
                      </m:acc>
                      <m:d>
                        <m:dPr>
                          <m:ctrlPr>
                            <a:rPr lang="en-US" altLang="zh-CN" sz="2000" i="1">
                              <a:solidFill>
                                <a:srgbClr val="C00000"/>
                              </a:solidFill>
                              <a:latin typeface="Cambria Math" panose="02040503050406030204" pitchFamily="18" charset="0"/>
                            </a:rPr>
                          </m:ctrlPr>
                        </m:dPr>
                        <m:e>
                          <m:r>
                            <a:rPr lang="en-US" altLang="zh-CN" sz="2000" i="1">
                              <a:solidFill>
                                <a:srgbClr val="C00000"/>
                              </a:solidFill>
                              <a:latin typeface="Cambria Math"/>
                            </a:rPr>
                            <m:t>𝜈</m:t>
                          </m:r>
                          <m:r>
                            <a:rPr lang="en-US" altLang="zh-CN" sz="2000" i="1">
                              <a:solidFill>
                                <a:srgbClr val="C00000"/>
                              </a:solidFill>
                              <a:latin typeface="Cambria Math"/>
                            </a:rPr>
                            <m:t>,</m:t>
                          </m:r>
                          <m:r>
                            <a:rPr lang="en-US" altLang="zh-CN" sz="2000" i="1">
                              <a:solidFill>
                                <a:srgbClr val="C00000"/>
                              </a:solidFill>
                              <a:latin typeface="Cambria Math"/>
                            </a:rPr>
                            <m:t>𝑇</m:t>
                          </m:r>
                        </m:e>
                      </m:d>
                      <m:r>
                        <a:rPr lang="en-US" altLang="zh-CN" sz="2000" i="1">
                          <a:solidFill>
                            <a:srgbClr val="0070C0"/>
                          </a:solidFill>
                          <a:latin typeface="Cambria Math" panose="02040503050406030204" pitchFamily="18" charset="0"/>
                        </a:rPr>
                        <m:t>=</m:t>
                      </m:r>
                      <m:f>
                        <m:fPr>
                          <m:ctrlPr>
                            <a:rPr lang="en-US" altLang="zh-CN" sz="2000" i="1" smtClean="0">
                              <a:solidFill>
                                <a:srgbClr val="0000FF"/>
                              </a:solidFill>
                              <a:latin typeface="Cambria Math" panose="02040503050406030204" pitchFamily="18" charset="0"/>
                            </a:rPr>
                          </m:ctrlPr>
                        </m:fPr>
                        <m:num>
                          <m:r>
                            <a:rPr lang="en-US" altLang="zh-CN" sz="2000" i="1">
                              <a:solidFill>
                                <a:srgbClr val="0000FF"/>
                              </a:solidFill>
                              <a:latin typeface="Cambria Math"/>
                            </a:rPr>
                            <m:t>8</m:t>
                          </m:r>
                          <m:r>
                            <a:rPr lang="en-US" altLang="zh-CN" sz="2000" i="1">
                              <a:solidFill>
                                <a:srgbClr val="0000FF"/>
                              </a:solidFill>
                              <a:latin typeface="Cambria Math"/>
                            </a:rPr>
                            <m:t>𝜋</m:t>
                          </m:r>
                          <m:sSup>
                            <m:sSupPr>
                              <m:ctrlPr>
                                <a:rPr lang="en-US" altLang="zh-CN" sz="2000" i="1">
                                  <a:solidFill>
                                    <a:srgbClr val="0000FF"/>
                                  </a:solidFill>
                                  <a:latin typeface="Cambria Math" panose="02040503050406030204" pitchFamily="18" charset="0"/>
                                </a:rPr>
                              </m:ctrlPr>
                            </m:sSupPr>
                            <m:e>
                              <m:r>
                                <a:rPr lang="en-US" altLang="zh-CN" sz="2000" i="1">
                                  <a:solidFill>
                                    <a:srgbClr val="0000FF"/>
                                  </a:solidFill>
                                  <a:latin typeface="Cambria Math"/>
                                </a:rPr>
                                <m:t>𝜈</m:t>
                              </m:r>
                            </m:e>
                            <m:sup>
                              <m:r>
                                <a:rPr lang="en-US" altLang="zh-CN" sz="2000" i="1">
                                  <a:solidFill>
                                    <a:srgbClr val="0000FF"/>
                                  </a:solidFill>
                                  <a:latin typeface="Cambria Math"/>
                                </a:rPr>
                                <m:t>2</m:t>
                              </m:r>
                            </m:sup>
                          </m:sSup>
                        </m:num>
                        <m:den>
                          <m:sSup>
                            <m:sSupPr>
                              <m:ctrlPr>
                                <a:rPr lang="en-US" altLang="zh-CN" sz="2000" i="1">
                                  <a:solidFill>
                                    <a:srgbClr val="0000FF"/>
                                  </a:solidFill>
                                  <a:latin typeface="Cambria Math" panose="02040503050406030204" pitchFamily="18" charset="0"/>
                                </a:rPr>
                              </m:ctrlPr>
                            </m:sSupPr>
                            <m:e>
                              <m:r>
                                <m:rPr>
                                  <m:sty m:val="p"/>
                                </m:rPr>
                                <a:rPr lang="en-US" altLang="zh-CN" sz="2000" i="1">
                                  <a:solidFill>
                                    <a:srgbClr val="0000FF"/>
                                  </a:solidFill>
                                  <a:latin typeface="Cambria Math"/>
                                </a:rPr>
                                <m:t>c</m:t>
                              </m:r>
                            </m:e>
                            <m:sup>
                              <m:r>
                                <a:rPr lang="en-US" altLang="zh-CN" sz="2000" i="1">
                                  <a:solidFill>
                                    <a:srgbClr val="0000FF"/>
                                  </a:solidFill>
                                  <a:latin typeface="Cambria Math"/>
                                </a:rPr>
                                <m:t>3</m:t>
                              </m:r>
                            </m:sup>
                          </m:sSup>
                        </m:den>
                      </m:f>
                      <m:sSub>
                        <m:sSubPr>
                          <m:ctrlPr>
                            <a:rPr lang="en-US" altLang="zh-CN" sz="2000" i="1" smtClean="0">
                              <a:solidFill>
                                <a:srgbClr val="C00000"/>
                              </a:solidFill>
                              <a:latin typeface="Cambria Math" panose="02040503050406030204" pitchFamily="18" charset="0"/>
                            </a:rPr>
                          </m:ctrlPr>
                        </m:sSubPr>
                        <m:e>
                          <m:r>
                            <a:rPr lang="en-US" altLang="zh-CN" sz="2000" i="1">
                              <a:solidFill>
                                <a:srgbClr val="C00000"/>
                              </a:solidFill>
                              <a:latin typeface="Cambria Math"/>
                            </a:rPr>
                            <m:t>𝑘</m:t>
                          </m:r>
                        </m:e>
                        <m:sub>
                          <m:r>
                            <a:rPr lang="en-US" altLang="zh-CN" sz="2000" i="1">
                              <a:solidFill>
                                <a:srgbClr val="C00000"/>
                              </a:solidFill>
                              <a:latin typeface="Cambria Math"/>
                            </a:rPr>
                            <m:t>𝐵</m:t>
                          </m:r>
                        </m:sub>
                      </m:sSub>
                      <m:r>
                        <a:rPr lang="en-US" altLang="zh-CN" sz="2000" i="1" smtClean="0">
                          <a:solidFill>
                            <a:srgbClr val="C00000"/>
                          </a:solidFill>
                          <a:latin typeface="Cambria Math"/>
                        </a:rPr>
                        <m:t>𝑇</m:t>
                      </m:r>
                    </m:oMath>
                  </m:oMathPara>
                </a14:m>
                <a:endParaRPr lang="en-US" altLang="zh-CN" sz="2000" i="1" dirty="0">
                  <a:solidFill>
                    <a:srgbClr val="0070C0"/>
                  </a:solidFill>
                  <a:latin typeface="Times New Roman" panose="02020603050405020304" pitchFamily="18" charset="0"/>
                  <a:cs typeface="Times New Roman" panose="02020603050405020304" pitchFamily="18" charset="0"/>
                </a:endParaRPr>
              </a:p>
              <a:p>
                <a:pPr>
                  <a:spcBef>
                    <a:spcPts val="600"/>
                  </a:spcBef>
                  <a:spcAft>
                    <a:spcPts val="600"/>
                  </a:spcAft>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This is just R-J formula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a:rPr>
                          <m:t>𝑢</m:t>
                        </m:r>
                      </m:e>
                      <m:sub>
                        <m:r>
                          <a:rPr lang="en-US" altLang="zh-CN" sz="2000" i="1">
                            <a:latin typeface="Cambria Math"/>
                          </a:rPr>
                          <m:t>𝜈</m:t>
                        </m:r>
                      </m:sub>
                    </m:sSub>
                    <m:d>
                      <m:dPr>
                        <m:ctrlPr>
                          <a:rPr lang="en-US" altLang="zh-CN" sz="2000" i="1">
                            <a:latin typeface="Cambria Math" panose="02040503050406030204" pitchFamily="18" charset="0"/>
                          </a:rPr>
                        </m:ctrlPr>
                      </m:dPr>
                      <m:e>
                        <m:r>
                          <a:rPr lang="en-US" altLang="zh-CN" sz="2000" i="1">
                            <a:latin typeface="Cambria Math"/>
                          </a:rPr>
                          <m:t>𝑇</m:t>
                        </m:r>
                        <m:r>
                          <a:rPr lang="en-US" altLang="zh-CN" sz="2000" i="1">
                            <a:latin typeface="Cambria Math" panose="02040503050406030204" pitchFamily="18" charset="0"/>
                          </a:rPr>
                          <m:t>,</m:t>
                        </m:r>
                        <m:r>
                          <a:rPr lang="en-US" altLang="zh-CN" sz="2000" i="1">
                            <a:latin typeface="Cambria Math" panose="02040503050406030204" pitchFamily="18" charset="0"/>
                          </a:rPr>
                          <m:t>𝜈</m:t>
                        </m:r>
                      </m:e>
                    </m:d>
                    <m:r>
                      <a:rPr lang="en-US" altLang="zh-CN" sz="2000" b="0" i="1" smtClean="0">
                        <a:latin typeface="Cambria Math" panose="02040503050406030204" pitchFamily="18" charset="0"/>
                      </a:rPr>
                      <m:t>=</m:t>
                    </m:r>
                    <m:r>
                      <a:rPr lang="en-US" altLang="zh-CN" sz="2000" i="1" smtClean="0">
                        <a:solidFill>
                          <a:schemeClr val="tx1"/>
                        </a:solidFill>
                        <a:latin typeface="Cambria Math" panose="02040503050406030204" pitchFamily="18" charset="0"/>
                      </a:rPr>
                      <m:t>𝛼</m:t>
                    </m:r>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panose="02040503050406030204" pitchFamily="18" charset="0"/>
                          </a:rPr>
                          <m:t>𝜈</m:t>
                        </m:r>
                      </m:e>
                      <m:sup>
                        <m:r>
                          <a:rPr lang="en-US" altLang="zh-CN" sz="2000" i="1">
                            <a:solidFill>
                              <a:schemeClr val="tx1"/>
                            </a:solidFill>
                            <a:latin typeface="Cambria Math" panose="02040503050406030204" pitchFamily="18" charset="0"/>
                          </a:rPr>
                          <m:t>2</m:t>
                        </m:r>
                      </m:sup>
                    </m:sSup>
                    <m:r>
                      <a:rPr lang="en-US" altLang="zh-CN" sz="2000" i="1" smtClean="0">
                        <a:solidFill>
                          <a:schemeClr val="tx1"/>
                        </a:solidFill>
                        <a:latin typeface="Cambria Math"/>
                      </a:rPr>
                      <m:t>𝑇</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Thus</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i="1" smtClean="0">
                          <a:solidFill>
                            <a:schemeClr val="tx1"/>
                          </a:solidFill>
                          <a:latin typeface="Cambria Math" panose="02040503050406030204" pitchFamily="18" charset="0"/>
                        </a:rPr>
                        <m:t>𝛼</m:t>
                      </m:r>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panose="02040503050406030204" pitchFamily="18" charset="0"/>
                            </a:rPr>
                            <m:t>𝜈</m:t>
                          </m:r>
                        </m:e>
                        <m:sup>
                          <m:r>
                            <a:rPr lang="en-US" altLang="zh-CN" sz="2000" i="1">
                              <a:solidFill>
                                <a:schemeClr val="tx1"/>
                              </a:solidFill>
                              <a:latin typeface="Cambria Math" panose="02040503050406030204" pitchFamily="18" charset="0"/>
                            </a:rPr>
                            <m:t>2</m:t>
                          </m:r>
                        </m:sup>
                      </m:sSup>
                      <m:r>
                        <a:rPr lang="en-US" altLang="zh-CN" sz="2000" i="1">
                          <a:solidFill>
                            <a:schemeClr val="tx1"/>
                          </a:solidFill>
                          <a:latin typeface="Cambria Math" panose="02040503050406030204" pitchFamily="18" charset="0"/>
                        </a:rPr>
                        <m:t>=</m:t>
                      </m:r>
                      <m:f>
                        <m:fPr>
                          <m:ctrlPr>
                            <a:rPr lang="en-US" altLang="zh-CN" sz="2000" i="1">
                              <a:solidFill>
                                <a:schemeClr val="tx1"/>
                              </a:solidFill>
                              <a:latin typeface="Cambria Math" panose="02040503050406030204" pitchFamily="18" charset="0"/>
                            </a:rPr>
                          </m:ctrlPr>
                        </m:fPr>
                        <m:num>
                          <m:r>
                            <a:rPr lang="en-US" altLang="zh-CN" sz="2000" i="1">
                              <a:solidFill>
                                <a:schemeClr val="tx1"/>
                              </a:solidFill>
                              <a:latin typeface="Cambria Math"/>
                            </a:rPr>
                            <m:t>8</m:t>
                          </m:r>
                          <m:r>
                            <a:rPr lang="en-US" altLang="zh-CN" sz="2000" i="1">
                              <a:solidFill>
                                <a:schemeClr val="tx1"/>
                              </a:solidFill>
                              <a:latin typeface="Cambria Math"/>
                            </a:rPr>
                            <m:t>𝜋</m:t>
                          </m:r>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a:rPr>
                                <m:t>𝜈</m:t>
                              </m:r>
                            </m:e>
                            <m:sup>
                              <m:r>
                                <a:rPr lang="en-US" altLang="zh-CN" sz="2000" i="1">
                                  <a:solidFill>
                                    <a:schemeClr val="tx1"/>
                                  </a:solidFill>
                                  <a:latin typeface="Cambria Math"/>
                                </a:rPr>
                                <m:t>2</m:t>
                              </m:r>
                            </m:sup>
                          </m:sSup>
                        </m:num>
                        <m:den>
                          <m:sSup>
                            <m:sSupPr>
                              <m:ctrlPr>
                                <a:rPr lang="en-US" altLang="zh-CN" sz="2000" i="1">
                                  <a:solidFill>
                                    <a:schemeClr val="tx1"/>
                                  </a:solidFill>
                                  <a:latin typeface="Cambria Math" panose="02040503050406030204" pitchFamily="18" charset="0"/>
                                </a:rPr>
                              </m:ctrlPr>
                            </m:sSupPr>
                            <m:e>
                              <m:r>
                                <m:rPr>
                                  <m:sty m:val="p"/>
                                </m:rPr>
                                <a:rPr lang="en-US" altLang="zh-CN" sz="2000" i="1">
                                  <a:solidFill>
                                    <a:schemeClr val="tx1"/>
                                  </a:solidFill>
                                  <a:latin typeface="Cambria Math"/>
                                </a:rPr>
                                <m:t>c</m:t>
                              </m:r>
                            </m:e>
                            <m:sup>
                              <m:r>
                                <a:rPr lang="en-US" altLang="zh-CN" sz="2000" i="1">
                                  <a:solidFill>
                                    <a:schemeClr val="tx1"/>
                                  </a:solidFill>
                                  <a:latin typeface="Cambria Math"/>
                                </a:rPr>
                                <m:t>3</m:t>
                              </m:r>
                            </m:sup>
                          </m:sSup>
                        </m:den>
                      </m:f>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a:rPr>
                            <m:t>𝑘</m:t>
                          </m:r>
                        </m:e>
                        <m:sub>
                          <m:r>
                            <a:rPr lang="en-US" altLang="zh-CN" sz="2000" i="1">
                              <a:solidFill>
                                <a:schemeClr val="tx1"/>
                              </a:solidFill>
                              <a:latin typeface="Cambria Math"/>
                            </a:rPr>
                            <m:t>𝐵</m:t>
                          </m:r>
                        </m:sub>
                      </m:sSub>
                    </m:oMath>
                  </m:oMathPara>
                </a14:m>
                <a:endPar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6" name="TextBox 5"/>
              <p:cNvSpPr txBox="1">
                <a:spLocks noRot="1" noChangeAspect="1" noMove="1" noResize="1" noEditPoints="1" noAdjustHandles="1" noChangeArrowheads="1" noChangeShapeType="1" noTextEdit="1"/>
              </p:cNvSpPr>
              <p:nvPr/>
            </p:nvSpPr>
            <p:spPr>
              <a:xfrm>
                <a:off x="615462" y="1564703"/>
                <a:ext cx="8149159" cy="2461700"/>
              </a:xfrm>
              <a:prstGeom prst="rect">
                <a:avLst/>
              </a:prstGeom>
              <a:blipFill>
                <a:blip r:embed="rId3"/>
                <a:stretch>
                  <a:fillRect l="-747"/>
                </a:stretch>
              </a:blipFill>
              <a:ln>
                <a:solidFill>
                  <a:schemeClr val="accent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2514112" y="664157"/>
                <a:ext cx="5331716" cy="752450"/>
              </a:xfrm>
              <a:prstGeom prst="rect">
                <a:avLst/>
              </a:prstGeom>
            </p:spPr>
            <p:txBody>
              <a:bodyPr wrap="none">
                <a:spAutoFit/>
              </a:bodyPr>
              <a:lstStyle/>
              <a:p>
                <a:pPr>
                  <a:lnSpc>
                    <a:spcPct val="150000"/>
                  </a:lnSpc>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Mode density from classical E&amp;M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sz="2000" i="1" dirty="0" smtClean="0">
                        <a:solidFill>
                          <a:srgbClr val="0000FF"/>
                        </a:solidFill>
                        <a:latin typeface="Cambria Math" panose="02040503050406030204" pitchFamily="18" charset="0"/>
                      </a:rPr>
                      <m:t>	</m:t>
                    </m:r>
                    <m:r>
                      <a:rPr lang="en-US" altLang="zh-CN" sz="2000" i="1" smtClean="0">
                        <a:solidFill>
                          <a:srgbClr val="0000FF"/>
                        </a:solidFill>
                        <a:latin typeface="Cambria Math"/>
                      </a:rPr>
                      <m:t>𝑔</m:t>
                    </m:r>
                    <m:d>
                      <m:dPr>
                        <m:ctrlPr>
                          <a:rPr lang="en-US" altLang="zh-CN" sz="2000" i="1">
                            <a:solidFill>
                              <a:srgbClr val="0000FF"/>
                            </a:solidFill>
                            <a:latin typeface="Cambria Math" panose="02040503050406030204" pitchFamily="18" charset="0"/>
                          </a:rPr>
                        </m:ctrlPr>
                      </m:dPr>
                      <m:e>
                        <m:r>
                          <a:rPr lang="en-US" altLang="zh-CN" sz="2000" i="1">
                            <a:solidFill>
                              <a:srgbClr val="0000FF"/>
                            </a:solidFill>
                            <a:latin typeface="Cambria Math"/>
                          </a:rPr>
                          <m:t>𝜈</m:t>
                        </m:r>
                      </m:e>
                    </m:d>
                    <m:r>
                      <a:rPr lang="en-US" altLang="zh-CN" sz="2000" i="1">
                        <a:solidFill>
                          <a:srgbClr val="0000FF"/>
                        </a:solidFill>
                        <a:latin typeface="Cambria Math"/>
                      </a:rPr>
                      <m:t>=</m:t>
                    </m:r>
                    <m:f>
                      <m:fPr>
                        <m:ctrlPr>
                          <a:rPr lang="en-US" altLang="zh-CN" sz="2000" i="1">
                            <a:solidFill>
                              <a:srgbClr val="0000FF"/>
                            </a:solidFill>
                            <a:latin typeface="Cambria Math" panose="02040503050406030204" pitchFamily="18" charset="0"/>
                          </a:rPr>
                        </m:ctrlPr>
                      </m:fPr>
                      <m:num>
                        <m:r>
                          <a:rPr lang="en-US" altLang="zh-CN" sz="2000" i="1">
                            <a:solidFill>
                              <a:srgbClr val="0000FF"/>
                            </a:solidFill>
                            <a:latin typeface="Cambria Math"/>
                          </a:rPr>
                          <m:t>8</m:t>
                        </m:r>
                        <m:r>
                          <a:rPr lang="zh-CN" altLang="en-US" sz="2000" i="1">
                            <a:solidFill>
                              <a:srgbClr val="0000FF"/>
                            </a:solidFill>
                            <a:latin typeface="Cambria Math"/>
                          </a:rPr>
                          <m:t>𝜋</m:t>
                        </m:r>
                        <m:sSup>
                          <m:sSupPr>
                            <m:ctrlPr>
                              <a:rPr lang="en-US" altLang="zh-CN" sz="2000" i="1">
                                <a:solidFill>
                                  <a:srgbClr val="0000FF"/>
                                </a:solidFill>
                                <a:latin typeface="Cambria Math" panose="02040503050406030204" pitchFamily="18" charset="0"/>
                              </a:rPr>
                            </m:ctrlPr>
                          </m:sSupPr>
                          <m:e>
                            <m:r>
                              <a:rPr lang="zh-CN" altLang="en-US" sz="2000" i="1">
                                <a:solidFill>
                                  <a:srgbClr val="0000FF"/>
                                </a:solidFill>
                                <a:latin typeface="Cambria Math"/>
                              </a:rPr>
                              <m:t>𝜈</m:t>
                            </m:r>
                          </m:e>
                          <m:sup>
                            <m:r>
                              <a:rPr lang="en-US" altLang="zh-CN" sz="2000" i="1">
                                <a:solidFill>
                                  <a:srgbClr val="0000FF"/>
                                </a:solidFill>
                                <a:latin typeface="Cambria Math"/>
                              </a:rPr>
                              <m:t>2</m:t>
                            </m:r>
                          </m:sup>
                        </m:sSup>
                      </m:num>
                      <m:den>
                        <m:sSup>
                          <m:sSupPr>
                            <m:ctrlPr>
                              <a:rPr lang="en-US" altLang="zh-CN" sz="2000" i="1">
                                <a:solidFill>
                                  <a:srgbClr val="0000FF"/>
                                </a:solidFill>
                                <a:latin typeface="Cambria Math" panose="02040503050406030204" pitchFamily="18" charset="0"/>
                              </a:rPr>
                            </m:ctrlPr>
                          </m:sSupPr>
                          <m:e>
                            <m:r>
                              <a:rPr lang="en-US" altLang="zh-CN" sz="2000" i="1">
                                <a:solidFill>
                                  <a:srgbClr val="0000FF"/>
                                </a:solidFill>
                                <a:latin typeface="Cambria Math"/>
                              </a:rPr>
                              <m:t>𝑐</m:t>
                            </m:r>
                          </m:e>
                          <m:sup>
                            <m:r>
                              <a:rPr lang="en-US" altLang="zh-CN" sz="2000" i="1">
                                <a:solidFill>
                                  <a:srgbClr val="0000FF"/>
                                </a:solidFill>
                                <a:latin typeface="Cambria Math"/>
                              </a:rPr>
                              <m:t>3</m:t>
                            </m:r>
                          </m:sup>
                        </m:sSup>
                      </m:den>
                    </m:f>
                  </m:oMath>
                </a14:m>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2514112" y="664157"/>
                <a:ext cx="5331716" cy="752450"/>
              </a:xfrm>
              <a:prstGeom prst="rect">
                <a:avLst/>
              </a:prstGeom>
              <a:blipFill>
                <a:blip r:embed="rId4"/>
                <a:stretch>
                  <a:fillRect l="-1143" b="-48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615463" y="4131216"/>
                <a:ext cx="8149158" cy="2338461"/>
              </a:xfrm>
              <a:prstGeom prst="rect">
                <a:avLst/>
              </a:prstGeom>
              <a:ln>
                <a:solidFill>
                  <a:srgbClr val="0070C0"/>
                </a:solidFill>
              </a:ln>
            </p:spPr>
            <p:txBody>
              <a:bodyPr wrap="square">
                <a:spAutoFit/>
              </a:bodyPr>
              <a:lstStyle/>
              <a:p>
                <a:pPr>
                  <a:spcBef>
                    <a:spcPts val="600"/>
                  </a:spcBef>
                  <a:spcAft>
                    <a:spcPts val="600"/>
                  </a:spcAft>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Planck formula becomes</a:t>
                </a:r>
                <a:endParaRPr lang="en-US" altLang="zh-CN" sz="2000" dirty="0">
                  <a:latin typeface="Times New Roman" panose="02020603050405020304" pitchFamily="18" charset="0"/>
                  <a:cs typeface="Times New Roman" panose="020206030504050203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70C0"/>
                              </a:solidFill>
                              <a:latin typeface="Cambria Math" panose="02040503050406030204" pitchFamily="18" charset="0"/>
                            </a:rPr>
                          </m:ctrlPr>
                        </m:sSubPr>
                        <m:e>
                          <m:r>
                            <a:rPr lang="en-US" altLang="zh-CN" sz="2000" i="1">
                              <a:solidFill>
                                <a:srgbClr val="0070C0"/>
                              </a:solidFill>
                              <a:latin typeface="Cambria Math"/>
                            </a:rPr>
                            <m:t>𝑢</m:t>
                          </m:r>
                        </m:e>
                        <m:sub>
                          <m:r>
                            <a:rPr lang="en-US" altLang="zh-CN" sz="2000" i="1">
                              <a:solidFill>
                                <a:srgbClr val="0070C0"/>
                              </a:solidFill>
                              <a:latin typeface="Cambria Math"/>
                            </a:rPr>
                            <m:t>𝜈</m:t>
                          </m:r>
                        </m:sub>
                      </m:sSub>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a:rPr>
                            <m:t>𝑇</m:t>
                          </m:r>
                        </m:e>
                      </m:d>
                      <m:r>
                        <a:rPr lang="en-US" altLang="zh-CN" sz="2000" i="1">
                          <a:solidFill>
                            <a:srgbClr val="0070C0"/>
                          </a:solidFill>
                          <a:latin typeface="Cambria Math"/>
                        </a:rPr>
                        <m:t>=</m:t>
                      </m:r>
                      <m:r>
                        <a:rPr lang="en-US" altLang="zh-CN" sz="2000" i="1">
                          <a:solidFill>
                            <a:srgbClr val="0070C0"/>
                          </a:solidFill>
                          <a:latin typeface="Cambria Math" panose="02040503050406030204" pitchFamily="18" charset="0"/>
                        </a:rPr>
                        <m:t>𝛼</m:t>
                      </m:r>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panose="02040503050406030204" pitchFamily="18" charset="0"/>
                            </a:rPr>
                            <m:t>𝜈</m:t>
                          </m:r>
                        </m:e>
                        <m:sup>
                          <m:r>
                            <a:rPr lang="en-US" altLang="zh-CN" sz="2000" i="1">
                              <a:solidFill>
                                <a:srgbClr val="0070C0"/>
                              </a:solidFill>
                              <a:latin typeface="Cambria Math" panose="02040503050406030204" pitchFamily="18" charset="0"/>
                            </a:rPr>
                            <m:t>2</m:t>
                          </m:r>
                        </m:sup>
                      </m:sSup>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panose="02040503050406030204" pitchFamily="18" charset="0"/>
                            </a:rPr>
                            <m:t>𝛽</m:t>
                          </m:r>
                          <m:r>
                            <a:rPr lang="en-US" altLang="zh-CN" sz="2000" i="1">
                              <a:solidFill>
                                <a:srgbClr val="0070C0"/>
                              </a:solidFill>
                              <a:latin typeface="Cambria Math"/>
                            </a:rPr>
                            <m:t>𝜈</m:t>
                          </m:r>
                        </m:num>
                        <m:den>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a:rPr>
                                <m:t>𝑒</m:t>
                              </m:r>
                            </m:e>
                            <m:sup>
                              <m:r>
                                <a:rPr lang="en-US" altLang="zh-CN" sz="2000" i="1">
                                  <a:solidFill>
                                    <a:srgbClr val="0070C0"/>
                                  </a:solidFill>
                                  <a:latin typeface="Cambria Math" panose="02040503050406030204" pitchFamily="18" charset="0"/>
                                </a:rPr>
                                <m:t>𝛽</m:t>
                              </m:r>
                              <m:r>
                                <a:rPr lang="en-US" altLang="zh-CN" sz="2000" i="1">
                                  <a:solidFill>
                                    <a:srgbClr val="0070C0"/>
                                  </a:solidFill>
                                  <a:latin typeface="Cambria Math"/>
                                </a:rPr>
                                <m:t>𝜈</m:t>
                              </m:r>
                              <m:r>
                                <a:rPr lang="en-US" altLang="zh-CN" sz="2000" i="1">
                                  <a:solidFill>
                                    <a:srgbClr val="0070C0"/>
                                  </a:solidFill>
                                  <a:latin typeface="Cambria Math"/>
                                </a:rPr>
                                <m:t>/</m:t>
                              </m:r>
                              <m:r>
                                <a:rPr lang="en-US" altLang="zh-CN" sz="2000" i="1">
                                  <a:solidFill>
                                    <a:srgbClr val="0070C0"/>
                                  </a:solidFill>
                                  <a:latin typeface="Cambria Math"/>
                                </a:rPr>
                                <m:t>𝑇</m:t>
                              </m:r>
                            </m:sup>
                          </m:sSup>
                          <m:r>
                            <a:rPr lang="en-US" altLang="zh-CN" sz="2000" i="1">
                              <a:solidFill>
                                <a:srgbClr val="0070C0"/>
                              </a:solidFill>
                              <a:latin typeface="Cambria Math"/>
                            </a:rPr>
                            <m:t>−1</m:t>
                          </m:r>
                        </m:den>
                      </m:f>
                      <m:r>
                        <a:rPr lang="en-US" altLang="zh-CN" sz="2000" i="1">
                          <a:solidFill>
                            <a:srgbClr val="0070C0"/>
                          </a:solidFill>
                          <a:latin typeface="Cambria Math" panose="02040503050406030204" pitchFamily="18" charset="0"/>
                        </a:rPr>
                        <m:t>=</m:t>
                      </m:r>
                      <m:f>
                        <m:fPr>
                          <m:ctrlPr>
                            <a:rPr lang="en-US" altLang="zh-CN" sz="2000" i="1" smtClean="0">
                              <a:solidFill>
                                <a:srgbClr val="0000FF"/>
                              </a:solidFill>
                              <a:latin typeface="Cambria Math" panose="02040503050406030204" pitchFamily="18" charset="0"/>
                            </a:rPr>
                          </m:ctrlPr>
                        </m:fPr>
                        <m:num>
                          <m:r>
                            <a:rPr lang="en-US" altLang="zh-CN" sz="2000" i="1">
                              <a:solidFill>
                                <a:srgbClr val="0000FF"/>
                              </a:solidFill>
                              <a:latin typeface="Cambria Math"/>
                            </a:rPr>
                            <m:t>8</m:t>
                          </m:r>
                          <m:r>
                            <a:rPr lang="en-US" altLang="zh-CN" sz="2000" i="1">
                              <a:solidFill>
                                <a:srgbClr val="0000FF"/>
                              </a:solidFill>
                              <a:latin typeface="Cambria Math"/>
                            </a:rPr>
                            <m:t>𝜋</m:t>
                          </m:r>
                          <m:sSup>
                            <m:sSupPr>
                              <m:ctrlPr>
                                <a:rPr lang="en-US" altLang="zh-CN" sz="2000" i="1">
                                  <a:solidFill>
                                    <a:srgbClr val="0000FF"/>
                                  </a:solidFill>
                                  <a:latin typeface="Cambria Math" panose="02040503050406030204" pitchFamily="18" charset="0"/>
                                </a:rPr>
                              </m:ctrlPr>
                            </m:sSupPr>
                            <m:e>
                              <m:r>
                                <a:rPr lang="en-US" altLang="zh-CN" sz="2000" i="1">
                                  <a:solidFill>
                                    <a:srgbClr val="0000FF"/>
                                  </a:solidFill>
                                  <a:latin typeface="Cambria Math" panose="02040503050406030204" pitchFamily="18" charset="0"/>
                                </a:rPr>
                                <m:t>𝜈</m:t>
                              </m:r>
                            </m:e>
                            <m:sup>
                              <m:r>
                                <a:rPr lang="en-US" altLang="zh-CN" sz="2000" i="1">
                                  <a:solidFill>
                                    <a:srgbClr val="0000FF"/>
                                  </a:solidFill>
                                  <a:latin typeface="Cambria Math" panose="02040503050406030204" pitchFamily="18" charset="0"/>
                                </a:rPr>
                                <m:t>2</m:t>
                              </m:r>
                            </m:sup>
                          </m:sSup>
                        </m:num>
                        <m:den>
                          <m:sSup>
                            <m:sSupPr>
                              <m:ctrlPr>
                                <a:rPr lang="en-US" altLang="zh-CN" sz="2000" i="1">
                                  <a:solidFill>
                                    <a:srgbClr val="0000FF"/>
                                  </a:solidFill>
                                  <a:latin typeface="Cambria Math" panose="02040503050406030204" pitchFamily="18" charset="0"/>
                                </a:rPr>
                              </m:ctrlPr>
                            </m:sSupPr>
                            <m:e>
                              <m:r>
                                <m:rPr>
                                  <m:sty m:val="p"/>
                                </m:rPr>
                                <a:rPr lang="en-US" altLang="zh-CN" sz="2000" i="1">
                                  <a:solidFill>
                                    <a:srgbClr val="0000FF"/>
                                  </a:solidFill>
                                  <a:latin typeface="Cambria Math"/>
                                </a:rPr>
                                <m:t>c</m:t>
                              </m:r>
                            </m:e>
                            <m:sup>
                              <m:r>
                                <a:rPr lang="en-US" altLang="zh-CN" sz="2000" i="1">
                                  <a:solidFill>
                                    <a:srgbClr val="0000FF"/>
                                  </a:solidFill>
                                  <a:latin typeface="Cambria Math"/>
                                </a:rPr>
                                <m:t>3</m:t>
                              </m:r>
                            </m:sup>
                          </m:sSup>
                        </m:den>
                      </m:f>
                      <m:f>
                        <m:fPr>
                          <m:ctrlPr>
                            <a:rPr lang="en-US" altLang="zh-CN" sz="2000" i="1" smtClean="0">
                              <a:solidFill>
                                <a:srgbClr val="C00000"/>
                              </a:solidFill>
                              <a:latin typeface="Cambria Math" panose="02040503050406030204" pitchFamily="18" charset="0"/>
                            </a:rPr>
                          </m:ctrlPr>
                        </m:fPr>
                        <m:num>
                          <m:sSub>
                            <m:sSubPr>
                              <m:ctrlPr>
                                <a:rPr lang="en-US" altLang="zh-CN" sz="2000" i="1">
                                  <a:solidFill>
                                    <a:srgbClr val="C00000"/>
                                  </a:solidFill>
                                  <a:latin typeface="Cambria Math" panose="02040503050406030204" pitchFamily="18" charset="0"/>
                                </a:rPr>
                              </m:ctrlPr>
                            </m:sSubPr>
                            <m:e>
                              <m:r>
                                <a:rPr lang="en-US" altLang="zh-CN" sz="2000" i="1">
                                  <a:solidFill>
                                    <a:srgbClr val="C00000"/>
                                  </a:solidFill>
                                  <a:latin typeface="Cambria Math"/>
                                </a:rPr>
                                <m:t>𝑘</m:t>
                              </m:r>
                            </m:e>
                            <m:sub>
                              <m:r>
                                <a:rPr lang="en-US" altLang="zh-CN" sz="2000" i="1">
                                  <a:solidFill>
                                    <a:srgbClr val="C00000"/>
                                  </a:solidFill>
                                  <a:latin typeface="Cambria Math"/>
                                </a:rPr>
                                <m:t>𝐵</m:t>
                              </m:r>
                            </m:sub>
                          </m:sSub>
                          <m:r>
                            <a:rPr lang="en-US" altLang="zh-CN" sz="2000" i="1">
                              <a:solidFill>
                                <a:srgbClr val="C00000"/>
                              </a:solidFill>
                              <a:latin typeface="Cambria Math" panose="02040503050406030204" pitchFamily="18" charset="0"/>
                            </a:rPr>
                            <m:t>𝛽</m:t>
                          </m:r>
                          <m:r>
                            <a:rPr lang="en-US" altLang="zh-CN" sz="2000" i="1">
                              <a:solidFill>
                                <a:srgbClr val="C00000"/>
                              </a:solidFill>
                              <a:latin typeface="Cambria Math"/>
                            </a:rPr>
                            <m:t>𝜈</m:t>
                          </m:r>
                        </m:num>
                        <m:den>
                          <m:sSup>
                            <m:sSupPr>
                              <m:ctrlPr>
                                <a:rPr lang="en-US" altLang="zh-CN" sz="2000" i="1">
                                  <a:solidFill>
                                    <a:srgbClr val="C00000"/>
                                  </a:solidFill>
                                  <a:latin typeface="Cambria Math" panose="02040503050406030204" pitchFamily="18" charset="0"/>
                                </a:rPr>
                              </m:ctrlPr>
                            </m:sSupPr>
                            <m:e>
                              <m:r>
                                <a:rPr lang="en-US" altLang="zh-CN" sz="2000" i="1">
                                  <a:solidFill>
                                    <a:srgbClr val="C00000"/>
                                  </a:solidFill>
                                  <a:latin typeface="Cambria Math"/>
                                </a:rPr>
                                <m:t>𝑒</m:t>
                              </m:r>
                            </m:e>
                            <m:sup>
                              <m:r>
                                <a:rPr lang="en-US" altLang="zh-CN" sz="2000" i="1">
                                  <a:solidFill>
                                    <a:srgbClr val="C00000"/>
                                  </a:solidFill>
                                  <a:latin typeface="Cambria Math" panose="02040503050406030204" pitchFamily="18" charset="0"/>
                                </a:rPr>
                                <m:t>𝛽</m:t>
                              </m:r>
                              <m:r>
                                <a:rPr lang="en-US" altLang="zh-CN" sz="2000" i="1">
                                  <a:solidFill>
                                    <a:srgbClr val="C00000"/>
                                  </a:solidFill>
                                  <a:latin typeface="Cambria Math"/>
                                </a:rPr>
                                <m:t>𝜈</m:t>
                              </m:r>
                              <m:r>
                                <a:rPr lang="en-US" altLang="zh-CN" sz="2000" i="1">
                                  <a:solidFill>
                                    <a:srgbClr val="C00000"/>
                                  </a:solidFill>
                                  <a:latin typeface="Cambria Math"/>
                                </a:rPr>
                                <m:t>/</m:t>
                              </m:r>
                              <m:r>
                                <a:rPr lang="en-US" altLang="zh-CN" sz="2000" i="1">
                                  <a:solidFill>
                                    <a:srgbClr val="C00000"/>
                                  </a:solidFill>
                                  <a:latin typeface="Cambria Math"/>
                                </a:rPr>
                                <m:t>𝑇</m:t>
                              </m:r>
                            </m:sup>
                          </m:sSup>
                          <m:r>
                            <a:rPr lang="en-US" altLang="zh-CN" sz="2000" i="1">
                              <a:solidFill>
                                <a:srgbClr val="C00000"/>
                              </a:solidFill>
                              <a:latin typeface="Cambria Math"/>
                            </a:rPr>
                            <m:t>−1</m:t>
                          </m:r>
                        </m:den>
                      </m:f>
                    </m:oMath>
                  </m:oMathPara>
                </a14:m>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600"/>
                  </a:spcBef>
                  <a:spcAft>
                    <a:spcPts val="600"/>
                  </a:spcAft>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He define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2000" b="0" i="1" smtClean="0">
                        <a:solidFill>
                          <a:srgbClr val="0070C0"/>
                        </a:solidFill>
                        <a:latin typeface="Cambria Math" panose="02040503050406030204" pitchFamily="18" charset="0"/>
                      </a:rPr>
                      <m:t>h</m:t>
                    </m:r>
                    <m:r>
                      <a:rPr lang="en-US" altLang="zh-CN" sz="2000" i="1" smtClean="0">
                        <a:solidFill>
                          <a:srgbClr val="0070C0"/>
                        </a:solidFill>
                        <a:latin typeface="Cambria Math" panose="02040503050406030204" pitchFamily="18" charset="0"/>
                        <a:ea typeface="Cambria Math" panose="02040503050406030204" pitchFamily="18" charset="0"/>
                      </a:rPr>
                      <m:t>≡</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𝑘</m:t>
                        </m:r>
                      </m:e>
                      <m:sub>
                        <m:r>
                          <a:rPr lang="en-US" altLang="zh-CN" sz="2000" i="1">
                            <a:solidFill>
                              <a:srgbClr val="0070C0"/>
                            </a:solidFill>
                            <a:latin typeface="Cambria Math"/>
                          </a:rPr>
                          <m:t>𝐵</m:t>
                        </m:r>
                      </m:sub>
                    </m:sSub>
                    <m:r>
                      <a:rPr lang="en-US" altLang="zh-CN" sz="2000" b="0" i="1" smtClean="0">
                        <a:solidFill>
                          <a:srgbClr val="0070C0"/>
                        </a:solidFill>
                        <a:latin typeface="Cambria Math" panose="02040503050406030204" pitchFamily="18" charset="0"/>
                      </a:rPr>
                      <m:t>𝛽</m:t>
                    </m:r>
                  </m:oMath>
                </a14:m>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then</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70C0"/>
                              </a:solidFill>
                              <a:latin typeface="Cambria Math" panose="02040503050406030204" pitchFamily="18" charset="0"/>
                            </a:rPr>
                          </m:ctrlPr>
                        </m:sSubPr>
                        <m:e>
                          <m:r>
                            <a:rPr lang="en-US" altLang="zh-CN" sz="2000" i="1">
                              <a:solidFill>
                                <a:srgbClr val="0070C0"/>
                              </a:solidFill>
                              <a:latin typeface="Cambria Math"/>
                            </a:rPr>
                            <m:t>𝑢</m:t>
                          </m:r>
                        </m:e>
                        <m:sub>
                          <m:r>
                            <a:rPr lang="en-US" altLang="zh-CN" sz="2000" i="1">
                              <a:solidFill>
                                <a:srgbClr val="0070C0"/>
                              </a:solidFill>
                              <a:latin typeface="Cambria Math"/>
                            </a:rPr>
                            <m:t>𝜈</m:t>
                          </m:r>
                        </m:sub>
                      </m:sSub>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a:rPr>
                            <m:t>𝑇</m:t>
                          </m:r>
                          <m:r>
                            <a:rPr lang="en-US" altLang="zh-CN" sz="2000" i="1">
                              <a:solidFill>
                                <a:srgbClr val="0070C0"/>
                              </a:solidFill>
                              <a:latin typeface="Cambria Math" panose="02040503050406030204" pitchFamily="18" charset="0"/>
                            </a:rPr>
                            <m:t>,</m:t>
                          </m:r>
                          <m:r>
                            <a:rPr lang="en-US" altLang="zh-CN" sz="2000" i="1">
                              <a:solidFill>
                                <a:srgbClr val="0070C0"/>
                              </a:solidFill>
                              <a:latin typeface="Cambria Math" panose="02040503050406030204" pitchFamily="18" charset="0"/>
                            </a:rPr>
                            <m:t>𝜈</m:t>
                          </m:r>
                        </m:e>
                      </m:d>
                      <m:r>
                        <a:rPr lang="en-US" altLang="zh-CN" sz="2000" i="1">
                          <a:solidFill>
                            <a:srgbClr val="0070C0"/>
                          </a:solidFill>
                          <a:latin typeface="Cambria Math" panose="02040503050406030204" pitchFamily="18" charset="0"/>
                        </a:rPr>
                        <m:t>=</m:t>
                      </m:r>
                      <m:f>
                        <m:fPr>
                          <m:ctrlPr>
                            <a:rPr lang="en-US" altLang="zh-CN" sz="2000" i="1" smtClean="0">
                              <a:solidFill>
                                <a:srgbClr val="0000FF"/>
                              </a:solidFill>
                              <a:latin typeface="Cambria Math" panose="02040503050406030204" pitchFamily="18" charset="0"/>
                            </a:rPr>
                          </m:ctrlPr>
                        </m:fPr>
                        <m:num>
                          <m:r>
                            <a:rPr lang="en-US" altLang="zh-CN" sz="2000" i="1">
                              <a:solidFill>
                                <a:srgbClr val="0000FF"/>
                              </a:solidFill>
                              <a:latin typeface="Cambria Math"/>
                            </a:rPr>
                            <m:t>8</m:t>
                          </m:r>
                          <m:r>
                            <a:rPr lang="en-US" altLang="zh-CN" sz="2000" i="1">
                              <a:solidFill>
                                <a:srgbClr val="0000FF"/>
                              </a:solidFill>
                              <a:latin typeface="Cambria Math"/>
                            </a:rPr>
                            <m:t>𝜋</m:t>
                          </m:r>
                          <m:sSup>
                            <m:sSupPr>
                              <m:ctrlPr>
                                <a:rPr lang="en-US" altLang="zh-CN" sz="2000" i="1">
                                  <a:solidFill>
                                    <a:srgbClr val="0000FF"/>
                                  </a:solidFill>
                                  <a:latin typeface="Cambria Math" panose="02040503050406030204" pitchFamily="18" charset="0"/>
                                </a:rPr>
                              </m:ctrlPr>
                            </m:sSupPr>
                            <m:e>
                              <m:r>
                                <a:rPr lang="en-US" altLang="zh-CN" sz="2000" i="1">
                                  <a:solidFill>
                                    <a:srgbClr val="0000FF"/>
                                  </a:solidFill>
                                  <a:latin typeface="Cambria Math" panose="02040503050406030204" pitchFamily="18" charset="0"/>
                                </a:rPr>
                                <m:t>𝜈</m:t>
                              </m:r>
                            </m:e>
                            <m:sup>
                              <m:r>
                                <a:rPr lang="en-US" altLang="zh-CN" sz="2000" i="1">
                                  <a:solidFill>
                                    <a:srgbClr val="0000FF"/>
                                  </a:solidFill>
                                  <a:latin typeface="Cambria Math" panose="02040503050406030204" pitchFamily="18" charset="0"/>
                                </a:rPr>
                                <m:t>2</m:t>
                              </m:r>
                            </m:sup>
                          </m:sSup>
                        </m:num>
                        <m:den>
                          <m:sSup>
                            <m:sSupPr>
                              <m:ctrlPr>
                                <a:rPr lang="en-US" altLang="zh-CN" sz="2000" i="1">
                                  <a:solidFill>
                                    <a:srgbClr val="0000FF"/>
                                  </a:solidFill>
                                  <a:latin typeface="Cambria Math" panose="02040503050406030204" pitchFamily="18" charset="0"/>
                                </a:rPr>
                              </m:ctrlPr>
                            </m:sSupPr>
                            <m:e>
                              <m:r>
                                <m:rPr>
                                  <m:sty m:val="p"/>
                                </m:rPr>
                                <a:rPr lang="en-US" altLang="zh-CN" sz="2000" i="1">
                                  <a:solidFill>
                                    <a:srgbClr val="0000FF"/>
                                  </a:solidFill>
                                  <a:latin typeface="Cambria Math"/>
                                </a:rPr>
                                <m:t>c</m:t>
                              </m:r>
                            </m:e>
                            <m:sup>
                              <m:r>
                                <a:rPr lang="en-US" altLang="zh-CN" sz="2000" i="1">
                                  <a:solidFill>
                                    <a:srgbClr val="0000FF"/>
                                  </a:solidFill>
                                  <a:latin typeface="Cambria Math"/>
                                </a:rPr>
                                <m:t>3</m:t>
                              </m:r>
                            </m:sup>
                          </m:sSup>
                        </m:den>
                      </m:f>
                      <m:f>
                        <m:fPr>
                          <m:ctrlPr>
                            <a:rPr lang="en-US" altLang="zh-CN" sz="2000" i="1" smtClean="0">
                              <a:solidFill>
                                <a:srgbClr val="C00000"/>
                              </a:solidFill>
                              <a:latin typeface="Cambria Math" panose="02040503050406030204" pitchFamily="18" charset="0"/>
                            </a:rPr>
                          </m:ctrlPr>
                        </m:fPr>
                        <m:num>
                          <m:r>
                            <a:rPr lang="en-US" altLang="zh-CN" sz="2000" i="1">
                              <a:solidFill>
                                <a:srgbClr val="C00000"/>
                              </a:solidFill>
                              <a:latin typeface="Cambria Math" panose="02040503050406030204" pitchFamily="18" charset="0"/>
                            </a:rPr>
                            <m:t>h</m:t>
                          </m:r>
                          <m:r>
                            <a:rPr lang="en-US" altLang="zh-CN" sz="2000" i="1">
                              <a:solidFill>
                                <a:srgbClr val="C00000"/>
                              </a:solidFill>
                              <a:latin typeface="Cambria Math"/>
                            </a:rPr>
                            <m:t>𝜈</m:t>
                          </m:r>
                        </m:num>
                        <m:den>
                          <m:sSup>
                            <m:sSupPr>
                              <m:ctrlPr>
                                <a:rPr lang="en-US" altLang="zh-CN" sz="2000" i="1">
                                  <a:solidFill>
                                    <a:srgbClr val="C00000"/>
                                  </a:solidFill>
                                  <a:latin typeface="Cambria Math" panose="02040503050406030204" pitchFamily="18" charset="0"/>
                                </a:rPr>
                              </m:ctrlPr>
                            </m:sSupPr>
                            <m:e>
                              <m:r>
                                <a:rPr lang="en-US" altLang="zh-CN" sz="2000" i="1">
                                  <a:solidFill>
                                    <a:srgbClr val="C00000"/>
                                  </a:solidFill>
                                  <a:latin typeface="Cambria Math"/>
                                </a:rPr>
                                <m:t>𝑒</m:t>
                              </m:r>
                            </m:e>
                            <m:sup>
                              <m:r>
                                <a:rPr lang="en-US" altLang="zh-CN" sz="2000" i="1">
                                  <a:solidFill>
                                    <a:srgbClr val="C00000"/>
                                  </a:solidFill>
                                  <a:latin typeface="Cambria Math" panose="02040503050406030204" pitchFamily="18" charset="0"/>
                                </a:rPr>
                                <m:t>h</m:t>
                              </m:r>
                              <m:r>
                                <a:rPr lang="en-US" altLang="zh-CN" sz="2000" i="1">
                                  <a:solidFill>
                                    <a:srgbClr val="C00000"/>
                                  </a:solidFill>
                                  <a:latin typeface="Cambria Math"/>
                                </a:rPr>
                                <m:t>𝜈</m:t>
                              </m:r>
                              <m:r>
                                <a:rPr lang="en-US" altLang="zh-CN" sz="2000" i="1">
                                  <a:solidFill>
                                    <a:srgbClr val="C00000"/>
                                  </a:solidFill>
                                  <a:latin typeface="Cambria Math"/>
                                </a:rPr>
                                <m:t>/</m:t>
                              </m:r>
                              <m:sSub>
                                <m:sSubPr>
                                  <m:ctrlPr>
                                    <a:rPr lang="en-US" altLang="zh-CN" sz="2000" i="1">
                                      <a:solidFill>
                                        <a:srgbClr val="C00000"/>
                                      </a:solidFill>
                                      <a:latin typeface="Cambria Math" panose="02040503050406030204" pitchFamily="18" charset="0"/>
                                    </a:rPr>
                                  </m:ctrlPr>
                                </m:sSubPr>
                                <m:e>
                                  <m:r>
                                    <a:rPr lang="en-US" altLang="zh-CN" sz="2000" i="1">
                                      <a:solidFill>
                                        <a:srgbClr val="C00000"/>
                                      </a:solidFill>
                                      <a:latin typeface="Cambria Math" panose="02040503050406030204" pitchFamily="18" charset="0"/>
                                    </a:rPr>
                                    <m:t>𝑘</m:t>
                                  </m:r>
                                </m:e>
                                <m:sub>
                                  <m:r>
                                    <a:rPr lang="en-US" altLang="zh-CN" sz="2000" i="1">
                                      <a:solidFill>
                                        <a:srgbClr val="C00000"/>
                                      </a:solidFill>
                                      <a:latin typeface="Cambria Math" panose="02040503050406030204" pitchFamily="18" charset="0"/>
                                    </a:rPr>
                                    <m:t>𝐵</m:t>
                                  </m:r>
                                </m:sub>
                              </m:sSub>
                              <m:r>
                                <a:rPr lang="en-US" altLang="zh-CN" sz="2000" i="1">
                                  <a:solidFill>
                                    <a:srgbClr val="C00000"/>
                                  </a:solidFill>
                                  <a:latin typeface="Cambria Math"/>
                                </a:rPr>
                                <m:t>𝑇</m:t>
                              </m:r>
                            </m:sup>
                          </m:sSup>
                          <m:r>
                            <a:rPr lang="en-US" altLang="zh-CN" sz="2000" i="1">
                              <a:solidFill>
                                <a:srgbClr val="C00000"/>
                              </a:solidFill>
                              <a:latin typeface="Cambria Math"/>
                            </a:rPr>
                            <m:t>−1</m:t>
                          </m:r>
                        </m:den>
                      </m:f>
                    </m:oMath>
                  </m:oMathPara>
                </a14:m>
                <a:endParaRPr lang="zh-CN" altLang="en-US" sz="2000" dirty="0">
                  <a:latin typeface="Times New Roman" panose="02020603050405020304" pitchFamily="18" charset="0"/>
                  <a:cs typeface="Times New Roman" panose="02020603050405020304" pitchFamily="18" charset="0"/>
                </a:endParaRPr>
              </a:p>
            </p:txBody>
          </p:sp>
        </mc:Choice>
        <mc:Fallback>
          <p:sp>
            <p:nvSpPr>
              <p:cNvPr id="5" name="Rectangle 4"/>
              <p:cNvSpPr>
                <a:spLocks noRot="1" noChangeAspect="1" noMove="1" noResize="1" noEditPoints="1" noAdjustHandles="1" noChangeArrowheads="1" noChangeShapeType="1" noTextEdit="1"/>
              </p:cNvSpPr>
              <p:nvPr/>
            </p:nvSpPr>
            <p:spPr>
              <a:xfrm>
                <a:off x="615463" y="4131216"/>
                <a:ext cx="8149158" cy="2338461"/>
              </a:xfrm>
              <a:prstGeom prst="rect">
                <a:avLst/>
              </a:prstGeom>
              <a:blipFill>
                <a:blip r:embed="rId5"/>
                <a:stretch>
                  <a:fillRect l="-747" t="-1299"/>
                </a:stretch>
              </a:blipFill>
              <a:ln>
                <a:solidFill>
                  <a:srgbClr val="0070C0"/>
                </a:solidFill>
              </a:ln>
            </p:spPr>
            <p:txBody>
              <a:bodyPr/>
              <a:lstStyle/>
              <a:p>
                <a:r>
                  <a:rPr lang="zh-CN" altLang="en-US">
                    <a:noFill/>
                  </a:rPr>
                  <a:t> </a:t>
                </a:r>
              </a:p>
            </p:txBody>
          </p:sp>
        </mc:Fallback>
      </mc:AlternateContent>
      <p:sp>
        <p:nvSpPr>
          <p:cNvPr id="10" name="Rectangle 9"/>
          <p:cNvSpPr/>
          <p:nvPr/>
        </p:nvSpPr>
        <p:spPr>
          <a:xfrm>
            <a:off x="8801765" y="2218952"/>
            <a:ext cx="2774772" cy="1015663"/>
          </a:xfrm>
          <a:prstGeom prst="rect">
            <a:avLst/>
          </a:prstGeom>
        </p:spPr>
        <p:txBody>
          <a:bodyPr wrap="square">
            <a:spAutoFit/>
          </a:bodyPr>
          <a:lstStyle/>
          <a:p>
            <a:pPr algn="ctr">
              <a:spcBef>
                <a:spcPts val="600"/>
              </a:spcBef>
              <a:spcAft>
                <a:spcPts val="600"/>
              </a:spcAft>
            </a:pPr>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Conflict between classical electrodynamics and statistical mechanics</a:t>
            </a:r>
          </a:p>
        </p:txBody>
      </p:sp>
      <mc:AlternateContent xmlns:mc="http://schemas.openxmlformats.org/markup-compatibility/2006">
        <mc:Choice xmlns:a14="http://schemas.microsoft.com/office/drawing/2010/main" Requires="a14">
          <p:sp>
            <p:nvSpPr>
              <p:cNvPr id="11" name="Rectangle 10"/>
              <p:cNvSpPr/>
              <p:nvPr/>
            </p:nvSpPr>
            <p:spPr>
              <a:xfrm>
                <a:off x="9100037" y="4555829"/>
                <a:ext cx="2476500" cy="1631216"/>
              </a:xfrm>
              <a:prstGeom prst="rect">
                <a:avLst/>
              </a:prstGeom>
            </p:spPr>
            <p:txBody>
              <a:bodyPr wrap="square">
                <a:spAutoFit/>
              </a:bodyPr>
              <a:lstStyle/>
              <a:p>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Planck’s formula</a:t>
                </a:r>
              </a:p>
              <a:p>
                <a:endPar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Planck constant </a:t>
                </a:r>
                <a14:m>
                  <m:oMath xmlns:m="http://schemas.openxmlformats.org/officeDocument/2006/math">
                    <m:r>
                      <a:rPr lang="en-US" altLang="zh-CN" sz="2000" i="1" smtClean="0">
                        <a:solidFill>
                          <a:srgbClr val="C00000"/>
                        </a:solidFill>
                        <a:latin typeface="Cambria Math"/>
                      </a:rPr>
                      <m:t>h</m:t>
                    </m:r>
                  </m:oMath>
                </a14:m>
                <a:r>
                  <a:rPr lang="zh-CN" altLang="en-US" sz="2000" b="1" dirty="0">
                    <a:solidFill>
                      <a:srgbClr val="C0000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is fitted to be</a:t>
                </a:r>
                <a:r>
                  <a:rPr lang="en-US" altLang="zh-CN" sz="2000" b="1" dirty="0">
                    <a:solidFill>
                      <a:srgbClr val="C00000"/>
                    </a:solidFill>
                    <a:latin typeface="Times New Roman" panose="02020603050405020304" pitchFamily="18" charset="0"/>
                    <a:cs typeface="Times New Roman" panose="02020603050405020304" pitchFamily="18" charset="0"/>
                  </a:rPr>
                  <a:t> </a:t>
                </a:r>
                <a:endParaRPr lang="en-US" altLang="zh-CN" sz="2000" i="1" dirty="0">
                  <a:solidFill>
                    <a:srgbClr val="C00000"/>
                  </a:solidFill>
                  <a:latin typeface="Cambria Math"/>
                </a:endParaRPr>
              </a:p>
              <a:p>
                <a14:m>
                  <m:oMathPara xmlns:m="http://schemas.openxmlformats.org/officeDocument/2006/math">
                    <m:oMathParaPr>
                      <m:jc m:val="centerGroup"/>
                    </m:oMathParaPr>
                    <m:oMath xmlns:m="http://schemas.openxmlformats.org/officeDocument/2006/math">
                      <m:r>
                        <a:rPr lang="en-US" altLang="zh-CN" sz="2000" i="1">
                          <a:solidFill>
                            <a:srgbClr val="C00000"/>
                          </a:solidFill>
                          <a:latin typeface="Cambria Math"/>
                        </a:rPr>
                        <m:t>6.6×</m:t>
                      </m:r>
                      <m:sSup>
                        <m:sSupPr>
                          <m:ctrlPr>
                            <a:rPr lang="en-US" altLang="zh-CN" sz="2000" i="1">
                              <a:solidFill>
                                <a:srgbClr val="C00000"/>
                              </a:solidFill>
                              <a:latin typeface="Cambria Math" panose="02040503050406030204" pitchFamily="18" charset="0"/>
                            </a:rPr>
                          </m:ctrlPr>
                        </m:sSupPr>
                        <m:e>
                          <m:r>
                            <a:rPr lang="en-US" altLang="zh-CN" sz="2000" i="1">
                              <a:solidFill>
                                <a:srgbClr val="C00000"/>
                              </a:solidFill>
                              <a:latin typeface="Cambria Math"/>
                            </a:rPr>
                            <m:t>10</m:t>
                          </m:r>
                        </m:e>
                        <m:sup>
                          <m:r>
                            <a:rPr lang="en-US" altLang="zh-CN" sz="2000" i="1">
                              <a:solidFill>
                                <a:srgbClr val="C00000"/>
                              </a:solidFill>
                              <a:latin typeface="Cambria Math"/>
                            </a:rPr>
                            <m:t>−34</m:t>
                          </m:r>
                        </m:sup>
                      </m:sSup>
                      <m:r>
                        <a:rPr lang="en-US" altLang="zh-CN" sz="2000" i="1">
                          <a:solidFill>
                            <a:srgbClr val="C00000"/>
                          </a:solidFill>
                          <a:latin typeface="Cambria Math"/>
                        </a:rPr>
                        <m:t> </m:t>
                      </m:r>
                      <m:r>
                        <m:rPr>
                          <m:sty m:val="p"/>
                        </m:rPr>
                        <a:rPr lang="en-US" altLang="zh-CN" sz="2000">
                          <a:solidFill>
                            <a:srgbClr val="C00000"/>
                          </a:solidFill>
                          <a:latin typeface="Cambria Math"/>
                        </a:rPr>
                        <m:t>J</m:t>
                      </m:r>
                      <m:r>
                        <a:rPr lang="en-US" altLang="zh-CN" sz="2000" i="1">
                          <a:solidFill>
                            <a:srgbClr val="C00000"/>
                          </a:solidFill>
                          <a:latin typeface="Cambria Math"/>
                        </a:rPr>
                        <m:t>⋅</m:t>
                      </m:r>
                      <m:r>
                        <m:rPr>
                          <m:sty m:val="p"/>
                        </m:rPr>
                        <a:rPr lang="en-US" altLang="zh-CN" sz="2000">
                          <a:solidFill>
                            <a:srgbClr val="C00000"/>
                          </a:solidFill>
                          <a:latin typeface="Cambria Math"/>
                        </a:rPr>
                        <m:t>s</m:t>
                      </m:r>
                    </m:oMath>
                  </m:oMathPara>
                </a14:m>
                <a:endParaRPr lang="zh-CN" altLang="en-US" sz="2000" dirty="0">
                  <a:solidFill>
                    <a:srgbClr val="C00000"/>
                  </a:solidFill>
                  <a:latin typeface="Times New Roman" panose="02020603050405020304" pitchFamily="18" charset="0"/>
                  <a:cs typeface="Times New Roman" panose="02020603050405020304" pitchFamily="18" charset="0"/>
                </a:endParaRPr>
              </a:p>
            </p:txBody>
          </p:sp>
        </mc:Choice>
        <mc:Fallback>
          <p:sp>
            <p:nvSpPr>
              <p:cNvPr id="11" name="Rectangle 10"/>
              <p:cNvSpPr>
                <a:spLocks noRot="1" noChangeAspect="1" noMove="1" noResize="1" noEditPoints="1" noAdjustHandles="1" noChangeArrowheads="1" noChangeShapeType="1" noTextEdit="1"/>
              </p:cNvSpPr>
              <p:nvPr/>
            </p:nvSpPr>
            <p:spPr>
              <a:xfrm>
                <a:off x="9100037" y="4555829"/>
                <a:ext cx="2476500" cy="1631216"/>
              </a:xfrm>
              <a:prstGeom prst="rect">
                <a:avLst/>
              </a:prstGeom>
              <a:blipFill>
                <a:blip r:embed="rId6"/>
                <a:stretch>
                  <a:fillRect l="-2709" t="-1866" b="-22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768815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fade">
                                      <p:cBhvr>
                                        <p:cTn id="42" dur="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animEffect transition="in" filter="fade">
                                      <p:cBhvr>
                                        <p:cTn id="47" dur="500"/>
                                        <p:tgtEl>
                                          <p:spTgt spid="5">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2" end="2"/>
                                            </p:txEl>
                                          </p:spTgt>
                                        </p:tgtEl>
                                        <p:attrNameLst>
                                          <p:attrName>style.visibility</p:attrName>
                                        </p:attrNameLst>
                                      </p:cBhvr>
                                      <p:to>
                                        <p:strVal val="visible"/>
                                      </p:to>
                                    </p:set>
                                    <p:animEffect transition="in" filter="fade">
                                      <p:cBhvr>
                                        <p:cTn id="52" dur="500"/>
                                        <p:tgtEl>
                                          <p:spTgt spid="5">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3" end="3"/>
                                            </p:txEl>
                                          </p:spTgt>
                                        </p:tgtEl>
                                        <p:attrNameLst>
                                          <p:attrName>style.visibility</p:attrName>
                                        </p:attrNameLst>
                                      </p:cBhvr>
                                      <p:to>
                                        <p:strVal val="visible"/>
                                      </p:to>
                                    </p:set>
                                    <p:animEffect transition="in" filter="fade">
                                      <p:cBhvr>
                                        <p:cTn id="57" dur="500"/>
                                        <p:tgtEl>
                                          <p:spTgt spid="5">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580" y="275332"/>
            <a:ext cx="8070980" cy="551589"/>
          </a:xfrm>
        </p:spPr>
        <p:txBody>
          <a:bodyPr/>
          <a:lstStyle/>
          <a:p>
            <a:r>
              <a:rPr lang="en-US" altLang="zh-CN" sz="3200" dirty="0">
                <a:latin typeface="Times New Roman" panose="02020603050405020304" pitchFamily="18" charset="0"/>
                <a:cs typeface="Times New Roman" panose="02020603050405020304" pitchFamily="18" charset="0"/>
              </a:rPr>
              <a:t>The ultraviolet catastrophe</a:t>
            </a:r>
            <a:endParaRPr lang="zh-CN" altLang="en-US" sz="3200" dirty="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2B013A9C-F846-471D-A0F9-BADF95D91565}"/>
              </a:ext>
            </a:extLst>
          </p:cNvPr>
          <p:cNvGrpSpPr>
            <a:grpSpLocks noChangeAspect="1"/>
          </p:cNvGrpSpPr>
          <p:nvPr/>
        </p:nvGrpSpPr>
        <p:grpSpPr>
          <a:xfrm>
            <a:off x="357447" y="1315454"/>
            <a:ext cx="6297353" cy="4344331"/>
            <a:chOff x="4553203" y="2398877"/>
            <a:chExt cx="6936074" cy="4622243"/>
          </a:xfrm>
        </p:grpSpPr>
        <p:pic>
          <p:nvPicPr>
            <p:cNvPr id="3" name="Picture 2">
              <a:extLst>
                <a:ext uri="{FF2B5EF4-FFF2-40B4-BE49-F238E27FC236}">
                  <a16:creationId xmlns:a16="http://schemas.microsoft.com/office/drawing/2014/main" id="{24F7D521-C534-4654-B7E4-64EFFBEB2F69}"/>
                </a:ext>
              </a:extLst>
            </p:cNvPr>
            <p:cNvPicPr>
              <a:picLocks noChangeAspect="1"/>
            </p:cNvPicPr>
            <p:nvPr/>
          </p:nvPicPr>
          <p:blipFill>
            <a:blip r:embed="rId3"/>
            <a:stretch>
              <a:fillRect/>
            </a:stretch>
          </p:blipFill>
          <p:spPr>
            <a:xfrm>
              <a:off x="4553203" y="2398877"/>
              <a:ext cx="6936074" cy="4622243"/>
            </a:xfrm>
            <a:prstGeom prst="rect">
              <a:avLst/>
            </a:prstGeom>
          </p:spPr>
        </p:pic>
        <p:sp>
          <p:nvSpPr>
            <p:cNvPr id="10" name="TextBox 9"/>
            <p:cNvSpPr txBox="1"/>
            <p:nvPr/>
          </p:nvSpPr>
          <p:spPr>
            <a:xfrm>
              <a:off x="9015346" y="3213978"/>
              <a:ext cx="1514319" cy="400110"/>
            </a:xfrm>
            <a:prstGeom prst="rect">
              <a:avLst/>
            </a:prstGeom>
            <a:solidFill>
              <a:schemeClr val="bg1"/>
            </a:solidFill>
          </p:spPr>
          <p:txBody>
            <a:bodyPr wrap="square" rtlCol="0">
              <a:spAutoFit/>
            </a:bodyPr>
            <a:lstStyle/>
            <a:p>
              <a:pPr algn="ctr"/>
              <a:r>
                <a:rPr lang="en-US" altLang="zh-CN" sz="2000" dirty="0">
                  <a:ea typeface="黑体" panose="02010609060101010101" pitchFamily="49" charset="-122"/>
                  <a:cs typeface="Times New Roman" panose="02020603050405020304" pitchFamily="18" charset="0"/>
                </a:rPr>
                <a:t>Experiment</a:t>
              </a:r>
              <a:endParaRPr lang="en-US" sz="2000" dirty="0">
                <a:ea typeface="黑体" panose="02010609060101010101" pitchFamily="49"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8888DFC-DF63-4D14-9BB0-3A2D6485BCC5}"/>
                  </a:ext>
                </a:extLst>
              </p:cNvPr>
              <p:cNvSpPr txBox="1"/>
              <p:nvPr/>
            </p:nvSpPr>
            <p:spPr>
              <a:xfrm>
                <a:off x="7257011" y="2530135"/>
                <a:ext cx="4148387" cy="1021562"/>
              </a:xfrm>
              <a:prstGeom prst="rect">
                <a:avLst/>
              </a:prstGeom>
              <a:noFill/>
              <a:ln w="22225">
                <a:solidFill>
                  <a:srgbClr val="0000FF"/>
                </a:solidFill>
              </a:ln>
            </p:spPr>
            <p:txBody>
              <a:bodyPr wrap="square" rtlCol="0">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Planck</a:t>
                </a:r>
              </a:p>
              <a:p>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a:rPr>
                            <m:t>𝑢</m:t>
                          </m:r>
                        </m:e>
                        <m:sub>
                          <m:r>
                            <a:rPr lang="en-US" altLang="zh-CN" sz="2000" i="1">
                              <a:solidFill>
                                <a:schemeClr val="tx1"/>
                              </a:solidFill>
                              <a:latin typeface="Cambria Math"/>
                            </a:rPr>
                            <m:t>𝜈</m:t>
                          </m:r>
                        </m:sub>
                      </m:sSub>
                      <m:d>
                        <m:dPr>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a:rPr>
                            <m:t>𝑇</m:t>
                          </m:r>
                          <m:r>
                            <a:rPr lang="en-US" altLang="zh-CN" sz="2000" i="1">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𝜈</m:t>
                          </m:r>
                        </m:e>
                      </m:d>
                      <m:r>
                        <a:rPr lang="en-US" altLang="zh-CN" sz="2000" i="1">
                          <a:solidFill>
                            <a:schemeClr val="tx1"/>
                          </a:solidFill>
                          <a:latin typeface="Cambria Math" panose="02040503050406030204" pitchFamily="18" charset="0"/>
                        </a:rPr>
                        <m:t>=</m:t>
                      </m:r>
                      <m:f>
                        <m:fPr>
                          <m:ctrlPr>
                            <a:rPr lang="en-US" altLang="zh-CN" sz="2000" i="1" smtClean="0">
                              <a:solidFill>
                                <a:srgbClr val="0000FF"/>
                              </a:solidFill>
                              <a:latin typeface="Cambria Math" panose="02040503050406030204" pitchFamily="18" charset="0"/>
                            </a:rPr>
                          </m:ctrlPr>
                        </m:fPr>
                        <m:num>
                          <m:r>
                            <a:rPr lang="en-US" altLang="zh-CN" sz="2000" i="1">
                              <a:solidFill>
                                <a:srgbClr val="0000FF"/>
                              </a:solidFill>
                              <a:latin typeface="Cambria Math"/>
                            </a:rPr>
                            <m:t>8</m:t>
                          </m:r>
                          <m:r>
                            <a:rPr lang="en-US" altLang="zh-CN" sz="2000" i="1">
                              <a:solidFill>
                                <a:srgbClr val="0000FF"/>
                              </a:solidFill>
                              <a:latin typeface="Cambria Math"/>
                            </a:rPr>
                            <m:t>𝜋</m:t>
                          </m:r>
                          <m:sSup>
                            <m:sSupPr>
                              <m:ctrlPr>
                                <a:rPr lang="en-US" altLang="zh-CN" sz="2000" i="1">
                                  <a:solidFill>
                                    <a:srgbClr val="0000FF"/>
                                  </a:solidFill>
                                  <a:latin typeface="Cambria Math" panose="02040503050406030204" pitchFamily="18" charset="0"/>
                                </a:rPr>
                              </m:ctrlPr>
                            </m:sSupPr>
                            <m:e>
                              <m:r>
                                <a:rPr lang="en-US" altLang="zh-CN" sz="2000" i="1">
                                  <a:solidFill>
                                    <a:srgbClr val="0000FF"/>
                                  </a:solidFill>
                                  <a:latin typeface="Cambria Math" panose="02040503050406030204" pitchFamily="18" charset="0"/>
                                </a:rPr>
                                <m:t>𝜈</m:t>
                              </m:r>
                            </m:e>
                            <m:sup>
                              <m:r>
                                <a:rPr lang="en-US" altLang="zh-CN" sz="2000" i="1">
                                  <a:solidFill>
                                    <a:srgbClr val="0000FF"/>
                                  </a:solidFill>
                                  <a:latin typeface="Cambria Math" panose="02040503050406030204" pitchFamily="18" charset="0"/>
                                </a:rPr>
                                <m:t>2</m:t>
                              </m:r>
                            </m:sup>
                          </m:sSup>
                        </m:num>
                        <m:den>
                          <m:sSup>
                            <m:sSupPr>
                              <m:ctrlPr>
                                <a:rPr lang="en-US" altLang="zh-CN" sz="2000" i="1">
                                  <a:solidFill>
                                    <a:srgbClr val="0000FF"/>
                                  </a:solidFill>
                                  <a:latin typeface="Cambria Math" panose="02040503050406030204" pitchFamily="18" charset="0"/>
                                </a:rPr>
                              </m:ctrlPr>
                            </m:sSupPr>
                            <m:e>
                              <m:r>
                                <m:rPr>
                                  <m:sty m:val="p"/>
                                </m:rPr>
                                <a:rPr lang="en-US" altLang="zh-CN" sz="2000" i="1">
                                  <a:solidFill>
                                    <a:srgbClr val="0000FF"/>
                                  </a:solidFill>
                                  <a:latin typeface="Cambria Math"/>
                                </a:rPr>
                                <m:t>c</m:t>
                              </m:r>
                            </m:e>
                            <m:sup>
                              <m:r>
                                <a:rPr lang="en-US" altLang="zh-CN" sz="2000" i="1">
                                  <a:solidFill>
                                    <a:srgbClr val="0000FF"/>
                                  </a:solidFill>
                                  <a:latin typeface="Cambria Math"/>
                                </a:rPr>
                                <m:t>3</m:t>
                              </m:r>
                            </m:sup>
                          </m:sSup>
                        </m:den>
                      </m:f>
                      <m:f>
                        <m:fPr>
                          <m:ctrlPr>
                            <a:rPr lang="en-US" altLang="zh-CN" sz="2000" i="1" smtClean="0">
                              <a:solidFill>
                                <a:srgbClr val="C00000"/>
                              </a:solidFill>
                              <a:latin typeface="Cambria Math" panose="02040503050406030204" pitchFamily="18" charset="0"/>
                            </a:rPr>
                          </m:ctrlPr>
                        </m:fPr>
                        <m:num>
                          <m:r>
                            <a:rPr lang="en-US" altLang="zh-CN" sz="2000" i="1">
                              <a:solidFill>
                                <a:srgbClr val="C00000"/>
                              </a:solidFill>
                              <a:latin typeface="Cambria Math" panose="02040503050406030204" pitchFamily="18" charset="0"/>
                            </a:rPr>
                            <m:t>h</m:t>
                          </m:r>
                          <m:r>
                            <a:rPr lang="en-US" altLang="zh-CN" sz="2000" i="1">
                              <a:solidFill>
                                <a:srgbClr val="C00000"/>
                              </a:solidFill>
                              <a:latin typeface="Cambria Math"/>
                            </a:rPr>
                            <m:t>𝜈</m:t>
                          </m:r>
                        </m:num>
                        <m:den>
                          <m:sSup>
                            <m:sSupPr>
                              <m:ctrlPr>
                                <a:rPr lang="en-US" altLang="zh-CN" sz="2000" i="1">
                                  <a:solidFill>
                                    <a:srgbClr val="C00000"/>
                                  </a:solidFill>
                                  <a:latin typeface="Cambria Math" panose="02040503050406030204" pitchFamily="18" charset="0"/>
                                </a:rPr>
                              </m:ctrlPr>
                            </m:sSupPr>
                            <m:e>
                              <m:r>
                                <a:rPr lang="en-US" altLang="zh-CN" sz="2000" i="1">
                                  <a:solidFill>
                                    <a:srgbClr val="C00000"/>
                                  </a:solidFill>
                                  <a:latin typeface="Cambria Math"/>
                                </a:rPr>
                                <m:t>𝑒</m:t>
                              </m:r>
                            </m:e>
                            <m:sup>
                              <m:r>
                                <a:rPr lang="en-US" altLang="zh-CN" sz="2000" i="1">
                                  <a:solidFill>
                                    <a:srgbClr val="C00000"/>
                                  </a:solidFill>
                                  <a:latin typeface="Cambria Math" panose="02040503050406030204" pitchFamily="18" charset="0"/>
                                </a:rPr>
                                <m:t>h</m:t>
                              </m:r>
                              <m:r>
                                <a:rPr lang="en-US" altLang="zh-CN" sz="2000" i="1">
                                  <a:solidFill>
                                    <a:srgbClr val="C00000"/>
                                  </a:solidFill>
                                  <a:latin typeface="Cambria Math"/>
                                </a:rPr>
                                <m:t>𝜈</m:t>
                              </m:r>
                              <m:r>
                                <a:rPr lang="en-US" altLang="zh-CN" sz="2000" i="1">
                                  <a:solidFill>
                                    <a:srgbClr val="C00000"/>
                                  </a:solidFill>
                                  <a:latin typeface="Cambria Math"/>
                                </a:rPr>
                                <m:t>/</m:t>
                              </m:r>
                              <m:sSub>
                                <m:sSubPr>
                                  <m:ctrlPr>
                                    <a:rPr lang="en-US" altLang="zh-CN" sz="2000" i="1">
                                      <a:solidFill>
                                        <a:srgbClr val="C00000"/>
                                      </a:solidFill>
                                      <a:latin typeface="Cambria Math" panose="02040503050406030204" pitchFamily="18" charset="0"/>
                                    </a:rPr>
                                  </m:ctrlPr>
                                </m:sSubPr>
                                <m:e>
                                  <m:r>
                                    <a:rPr lang="en-US" altLang="zh-CN" sz="2000" i="1">
                                      <a:solidFill>
                                        <a:srgbClr val="C00000"/>
                                      </a:solidFill>
                                      <a:latin typeface="Cambria Math" panose="02040503050406030204" pitchFamily="18" charset="0"/>
                                    </a:rPr>
                                    <m:t>𝑘</m:t>
                                  </m:r>
                                </m:e>
                                <m:sub>
                                  <m:r>
                                    <a:rPr lang="en-US" altLang="zh-CN" sz="2000" i="1">
                                      <a:solidFill>
                                        <a:srgbClr val="C00000"/>
                                      </a:solidFill>
                                      <a:latin typeface="Cambria Math" panose="02040503050406030204" pitchFamily="18" charset="0"/>
                                    </a:rPr>
                                    <m:t>𝐵</m:t>
                                  </m:r>
                                </m:sub>
                              </m:sSub>
                              <m:r>
                                <a:rPr lang="en-US" altLang="zh-CN" sz="2000" i="1">
                                  <a:solidFill>
                                    <a:srgbClr val="C00000"/>
                                  </a:solidFill>
                                  <a:latin typeface="Cambria Math"/>
                                </a:rPr>
                                <m:t>𝑇</m:t>
                              </m:r>
                            </m:sup>
                          </m:sSup>
                          <m:r>
                            <a:rPr lang="en-US" altLang="zh-CN" sz="2000" i="1">
                              <a:solidFill>
                                <a:srgbClr val="C00000"/>
                              </a:solidFill>
                              <a:latin typeface="Cambria Math"/>
                            </a:rPr>
                            <m:t>−1</m:t>
                          </m:r>
                        </m:den>
                      </m:f>
                    </m:oMath>
                  </m:oMathPara>
                </a14:m>
                <a:endParaRPr lang="zh-CN" altLang="en-US" sz="2000" dirty="0">
                  <a:solidFill>
                    <a:schemeClr val="tx1"/>
                  </a:solidFill>
                </a:endParaRPr>
              </a:p>
            </p:txBody>
          </p:sp>
        </mc:Choice>
        <mc:Fallback xmlns="">
          <p:sp>
            <p:nvSpPr>
              <p:cNvPr id="16" name="TextBox 15">
                <a:extLst>
                  <a:ext uri="{FF2B5EF4-FFF2-40B4-BE49-F238E27FC236}">
                    <a16:creationId xmlns:a16="http://schemas.microsoft.com/office/drawing/2014/main" id="{08888DFC-DF63-4D14-9BB0-3A2D6485BCC5}"/>
                  </a:ext>
                </a:extLst>
              </p:cNvPr>
              <p:cNvSpPr txBox="1">
                <a:spLocks noRot="1" noChangeAspect="1" noMove="1" noResize="1" noEditPoints="1" noAdjustHandles="1" noChangeArrowheads="1" noChangeShapeType="1" noTextEdit="1"/>
              </p:cNvSpPr>
              <p:nvPr/>
            </p:nvSpPr>
            <p:spPr>
              <a:xfrm>
                <a:off x="7257011" y="2530135"/>
                <a:ext cx="4148387" cy="1021562"/>
              </a:xfrm>
              <a:prstGeom prst="rect">
                <a:avLst/>
              </a:prstGeom>
              <a:blipFill>
                <a:blip r:embed="rId4"/>
                <a:stretch>
                  <a:fillRect l="-1168" t="-1744"/>
                </a:stretch>
              </a:blipFill>
              <a:ln w="22225">
                <a:solidFill>
                  <a:srgbClr val="0000FF"/>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B4D4FC9-C395-4F51-AAE0-C44EDD141520}"/>
                  </a:ext>
                </a:extLst>
              </p:cNvPr>
              <p:cNvSpPr txBox="1"/>
              <p:nvPr/>
            </p:nvSpPr>
            <p:spPr>
              <a:xfrm>
                <a:off x="7257011" y="1300365"/>
                <a:ext cx="4148387" cy="1102013"/>
              </a:xfrm>
              <a:prstGeom prst="rect">
                <a:avLst/>
              </a:prstGeom>
              <a:noFill/>
              <a:ln w="25400">
                <a:solidFill>
                  <a:schemeClr val="accent2">
                    <a:lumMod val="75000"/>
                  </a:schemeClr>
                </a:solidFill>
              </a:ln>
            </p:spPr>
            <p:txBody>
              <a:bodyPr wrap="none" rtlCol="0">
                <a:no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Rayleigh-Jeans</a:t>
                </a:r>
              </a:p>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a:rPr>
                            <m:t>𝑢</m:t>
                          </m:r>
                        </m:e>
                        <m:sub>
                          <m:r>
                            <a:rPr lang="en-US" altLang="zh-CN" sz="2000" i="1">
                              <a:latin typeface="Cambria Math"/>
                            </a:rPr>
                            <m:t>𝜈</m:t>
                          </m:r>
                        </m:sub>
                      </m:sSub>
                      <m:d>
                        <m:dPr>
                          <m:ctrlPr>
                            <a:rPr lang="en-US" altLang="zh-CN" sz="2000" i="1">
                              <a:latin typeface="Cambria Math" panose="02040503050406030204" pitchFamily="18" charset="0"/>
                            </a:rPr>
                          </m:ctrlPr>
                        </m:dPr>
                        <m:e>
                          <m:r>
                            <a:rPr lang="en-US" altLang="zh-CN" sz="2000" i="1">
                              <a:latin typeface="Cambria Math"/>
                            </a:rPr>
                            <m:t>𝑇</m:t>
                          </m:r>
                          <m:r>
                            <a:rPr lang="en-US" altLang="zh-CN" sz="2000" i="1">
                              <a:latin typeface="Cambria Math" panose="02040503050406030204" pitchFamily="18" charset="0"/>
                            </a:rPr>
                            <m:t>,</m:t>
                          </m:r>
                          <m:r>
                            <a:rPr lang="en-US" altLang="zh-CN" sz="2000" i="1">
                              <a:latin typeface="Cambria Math" panose="02040503050406030204" pitchFamily="18" charset="0"/>
                            </a:rPr>
                            <m:t>𝜈</m:t>
                          </m:r>
                        </m:e>
                      </m:d>
                      <m:r>
                        <a:rPr lang="en-US" altLang="zh-CN" sz="2000" i="1">
                          <a:latin typeface="Cambria Math" panose="02040503050406030204" pitchFamily="18" charset="0"/>
                        </a:rPr>
                        <m:t>=</m:t>
                      </m:r>
                      <m:f>
                        <m:fPr>
                          <m:ctrlPr>
                            <a:rPr lang="en-US" altLang="zh-CN" sz="2000" i="1" smtClean="0">
                              <a:solidFill>
                                <a:srgbClr val="0000FF"/>
                              </a:solidFill>
                              <a:latin typeface="Cambria Math" panose="02040503050406030204" pitchFamily="18" charset="0"/>
                            </a:rPr>
                          </m:ctrlPr>
                        </m:fPr>
                        <m:num>
                          <m:r>
                            <a:rPr lang="en-US" altLang="zh-CN" sz="2000" i="1">
                              <a:solidFill>
                                <a:srgbClr val="0000FF"/>
                              </a:solidFill>
                              <a:latin typeface="Cambria Math"/>
                            </a:rPr>
                            <m:t>8</m:t>
                          </m:r>
                          <m:r>
                            <a:rPr lang="en-US" altLang="zh-CN" sz="2000" i="1">
                              <a:solidFill>
                                <a:srgbClr val="0000FF"/>
                              </a:solidFill>
                              <a:latin typeface="Cambria Math"/>
                            </a:rPr>
                            <m:t>𝜋</m:t>
                          </m:r>
                          <m:sSup>
                            <m:sSupPr>
                              <m:ctrlPr>
                                <a:rPr lang="en-US" altLang="zh-CN" sz="2000" i="1">
                                  <a:solidFill>
                                    <a:srgbClr val="0000FF"/>
                                  </a:solidFill>
                                  <a:latin typeface="Cambria Math" panose="02040503050406030204" pitchFamily="18" charset="0"/>
                                </a:rPr>
                              </m:ctrlPr>
                            </m:sSupPr>
                            <m:e>
                              <m:r>
                                <a:rPr lang="en-US" altLang="zh-CN" sz="2000" i="1">
                                  <a:solidFill>
                                    <a:srgbClr val="0000FF"/>
                                  </a:solidFill>
                                  <a:latin typeface="Cambria Math"/>
                                </a:rPr>
                                <m:t>𝜈</m:t>
                              </m:r>
                            </m:e>
                            <m:sup>
                              <m:r>
                                <a:rPr lang="en-US" altLang="zh-CN" sz="2000" i="1">
                                  <a:solidFill>
                                    <a:srgbClr val="0000FF"/>
                                  </a:solidFill>
                                  <a:latin typeface="Cambria Math"/>
                                </a:rPr>
                                <m:t>2</m:t>
                              </m:r>
                            </m:sup>
                          </m:sSup>
                        </m:num>
                        <m:den>
                          <m:sSup>
                            <m:sSupPr>
                              <m:ctrlPr>
                                <a:rPr lang="en-US" altLang="zh-CN" sz="2000" i="1">
                                  <a:solidFill>
                                    <a:srgbClr val="0000FF"/>
                                  </a:solidFill>
                                  <a:latin typeface="Cambria Math" panose="02040503050406030204" pitchFamily="18" charset="0"/>
                                </a:rPr>
                              </m:ctrlPr>
                            </m:sSupPr>
                            <m:e>
                              <m:r>
                                <m:rPr>
                                  <m:sty m:val="p"/>
                                </m:rPr>
                                <a:rPr lang="en-US" altLang="zh-CN" sz="2000" i="1">
                                  <a:solidFill>
                                    <a:srgbClr val="0000FF"/>
                                  </a:solidFill>
                                  <a:latin typeface="Cambria Math"/>
                                </a:rPr>
                                <m:t>c</m:t>
                              </m:r>
                            </m:e>
                            <m:sup>
                              <m:r>
                                <a:rPr lang="en-US" altLang="zh-CN" sz="2000" i="1">
                                  <a:solidFill>
                                    <a:srgbClr val="0000FF"/>
                                  </a:solidFill>
                                  <a:latin typeface="Cambria Math"/>
                                </a:rPr>
                                <m:t>3</m:t>
                              </m:r>
                            </m:sup>
                          </m:sSup>
                        </m:den>
                      </m:f>
                      <m:sSub>
                        <m:sSubPr>
                          <m:ctrlPr>
                            <a:rPr lang="en-US" altLang="zh-CN" sz="2000" i="1" smtClean="0">
                              <a:solidFill>
                                <a:srgbClr val="C00000"/>
                              </a:solidFill>
                              <a:latin typeface="Cambria Math" panose="02040503050406030204" pitchFamily="18" charset="0"/>
                            </a:rPr>
                          </m:ctrlPr>
                        </m:sSubPr>
                        <m:e>
                          <m:r>
                            <a:rPr lang="en-US" altLang="zh-CN" sz="2000" i="1">
                              <a:solidFill>
                                <a:srgbClr val="C00000"/>
                              </a:solidFill>
                              <a:latin typeface="Cambria Math"/>
                            </a:rPr>
                            <m:t>𝑘</m:t>
                          </m:r>
                        </m:e>
                        <m:sub>
                          <m:r>
                            <a:rPr lang="en-US" altLang="zh-CN" sz="2000" i="1">
                              <a:solidFill>
                                <a:srgbClr val="C00000"/>
                              </a:solidFill>
                              <a:latin typeface="Cambria Math"/>
                            </a:rPr>
                            <m:t>𝐵</m:t>
                          </m:r>
                        </m:sub>
                      </m:sSub>
                      <m:r>
                        <a:rPr lang="en-US" altLang="zh-CN" sz="2000" i="1">
                          <a:solidFill>
                            <a:srgbClr val="C00000"/>
                          </a:solidFill>
                          <a:latin typeface="Cambria Math"/>
                        </a:rPr>
                        <m:t>𝑇</m:t>
                      </m:r>
                    </m:oMath>
                  </m:oMathPara>
                </a14:m>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8" name="TextBox 27">
                <a:extLst>
                  <a:ext uri="{FF2B5EF4-FFF2-40B4-BE49-F238E27FC236}">
                    <a16:creationId xmlns:a16="http://schemas.microsoft.com/office/drawing/2014/main" id="{AB4D4FC9-C395-4F51-AAE0-C44EDD141520}"/>
                  </a:ext>
                </a:extLst>
              </p:cNvPr>
              <p:cNvSpPr txBox="1">
                <a:spLocks noRot="1" noChangeAspect="1" noMove="1" noResize="1" noEditPoints="1" noAdjustHandles="1" noChangeArrowheads="1" noChangeShapeType="1" noTextEdit="1"/>
              </p:cNvSpPr>
              <p:nvPr/>
            </p:nvSpPr>
            <p:spPr>
              <a:xfrm>
                <a:off x="7257011" y="1300365"/>
                <a:ext cx="4148387" cy="1102013"/>
              </a:xfrm>
              <a:prstGeom prst="rect">
                <a:avLst/>
              </a:prstGeom>
              <a:blipFill>
                <a:blip r:embed="rId5"/>
                <a:stretch>
                  <a:fillRect l="-1168" t="-1622"/>
                </a:stretch>
              </a:blipFill>
              <a:ln w="25400">
                <a:solidFill>
                  <a:schemeClr val="accent2">
                    <a:lumMod val="75000"/>
                  </a:schemeClr>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ECA53AB8-40C8-451D-A333-2C33D1530ED7}"/>
                  </a:ext>
                </a:extLst>
              </p:cNvPr>
              <p:cNvSpPr txBox="1"/>
              <p:nvPr/>
            </p:nvSpPr>
            <p:spPr>
              <a:xfrm>
                <a:off x="6972179" y="3720346"/>
                <a:ext cx="4718050" cy="2862322"/>
              </a:xfrm>
              <a:prstGeom prst="rect">
                <a:avLst/>
              </a:prstGeom>
              <a:noFill/>
              <a:ln w="22225">
                <a:noFill/>
              </a:ln>
            </p:spPr>
            <p:txBody>
              <a:bodyPr wrap="square" rtlCol="0">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The R-J formula diverges when </a:t>
                </a:r>
                <a14:m>
                  <m:oMath xmlns:m="http://schemas.openxmlformats.org/officeDocument/2006/math">
                    <m:r>
                      <a:rPr lang="en-US" altLang="zh-CN" sz="2000" b="0" i="1" smtClean="0">
                        <a:solidFill>
                          <a:schemeClr val="tx1"/>
                        </a:solidFill>
                        <a:latin typeface="Cambria Math" panose="02040503050406030204" pitchFamily="18" charset="0"/>
                        <a:cs typeface="Times New Roman" panose="02020603050405020304" pitchFamily="18" charset="0"/>
                      </a:rPr>
                      <m:t>𝜈</m:t>
                    </m:r>
                    <m:r>
                      <a:rPr lang="en-US" altLang="zh-CN" sz="2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dirty="0">
                    <a:solidFill>
                      <a:schemeClr val="tx1"/>
                    </a:solidFill>
                    <a:latin typeface="Times New Roman" panose="02020603050405020304" pitchFamily="18" charset="0"/>
                    <a:cs typeface="Times New Roman" panose="02020603050405020304" pitchFamily="18" charset="0"/>
                  </a:rPr>
                  <a:t>,</a:t>
                </a:r>
              </a:p>
              <a:p>
                <a:r>
                  <a:rPr lang="en-US" altLang="zh-CN" sz="2000" dirty="0">
                    <a:latin typeface="Times New Roman" panose="02020603050405020304" pitchFamily="18" charset="0"/>
                    <a:cs typeface="Times New Roman" panose="02020603050405020304" pitchFamily="18" charset="0"/>
                  </a:rPr>
                  <a:t>because the </a:t>
                </a:r>
                <a:r>
                  <a:rPr lang="en-US" altLang="zh-CN" sz="2000" dirty="0">
                    <a:solidFill>
                      <a:srgbClr val="0000FF"/>
                    </a:solidFill>
                    <a:latin typeface="Times New Roman" panose="02020603050405020304" pitchFamily="18" charset="0"/>
                    <a:cs typeface="Times New Roman" panose="02020603050405020304" pitchFamily="18" charset="0"/>
                  </a:rPr>
                  <a:t>mode density,</a:t>
                </a:r>
                <a:r>
                  <a:rPr lang="en-US" altLang="zh-CN" sz="2000" dirty="0">
                    <a:latin typeface="Times New Roman" panose="02020603050405020304" pitchFamily="18" charset="0"/>
                    <a:cs typeface="Times New Roman" panose="02020603050405020304" pitchFamily="18" charset="0"/>
                  </a:rPr>
                  <a:t> </a:t>
                </a:r>
                <a14:m>
                  <m:oMath xmlns:m="http://schemas.openxmlformats.org/officeDocument/2006/math">
                    <m:r>
                      <m:rPr>
                        <m:sty m:val="p"/>
                      </m:rPr>
                      <a:rPr lang="en-US" altLang="zh-CN" sz="2000" b="0" i="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g</m:t>
                    </m:r>
                    <m:r>
                      <a:rPr lang="en-US" altLang="zh-CN" sz="2000" b="0" i="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𝜈</m:t>
                    </m:r>
                    <m:r>
                      <a:rPr lang="en-US" altLang="zh-CN" sz="2000"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𝜈</m:t>
                        </m:r>
                      </m:e>
                      <m:sup>
                        <m:r>
                          <a:rPr lang="en-US" altLang="zh-CN" sz="2000"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altLang="zh-CN" sz="2000" dirty="0">
                    <a:latin typeface="Times New Roman" panose="02020603050405020304" pitchFamily="18" charset="0"/>
                    <a:cs typeface="Times New Roman" panose="02020603050405020304" pitchFamily="18" charset="0"/>
                  </a:rPr>
                  <a:t>, but </a:t>
                </a:r>
                <a14:m>
                  <m:oMath xmlns:m="http://schemas.openxmlformats.org/officeDocument/2006/math">
                    <m:bar>
                      <m:barPr>
                        <m:pos m:val="top"/>
                        <m:ctrlPr>
                          <a:rPr lang="en-US" altLang="zh-CN" sz="2000" b="0" i="1" smtClean="0">
                            <a:solidFill>
                              <a:srgbClr val="C00000"/>
                            </a:solidFill>
                            <a:latin typeface="Cambria Math" panose="02040503050406030204" pitchFamily="18" charset="0"/>
                            <a:cs typeface="Times New Roman" panose="02020603050405020304" pitchFamily="18" charset="0"/>
                          </a:rPr>
                        </m:ctrlPr>
                      </m:barPr>
                      <m:e>
                        <m:r>
                          <a:rPr lang="en-US" altLang="zh-CN" sz="2000" i="1">
                            <a:solidFill>
                              <a:srgbClr val="C00000"/>
                            </a:solidFill>
                            <a:latin typeface="Cambria Math" panose="02040503050406030204" pitchFamily="18" charset="0"/>
                            <a:cs typeface="Times New Roman" panose="02020603050405020304" pitchFamily="18" charset="0"/>
                          </a:rPr>
                          <m:t>𝜖</m:t>
                        </m:r>
                      </m:e>
                    </m:bar>
                    <m:r>
                      <a:rPr lang="en-US" altLang="zh-CN" sz="2000" b="0" i="1" smtClean="0">
                        <a:solidFill>
                          <a:srgbClr val="C00000"/>
                        </a:solidFill>
                        <a:latin typeface="Cambria Math" panose="02040503050406030204" pitchFamily="18" charset="0"/>
                        <a:cs typeface="Times New Roman" panose="02020603050405020304" pitchFamily="18" charset="0"/>
                      </a:rPr>
                      <m:t>=</m:t>
                    </m:r>
                    <m:sSub>
                      <m:sSubPr>
                        <m:ctrlPr>
                          <a:rPr lang="en-US" altLang="zh-CN" sz="2000" b="0" i="1" smtClean="0">
                            <a:solidFill>
                              <a:srgbClr val="C00000"/>
                            </a:solidFill>
                            <a:latin typeface="Cambria Math" panose="02040503050406030204" pitchFamily="18" charset="0"/>
                            <a:cs typeface="Times New Roman" panose="02020603050405020304" pitchFamily="18" charset="0"/>
                          </a:rPr>
                        </m:ctrlPr>
                      </m:sSubPr>
                      <m:e>
                        <m:r>
                          <a:rPr lang="en-US" altLang="zh-CN" sz="2000" b="0" i="1" smtClean="0">
                            <a:solidFill>
                              <a:srgbClr val="C00000"/>
                            </a:solidFill>
                            <a:latin typeface="Cambria Math" panose="02040503050406030204" pitchFamily="18" charset="0"/>
                            <a:cs typeface="Times New Roman" panose="02020603050405020304" pitchFamily="18" charset="0"/>
                          </a:rPr>
                          <m:t>𝑘</m:t>
                        </m:r>
                      </m:e>
                      <m:sub>
                        <m:r>
                          <a:rPr lang="en-US" altLang="zh-CN" sz="2000" b="0" i="1" smtClean="0">
                            <a:solidFill>
                              <a:srgbClr val="C00000"/>
                            </a:solidFill>
                            <a:latin typeface="Cambria Math" panose="02040503050406030204" pitchFamily="18" charset="0"/>
                            <a:cs typeface="Times New Roman" panose="02020603050405020304" pitchFamily="18" charset="0"/>
                          </a:rPr>
                          <m:t>𝐵</m:t>
                        </m:r>
                      </m:sub>
                    </m:sSub>
                    <m:r>
                      <a:rPr lang="en-US" altLang="zh-CN" sz="2000" b="0" i="1" smtClean="0">
                        <a:solidFill>
                          <a:srgbClr val="C00000"/>
                        </a:solidFill>
                        <a:latin typeface="Cambria Math" panose="02040503050406030204" pitchFamily="18" charset="0"/>
                        <a:cs typeface="Times New Roman" panose="02020603050405020304" pitchFamily="18" charset="0"/>
                      </a:rPr>
                      <m:t>𝑇</m:t>
                    </m:r>
                  </m:oMath>
                </a14:m>
                <a:r>
                  <a:rPr lang="zh-CN" altLang="en-US" sz="2000" dirty="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rPr>
                  <a:t>independent of </a:t>
                </a:r>
                <a14:m>
                  <m:oMath xmlns:m="http://schemas.openxmlformats.org/officeDocument/2006/math">
                    <m:r>
                      <a:rPr lang="en-US" altLang="zh-CN" sz="2000" b="0" i="1" smtClean="0">
                        <a:solidFill>
                          <a:schemeClr val="tx1"/>
                        </a:solidFill>
                        <a:latin typeface="Cambria Math" panose="02040503050406030204" pitchFamily="18" charset="0"/>
                        <a:cs typeface="Times New Roman" panose="02020603050405020304" pitchFamily="18" charset="0"/>
                      </a:rPr>
                      <m:t>𝜈</m:t>
                    </m:r>
                  </m:oMath>
                </a14:m>
                <a:r>
                  <a:rPr lang="en-US" altLang="zh-CN" sz="2000" dirty="0">
                    <a:solidFill>
                      <a:schemeClr val="tx1"/>
                    </a:solidFill>
                    <a:latin typeface="Times New Roman" panose="02020603050405020304" pitchFamily="18" charset="0"/>
                    <a:cs typeface="Times New Roman" panose="02020603050405020304" pitchFamily="18" charset="0"/>
                  </a:rPr>
                  <a:t>.</a:t>
                </a:r>
              </a:p>
              <a:p>
                <a:endParaRPr lang="en-US" altLang="zh-CN" sz="2000" dirty="0">
                  <a:solidFill>
                    <a:schemeClr val="tx1"/>
                  </a:solidFill>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Planck’s formula has the same </a:t>
                </a:r>
                <a14:m>
                  <m:oMath xmlns:m="http://schemas.openxmlformats.org/officeDocument/2006/math">
                    <m:r>
                      <m:rPr>
                        <m:sty m:val="p"/>
                      </m:rPr>
                      <a:rPr lang="en-US" altLang="zh-CN" sz="200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g</m:t>
                    </m:r>
                    <m:r>
                      <a:rPr lang="en-US" altLang="zh-CN" sz="200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𝜈</m:t>
                    </m:r>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but its </a:t>
                </a:r>
                <a14:m>
                  <m:oMath xmlns:m="http://schemas.openxmlformats.org/officeDocument/2006/math">
                    <m:bar>
                      <m:barPr>
                        <m:pos m:val="top"/>
                        <m:ctrlPr>
                          <a:rPr lang="en-US" altLang="zh-CN" sz="2000" i="1" smtClean="0">
                            <a:solidFill>
                              <a:srgbClr val="C00000"/>
                            </a:solidFill>
                            <a:latin typeface="Cambria Math" panose="02040503050406030204" pitchFamily="18" charset="0"/>
                            <a:cs typeface="Times New Roman" panose="02020603050405020304" pitchFamily="18" charset="0"/>
                          </a:rPr>
                        </m:ctrlPr>
                      </m:barPr>
                      <m:e>
                        <m:r>
                          <a:rPr lang="en-US" altLang="zh-CN" sz="2000" i="1">
                            <a:solidFill>
                              <a:srgbClr val="C00000"/>
                            </a:solidFill>
                            <a:latin typeface="Cambria Math" panose="02040503050406030204" pitchFamily="18" charset="0"/>
                            <a:cs typeface="Times New Roman" panose="02020603050405020304" pitchFamily="18" charset="0"/>
                          </a:rPr>
                          <m:t>𝜖</m:t>
                        </m:r>
                      </m:e>
                    </m:bar>
                    <m:r>
                      <a:rPr lang="en-US" altLang="zh-CN" sz="2000" i="1">
                        <a:latin typeface="Cambria Math" panose="02040503050406030204" pitchFamily="18" charset="0"/>
                        <a:cs typeface="Times New Roman" panose="02020603050405020304" pitchFamily="18" charset="0"/>
                      </a:rPr>
                      <m:t> </m:t>
                    </m:r>
                  </m:oMath>
                </a14:m>
                <a:r>
                  <a:rPr lang="en-US" altLang="zh-CN" sz="2000" dirty="0">
                    <a:latin typeface="Times New Roman" panose="02020603050405020304" pitchFamily="18" charset="0"/>
                    <a:cs typeface="Times New Roman" panose="02020603050405020304" pitchFamily="18" charset="0"/>
                  </a:rPr>
                  <a:t>decays faster than </a:t>
                </a:r>
                <a14:m>
                  <m:oMath xmlns:m="http://schemas.openxmlformats.org/officeDocument/2006/math">
                    <m:r>
                      <m:rPr>
                        <m:sty m:val="p"/>
                      </m:rPr>
                      <a:rPr lang="en-US" altLang="zh-CN" sz="200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g</m:t>
                    </m:r>
                    <m:r>
                      <a:rPr lang="en-US" altLang="zh-CN" sz="200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𝜈</m:t>
                    </m:r>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dirty="0">
                    <a:latin typeface="Times New Roman" panose="02020603050405020304" pitchFamily="18" charset="0"/>
                    <a:cs typeface="Times New Roman" panose="02020603050405020304" pitchFamily="18" charset="0"/>
                  </a:rPr>
                  <a:t>’s increase with increasing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𝜈</m:t>
                    </m:r>
                  </m:oMath>
                </a14:m>
                <a:r>
                  <a:rPr lang="en-US" altLang="zh-CN" sz="2000" dirty="0">
                    <a:solidFill>
                      <a:schemeClr val="tx1"/>
                    </a:solidFill>
                    <a:latin typeface="Times New Roman" panose="02020603050405020304" pitchFamily="18" charset="0"/>
                    <a:cs typeface="Times New Roman" panose="02020603050405020304" pitchFamily="18" charset="0"/>
                  </a:rPr>
                  <a:t>, causing </a:t>
                </a:r>
                <a:r>
                  <a:rPr lang="en-US" altLang="zh-CN" sz="2000" dirty="0">
                    <a:latin typeface="Times New Roman" panose="02020603050405020304" pitchFamily="18" charset="0"/>
                    <a:cs typeface="Times New Roman" panose="02020603050405020304" pitchFamily="18" charset="0"/>
                  </a:rPr>
                  <a:t>their product decays</a:t>
                </a:r>
                <a:r>
                  <a:rPr lang="en-US" altLang="zh-CN" sz="2000" dirty="0">
                    <a:solidFill>
                      <a:schemeClr val="tx1"/>
                    </a:solidFill>
                    <a:latin typeface="Times New Roman" panose="02020603050405020304" pitchFamily="18" charset="0"/>
                    <a:cs typeface="Times New Roman" panose="02020603050405020304" pitchFamily="18" charset="0"/>
                  </a:rPr>
                  <a:t> to </a:t>
                </a:r>
                <a14:m>
                  <m:oMath xmlns:m="http://schemas.openxmlformats.org/officeDocument/2006/math">
                    <m:r>
                      <a:rPr lang="en-US" altLang="zh-CN" sz="2000" b="0" i="1" smtClean="0">
                        <a:solidFill>
                          <a:schemeClr val="tx1"/>
                        </a:solidFill>
                        <a:latin typeface="Cambria Math" panose="02040503050406030204" pitchFamily="18" charset="0"/>
                        <a:cs typeface="Times New Roman" panose="02020603050405020304" pitchFamily="18" charset="0"/>
                      </a:rPr>
                      <m:t>0</m:t>
                    </m:r>
                  </m:oMath>
                </a14:m>
                <a:r>
                  <a:rPr lang="zh-CN" altLang="en-US" sz="2000" dirty="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rPr>
                  <a:t>as </a:t>
                </a:r>
                <a14:m>
                  <m:oMath xmlns:m="http://schemas.openxmlformats.org/officeDocument/2006/math">
                    <m:r>
                      <a:rPr lang="en-US" altLang="zh-CN" sz="2000" b="0" i="1" smtClean="0">
                        <a:solidFill>
                          <a:schemeClr val="tx1"/>
                        </a:solidFill>
                        <a:latin typeface="Cambria Math" panose="02040503050406030204" pitchFamily="18" charset="0"/>
                        <a:cs typeface="Times New Roman" panose="02020603050405020304" pitchFamily="18" charset="0"/>
                      </a:rPr>
                      <m:t>𝜈</m:t>
                    </m:r>
                    <m:r>
                      <a:rPr lang="en-US" altLang="zh-CN" sz="2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dirty="0">
                    <a:solidFill>
                      <a:schemeClr val="tx1"/>
                    </a:solidFill>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p>
              <a:p>
                <a:pPr algn="ctr"/>
                <a:r>
                  <a:rPr lang="en-US" altLang="zh-CN" sz="2000" dirty="0">
                    <a:latin typeface="Times New Roman" panose="02020603050405020304" pitchFamily="18" charset="0"/>
                    <a:cs typeface="Times New Roman" panose="02020603050405020304" pitchFamily="18" charset="0"/>
                  </a:rPr>
                  <a:t>He asked, how can I create such a </a:t>
                </a:r>
                <a14:m>
                  <m:oMath xmlns:m="http://schemas.openxmlformats.org/officeDocument/2006/math">
                    <m:bar>
                      <m:barPr>
                        <m:pos m:val="top"/>
                        <m:ctrlPr>
                          <a:rPr lang="en-US" altLang="zh-CN" sz="2000" i="1" smtClean="0">
                            <a:solidFill>
                              <a:srgbClr val="C00000"/>
                            </a:solidFill>
                            <a:latin typeface="Cambria Math" panose="02040503050406030204" pitchFamily="18" charset="0"/>
                            <a:cs typeface="Times New Roman" panose="02020603050405020304" pitchFamily="18" charset="0"/>
                          </a:rPr>
                        </m:ctrlPr>
                      </m:barPr>
                      <m:e>
                        <m:r>
                          <a:rPr lang="en-US" altLang="zh-CN" sz="2000" i="1">
                            <a:solidFill>
                              <a:srgbClr val="C00000"/>
                            </a:solidFill>
                            <a:latin typeface="Cambria Math" panose="02040503050406030204" pitchFamily="18" charset="0"/>
                            <a:cs typeface="Times New Roman" panose="02020603050405020304" pitchFamily="18" charset="0"/>
                          </a:rPr>
                          <m:t>𝜖</m:t>
                        </m:r>
                      </m:e>
                    </m:bar>
                  </m:oMath>
                </a14:m>
                <a:r>
                  <a:rPr lang="en-US" altLang="zh-CN" sz="2000" dirty="0">
                    <a:solidFill>
                      <a:schemeClr val="tx1"/>
                    </a:solidFill>
                    <a:latin typeface="Times New Roman" panose="02020603050405020304" pitchFamily="18" charset="0"/>
                    <a:cs typeface="Times New Roman" panose="02020603050405020304" pitchFamily="18" charset="0"/>
                  </a:rPr>
                  <a:t>?</a:t>
                </a:r>
                <a:endParaRPr lang="zh-CN"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23" name="TextBox 22">
                <a:extLst>
                  <a:ext uri="{FF2B5EF4-FFF2-40B4-BE49-F238E27FC236}">
                    <a16:creationId xmlns:a16="http://schemas.microsoft.com/office/drawing/2014/main" id="{ECA53AB8-40C8-451D-A333-2C33D1530ED7}"/>
                  </a:ext>
                </a:extLst>
              </p:cNvPr>
              <p:cNvSpPr txBox="1">
                <a:spLocks noRot="1" noChangeAspect="1" noMove="1" noResize="1" noEditPoints="1" noAdjustHandles="1" noChangeArrowheads="1" noChangeShapeType="1" noTextEdit="1"/>
              </p:cNvSpPr>
              <p:nvPr/>
            </p:nvSpPr>
            <p:spPr>
              <a:xfrm>
                <a:off x="6972179" y="3720346"/>
                <a:ext cx="4718050" cy="2862322"/>
              </a:xfrm>
              <a:prstGeom prst="rect">
                <a:avLst/>
              </a:prstGeom>
              <a:blipFill>
                <a:blip r:embed="rId6"/>
                <a:stretch>
                  <a:fillRect l="-1421" t="-1064" r="-2326" b="-2766"/>
                </a:stretch>
              </a:blipFill>
              <a:ln w="22225">
                <a:noFill/>
              </a:ln>
            </p:spPr>
            <p:txBody>
              <a:bodyPr/>
              <a:lstStyle/>
              <a:p>
                <a:r>
                  <a:rPr lang="zh-CN" altLang="en-US">
                    <a:noFill/>
                  </a:rPr>
                  <a:t> </a:t>
                </a:r>
              </a:p>
            </p:txBody>
          </p:sp>
        </mc:Fallback>
      </mc:AlternateContent>
    </p:spTree>
    <p:extLst>
      <p:ext uri="{BB962C8B-B14F-4D97-AF65-F5344CB8AC3E}">
        <p14:creationId xmlns:p14="http://schemas.microsoft.com/office/powerpoint/2010/main" val="40660981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162712" y="3229877"/>
            <a:ext cx="5248334" cy="2930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945437" y="761624"/>
            <a:ext cx="10205163" cy="1569660"/>
          </a:xfrm>
          <a:prstGeom prst="rect">
            <a:avLst/>
          </a:prstGeom>
        </p:spPr>
        <p:txBody>
          <a:bodyPr wrap="square">
            <a:spAutoFit/>
          </a:bodyPr>
          <a:lstStyle/>
          <a:p>
            <a:r>
              <a:rPr lang="en-US" altLang="zh-CN" sz="2400" dirty="0"/>
              <a:t>“It was an act of desperation. For six years I had struggled with the blackbody theory. I knew the problem was fundamental, and I knew the answer. I had to find a theoretical explanation at any cost, except for the inviolability of the two laws of thermodynamics.”</a:t>
            </a:r>
          </a:p>
        </p:txBody>
      </p:sp>
      <p:sp>
        <p:nvSpPr>
          <p:cNvPr id="5" name="Title 1"/>
          <p:cNvSpPr>
            <a:spLocks noGrp="1"/>
          </p:cNvSpPr>
          <p:nvPr>
            <p:ph type="title"/>
          </p:nvPr>
        </p:nvSpPr>
        <p:spPr>
          <a:xfrm>
            <a:off x="945437" y="135513"/>
            <a:ext cx="8158951" cy="576064"/>
          </a:xfrm>
        </p:spPr>
        <p:txBody>
          <a:bodyPr/>
          <a:lstStyle/>
          <a:p>
            <a:r>
              <a:rPr lang="en-US" altLang="zh-CN" dirty="0">
                <a:latin typeface="Times New Roman" panose="02020603050405020304" pitchFamily="18" charset="0"/>
                <a:cs typeface="Times New Roman" panose="02020603050405020304" pitchFamily="18" charset="0"/>
              </a:rPr>
              <a:t>Planck’s reflection about his own theory</a:t>
            </a:r>
            <a:endParaRPr lang="zh-CN" altLang="en-US"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1B3768D-B0BE-4B13-8E4D-736F83807E6C}"/>
              </a:ext>
            </a:extLst>
          </p:cNvPr>
          <p:cNvSpPr/>
          <p:nvPr/>
        </p:nvSpPr>
        <p:spPr>
          <a:xfrm>
            <a:off x="3535489" y="2475823"/>
            <a:ext cx="4137671" cy="461665"/>
          </a:xfrm>
          <a:prstGeom prst="rect">
            <a:avLst/>
          </a:prstGeom>
        </p:spPr>
        <p:txBody>
          <a:bodyPr wrap="none">
            <a:spAutoFit/>
          </a:bodyPr>
          <a:lstStyle/>
          <a:p>
            <a:r>
              <a:rPr lang="en-US" altLang="zh-CN" sz="2400" dirty="0">
                <a:solidFill>
                  <a:srgbClr val="C00000"/>
                </a:solidFill>
                <a:ea typeface="黑体" panose="02010609060101010101" pitchFamily="49" charset="-122"/>
              </a:rPr>
              <a:t>That cost is energy quantization</a:t>
            </a:r>
            <a:endParaRPr lang="en-US" sz="2400" dirty="0"/>
          </a:p>
        </p:txBody>
      </p:sp>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916144C5-7820-4C85-8C99-4696DC4E158C}"/>
                  </a:ext>
                </a:extLst>
              </p:cNvPr>
              <p:cNvSpPr txBox="1">
                <a:spLocks/>
              </p:cNvSpPr>
              <p:nvPr/>
            </p:nvSpPr>
            <p:spPr>
              <a:xfrm>
                <a:off x="799448" y="3229877"/>
                <a:ext cx="4137671" cy="738045"/>
              </a:xfrm>
              <a:prstGeom prst="rect">
                <a:avLst/>
              </a:prstGeom>
            </p:spPr>
            <p:txBody>
              <a:bodyPr vert="horz" lIns="91440" tIns="45720" rIns="91440" bIns="45720" rtlCol="0">
                <a:noAutofit/>
              </a:bodyPr>
              <a:lstStyle>
                <a:lvl1pPr marL="342882" indent="-342882" algn="l" defTabSz="914354" rtl="0" eaLnBrk="1" latinLnBrk="0" hangingPunct="1">
                  <a:spcBef>
                    <a:spcPts val="1200"/>
                  </a:spcBef>
                  <a:buFont typeface="Arial" panose="020B0604020202020204" pitchFamily="34" charset="0"/>
                  <a:buChar char="•"/>
                  <a:defRPr sz="2800" kern="1200">
                    <a:solidFill>
                      <a:schemeClr val="tx1"/>
                    </a:solidFill>
                    <a:latin typeface="+mn-lt"/>
                    <a:ea typeface="黑体" panose="02010609060101010101" pitchFamily="49" charset="-122"/>
                    <a:cs typeface="+mn-cs"/>
                  </a:defRPr>
                </a:lvl1pPr>
                <a:lvl2pPr marL="742913" indent="-285737" algn="l" defTabSz="914354" rtl="0" eaLnBrk="1" latinLnBrk="0" hangingPunct="1">
                  <a:spcBef>
                    <a:spcPts val="1200"/>
                  </a:spcBef>
                  <a:buFont typeface="Arial" panose="020B0604020202020204" pitchFamily="34" charset="0"/>
                  <a:buChar char="–"/>
                  <a:defRPr sz="2400" kern="1200">
                    <a:solidFill>
                      <a:schemeClr val="tx1"/>
                    </a:solidFill>
                    <a:latin typeface="+mn-lt"/>
                    <a:ea typeface="黑体" panose="02010609060101010101" pitchFamily="49" charset="-122"/>
                    <a:cs typeface="+mn-cs"/>
                  </a:defRPr>
                </a:lvl2pPr>
                <a:lvl3pPr marL="1142942" indent="-228589" algn="l" defTabSz="914354" rtl="0" eaLnBrk="1" latinLnBrk="0" hangingPunct="1">
                  <a:spcBef>
                    <a:spcPts val="1200"/>
                  </a:spcBef>
                  <a:buFont typeface="Arial" panose="020B0604020202020204" pitchFamily="34" charset="0"/>
                  <a:buChar char="•"/>
                  <a:defRPr sz="2000" kern="1200">
                    <a:solidFill>
                      <a:schemeClr val="tx1"/>
                    </a:solidFill>
                    <a:latin typeface="+mn-lt"/>
                    <a:ea typeface="黑体" panose="02010609060101010101" pitchFamily="49" charset="-122"/>
                    <a:cs typeface="+mn-cs"/>
                  </a:defRPr>
                </a:lvl3pPr>
                <a:lvl4pPr marL="1600120" indent="-228589" algn="l" defTabSz="914354" rtl="0" eaLnBrk="1" latinLnBrk="0" hangingPunct="1">
                  <a:spcBef>
                    <a:spcPts val="1200"/>
                  </a:spcBef>
                  <a:buFont typeface="Arial" panose="020B0604020202020204" pitchFamily="34" charset="0"/>
                  <a:buChar char="–"/>
                  <a:defRPr sz="1800" kern="1200">
                    <a:solidFill>
                      <a:schemeClr val="tx1"/>
                    </a:solidFill>
                    <a:latin typeface="+mn-lt"/>
                    <a:ea typeface="黑体" panose="02010609060101010101" pitchFamily="49" charset="-122"/>
                    <a:cs typeface="+mn-cs"/>
                  </a:defRPr>
                </a:lvl4pPr>
                <a:lvl5pPr marL="2057298" indent="-228589" algn="l" defTabSz="914354" rtl="0" eaLnBrk="1" latinLnBrk="0" hangingPunct="1">
                  <a:spcBef>
                    <a:spcPts val="1200"/>
                  </a:spcBef>
                  <a:buFont typeface="Arial" panose="020B0604020202020204" pitchFamily="34" charset="0"/>
                  <a:buChar char="»"/>
                  <a:defRPr sz="1800" kern="1200">
                    <a:solidFill>
                      <a:schemeClr val="tx1"/>
                    </a:solidFill>
                    <a:latin typeface="+mn-lt"/>
                    <a:ea typeface="黑体" panose="02010609060101010101" pitchFamily="49" charset="-122"/>
                    <a:cs typeface="+mn-cs"/>
                  </a:defRPr>
                </a:lvl5pPr>
                <a:lvl6pPr marL="2514474"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altLang="zh-CN" sz="2400" dirty="0"/>
                  <a:t>The oscillator’s energy can only be an integer multiple of </a:t>
                </a:r>
                <a14:m>
                  <m:oMath xmlns:m="http://schemas.openxmlformats.org/officeDocument/2006/math">
                    <m:r>
                      <a:rPr lang="en-US" altLang="zh-CN" sz="2400" i="1" dirty="0" smtClean="0">
                        <a:latin typeface="Cambria Math" panose="02040503050406030204" pitchFamily="18" charset="0"/>
                      </a:rPr>
                      <m:t>h</m:t>
                    </m:r>
                    <m:r>
                      <a:rPr lang="en-US" altLang="zh-CN" sz="2400" i="1" dirty="0" smtClean="0">
                        <a:latin typeface="Cambria Math" panose="02040503050406030204" pitchFamily="18" charset="0"/>
                      </a:rPr>
                      <m:t>𝜈</m:t>
                    </m:r>
                  </m:oMath>
                </a14:m>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𝐸</m:t>
                      </m:r>
                      <m:r>
                        <a:rPr lang="en-US" altLang="zh-CN" sz="2400" i="1" smtClean="0">
                          <a:latin typeface="Cambria Math" panose="02040503050406030204" pitchFamily="18" charset="0"/>
                        </a:rPr>
                        <m:t>=</m:t>
                      </m:r>
                      <m:r>
                        <a:rPr lang="en-US" altLang="zh-CN" sz="2400" i="1" smtClean="0">
                          <a:latin typeface="Cambria Math" panose="02040503050406030204" pitchFamily="18" charset="0"/>
                        </a:rPr>
                        <m:t>𝑛h</m:t>
                      </m:r>
                      <m:r>
                        <a:rPr lang="en-US" altLang="zh-CN" sz="2400" i="1" smtClean="0">
                          <a:latin typeface="Cambria Math" panose="02040503050406030204" pitchFamily="18" charset="0"/>
                        </a:rPr>
                        <m:t>𝜈</m:t>
                      </m:r>
                      <m:r>
                        <a:rPr lang="en-US" altLang="zh-CN" sz="2400" b="0" i="0" smtClean="0">
                          <a:latin typeface="Cambria Math" panose="02040503050406030204" pitchFamily="18" charset="0"/>
                        </a:rPr>
                        <m:t>,  </m:t>
                      </m:r>
                      <m:r>
                        <a:rPr lang="en-US" altLang="zh-CN" sz="2400" b="0" i="1" smtClean="0">
                          <a:latin typeface="Cambria Math" panose="02040503050406030204" pitchFamily="18" charset="0"/>
                        </a:rPr>
                        <m:t>𝑛</m:t>
                      </m:r>
                      <m:r>
                        <a:rPr lang="en-US" altLang="zh-CN" sz="2400" b="0" i="0" smtClean="0">
                          <a:latin typeface="Cambria Math" panose="02040503050406030204" pitchFamily="18" charset="0"/>
                        </a:rPr>
                        <m:t>=0,1,3</m:t>
                      </m:r>
                      <m:r>
                        <a:rPr lang="en-US" altLang="zh-CN" sz="2400" b="0" i="1" smtClean="0">
                          <a:latin typeface="Cambria Math" panose="02040503050406030204" pitchFamily="18" charset="0"/>
                          <a:ea typeface="Cambria Math" panose="02040503050406030204" pitchFamily="18" charset="0"/>
                        </a:rPr>
                        <m:t>⋯</m:t>
                      </m:r>
                    </m:oMath>
                  </m:oMathPara>
                </a14:m>
                <a:endParaRPr lang="zh-CN" altLang="en-US" sz="2400" dirty="0"/>
              </a:p>
            </p:txBody>
          </p:sp>
        </mc:Choice>
        <mc:Fallback>
          <p:sp>
            <p:nvSpPr>
              <p:cNvPr id="6" name="Content Placeholder 2">
                <a:extLst>
                  <a:ext uri="{FF2B5EF4-FFF2-40B4-BE49-F238E27FC236}">
                    <a16:creationId xmlns:a16="http://schemas.microsoft.com/office/drawing/2014/main" id="{916144C5-7820-4C85-8C99-4696DC4E158C}"/>
                  </a:ext>
                </a:extLst>
              </p:cNvPr>
              <p:cNvSpPr txBox="1">
                <a:spLocks noRot="1" noChangeAspect="1" noMove="1" noResize="1" noEditPoints="1" noAdjustHandles="1" noChangeArrowheads="1" noChangeShapeType="1" noTextEdit="1"/>
              </p:cNvSpPr>
              <p:nvPr/>
            </p:nvSpPr>
            <p:spPr>
              <a:xfrm>
                <a:off x="799448" y="3229877"/>
                <a:ext cx="4137671" cy="738045"/>
              </a:xfrm>
              <a:prstGeom prst="rect">
                <a:avLst/>
              </a:prstGeom>
              <a:blipFill>
                <a:blip r:embed="rId4"/>
                <a:stretch>
                  <a:fillRect l="-2209" t="-6612" r="-1620" b="-1289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830736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0B1F1-F528-4D17-8583-3F720319049B}"/>
              </a:ext>
            </a:extLst>
          </p:cNvPr>
          <p:cNvSpPr>
            <a:spLocks noGrp="1"/>
          </p:cNvSpPr>
          <p:nvPr>
            <p:ph type="title"/>
          </p:nvPr>
        </p:nvSpPr>
        <p:spPr>
          <a:xfrm>
            <a:off x="1779996" y="243399"/>
            <a:ext cx="8070980" cy="551589"/>
          </a:xfrm>
        </p:spPr>
        <p:txBody>
          <a:bodyPr/>
          <a:lstStyle/>
          <a:p>
            <a:r>
              <a:rPr lang="en-US" dirty="0"/>
              <a:t>Average mode energy </a:t>
            </a:r>
          </a:p>
        </p:txBody>
      </p:sp>
      <p:grpSp>
        <p:nvGrpSpPr>
          <p:cNvPr id="99" name="Group 98">
            <a:extLst>
              <a:ext uri="{FF2B5EF4-FFF2-40B4-BE49-F238E27FC236}">
                <a16:creationId xmlns:a16="http://schemas.microsoft.com/office/drawing/2014/main" id="{A0A09602-884A-4396-A6AE-0830A2FB94E0}"/>
              </a:ext>
            </a:extLst>
          </p:cNvPr>
          <p:cNvGrpSpPr/>
          <p:nvPr/>
        </p:nvGrpSpPr>
        <p:grpSpPr>
          <a:xfrm>
            <a:off x="1383089" y="824771"/>
            <a:ext cx="2129541" cy="5476432"/>
            <a:chOff x="1788296" y="907901"/>
            <a:chExt cx="2129541" cy="5483620"/>
          </a:xfrm>
        </p:grpSpPr>
        <p:pic>
          <p:nvPicPr>
            <p:cNvPr id="5" name="Picture 4">
              <a:extLst>
                <a:ext uri="{FF2B5EF4-FFF2-40B4-BE49-F238E27FC236}">
                  <a16:creationId xmlns:a16="http://schemas.microsoft.com/office/drawing/2014/main" id="{0D4C0326-7D8E-4895-8A94-79F001D6D7BB}"/>
                </a:ext>
              </a:extLst>
            </p:cNvPr>
            <p:cNvPicPr>
              <a:picLocks noChangeAspect="1"/>
            </p:cNvPicPr>
            <p:nvPr/>
          </p:nvPicPr>
          <p:blipFill>
            <a:blip r:embed="rId3"/>
            <a:stretch>
              <a:fillRect/>
            </a:stretch>
          </p:blipFill>
          <p:spPr>
            <a:xfrm>
              <a:off x="2095300" y="1138734"/>
              <a:ext cx="1822537" cy="5252787"/>
            </a:xfrm>
            <a:prstGeom prst="rect">
              <a:avLst/>
            </a:prstGeom>
          </p:spPr>
        </p:pic>
        <p:cxnSp>
          <p:nvCxnSpPr>
            <p:cNvPr id="94" name="Straight Arrow Connector 93">
              <a:extLst>
                <a:ext uri="{FF2B5EF4-FFF2-40B4-BE49-F238E27FC236}">
                  <a16:creationId xmlns:a16="http://schemas.microsoft.com/office/drawing/2014/main" id="{0DFBABF2-ADF5-4F30-B994-A4D394E020D3}"/>
                </a:ext>
              </a:extLst>
            </p:cNvPr>
            <p:cNvCxnSpPr>
              <a:cxnSpLocks/>
            </p:cNvCxnSpPr>
            <p:nvPr/>
          </p:nvCxnSpPr>
          <p:spPr>
            <a:xfrm flipV="1">
              <a:off x="2166129" y="1138734"/>
              <a:ext cx="0" cy="5203155"/>
            </a:xfrm>
            <a:prstGeom prst="straightConnector1">
              <a:avLst/>
            </a:prstGeom>
            <a:ln>
              <a:headEnd type="none" w="med" len="lg"/>
              <a:tailEnd type="triangle" w="med" len="lg"/>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BC10FA59-0F29-4340-A593-D7FFF5149FDD}"/>
                    </a:ext>
                  </a:extLst>
                </p:cNvPr>
                <p:cNvSpPr txBox="1"/>
                <p:nvPr/>
              </p:nvSpPr>
              <p:spPr>
                <a:xfrm>
                  <a:off x="1788296" y="907901"/>
                  <a:ext cx="4060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黑体" panose="02010609060101010101" pitchFamily="49" charset="-122"/>
                          </a:rPr>
                          <m:t>𝜖</m:t>
                        </m:r>
                      </m:oMath>
                    </m:oMathPara>
                  </a14:m>
                  <a:endParaRPr lang="en-US" sz="2400" dirty="0">
                    <a:ea typeface="黑体" panose="02010609060101010101" pitchFamily="49" charset="-122"/>
                  </a:endParaRPr>
                </a:p>
              </p:txBody>
            </p:sp>
          </mc:Choice>
          <mc:Fallback xmlns="">
            <p:sp>
              <p:nvSpPr>
                <p:cNvPr id="95" name="TextBox 94">
                  <a:extLst>
                    <a:ext uri="{FF2B5EF4-FFF2-40B4-BE49-F238E27FC236}">
                      <a16:creationId xmlns:a16="http://schemas.microsoft.com/office/drawing/2014/main" id="{BC10FA59-0F29-4340-A593-D7FFF5149FDD}"/>
                    </a:ext>
                  </a:extLst>
                </p:cNvPr>
                <p:cNvSpPr txBox="1">
                  <a:spLocks noRot="1" noChangeAspect="1" noMove="1" noResize="1" noEditPoints="1" noAdjustHandles="1" noChangeArrowheads="1" noChangeShapeType="1" noTextEdit="1"/>
                </p:cNvSpPr>
                <p:nvPr/>
              </p:nvSpPr>
              <p:spPr>
                <a:xfrm>
                  <a:off x="1788296" y="907901"/>
                  <a:ext cx="406009" cy="461665"/>
                </a:xfrm>
                <a:prstGeom prst="rect">
                  <a:avLst/>
                </a:prstGeom>
                <a:blipFill>
                  <a:blip r:embed="rId4"/>
                  <a:stretch>
                    <a:fillRect/>
                  </a:stretch>
                </a:blipFill>
              </p:spPr>
              <p:txBody>
                <a:bodyPr/>
                <a:lstStyle/>
                <a:p>
                  <a:r>
                    <a:rPr lang="zh-CN" altLang="en-US">
                      <a:noFill/>
                    </a:rPr>
                    <a:t> </a:t>
                  </a:r>
                </a:p>
              </p:txBody>
            </p:sp>
          </mc:Fallback>
        </mc:AlternateContent>
      </p:grpSp>
      <p:sp>
        <p:nvSpPr>
          <p:cNvPr id="91" name="Rectangle 90">
            <a:extLst>
              <a:ext uri="{FF2B5EF4-FFF2-40B4-BE49-F238E27FC236}">
                <a16:creationId xmlns:a16="http://schemas.microsoft.com/office/drawing/2014/main" id="{4F343845-7CA0-4A98-98A1-6FF6FE6CBEB8}"/>
              </a:ext>
            </a:extLst>
          </p:cNvPr>
          <p:cNvSpPr/>
          <p:nvPr/>
        </p:nvSpPr>
        <p:spPr>
          <a:xfrm>
            <a:off x="1817829" y="871796"/>
            <a:ext cx="1575640" cy="7312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Continuous </a:t>
            </a:r>
          </a:p>
          <a:p>
            <a:pPr algn="ctr"/>
            <a:r>
              <a:rPr lang="en-US" dirty="0">
                <a:solidFill>
                  <a:schemeClr val="tx1"/>
                </a:solidFill>
              </a:rPr>
              <a:t>energy  	</a:t>
            </a:r>
          </a:p>
        </p:txBody>
      </p:sp>
      <p:grpSp>
        <p:nvGrpSpPr>
          <p:cNvPr id="14" name="Group 13">
            <a:extLst>
              <a:ext uri="{FF2B5EF4-FFF2-40B4-BE49-F238E27FC236}">
                <a16:creationId xmlns:a16="http://schemas.microsoft.com/office/drawing/2014/main" id="{FA24B834-4974-49C2-92AD-698464406FF0}"/>
              </a:ext>
            </a:extLst>
          </p:cNvPr>
          <p:cNvGrpSpPr/>
          <p:nvPr/>
        </p:nvGrpSpPr>
        <p:grpSpPr>
          <a:xfrm>
            <a:off x="3603342" y="934958"/>
            <a:ext cx="2505355" cy="5366245"/>
            <a:chOff x="3603342" y="1018088"/>
            <a:chExt cx="2505355" cy="5366245"/>
          </a:xfrm>
        </p:grpSpPr>
        <p:grpSp>
          <p:nvGrpSpPr>
            <p:cNvPr id="107" name="Group 106">
              <a:extLst>
                <a:ext uri="{FF2B5EF4-FFF2-40B4-BE49-F238E27FC236}">
                  <a16:creationId xmlns:a16="http://schemas.microsoft.com/office/drawing/2014/main" id="{2AECFF21-9DD6-442F-97B4-5B6CA7D747C4}"/>
                </a:ext>
              </a:extLst>
            </p:cNvPr>
            <p:cNvGrpSpPr/>
            <p:nvPr/>
          </p:nvGrpSpPr>
          <p:grpSpPr>
            <a:xfrm>
              <a:off x="3603342" y="1131546"/>
              <a:ext cx="2434079" cy="5252787"/>
              <a:chOff x="4199743" y="1131546"/>
              <a:chExt cx="2434079" cy="5252787"/>
            </a:xfrm>
          </p:grpSpPr>
          <p:grpSp>
            <p:nvGrpSpPr>
              <p:cNvPr id="97" name="Group 96">
                <a:extLst>
                  <a:ext uri="{FF2B5EF4-FFF2-40B4-BE49-F238E27FC236}">
                    <a16:creationId xmlns:a16="http://schemas.microsoft.com/office/drawing/2014/main" id="{6EF8DC5F-9017-4BB3-8FB4-6E23820969E5}"/>
                  </a:ext>
                </a:extLst>
              </p:cNvPr>
              <p:cNvGrpSpPr/>
              <p:nvPr/>
            </p:nvGrpSpPr>
            <p:grpSpPr>
              <a:xfrm>
                <a:off x="4811285" y="1131546"/>
                <a:ext cx="1822537" cy="5252787"/>
                <a:chOff x="4502195" y="1131546"/>
                <a:chExt cx="1822537" cy="5252787"/>
              </a:xfrm>
            </p:grpSpPr>
            <p:pic>
              <p:nvPicPr>
                <p:cNvPr id="68" name="Picture 67">
                  <a:extLst>
                    <a:ext uri="{FF2B5EF4-FFF2-40B4-BE49-F238E27FC236}">
                      <a16:creationId xmlns:a16="http://schemas.microsoft.com/office/drawing/2014/main" id="{7F08BC67-6F2B-4C3E-9F03-DE1558FF9ED7}"/>
                    </a:ext>
                  </a:extLst>
                </p:cNvPr>
                <p:cNvPicPr>
                  <a:picLocks noChangeAspect="1"/>
                </p:cNvPicPr>
                <p:nvPr/>
              </p:nvPicPr>
              <p:blipFill>
                <a:blip r:embed="rId3"/>
                <a:stretch>
                  <a:fillRect/>
                </a:stretch>
              </p:blipFill>
              <p:spPr>
                <a:xfrm>
                  <a:off x="4502195" y="1131546"/>
                  <a:ext cx="1822537" cy="5252787"/>
                </a:xfrm>
                <a:prstGeom prst="rect">
                  <a:avLst/>
                </a:prstGeom>
              </p:spPr>
            </p:pic>
            <p:sp>
              <p:nvSpPr>
                <p:cNvPr id="69" name="Flowchart: Process 68">
                  <a:extLst>
                    <a:ext uri="{FF2B5EF4-FFF2-40B4-BE49-F238E27FC236}">
                      <a16:creationId xmlns:a16="http://schemas.microsoft.com/office/drawing/2014/main" id="{A0DD3B57-9F42-433E-B656-09A249590151}"/>
                    </a:ext>
                  </a:extLst>
                </p:cNvPr>
                <p:cNvSpPr/>
                <p:nvPr/>
              </p:nvSpPr>
              <p:spPr>
                <a:xfrm>
                  <a:off x="4592025" y="5473925"/>
                  <a:ext cx="1683041" cy="99937"/>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lowchart: Process 69">
                  <a:extLst>
                    <a:ext uri="{FF2B5EF4-FFF2-40B4-BE49-F238E27FC236}">
                      <a16:creationId xmlns:a16="http://schemas.microsoft.com/office/drawing/2014/main" id="{418571FF-D07C-44E9-BC99-048420FA6B7F}"/>
                    </a:ext>
                  </a:extLst>
                </p:cNvPr>
                <p:cNvSpPr/>
                <p:nvPr/>
              </p:nvSpPr>
              <p:spPr>
                <a:xfrm>
                  <a:off x="4592025" y="4640361"/>
                  <a:ext cx="1683041" cy="99937"/>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lowchart: Process 70">
                  <a:extLst>
                    <a:ext uri="{FF2B5EF4-FFF2-40B4-BE49-F238E27FC236}">
                      <a16:creationId xmlns:a16="http://schemas.microsoft.com/office/drawing/2014/main" id="{70E78F6A-18A2-4E64-A00F-5B05BA3E3C31}"/>
                    </a:ext>
                  </a:extLst>
                </p:cNvPr>
                <p:cNvSpPr/>
                <p:nvPr/>
              </p:nvSpPr>
              <p:spPr>
                <a:xfrm>
                  <a:off x="4592025" y="3814409"/>
                  <a:ext cx="1683041" cy="99937"/>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lowchart: Process 71">
                  <a:extLst>
                    <a:ext uri="{FF2B5EF4-FFF2-40B4-BE49-F238E27FC236}">
                      <a16:creationId xmlns:a16="http://schemas.microsoft.com/office/drawing/2014/main" id="{402E2B85-5E88-4D12-BFA1-538ED45F013A}"/>
                    </a:ext>
                  </a:extLst>
                </p:cNvPr>
                <p:cNvSpPr/>
                <p:nvPr/>
              </p:nvSpPr>
              <p:spPr>
                <a:xfrm>
                  <a:off x="4592025" y="3058412"/>
                  <a:ext cx="1656848" cy="99937"/>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lowchart: Process 72">
                  <a:extLst>
                    <a:ext uri="{FF2B5EF4-FFF2-40B4-BE49-F238E27FC236}">
                      <a16:creationId xmlns:a16="http://schemas.microsoft.com/office/drawing/2014/main" id="{1ABE1A2F-7727-43E3-8F4B-3EEB350DF0C1}"/>
                    </a:ext>
                  </a:extLst>
                </p:cNvPr>
                <p:cNvSpPr/>
                <p:nvPr/>
              </p:nvSpPr>
              <p:spPr>
                <a:xfrm>
                  <a:off x="4592025" y="2308897"/>
                  <a:ext cx="1683041" cy="99937"/>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7B7B635C-7462-4267-B913-F28390EB5FB0}"/>
                      </a:ext>
                    </a:extLst>
                  </p:cNvPr>
                  <p:cNvSpPr txBox="1"/>
                  <p:nvPr/>
                </p:nvSpPr>
                <p:spPr>
                  <a:xfrm>
                    <a:off x="4348373" y="5298857"/>
                    <a:ext cx="62792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黑体" panose="02010609060101010101" pitchFamily="49" charset="-122"/>
                            </a:rPr>
                            <m:t>h</m:t>
                          </m:r>
                          <m:sSub>
                            <m:sSubPr>
                              <m:ctrlPr>
                                <a:rPr lang="en-US" sz="2000" b="0" i="1" smtClean="0">
                                  <a:latin typeface="Cambria Math" panose="02040503050406030204" pitchFamily="18" charset="0"/>
                                  <a:ea typeface="黑体" panose="02010609060101010101" pitchFamily="49" charset="-122"/>
                                </a:rPr>
                              </m:ctrlPr>
                            </m:sSubPr>
                            <m:e>
                              <m:r>
                                <a:rPr lang="en-US" sz="2000" b="0" i="1" smtClean="0">
                                  <a:latin typeface="Cambria Math" panose="02040503050406030204" pitchFamily="18" charset="0"/>
                                  <a:ea typeface="黑体" panose="02010609060101010101" pitchFamily="49" charset="-122"/>
                                </a:rPr>
                                <m:t>𝜈</m:t>
                              </m:r>
                            </m:e>
                            <m:sub>
                              <m:r>
                                <a:rPr lang="en-US" sz="2000" b="0" i="1" smtClean="0">
                                  <a:latin typeface="Cambria Math" panose="02040503050406030204" pitchFamily="18" charset="0"/>
                                  <a:ea typeface="黑体" panose="02010609060101010101" pitchFamily="49" charset="-122"/>
                                </a:rPr>
                                <m:t>1</m:t>
                              </m:r>
                            </m:sub>
                          </m:sSub>
                        </m:oMath>
                      </m:oMathPara>
                    </a14:m>
                    <a:endParaRPr lang="en-US" sz="2000" dirty="0">
                      <a:ea typeface="黑体" panose="02010609060101010101" pitchFamily="49" charset="-122"/>
                    </a:endParaRPr>
                  </a:p>
                </p:txBody>
              </p:sp>
            </mc:Choice>
            <mc:Fallback xmlns="">
              <p:sp>
                <p:nvSpPr>
                  <p:cNvPr id="102" name="TextBox 101">
                    <a:extLst>
                      <a:ext uri="{FF2B5EF4-FFF2-40B4-BE49-F238E27FC236}">
                        <a16:creationId xmlns:a16="http://schemas.microsoft.com/office/drawing/2014/main" id="{7B7B635C-7462-4267-B913-F28390EB5FB0}"/>
                      </a:ext>
                    </a:extLst>
                  </p:cNvPr>
                  <p:cNvSpPr txBox="1">
                    <a:spLocks noRot="1" noChangeAspect="1" noMove="1" noResize="1" noEditPoints="1" noAdjustHandles="1" noChangeArrowheads="1" noChangeShapeType="1" noTextEdit="1"/>
                  </p:cNvSpPr>
                  <p:nvPr/>
                </p:nvSpPr>
                <p:spPr>
                  <a:xfrm>
                    <a:off x="4348373" y="5298857"/>
                    <a:ext cx="627928" cy="4001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5984417E-1C7B-4C30-80BD-6BA4A9B88A91}"/>
                      </a:ext>
                    </a:extLst>
                  </p:cNvPr>
                  <p:cNvSpPr txBox="1"/>
                  <p:nvPr/>
                </p:nvSpPr>
                <p:spPr>
                  <a:xfrm>
                    <a:off x="4205705" y="4465862"/>
                    <a:ext cx="7705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黑体" panose="02010609060101010101" pitchFamily="49" charset="-122"/>
                            </a:rPr>
                            <m:t>2</m:t>
                          </m:r>
                          <m:r>
                            <a:rPr lang="en-US" sz="2000" b="0" i="1" smtClean="0">
                              <a:latin typeface="Cambria Math" panose="02040503050406030204" pitchFamily="18" charset="0"/>
                              <a:ea typeface="黑体" panose="02010609060101010101" pitchFamily="49" charset="-122"/>
                            </a:rPr>
                            <m:t>h</m:t>
                          </m:r>
                          <m:sSub>
                            <m:sSubPr>
                              <m:ctrlPr>
                                <a:rPr lang="en-US" sz="2000" b="0" i="1" smtClean="0">
                                  <a:latin typeface="Cambria Math" panose="02040503050406030204" pitchFamily="18" charset="0"/>
                                  <a:ea typeface="黑体" panose="02010609060101010101" pitchFamily="49" charset="-122"/>
                                </a:rPr>
                              </m:ctrlPr>
                            </m:sSubPr>
                            <m:e>
                              <m:r>
                                <a:rPr lang="en-US" sz="2000" b="0" i="1" smtClean="0">
                                  <a:latin typeface="Cambria Math" panose="02040503050406030204" pitchFamily="18" charset="0"/>
                                  <a:ea typeface="黑体" panose="02010609060101010101" pitchFamily="49" charset="-122"/>
                                </a:rPr>
                                <m:t>𝜈</m:t>
                              </m:r>
                            </m:e>
                            <m:sub>
                              <m:r>
                                <a:rPr lang="en-US" sz="2000" b="0" i="1" smtClean="0">
                                  <a:latin typeface="Cambria Math" panose="02040503050406030204" pitchFamily="18" charset="0"/>
                                  <a:ea typeface="黑体" panose="02010609060101010101" pitchFamily="49" charset="-122"/>
                                </a:rPr>
                                <m:t>1</m:t>
                              </m:r>
                            </m:sub>
                          </m:sSub>
                        </m:oMath>
                      </m:oMathPara>
                    </a14:m>
                    <a:endParaRPr lang="en-US" sz="2000" dirty="0">
                      <a:ea typeface="黑体" panose="02010609060101010101" pitchFamily="49" charset="-122"/>
                    </a:endParaRPr>
                  </a:p>
                </p:txBody>
              </p:sp>
            </mc:Choice>
            <mc:Fallback xmlns="">
              <p:sp>
                <p:nvSpPr>
                  <p:cNvPr id="103" name="TextBox 102">
                    <a:extLst>
                      <a:ext uri="{FF2B5EF4-FFF2-40B4-BE49-F238E27FC236}">
                        <a16:creationId xmlns:a16="http://schemas.microsoft.com/office/drawing/2014/main" id="{5984417E-1C7B-4C30-80BD-6BA4A9B88A91}"/>
                      </a:ext>
                    </a:extLst>
                  </p:cNvPr>
                  <p:cNvSpPr txBox="1">
                    <a:spLocks noRot="1" noChangeAspect="1" noMove="1" noResize="1" noEditPoints="1" noAdjustHandles="1" noChangeArrowheads="1" noChangeShapeType="1" noTextEdit="1"/>
                  </p:cNvSpPr>
                  <p:nvPr/>
                </p:nvSpPr>
                <p:spPr>
                  <a:xfrm>
                    <a:off x="4205705" y="4465862"/>
                    <a:ext cx="770596" cy="40011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83450858-8B5B-42B5-82C6-808C3D50FD6F}"/>
                      </a:ext>
                    </a:extLst>
                  </p:cNvPr>
                  <p:cNvSpPr txBox="1"/>
                  <p:nvPr/>
                </p:nvSpPr>
                <p:spPr>
                  <a:xfrm>
                    <a:off x="4205705" y="3632867"/>
                    <a:ext cx="7705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黑体" panose="02010609060101010101" pitchFamily="49" charset="-122"/>
                            </a:rPr>
                            <m:t>3</m:t>
                          </m:r>
                          <m:r>
                            <a:rPr lang="en-US" sz="2000" b="0" i="1" smtClean="0">
                              <a:latin typeface="Cambria Math" panose="02040503050406030204" pitchFamily="18" charset="0"/>
                              <a:ea typeface="黑体" panose="02010609060101010101" pitchFamily="49" charset="-122"/>
                            </a:rPr>
                            <m:t>h</m:t>
                          </m:r>
                          <m:sSub>
                            <m:sSubPr>
                              <m:ctrlPr>
                                <a:rPr lang="en-US" sz="2000" b="0" i="1" smtClean="0">
                                  <a:latin typeface="Cambria Math" panose="02040503050406030204" pitchFamily="18" charset="0"/>
                                  <a:ea typeface="黑体" panose="02010609060101010101" pitchFamily="49" charset="-122"/>
                                </a:rPr>
                              </m:ctrlPr>
                            </m:sSubPr>
                            <m:e>
                              <m:r>
                                <a:rPr lang="en-US" sz="2000" b="0" i="1" smtClean="0">
                                  <a:latin typeface="Cambria Math" panose="02040503050406030204" pitchFamily="18" charset="0"/>
                                  <a:ea typeface="黑体" panose="02010609060101010101" pitchFamily="49" charset="-122"/>
                                </a:rPr>
                                <m:t>𝜈</m:t>
                              </m:r>
                            </m:e>
                            <m:sub>
                              <m:r>
                                <a:rPr lang="en-US" sz="2000" b="0" i="1" smtClean="0">
                                  <a:latin typeface="Cambria Math" panose="02040503050406030204" pitchFamily="18" charset="0"/>
                                  <a:ea typeface="黑体" panose="02010609060101010101" pitchFamily="49" charset="-122"/>
                                </a:rPr>
                                <m:t>1</m:t>
                              </m:r>
                            </m:sub>
                          </m:sSub>
                        </m:oMath>
                      </m:oMathPara>
                    </a14:m>
                    <a:endParaRPr lang="en-US" sz="2000" dirty="0">
                      <a:ea typeface="黑体" panose="02010609060101010101" pitchFamily="49" charset="-122"/>
                    </a:endParaRPr>
                  </a:p>
                </p:txBody>
              </p:sp>
            </mc:Choice>
            <mc:Fallback xmlns="">
              <p:sp>
                <p:nvSpPr>
                  <p:cNvPr id="104" name="TextBox 103">
                    <a:extLst>
                      <a:ext uri="{FF2B5EF4-FFF2-40B4-BE49-F238E27FC236}">
                        <a16:creationId xmlns:a16="http://schemas.microsoft.com/office/drawing/2014/main" id="{83450858-8B5B-42B5-82C6-808C3D50FD6F}"/>
                      </a:ext>
                    </a:extLst>
                  </p:cNvPr>
                  <p:cNvSpPr txBox="1">
                    <a:spLocks noRot="1" noChangeAspect="1" noMove="1" noResize="1" noEditPoints="1" noAdjustHandles="1" noChangeArrowheads="1" noChangeShapeType="1" noTextEdit="1"/>
                  </p:cNvSpPr>
                  <p:nvPr/>
                </p:nvSpPr>
                <p:spPr>
                  <a:xfrm>
                    <a:off x="4205705" y="3632867"/>
                    <a:ext cx="770596" cy="4001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0F535C91-020E-4E2B-B28A-56CEF569FCDB}"/>
                      </a:ext>
                    </a:extLst>
                  </p:cNvPr>
                  <p:cNvSpPr txBox="1"/>
                  <p:nvPr/>
                </p:nvSpPr>
                <p:spPr>
                  <a:xfrm>
                    <a:off x="4199743" y="2899188"/>
                    <a:ext cx="7705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黑体" panose="02010609060101010101" pitchFamily="49" charset="-122"/>
                            </a:rPr>
                            <m:t>4</m:t>
                          </m:r>
                          <m:r>
                            <a:rPr lang="en-US" sz="2000" b="0" i="1" smtClean="0">
                              <a:latin typeface="Cambria Math" panose="02040503050406030204" pitchFamily="18" charset="0"/>
                              <a:ea typeface="黑体" panose="02010609060101010101" pitchFamily="49" charset="-122"/>
                            </a:rPr>
                            <m:t>h</m:t>
                          </m:r>
                          <m:sSub>
                            <m:sSubPr>
                              <m:ctrlPr>
                                <a:rPr lang="en-US" sz="2000" b="0" i="1" smtClean="0">
                                  <a:latin typeface="Cambria Math" panose="02040503050406030204" pitchFamily="18" charset="0"/>
                                  <a:ea typeface="黑体" panose="02010609060101010101" pitchFamily="49" charset="-122"/>
                                </a:rPr>
                              </m:ctrlPr>
                            </m:sSubPr>
                            <m:e>
                              <m:r>
                                <a:rPr lang="en-US" sz="2000" b="0" i="1" smtClean="0">
                                  <a:latin typeface="Cambria Math" panose="02040503050406030204" pitchFamily="18" charset="0"/>
                                  <a:ea typeface="黑体" panose="02010609060101010101" pitchFamily="49" charset="-122"/>
                                </a:rPr>
                                <m:t>𝜈</m:t>
                              </m:r>
                            </m:e>
                            <m:sub>
                              <m:r>
                                <a:rPr lang="en-US" sz="2000" b="0" i="1" smtClean="0">
                                  <a:latin typeface="Cambria Math" panose="02040503050406030204" pitchFamily="18" charset="0"/>
                                  <a:ea typeface="黑体" panose="02010609060101010101" pitchFamily="49" charset="-122"/>
                                </a:rPr>
                                <m:t>1</m:t>
                              </m:r>
                            </m:sub>
                          </m:sSub>
                        </m:oMath>
                      </m:oMathPara>
                    </a14:m>
                    <a:endParaRPr lang="en-US" sz="2000" dirty="0">
                      <a:ea typeface="黑体" panose="02010609060101010101" pitchFamily="49" charset="-122"/>
                    </a:endParaRPr>
                  </a:p>
                </p:txBody>
              </p:sp>
            </mc:Choice>
            <mc:Fallback xmlns="">
              <p:sp>
                <p:nvSpPr>
                  <p:cNvPr id="105" name="TextBox 104">
                    <a:extLst>
                      <a:ext uri="{FF2B5EF4-FFF2-40B4-BE49-F238E27FC236}">
                        <a16:creationId xmlns:a16="http://schemas.microsoft.com/office/drawing/2014/main" id="{0F535C91-020E-4E2B-B28A-56CEF569FCDB}"/>
                      </a:ext>
                    </a:extLst>
                  </p:cNvPr>
                  <p:cNvSpPr txBox="1">
                    <a:spLocks noRot="1" noChangeAspect="1" noMove="1" noResize="1" noEditPoints="1" noAdjustHandles="1" noChangeArrowheads="1" noChangeShapeType="1" noTextEdit="1"/>
                  </p:cNvSpPr>
                  <p:nvPr/>
                </p:nvSpPr>
                <p:spPr>
                  <a:xfrm>
                    <a:off x="4199743" y="2899188"/>
                    <a:ext cx="770596" cy="4001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2F84C09C-7DC7-48FB-8442-781059C9EACA}"/>
                      </a:ext>
                    </a:extLst>
                  </p:cNvPr>
                  <p:cNvSpPr txBox="1"/>
                  <p:nvPr/>
                </p:nvSpPr>
                <p:spPr>
                  <a:xfrm>
                    <a:off x="4199743" y="2118281"/>
                    <a:ext cx="7705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黑体" panose="02010609060101010101" pitchFamily="49" charset="-122"/>
                            </a:rPr>
                            <m:t>5</m:t>
                          </m:r>
                          <m:r>
                            <a:rPr lang="en-US" sz="2000" b="0" i="1" smtClean="0">
                              <a:latin typeface="Cambria Math" panose="02040503050406030204" pitchFamily="18" charset="0"/>
                              <a:ea typeface="黑体" panose="02010609060101010101" pitchFamily="49" charset="-122"/>
                            </a:rPr>
                            <m:t>h</m:t>
                          </m:r>
                          <m:sSub>
                            <m:sSubPr>
                              <m:ctrlPr>
                                <a:rPr lang="en-US" sz="2000" b="0" i="1" smtClean="0">
                                  <a:latin typeface="Cambria Math" panose="02040503050406030204" pitchFamily="18" charset="0"/>
                                  <a:ea typeface="黑体" panose="02010609060101010101" pitchFamily="49" charset="-122"/>
                                </a:rPr>
                              </m:ctrlPr>
                            </m:sSubPr>
                            <m:e>
                              <m:r>
                                <a:rPr lang="en-US" sz="2000" b="0" i="1" smtClean="0">
                                  <a:latin typeface="Cambria Math" panose="02040503050406030204" pitchFamily="18" charset="0"/>
                                  <a:ea typeface="黑体" panose="02010609060101010101" pitchFamily="49" charset="-122"/>
                                </a:rPr>
                                <m:t>𝜈</m:t>
                              </m:r>
                            </m:e>
                            <m:sub>
                              <m:r>
                                <a:rPr lang="en-US" sz="2000" b="0" i="1" smtClean="0">
                                  <a:latin typeface="Cambria Math" panose="02040503050406030204" pitchFamily="18" charset="0"/>
                                  <a:ea typeface="黑体" panose="02010609060101010101" pitchFamily="49" charset="-122"/>
                                </a:rPr>
                                <m:t>1</m:t>
                              </m:r>
                            </m:sub>
                          </m:sSub>
                        </m:oMath>
                      </m:oMathPara>
                    </a14:m>
                    <a:endParaRPr lang="en-US" sz="2000" dirty="0">
                      <a:ea typeface="黑体" panose="02010609060101010101" pitchFamily="49" charset="-122"/>
                    </a:endParaRPr>
                  </a:p>
                </p:txBody>
              </p:sp>
            </mc:Choice>
            <mc:Fallback xmlns="">
              <p:sp>
                <p:nvSpPr>
                  <p:cNvPr id="106" name="TextBox 105">
                    <a:extLst>
                      <a:ext uri="{FF2B5EF4-FFF2-40B4-BE49-F238E27FC236}">
                        <a16:creationId xmlns:a16="http://schemas.microsoft.com/office/drawing/2014/main" id="{2F84C09C-7DC7-48FB-8442-781059C9EACA}"/>
                      </a:ext>
                    </a:extLst>
                  </p:cNvPr>
                  <p:cNvSpPr txBox="1">
                    <a:spLocks noRot="1" noChangeAspect="1" noMove="1" noResize="1" noEditPoints="1" noAdjustHandles="1" noChangeArrowheads="1" noChangeShapeType="1" noTextEdit="1"/>
                  </p:cNvSpPr>
                  <p:nvPr/>
                </p:nvSpPr>
                <p:spPr>
                  <a:xfrm>
                    <a:off x="4199743" y="2118281"/>
                    <a:ext cx="770596" cy="400110"/>
                  </a:xfrm>
                  <a:prstGeom prst="rect">
                    <a:avLst/>
                  </a:prstGeom>
                  <a:blipFill>
                    <a:blip r:embed="rId10"/>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B2683FCF-91A0-4C5E-9209-D3A196A345DC}"/>
                    </a:ext>
                  </a:extLst>
                </p:cNvPr>
                <p:cNvSpPr txBox="1"/>
                <p:nvPr/>
              </p:nvSpPr>
              <p:spPr>
                <a:xfrm>
                  <a:off x="4181654" y="1018088"/>
                  <a:ext cx="1927043" cy="646331"/>
                </a:xfrm>
                <a:prstGeom prst="rect">
                  <a:avLst/>
                </a:prstGeom>
                <a:solidFill>
                  <a:schemeClr val="bg1"/>
                </a:solidFill>
              </p:spPr>
              <p:txBody>
                <a:bodyPr wrap="square">
                  <a:spAutoFit/>
                </a:bodyPr>
                <a:lstStyle/>
                <a:p>
                  <a:pPr algn="ctr"/>
                  <a:r>
                    <a:rPr lang="en-US" altLang="zh-CN" dirty="0">
                      <a:solidFill>
                        <a:schemeClr val="tx1"/>
                      </a:solidFill>
                    </a:rPr>
                    <a:t>quantized energy </a:t>
                  </a:r>
                </a:p>
                <a:p>
                  <a:pPr algn="ctr"/>
                  <a:r>
                    <a:rPr lang="en-US" altLang="zh-CN" dirty="0">
                      <a:solidFill>
                        <a:schemeClr val="tx1"/>
                      </a:solidFill>
                    </a:rPr>
                    <a:t>with step </a:t>
                  </a:r>
                  <a14:m>
                    <m:oMath xmlns:m="http://schemas.openxmlformats.org/officeDocument/2006/math">
                      <m:r>
                        <a:rPr lang="en-US" altLang="zh-CN" i="1">
                          <a:latin typeface="Cambria Math" panose="02040503050406030204" pitchFamily="18" charset="0"/>
                        </a:rPr>
                        <m:t>h</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𝜈</m:t>
                          </m:r>
                        </m:e>
                        <m:sub>
                          <m:r>
                            <a:rPr lang="en-US" altLang="zh-CN" b="0" i="1" smtClean="0">
                              <a:solidFill>
                                <a:schemeClr val="tx1"/>
                              </a:solidFill>
                              <a:latin typeface="Cambria Math" panose="02040503050406030204" pitchFamily="18" charset="0"/>
                            </a:rPr>
                            <m:t>1</m:t>
                          </m:r>
                        </m:sub>
                      </m:sSub>
                    </m:oMath>
                  </a14:m>
                  <a:endParaRPr lang="zh-CN" altLang="en-US" dirty="0"/>
                </a:p>
              </p:txBody>
            </p:sp>
          </mc:Choice>
          <mc:Fallback xmlns="">
            <p:sp>
              <p:nvSpPr>
                <p:cNvPr id="174" name="TextBox 173">
                  <a:extLst>
                    <a:ext uri="{FF2B5EF4-FFF2-40B4-BE49-F238E27FC236}">
                      <a16:creationId xmlns:a16="http://schemas.microsoft.com/office/drawing/2014/main" id="{B2683FCF-91A0-4C5E-9209-D3A196A345DC}"/>
                    </a:ext>
                  </a:extLst>
                </p:cNvPr>
                <p:cNvSpPr txBox="1">
                  <a:spLocks noRot="1" noChangeAspect="1" noMove="1" noResize="1" noEditPoints="1" noAdjustHandles="1" noChangeArrowheads="1" noChangeShapeType="1" noTextEdit="1"/>
                </p:cNvSpPr>
                <p:nvPr/>
              </p:nvSpPr>
              <p:spPr>
                <a:xfrm>
                  <a:off x="4181654" y="1018088"/>
                  <a:ext cx="1927043" cy="646331"/>
                </a:xfrm>
                <a:prstGeom prst="rect">
                  <a:avLst/>
                </a:prstGeom>
                <a:blipFill>
                  <a:blip r:embed="rId11"/>
                  <a:stretch>
                    <a:fillRect t="-4717" r="-1899" b="-14151"/>
                  </a:stretch>
                </a:blipFill>
              </p:spPr>
              <p:txBody>
                <a:bodyPr/>
                <a:lstStyle/>
                <a:p>
                  <a:r>
                    <a:rPr lang="zh-CN" altLang="en-US">
                      <a:noFill/>
                    </a:rPr>
                    <a:t> </a:t>
                  </a:r>
                </a:p>
              </p:txBody>
            </p:sp>
          </mc:Fallback>
        </mc:AlternateContent>
      </p:grpSp>
      <p:grpSp>
        <p:nvGrpSpPr>
          <p:cNvPr id="13" name="Group 12">
            <a:extLst>
              <a:ext uri="{FF2B5EF4-FFF2-40B4-BE49-F238E27FC236}">
                <a16:creationId xmlns:a16="http://schemas.microsoft.com/office/drawing/2014/main" id="{30F485F3-232C-46D3-97CB-F43C566C6C06}"/>
              </a:ext>
            </a:extLst>
          </p:cNvPr>
          <p:cNvGrpSpPr/>
          <p:nvPr/>
        </p:nvGrpSpPr>
        <p:grpSpPr>
          <a:xfrm>
            <a:off x="8709120" y="879071"/>
            <a:ext cx="2840722" cy="5372565"/>
            <a:chOff x="8709120" y="962201"/>
            <a:chExt cx="2840722" cy="5353541"/>
          </a:xfrm>
        </p:grpSpPr>
        <p:grpSp>
          <p:nvGrpSpPr>
            <p:cNvPr id="177" name="Group 176">
              <a:extLst>
                <a:ext uri="{FF2B5EF4-FFF2-40B4-BE49-F238E27FC236}">
                  <a16:creationId xmlns:a16="http://schemas.microsoft.com/office/drawing/2014/main" id="{6F6C4109-4373-4FA8-88DF-1FE848C95523}"/>
                </a:ext>
              </a:extLst>
            </p:cNvPr>
            <p:cNvGrpSpPr/>
            <p:nvPr/>
          </p:nvGrpSpPr>
          <p:grpSpPr>
            <a:xfrm>
              <a:off x="8709120" y="1306145"/>
              <a:ext cx="2608092" cy="5009597"/>
              <a:chOff x="8526239" y="1306145"/>
              <a:chExt cx="2608092" cy="5009597"/>
            </a:xfrm>
          </p:grpSpPr>
          <p:sp>
            <p:nvSpPr>
              <p:cNvPr id="109" name="Flowchart: Process 108">
                <a:extLst>
                  <a:ext uri="{FF2B5EF4-FFF2-40B4-BE49-F238E27FC236}">
                    <a16:creationId xmlns:a16="http://schemas.microsoft.com/office/drawing/2014/main" id="{CA861405-21B5-4508-BDE3-511D949D8617}"/>
                  </a:ext>
                </a:extLst>
              </p:cNvPr>
              <p:cNvSpPr/>
              <p:nvPr/>
            </p:nvSpPr>
            <p:spPr>
              <a:xfrm>
                <a:off x="9256732" y="1306145"/>
                <a:ext cx="1783631" cy="500439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 name="Oval 109">
                <a:extLst>
                  <a:ext uri="{FF2B5EF4-FFF2-40B4-BE49-F238E27FC236}">
                    <a16:creationId xmlns:a16="http://schemas.microsoft.com/office/drawing/2014/main" id="{29768EB3-ED4C-47F7-9DEE-A03C8C292CFF}"/>
                  </a:ext>
                </a:extLst>
              </p:cNvPr>
              <p:cNvSpPr/>
              <p:nvPr/>
            </p:nvSpPr>
            <p:spPr>
              <a:xfrm>
                <a:off x="9560215" y="613680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523F6C4F-4FDC-4E11-97C1-FC7710D726BF}"/>
                  </a:ext>
                </a:extLst>
              </p:cNvPr>
              <p:cNvSpPr/>
              <p:nvPr/>
            </p:nvSpPr>
            <p:spPr>
              <a:xfrm>
                <a:off x="9865299" y="438905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A9107971-04A2-4597-B336-669540C806D1}"/>
                  </a:ext>
                </a:extLst>
              </p:cNvPr>
              <p:cNvSpPr/>
              <p:nvPr/>
            </p:nvSpPr>
            <p:spPr>
              <a:xfrm>
                <a:off x="10254263" y="4432843"/>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6593B02C-F136-4144-AFD8-36906848331E}"/>
                  </a:ext>
                </a:extLst>
              </p:cNvPr>
              <p:cNvSpPr/>
              <p:nvPr/>
            </p:nvSpPr>
            <p:spPr>
              <a:xfrm>
                <a:off x="10061825" y="441217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18B48EC4-92C7-4F9A-BA09-40B2A7B6A112}"/>
                  </a:ext>
                </a:extLst>
              </p:cNvPr>
              <p:cNvSpPr/>
              <p:nvPr/>
            </p:nvSpPr>
            <p:spPr>
              <a:xfrm>
                <a:off x="10194356" y="4536543"/>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7BB96D8A-0F11-4E12-BAB6-FA926A217C01}"/>
                  </a:ext>
                </a:extLst>
              </p:cNvPr>
              <p:cNvSpPr/>
              <p:nvPr/>
            </p:nvSpPr>
            <p:spPr>
              <a:xfrm>
                <a:off x="10471468" y="452151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EBEA8BC7-0873-4743-887E-280D16775985}"/>
                  </a:ext>
                </a:extLst>
              </p:cNvPr>
              <p:cNvSpPr/>
              <p:nvPr/>
            </p:nvSpPr>
            <p:spPr>
              <a:xfrm>
                <a:off x="10175537" y="296367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1ACC353-7458-41D9-9468-63680B862090}"/>
                  </a:ext>
                </a:extLst>
              </p:cNvPr>
              <p:cNvSpPr/>
              <p:nvPr/>
            </p:nvSpPr>
            <p:spPr>
              <a:xfrm>
                <a:off x="9917245" y="452671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CBDAC2C6-EC87-494D-8DAB-D557C249C40E}"/>
                  </a:ext>
                </a:extLst>
              </p:cNvPr>
              <p:cNvSpPr/>
              <p:nvPr/>
            </p:nvSpPr>
            <p:spPr>
              <a:xfrm>
                <a:off x="9691061" y="453475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58FA5619-4A9C-4E8E-89BB-345B57884916}"/>
                  </a:ext>
                </a:extLst>
              </p:cNvPr>
              <p:cNvSpPr/>
              <p:nvPr/>
            </p:nvSpPr>
            <p:spPr>
              <a:xfrm>
                <a:off x="9735461" y="444543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8C354587-A643-4164-B392-68F75314376F}"/>
                  </a:ext>
                </a:extLst>
              </p:cNvPr>
              <p:cNvSpPr/>
              <p:nvPr/>
            </p:nvSpPr>
            <p:spPr>
              <a:xfrm>
                <a:off x="9906274" y="615532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BFCBA35E-1C24-4141-91F0-22BE717C815D}"/>
                  </a:ext>
                </a:extLst>
              </p:cNvPr>
              <p:cNvSpPr/>
              <p:nvPr/>
            </p:nvSpPr>
            <p:spPr>
              <a:xfrm rot="13353176">
                <a:off x="10373443" y="613765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97842772-AEA0-45B1-BD6F-8C46C95454FC}"/>
                  </a:ext>
                </a:extLst>
              </p:cNvPr>
              <p:cNvSpPr/>
              <p:nvPr/>
            </p:nvSpPr>
            <p:spPr>
              <a:xfrm rot="13353176">
                <a:off x="9840946" y="293985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A8A2AF4F-5D62-4276-B6C6-F0C5F531272A}"/>
                  </a:ext>
                </a:extLst>
              </p:cNvPr>
              <p:cNvSpPr/>
              <p:nvPr/>
            </p:nvSpPr>
            <p:spPr>
              <a:xfrm rot="13353176">
                <a:off x="10894266" y="594694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C5F911EB-2319-4B80-A79F-41241E5FD0FA}"/>
                  </a:ext>
                </a:extLst>
              </p:cNvPr>
              <p:cNvSpPr/>
              <p:nvPr/>
            </p:nvSpPr>
            <p:spPr>
              <a:xfrm rot="13353176">
                <a:off x="10684563" y="599166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CFA27795-6EDF-4BCF-A20C-E935AFCE73B9}"/>
                  </a:ext>
                </a:extLst>
              </p:cNvPr>
              <p:cNvSpPr/>
              <p:nvPr/>
            </p:nvSpPr>
            <p:spPr>
              <a:xfrm rot="13353176">
                <a:off x="10462661" y="595993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F31AF7FD-1C5E-42A5-B332-DA8A0CB65696}"/>
                  </a:ext>
                </a:extLst>
              </p:cNvPr>
              <p:cNvSpPr/>
              <p:nvPr/>
            </p:nvSpPr>
            <p:spPr>
              <a:xfrm rot="13353176">
                <a:off x="10052149" y="451944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9A0585DA-FCD5-4650-BBC4-32B066DFD2BF}"/>
                  </a:ext>
                </a:extLst>
              </p:cNvPr>
              <p:cNvSpPr/>
              <p:nvPr/>
            </p:nvSpPr>
            <p:spPr>
              <a:xfrm>
                <a:off x="9340724" y="616854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A59F7CF4-C3AB-4DF7-8DEE-C2CFE51C69FB}"/>
                  </a:ext>
                </a:extLst>
              </p:cNvPr>
              <p:cNvSpPr/>
              <p:nvPr/>
            </p:nvSpPr>
            <p:spPr>
              <a:xfrm>
                <a:off x="9493124" y="616854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EA551C2A-CB2C-4565-974B-B890584D7706}"/>
                  </a:ext>
                </a:extLst>
              </p:cNvPr>
              <p:cNvSpPr/>
              <p:nvPr/>
            </p:nvSpPr>
            <p:spPr>
              <a:xfrm>
                <a:off x="9757139" y="6185719"/>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3B7AB5DA-4712-4B06-8B64-6A8FFE3961CC}"/>
                  </a:ext>
                </a:extLst>
              </p:cNvPr>
              <p:cNvSpPr/>
              <p:nvPr/>
            </p:nvSpPr>
            <p:spPr>
              <a:xfrm>
                <a:off x="9653775" y="618786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E968BE01-30D7-4D4F-8090-AA38FDE103C3}"/>
                  </a:ext>
                </a:extLst>
              </p:cNvPr>
              <p:cNvSpPr/>
              <p:nvPr/>
            </p:nvSpPr>
            <p:spPr>
              <a:xfrm>
                <a:off x="9933774" y="620254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69745AD8-DE44-467B-A460-42CBC37C109D}"/>
                  </a:ext>
                </a:extLst>
              </p:cNvPr>
              <p:cNvSpPr/>
              <p:nvPr/>
            </p:nvSpPr>
            <p:spPr>
              <a:xfrm>
                <a:off x="10772960" y="619430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8BCA33FF-BBF9-45EC-942C-54CE21BF1BF3}"/>
                  </a:ext>
                </a:extLst>
              </p:cNvPr>
              <p:cNvSpPr/>
              <p:nvPr/>
            </p:nvSpPr>
            <p:spPr>
              <a:xfrm>
                <a:off x="10408661" y="620774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2311434B-DFF1-4339-A712-866EC2FA3A4F}"/>
                  </a:ext>
                </a:extLst>
              </p:cNvPr>
              <p:cNvSpPr/>
              <p:nvPr/>
            </p:nvSpPr>
            <p:spPr>
              <a:xfrm>
                <a:off x="10643296" y="618024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2C21C2C1-082B-4FD3-9402-4F46EE366516}"/>
                  </a:ext>
                </a:extLst>
              </p:cNvPr>
              <p:cNvSpPr/>
              <p:nvPr/>
            </p:nvSpPr>
            <p:spPr>
              <a:xfrm>
                <a:off x="10093975" y="615794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DBBF5EE2-B616-4784-9644-6B213A3350D9}"/>
                  </a:ext>
                </a:extLst>
              </p:cNvPr>
              <p:cNvSpPr/>
              <p:nvPr/>
            </p:nvSpPr>
            <p:spPr>
              <a:xfrm>
                <a:off x="10244073" y="620774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766E348E-1CB5-46A2-B7D3-D8A078D28E11}"/>
                  </a:ext>
                </a:extLst>
              </p:cNvPr>
              <p:cNvSpPr/>
              <p:nvPr/>
            </p:nvSpPr>
            <p:spPr>
              <a:xfrm>
                <a:off x="9990257" y="293880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08DC7F92-3D9D-4EE4-8558-D67234175691}"/>
                  </a:ext>
                </a:extLst>
              </p:cNvPr>
              <p:cNvSpPr/>
              <p:nvPr/>
            </p:nvSpPr>
            <p:spPr>
              <a:xfrm>
                <a:off x="10121537" y="597357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427FC1DC-80A9-4FE9-9773-3E32D7FBA7AD}"/>
                  </a:ext>
                </a:extLst>
              </p:cNvPr>
              <p:cNvSpPr/>
              <p:nvPr/>
            </p:nvSpPr>
            <p:spPr>
              <a:xfrm>
                <a:off x="9920187" y="595137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B57ECDB4-06A7-4BDA-9AD5-ED3DDF915815}"/>
                  </a:ext>
                </a:extLst>
              </p:cNvPr>
              <p:cNvSpPr/>
              <p:nvPr/>
            </p:nvSpPr>
            <p:spPr>
              <a:xfrm>
                <a:off x="9287061" y="595137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269F467E-8BB5-4199-8B14-2C0785366022}"/>
                  </a:ext>
                </a:extLst>
              </p:cNvPr>
              <p:cNvSpPr/>
              <p:nvPr/>
            </p:nvSpPr>
            <p:spPr>
              <a:xfrm>
                <a:off x="10940362" y="614854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02FC4F6E-F3C5-4F70-8210-252BAC2969F8}"/>
                  </a:ext>
                </a:extLst>
              </p:cNvPr>
              <p:cNvSpPr/>
              <p:nvPr/>
            </p:nvSpPr>
            <p:spPr>
              <a:xfrm>
                <a:off x="10809323" y="614854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14BEAFD6-4BF2-4E24-A2CF-5F19D36C28BE}"/>
                  </a:ext>
                </a:extLst>
              </p:cNvPr>
              <p:cNvSpPr/>
              <p:nvPr/>
            </p:nvSpPr>
            <p:spPr>
              <a:xfrm>
                <a:off x="10477269" y="615794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21C76105-0D94-4CC1-A544-048510B89899}"/>
                  </a:ext>
                </a:extLst>
              </p:cNvPr>
              <p:cNvSpPr/>
              <p:nvPr/>
            </p:nvSpPr>
            <p:spPr>
              <a:xfrm>
                <a:off x="9454069" y="601577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3FA25CB8-220F-47A6-AEC7-0E7D2EFD88D4}"/>
                  </a:ext>
                </a:extLst>
              </p:cNvPr>
              <p:cNvSpPr/>
              <p:nvPr/>
            </p:nvSpPr>
            <p:spPr>
              <a:xfrm>
                <a:off x="9714128" y="598223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11308AB7-F470-4E38-A37C-49E2CBC9334C}"/>
                  </a:ext>
                </a:extLst>
              </p:cNvPr>
              <p:cNvSpPr/>
              <p:nvPr/>
            </p:nvSpPr>
            <p:spPr>
              <a:xfrm>
                <a:off x="10015981" y="612260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Flowchart: Process 147">
                <a:extLst>
                  <a:ext uri="{FF2B5EF4-FFF2-40B4-BE49-F238E27FC236}">
                    <a16:creationId xmlns:a16="http://schemas.microsoft.com/office/drawing/2014/main" id="{0FA323CE-E937-49B2-BCAB-1650819A92E3}"/>
                  </a:ext>
                </a:extLst>
              </p:cNvPr>
              <p:cNvSpPr/>
              <p:nvPr/>
            </p:nvSpPr>
            <p:spPr>
              <a:xfrm>
                <a:off x="9205320" y="4659576"/>
                <a:ext cx="1929011" cy="99936"/>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4C8A8F59-5B38-448D-8612-F5C101004DC4}"/>
                  </a:ext>
                </a:extLst>
              </p:cNvPr>
              <p:cNvSpPr/>
              <p:nvPr/>
            </p:nvSpPr>
            <p:spPr>
              <a:xfrm>
                <a:off x="10259579" y="593778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DC633AE1-F209-4237-9202-254CAF320407}"/>
                  </a:ext>
                </a:extLst>
              </p:cNvPr>
              <p:cNvSpPr/>
              <p:nvPr/>
            </p:nvSpPr>
            <p:spPr>
              <a:xfrm>
                <a:off x="9471148" y="457551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A7BF7531-0476-4111-8107-C64B30B5ECB7}"/>
                  </a:ext>
                </a:extLst>
              </p:cNvPr>
              <p:cNvSpPr/>
              <p:nvPr/>
            </p:nvSpPr>
            <p:spPr>
              <a:xfrm>
                <a:off x="9599775" y="596924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6950CAEF-A11D-4C7A-B91B-BD32715D5F89}"/>
                  </a:ext>
                </a:extLst>
              </p:cNvPr>
              <p:cNvSpPr/>
              <p:nvPr/>
            </p:nvSpPr>
            <p:spPr>
              <a:xfrm>
                <a:off x="10628544" y="4519363"/>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Flowchart: Process 153">
                <a:extLst>
                  <a:ext uri="{FF2B5EF4-FFF2-40B4-BE49-F238E27FC236}">
                    <a16:creationId xmlns:a16="http://schemas.microsoft.com/office/drawing/2014/main" id="{CDE6334E-3329-4CBB-A192-E1FFE2D4CA0C}"/>
                  </a:ext>
                </a:extLst>
              </p:cNvPr>
              <p:cNvSpPr/>
              <p:nvPr/>
            </p:nvSpPr>
            <p:spPr>
              <a:xfrm>
                <a:off x="9195965" y="3077628"/>
                <a:ext cx="1929011" cy="99936"/>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822E883F-CA7C-4928-ABC4-001C0CC91669}"/>
                  </a:ext>
                </a:extLst>
              </p:cNvPr>
              <p:cNvSpPr/>
              <p:nvPr/>
            </p:nvSpPr>
            <p:spPr>
              <a:xfrm rot="13353176">
                <a:off x="10339659" y="293644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CA5943C0-5EAF-4110-861E-60931CBBACF9}"/>
                  </a:ext>
                </a:extLst>
              </p:cNvPr>
              <p:cNvSpPr/>
              <p:nvPr/>
            </p:nvSpPr>
            <p:spPr>
              <a:xfrm>
                <a:off x="10407352" y="439135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a:extLst>
                  <a:ext uri="{FF2B5EF4-FFF2-40B4-BE49-F238E27FC236}">
                    <a16:creationId xmlns:a16="http://schemas.microsoft.com/office/drawing/2014/main" id="{9256DD1F-C495-47B3-AA8F-2346FAAD0671}"/>
                  </a:ext>
                </a:extLst>
              </p:cNvPr>
              <p:cNvSpPr/>
              <p:nvPr/>
            </p:nvSpPr>
            <p:spPr>
              <a:xfrm>
                <a:off x="10339660" y="453475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FF5B9677-941D-4B33-BD97-BDA980C3146A}"/>
                  </a:ext>
                </a:extLst>
              </p:cNvPr>
              <p:cNvSpPr/>
              <p:nvPr/>
            </p:nvSpPr>
            <p:spPr>
              <a:xfrm>
                <a:off x="10561389" y="441217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8F766056-5C03-4AD6-A20E-6D9AFF786E5E}"/>
                  </a:ext>
                </a:extLst>
              </p:cNvPr>
              <p:cNvSpPr/>
              <p:nvPr/>
            </p:nvSpPr>
            <p:spPr>
              <a:xfrm>
                <a:off x="9541188" y="4524109"/>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F9677EFB-1218-4D09-B939-B33A0ACA9D00}"/>
                  </a:ext>
                </a:extLst>
              </p:cNvPr>
              <p:cNvSpPr/>
              <p:nvPr/>
            </p:nvSpPr>
            <p:spPr>
              <a:xfrm>
                <a:off x="10770537" y="451593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3C868764-FFF2-4D99-B528-5A3CD80499D7}"/>
                  </a:ext>
                </a:extLst>
              </p:cNvPr>
              <p:cNvSpPr/>
              <p:nvPr/>
            </p:nvSpPr>
            <p:spPr>
              <a:xfrm>
                <a:off x="9358716" y="451593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98654F14-5971-4FA9-B4A3-579C787C4A5E}"/>
                  </a:ext>
                </a:extLst>
              </p:cNvPr>
              <p:cNvSpPr/>
              <p:nvPr/>
            </p:nvSpPr>
            <p:spPr>
              <a:xfrm>
                <a:off x="10379798" y="594820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E300C0C2-8BB3-4DD4-BEED-3494DDA9C88E}"/>
                  </a:ext>
                </a:extLst>
              </p:cNvPr>
              <p:cNvSpPr/>
              <p:nvPr/>
            </p:nvSpPr>
            <p:spPr>
              <a:xfrm>
                <a:off x="10005538" y="599178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792BA0F3-E498-4B05-8B22-0E197EBCB9E4}"/>
                  </a:ext>
                </a:extLst>
              </p:cNvPr>
              <p:cNvSpPr/>
              <p:nvPr/>
            </p:nvSpPr>
            <p:spPr>
              <a:xfrm>
                <a:off x="10596046" y="595108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159B87EA-B40D-4BF4-A4DF-FADCDD5B9CA8}"/>
                  </a:ext>
                </a:extLst>
              </p:cNvPr>
              <p:cNvSpPr/>
              <p:nvPr/>
            </p:nvSpPr>
            <p:spPr>
              <a:xfrm>
                <a:off x="9755372" y="590296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782A6089-52BF-4AAF-9A92-0B718EF83D34}"/>
                  </a:ext>
                </a:extLst>
              </p:cNvPr>
              <p:cNvSpPr/>
              <p:nvPr/>
            </p:nvSpPr>
            <p:spPr>
              <a:xfrm>
                <a:off x="10859298" y="606100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a:extLst>
                  <a:ext uri="{FF2B5EF4-FFF2-40B4-BE49-F238E27FC236}">
                    <a16:creationId xmlns:a16="http://schemas.microsoft.com/office/drawing/2014/main" id="{5283D9BD-198F-4FBD-BACB-6C1EE1DBF000}"/>
                  </a:ext>
                </a:extLst>
              </p:cNvPr>
              <p:cNvSpPr/>
              <p:nvPr/>
            </p:nvSpPr>
            <p:spPr>
              <a:xfrm>
                <a:off x="10688727" y="608630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348E2040-7514-4944-B136-4F85ABD416AB}"/>
                  </a:ext>
                </a:extLst>
              </p:cNvPr>
              <p:cNvSpPr/>
              <p:nvPr/>
            </p:nvSpPr>
            <p:spPr>
              <a:xfrm>
                <a:off x="9356072" y="609177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775FD1DE-B496-4C7E-98D6-7ACE555ACFEA}"/>
                  </a:ext>
                </a:extLst>
              </p:cNvPr>
              <p:cNvSpPr/>
              <p:nvPr/>
            </p:nvSpPr>
            <p:spPr>
              <a:xfrm>
                <a:off x="10195996" y="611535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F9B0B0B1-440C-4045-81D4-B8622C5A061F}"/>
                  </a:ext>
                </a:extLst>
              </p:cNvPr>
              <p:cNvSpPr/>
              <p:nvPr/>
            </p:nvSpPr>
            <p:spPr>
              <a:xfrm>
                <a:off x="9852652" y="610026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a:extLst>
                  <a:ext uri="{FF2B5EF4-FFF2-40B4-BE49-F238E27FC236}">
                    <a16:creationId xmlns:a16="http://schemas.microsoft.com/office/drawing/2014/main" id="{E332FFC1-0004-4236-B04B-4065F345E9E1}"/>
                  </a:ext>
                </a:extLst>
              </p:cNvPr>
              <p:cNvSpPr/>
              <p:nvPr/>
            </p:nvSpPr>
            <p:spPr>
              <a:xfrm>
                <a:off x="10499695" y="604193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C3B80E0E-C76F-42F2-94D0-5B7044E3CBE1}"/>
                  </a:ext>
                </a:extLst>
              </p:cNvPr>
              <p:cNvSpPr/>
              <p:nvPr/>
            </p:nvSpPr>
            <p:spPr>
              <a:xfrm>
                <a:off x="9719627" y="603230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D0B18560-2728-44E2-8C68-6D3A5339C1A1}"/>
                      </a:ext>
                    </a:extLst>
                  </p:cNvPr>
                  <p:cNvSpPr txBox="1"/>
                  <p:nvPr/>
                </p:nvSpPr>
                <p:spPr>
                  <a:xfrm>
                    <a:off x="8668695" y="4476122"/>
                    <a:ext cx="633891" cy="3986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黑体" panose="02010609060101010101" pitchFamily="49" charset="-122"/>
                            </a:rPr>
                            <m:t>h</m:t>
                          </m:r>
                          <m:sSub>
                            <m:sSubPr>
                              <m:ctrlPr>
                                <a:rPr lang="en-US" sz="2000" b="0" i="1" smtClean="0">
                                  <a:latin typeface="Cambria Math" panose="02040503050406030204" pitchFamily="18" charset="0"/>
                                  <a:ea typeface="黑体" panose="02010609060101010101" pitchFamily="49" charset="-122"/>
                                </a:rPr>
                              </m:ctrlPr>
                            </m:sSubPr>
                            <m:e>
                              <m:r>
                                <a:rPr lang="en-US" sz="2000" b="0" i="1" smtClean="0">
                                  <a:latin typeface="Cambria Math" panose="02040503050406030204" pitchFamily="18" charset="0"/>
                                  <a:ea typeface="黑体" panose="02010609060101010101" pitchFamily="49" charset="-122"/>
                                </a:rPr>
                                <m:t>𝜈</m:t>
                              </m:r>
                            </m:e>
                            <m:sub>
                              <m:r>
                                <a:rPr lang="en-US" sz="2000" b="0" i="1" smtClean="0">
                                  <a:latin typeface="Cambria Math" panose="02040503050406030204" pitchFamily="18" charset="0"/>
                                  <a:ea typeface="黑体" panose="02010609060101010101" pitchFamily="49" charset="-122"/>
                                </a:rPr>
                                <m:t>2</m:t>
                              </m:r>
                            </m:sub>
                          </m:sSub>
                        </m:oMath>
                      </m:oMathPara>
                    </a14:m>
                    <a:endParaRPr lang="en-US" sz="2000" dirty="0">
                      <a:ea typeface="黑体" panose="02010609060101010101" pitchFamily="49" charset="-122"/>
                    </a:endParaRPr>
                  </a:p>
                </p:txBody>
              </p:sp>
            </mc:Choice>
            <mc:Fallback xmlns="">
              <p:sp>
                <p:nvSpPr>
                  <p:cNvPr id="175" name="TextBox 174">
                    <a:extLst>
                      <a:ext uri="{FF2B5EF4-FFF2-40B4-BE49-F238E27FC236}">
                        <a16:creationId xmlns:a16="http://schemas.microsoft.com/office/drawing/2014/main" id="{D0B18560-2728-44E2-8C68-6D3A5339C1A1}"/>
                      </a:ext>
                    </a:extLst>
                  </p:cNvPr>
                  <p:cNvSpPr txBox="1">
                    <a:spLocks noRot="1" noChangeAspect="1" noMove="1" noResize="1" noEditPoints="1" noAdjustHandles="1" noChangeArrowheads="1" noChangeShapeType="1" noTextEdit="1"/>
                  </p:cNvSpPr>
                  <p:nvPr/>
                </p:nvSpPr>
                <p:spPr>
                  <a:xfrm>
                    <a:off x="8668695" y="4476122"/>
                    <a:ext cx="633891" cy="398693"/>
                  </a:xfrm>
                  <a:prstGeom prst="rect">
                    <a:avLst/>
                  </a:prstGeom>
                  <a:blipFill>
                    <a:blip r:embed="rId12"/>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68B094D6-6370-4150-8201-1ED7A50631C8}"/>
                      </a:ext>
                    </a:extLst>
                  </p:cNvPr>
                  <p:cNvSpPr txBox="1"/>
                  <p:nvPr/>
                </p:nvSpPr>
                <p:spPr>
                  <a:xfrm>
                    <a:off x="8526239" y="2889445"/>
                    <a:ext cx="776558" cy="3986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黑体" panose="02010609060101010101" pitchFamily="49" charset="-122"/>
                            </a:rPr>
                            <m:t>2</m:t>
                          </m:r>
                          <m:r>
                            <a:rPr lang="en-US" sz="2000" b="0" i="1" smtClean="0">
                              <a:latin typeface="Cambria Math" panose="02040503050406030204" pitchFamily="18" charset="0"/>
                              <a:ea typeface="黑体" panose="02010609060101010101" pitchFamily="49" charset="-122"/>
                            </a:rPr>
                            <m:t>h</m:t>
                          </m:r>
                          <m:sSub>
                            <m:sSubPr>
                              <m:ctrlPr>
                                <a:rPr lang="en-US" sz="2000" b="0" i="1" smtClean="0">
                                  <a:latin typeface="Cambria Math" panose="02040503050406030204" pitchFamily="18" charset="0"/>
                                  <a:ea typeface="黑体" panose="02010609060101010101" pitchFamily="49" charset="-122"/>
                                </a:rPr>
                              </m:ctrlPr>
                            </m:sSubPr>
                            <m:e>
                              <m:r>
                                <a:rPr lang="en-US" sz="2000" b="0" i="1" smtClean="0">
                                  <a:latin typeface="Cambria Math" panose="02040503050406030204" pitchFamily="18" charset="0"/>
                                  <a:ea typeface="黑体" panose="02010609060101010101" pitchFamily="49" charset="-122"/>
                                </a:rPr>
                                <m:t>𝜈</m:t>
                              </m:r>
                            </m:e>
                            <m:sub>
                              <m:r>
                                <a:rPr lang="en-US" sz="2000" b="0" i="1" smtClean="0">
                                  <a:latin typeface="Cambria Math" panose="02040503050406030204" pitchFamily="18" charset="0"/>
                                  <a:ea typeface="黑体" panose="02010609060101010101" pitchFamily="49" charset="-122"/>
                                </a:rPr>
                                <m:t>2</m:t>
                              </m:r>
                            </m:sub>
                          </m:sSub>
                        </m:oMath>
                      </m:oMathPara>
                    </a14:m>
                    <a:endParaRPr lang="en-US" sz="2000" dirty="0">
                      <a:ea typeface="黑体" panose="02010609060101010101" pitchFamily="49" charset="-122"/>
                    </a:endParaRPr>
                  </a:p>
                </p:txBody>
              </p:sp>
            </mc:Choice>
            <mc:Fallback xmlns="">
              <p:sp>
                <p:nvSpPr>
                  <p:cNvPr id="176" name="TextBox 175">
                    <a:extLst>
                      <a:ext uri="{FF2B5EF4-FFF2-40B4-BE49-F238E27FC236}">
                        <a16:creationId xmlns:a16="http://schemas.microsoft.com/office/drawing/2014/main" id="{68B094D6-6370-4150-8201-1ED7A50631C8}"/>
                      </a:ext>
                    </a:extLst>
                  </p:cNvPr>
                  <p:cNvSpPr txBox="1">
                    <a:spLocks noRot="1" noChangeAspect="1" noMove="1" noResize="1" noEditPoints="1" noAdjustHandles="1" noChangeArrowheads="1" noChangeShapeType="1" noTextEdit="1"/>
                  </p:cNvSpPr>
                  <p:nvPr/>
                </p:nvSpPr>
                <p:spPr>
                  <a:xfrm>
                    <a:off x="8526239" y="2889445"/>
                    <a:ext cx="776558" cy="398693"/>
                  </a:xfrm>
                  <a:prstGeom prst="rect">
                    <a:avLst/>
                  </a:prstGeom>
                  <a:blipFill>
                    <a:blip r:embed="rId13"/>
                    <a:stretch>
                      <a:fillRect/>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78" name="TextBox 177">
                  <a:extLst>
                    <a:ext uri="{FF2B5EF4-FFF2-40B4-BE49-F238E27FC236}">
                      <a16:creationId xmlns:a16="http://schemas.microsoft.com/office/drawing/2014/main" id="{52BC0739-3FBB-4D90-8AA0-76353E13EC95}"/>
                    </a:ext>
                  </a:extLst>
                </p:cNvPr>
                <p:cNvSpPr txBox="1"/>
                <p:nvPr/>
              </p:nvSpPr>
              <p:spPr>
                <a:xfrm>
                  <a:off x="9142150" y="962201"/>
                  <a:ext cx="2407692" cy="644042"/>
                </a:xfrm>
                <a:prstGeom prst="rect">
                  <a:avLst/>
                </a:prstGeom>
                <a:solidFill>
                  <a:schemeClr val="bg1"/>
                </a:solidFill>
              </p:spPr>
              <p:txBody>
                <a:bodyPr wrap="square">
                  <a:spAutoFit/>
                </a:bodyPr>
                <a:lstStyle/>
                <a:p>
                  <a:pPr algn="ctr"/>
                  <a:r>
                    <a:rPr lang="en-US" altLang="zh-CN" dirty="0">
                      <a:solidFill>
                        <a:schemeClr val="tx1"/>
                      </a:solidFill>
                    </a:rPr>
                    <a:t>quantized energy </a:t>
                  </a:r>
                </a:p>
                <a:p>
                  <a:pPr algn="ctr"/>
                  <a:r>
                    <a:rPr lang="en-US" altLang="zh-CN" dirty="0">
                      <a:solidFill>
                        <a:schemeClr val="tx1"/>
                      </a:solidFill>
                    </a:rPr>
                    <a:t>with large step</a:t>
                  </a:r>
                  <a14:m>
                    <m:oMath xmlns:m="http://schemas.openxmlformats.org/officeDocument/2006/math">
                      <m:r>
                        <a:rPr lang="en-US" altLang="zh-CN">
                          <a:latin typeface="Cambria Math" panose="02040503050406030204" pitchFamily="18" charset="0"/>
                        </a:rPr>
                        <m:t> </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r>
                            <a:rPr lang="en-US" altLang="zh-CN" b="0" i="1" smtClean="0">
                              <a:solidFill>
                                <a:schemeClr val="tx1"/>
                              </a:solidFill>
                              <a:latin typeface="Cambria Math" panose="02040503050406030204" pitchFamily="18" charset="0"/>
                            </a:rPr>
                            <m:t>𝜈</m:t>
                          </m:r>
                        </m:e>
                        <m:sub>
                          <m:r>
                            <a:rPr lang="en-US" altLang="zh-CN" b="0" i="1" smtClean="0">
                              <a:solidFill>
                                <a:schemeClr val="tx1"/>
                              </a:solidFill>
                              <a:latin typeface="Cambria Math" panose="02040503050406030204" pitchFamily="18" charset="0"/>
                            </a:rPr>
                            <m:t>2</m:t>
                          </m:r>
                        </m:sub>
                      </m:sSub>
                    </m:oMath>
                  </a14:m>
                  <a:endParaRPr lang="zh-CN" altLang="en-US" dirty="0"/>
                </a:p>
              </p:txBody>
            </p:sp>
          </mc:Choice>
          <mc:Fallback>
            <p:sp>
              <p:nvSpPr>
                <p:cNvPr id="178" name="TextBox 177">
                  <a:extLst>
                    <a:ext uri="{FF2B5EF4-FFF2-40B4-BE49-F238E27FC236}">
                      <a16:creationId xmlns:a16="http://schemas.microsoft.com/office/drawing/2014/main" id="{52BC0739-3FBB-4D90-8AA0-76353E13EC95}"/>
                    </a:ext>
                  </a:extLst>
                </p:cNvPr>
                <p:cNvSpPr txBox="1">
                  <a:spLocks noRot="1" noChangeAspect="1" noMove="1" noResize="1" noEditPoints="1" noAdjustHandles="1" noChangeArrowheads="1" noChangeShapeType="1" noTextEdit="1"/>
                </p:cNvSpPr>
                <p:nvPr/>
              </p:nvSpPr>
              <p:spPr>
                <a:xfrm>
                  <a:off x="9142150" y="962201"/>
                  <a:ext cx="2407692" cy="644042"/>
                </a:xfrm>
                <a:prstGeom prst="rect">
                  <a:avLst/>
                </a:prstGeom>
                <a:blipFill>
                  <a:blip r:embed="rId14"/>
                  <a:stretch>
                    <a:fillRect t="-4717" b="-14151"/>
                  </a:stretch>
                </a:blipFill>
              </p:spPr>
              <p:txBody>
                <a:bodyPr/>
                <a:lstStyle/>
                <a:p>
                  <a:r>
                    <a:rPr lang="zh-CN" altLang="en-US">
                      <a:noFill/>
                    </a:rPr>
                    <a:t> </a:t>
                  </a:r>
                </a:p>
              </p:txBody>
            </p:sp>
          </mc:Fallback>
        </mc:AlternateContent>
      </p:grpSp>
      <p:grpSp>
        <p:nvGrpSpPr>
          <p:cNvPr id="15" name="Group 14">
            <a:extLst>
              <a:ext uri="{FF2B5EF4-FFF2-40B4-BE49-F238E27FC236}">
                <a16:creationId xmlns:a16="http://schemas.microsoft.com/office/drawing/2014/main" id="{6405E48D-48B0-4D6E-B416-C36119E86694}"/>
              </a:ext>
            </a:extLst>
          </p:cNvPr>
          <p:cNvGrpSpPr/>
          <p:nvPr/>
        </p:nvGrpSpPr>
        <p:grpSpPr>
          <a:xfrm>
            <a:off x="6536298" y="923377"/>
            <a:ext cx="2206074" cy="5304037"/>
            <a:chOff x="6536298" y="1006507"/>
            <a:chExt cx="2206074" cy="5290021"/>
          </a:xfrm>
        </p:grpSpPr>
        <p:grpSp>
          <p:nvGrpSpPr>
            <p:cNvPr id="98" name="Group 97">
              <a:extLst>
                <a:ext uri="{FF2B5EF4-FFF2-40B4-BE49-F238E27FC236}">
                  <a16:creationId xmlns:a16="http://schemas.microsoft.com/office/drawing/2014/main" id="{2D0D0085-1048-4BD6-A2B9-FE653DF22F8A}"/>
                </a:ext>
              </a:extLst>
            </p:cNvPr>
            <p:cNvGrpSpPr/>
            <p:nvPr/>
          </p:nvGrpSpPr>
          <p:grpSpPr>
            <a:xfrm>
              <a:off x="6638463" y="1286931"/>
              <a:ext cx="1956843" cy="5009597"/>
              <a:chOff x="6944971" y="1286931"/>
              <a:chExt cx="1956843" cy="5009597"/>
            </a:xfrm>
          </p:grpSpPr>
          <p:sp>
            <p:nvSpPr>
              <p:cNvPr id="7" name="Flowchart: Process 6">
                <a:extLst>
                  <a:ext uri="{FF2B5EF4-FFF2-40B4-BE49-F238E27FC236}">
                    <a16:creationId xmlns:a16="http://schemas.microsoft.com/office/drawing/2014/main" id="{F9096DAE-2DE9-4DC9-88AA-34FBDF6CDD99}"/>
                  </a:ext>
                </a:extLst>
              </p:cNvPr>
              <p:cNvSpPr/>
              <p:nvPr/>
            </p:nvSpPr>
            <p:spPr>
              <a:xfrm>
                <a:off x="7018234" y="1286931"/>
                <a:ext cx="1783631" cy="500439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Oval 7">
                <a:extLst>
                  <a:ext uri="{FF2B5EF4-FFF2-40B4-BE49-F238E27FC236}">
                    <a16:creationId xmlns:a16="http://schemas.microsoft.com/office/drawing/2014/main" id="{680CE102-7B43-4A7D-A879-F489530D164B}"/>
                  </a:ext>
                </a:extLst>
              </p:cNvPr>
              <p:cNvSpPr/>
              <p:nvPr/>
            </p:nvSpPr>
            <p:spPr>
              <a:xfrm>
                <a:off x="7321717" y="611758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5B6582E-18A3-4111-A8A9-D8C31461CE5D}"/>
                  </a:ext>
                </a:extLst>
              </p:cNvPr>
              <p:cNvSpPr/>
              <p:nvPr/>
            </p:nvSpPr>
            <p:spPr>
              <a:xfrm>
                <a:off x="7626801" y="3674383"/>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65DB9F7-9F79-43A2-9DAB-65250ABE80D0}"/>
                  </a:ext>
                </a:extLst>
              </p:cNvPr>
              <p:cNvSpPr/>
              <p:nvPr/>
            </p:nvSpPr>
            <p:spPr>
              <a:xfrm>
                <a:off x="8015765" y="371817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5B90A91-FAE9-4AAA-8AFB-361C738674D6}"/>
                  </a:ext>
                </a:extLst>
              </p:cNvPr>
              <p:cNvSpPr/>
              <p:nvPr/>
            </p:nvSpPr>
            <p:spPr>
              <a:xfrm>
                <a:off x="7823327" y="369750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3133CD1-D1CC-46D3-9B91-2B844C5367BC}"/>
                  </a:ext>
                </a:extLst>
              </p:cNvPr>
              <p:cNvSpPr/>
              <p:nvPr/>
            </p:nvSpPr>
            <p:spPr>
              <a:xfrm>
                <a:off x="7955858" y="4517329"/>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EF98040-96F4-43F3-899E-F7DA55365702}"/>
                  </a:ext>
                </a:extLst>
              </p:cNvPr>
              <p:cNvSpPr/>
              <p:nvPr/>
            </p:nvSpPr>
            <p:spPr>
              <a:xfrm>
                <a:off x="8232970" y="450229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B6D3392-0984-49EF-9141-09BA7BF92A9E}"/>
                  </a:ext>
                </a:extLst>
              </p:cNvPr>
              <p:cNvSpPr/>
              <p:nvPr/>
            </p:nvSpPr>
            <p:spPr>
              <a:xfrm>
                <a:off x="7937039" y="294446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0351306B-F534-42F0-981D-77FEB1CBBFEF}"/>
                  </a:ext>
                </a:extLst>
              </p:cNvPr>
              <p:cNvSpPr/>
              <p:nvPr/>
            </p:nvSpPr>
            <p:spPr>
              <a:xfrm>
                <a:off x="7678747" y="450749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06565DA-2FA5-44CA-B6BD-53466E7BDAAC}"/>
                  </a:ext>
                </a:extLst>
              </p:cNvPr>
              <p:cNvSpPr/>
              <p:nvPr/>
            </p:nvSpPr>
            <p:spPr>
              <a:xfrm>
                <a:off x="7452563" y="451553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63561A9-02BF-4F3C-ABE2-D5EE5AFD6A26}"/>
                  </a:ext>
                </a:extLst>
              </p:cNvPr>
              <p:cNvSpPr/>
              <p:nvPr/>
            </p:nvSpPr>
            <p:spPr>
              <a:xfrm>
                <a:off x="7496963" y="373076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0566B0FD-7C60-4E22-A7D7-5287B1A53DAE}"/>
                  </a:ext>
                </a:extLst>
              </p:cNvPr>
              <p:cNvSpPr/>
              <p:nvPr/>
            </p:nvSpPr>
            <p:spPr>
              <a:xfrm>
                <a:off x="7667776" y="613610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4F11569-D10C-4C71-A407-722025F257AC}"/>
                  </a:ext>
                </a:extLst>
              </p:cNvPr>
              <p:cNvSpPr/>
              <p:nvPr/>
            </p:nvSpPr>
            <p:spPr>
              <a:xfrm rot="13353176">
                <a:off x="8134945" y="611844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86CDE2-769A-4AB2-A439-5779348A392A}"/>
                  </a:ext>
                </a:extLst>
              </p:cNvPr>
              <p:cNvSpPr/>
              <p:nvPr/>
            </p:nvSpPr>
            <p:spPr>
              <a:xfrm rot="13353176">
                <a:off x="7602448" y="292063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4B156C-7667-424F-9C56-A5FC2701AAED}"/>
                  </a:ext>
                </a:extLst>
              </p:cNvPr>
              <p:cNvSpPr/>
              <p:nvPr/>
            </p:nvSpPr>
            <p:spPr>
              <a:xfrm rot="13353176">
                <a:off x="8655768" y="530311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20B02A35-5E2E-4082-AD04-33B52B778C3C}"/>
                  </a:ext>
                </a:extLst>
              </p:cNvPr>
              <p:cNvSpPr/>
              <p:nvPr/>
            </p:nvSpPr>
            <p:spPr>
              <a:xfrm rot="13353176">
                <a:off x="8446065" y="534783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828EA13-138D-42A9-884B-F1BF5D5932F0}"/>
                  </a:ext>
                </a:extLst>
              </p:cNvPr>
              <p:cNvSpPr/>
              <p:nvPr/>
            </p:nvSpPr>
            <p:spPr>
              <a:xfrm rot="13353176">
                <a:off x="8224163" y="531610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C9C1809-1EB5-45B5-844B-049BE999A840}"/>
                  </a:ext>
                </a:extLst>
              </p:cNvPr>
              <p:cNvSpPr/>
              <p:nvPr/>
            </p:nvSpPr>
            <p:spPr>
              <a:xfrm rot="13353176">
                <a:off x="7813651" y="450023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1EEA878-96DB-4307-B553-1251F8613462}"/>
                  </a:ext>
                </a:extLst>
              </p:cNvPr>
              <p:cNvSpPr/>
              <p:nvPr/>
            </p:nvSpPr>
            <p:spPr>
              <a:xfrm>
                <a:off x="7102226" y="614932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44717F1-6504-4FF5-9A52-08CCCA8B8E8F}"/>
                  </a:ext>
                </a:extLst>
              </p:cNvPr>
              <p:cNvSpPr/>
              <p:nvPr/>
            </p:nvSpPr>
            <p:spPr>
              <a:xfrm>
                <a:off x="7254626" y="614932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540E6B1-9E28-46B1-8E39-38AE5E003AE1}"/>
                  </a:ext>
                </a:extLst>
              </p:cNvPr>
              <p:cNvSpPr/>
              <p:nvPr/>
            </p:nvSpPr>
            <p:spPr>
              <a:xfrm>
                <a:off x="7518641" y="6166505"/>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7EAA3C3-0ACD-43CD-8C03-ED03DCE34E5F}"/>
                  </a:ext>
                </a:extLst>
              </p:cNvPr>
              <p:cNvSpPr/>
              <p:nvPr/>
            </p:nvSpPr>
            <p:spPr>
              <a:xfrm>
                <a:off x="7415277" y="616864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452DA50C-3D41-41F3-BA49-262AB52F1BD9}"/>
                  </a:ext>
                </a:extLst>
              </p:cNvPr>
              <p:cNvSpPr/>
              <p:nvPr/>
            </p:nvSpPr>
            <p:spPr>
              <a:xfrm>
                <a:off x="7695276" y="618333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C3DFBA31-C856-46EF-AA5E-0D1305F58804}"/>
                  </a:ext>
                </a:extLst>
              </p:cNvPr>
              <p:cNvSpPr/>
              <p:nvPr/>
            </p:nvSpPr>
            <p:spPr>
              <a:xfrm>
                <a:off x="8534462" y="617508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ED0944E-9198-48A8-9360-B68E4604D4C7}"/>
                  </a:ext>
                </a:extLst>
              </p:cNvPr>
              <p:cNvSpPr/>
              <p:nvPr/>
            </p:nvSpPr>
            <p:spPr>
              <a:xfrm>
                <a:off x="8170163" y="618852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66C2E7F-75DD-4D15-984C-F543A7BFAA9D}"/>
                  </a:ext>
                </a:extLst>
              </p:cNvPr>
              <p:cNvSpPr/>
              <p:nvPr/>
            </p:nvSpPr>
            <p:spPr>
              <a:xfrm>
                <a:off x="8404798" y="616103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0F52AC0E-AE84-40C2-9BE6-CE098659C7AD}"/>
                  </a:ext>
                </a:extLst>
              </p:cNvPr>
              <p:cNvSpPr/>
              <p:nvPr/>
            </p:nvSpPr>
            <p:spPr>
              <a:xfrm>
                <a:off x="7855477" y="613873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01E82EC9-E08B-4568-B6F6-177B5D34EDE3}"/>
                  </a:ext>
                </a:extLst>
              </p:cNvPr>
              <p:cNvSpPr/>
              <p:nvPr/>
            </p:nvSpPr>
            <p:spPr>
              <a:xfrm>
                <a:off x="8005575" y="618852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1D8FD885-D22E-4386-A54E-B703B7F20CED}"/>
                  </a:ext>
                </a:extLst>
              </p:cNvPr>
              <p:cNvSpPr/>
              <p:nvPr/>
            </p:nvSpPr>
            <p:spPr>
              <a:xfrm>
                <a:off x="7751759" y="291958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E460C9CE-E456-4A81-8817-68E4121B98E1}"/>
                  </a:ext>
                </a:extLst>
              </p:cNvPr>
              <p:cNvSpPr/>
              <p:nvPr/>
            </p:nvSpPr>
            <p:spPr>
              <a:xfrm>
                <a:off x="7883039" y="532974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AC1FA17-73B3-4DF8-A577-E0258F3551D3}"/>
                  </a:ext>
                </a:extLst>
              </p:cNvPr>
              <p:cNvSpPr/>
              <p:nvPr/>
            </p:nvSpPr>
            <p:spPr>
              <a:xfrm>
                <a:off x="7681689" y="530754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03D03F1-BEBD-4526-9958-0D004FA66821}"/>
                  </a:ext>
                </a:extLst>
              </p:cNvPr>
              <p:cNvSpPr/>
              <p:nvPr/>
            </p:nvSpPr>
            <p:spPr>
              <a:xfrm>
                <a:off x="7048563" y="530754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AD843F5-A2A5-470F-810B-66FBF0BA59D5}"/>
                  </a:ext>
                </a:extLst>
              </p:cNvPr>
              <p:cNvSpPr/>
              <p:nvPr/>
            </p:nvSpPr>
            <p:spPr>
              <a:xfrm>
                <a:off x="8701864" y="612933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861CF18D-62C9-497F-AB73-76D9F3FFF8C2}"/>
                  </a:ext>
                </a:extLst>
              </p:cNvPr>
              <p:cNvSpPr/>
              <p:nvPr/>
            </p:nvSpPr>
            <p:spPr>
              <a:xfrm>
                <a:off x="8570825" y="612933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6CC9A94C-0252-4905-93B4-08DA966B2C3A}"/>
                  </a:ext>
                </a:extLst>
              </p:cNvPr>
              <p:cNvSpPr/>
              <p:nvPr/>
            </p:nvSpPr>
            <p:spPr>
              <a:xfrm>
                <a:off x="8238771" y="613873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D748CF3D-910B-4E45-9649-759690C4600B}"/>
                  </a:ext>
                </a:extLst>
              </p:cNvPr>
              <p:cNvSpPr/>
              <p:nvPr/>
            </p:nvSpPr>
            <p:spPr>
              <a:xfrm>
                <a:off x="7215571" y="537194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0B9CB5D-51C3-487A-9621-40E651F62636}"/>
                  </a:ext>
                </a:extLst>
              </p:cNvPr>
              <p:cNvSpPr/>
              <p:nvPr/>
            </p:nvSpPr>
            <p:spPr>
              <a:xfrm>
                <a:off x="7475630" y="533840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4427779E-E3DC-4A19-9131-97FCFCF19865}"/>
                  </a:ext>
                </a:extLst>
              </p:cNvPr>
              <p:cNvSpPr/>
              <p:nvPr/>
            </p:nvSpPr>
            <p:spPr>
              <a:xfrm>
                <a:off x="7777483" y="610339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lowchart: Process 56">
                <a:extLst>
                  <a:ext uri="{FF2B5EF4-FFF2-40B4-BE49-F238E27FC236}">
                    <a16:creationId xmlns:a16="http://schemas.microsoft.com/office/drawing/2014/main" id="{4B1AECB8-561D-4AC0-A422-CD8D8EF30D57}"/>
                  </a:ext>
                </a:extLst>
              </p:cNvPr>
              <p:cNvSpPr/>
              <p:nvPr/>
            </p:nvSpPr>
            <p:spPr>
              <a:xfrm>
                <a:off x="6955512" y="5459946"/>
                <a:ext cx="1929011" cy="99936"/>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lowchart: Process 57">
                <a:extLst>
                  <a:ext uri="{FF2B5EF4-FFF2-40B4-BE49-F238E27FC236}">
                    <a16:creationId xmlns:a16="http://schemas.microsoft.com/office/drawing/2014/main" id="{331D6435-84A9-42E9-8F41-39B0BC7E049C}"/>
                  </a:ext>
                </a:extLst>
              </p:cNvPr>
              <p:cNvSpPr/>
              <p:nvPr/>
            </p:nvSpPr>
            <p:spPr>
              <a:xfrm>
                <a:off x="6966822" y="4640362"/>
                <a:ext cx="1929011" cy="99936"/>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Process 58">
                <a:extLst>
                  <a:ext uri="{FF2B5EF4-FFF2-40B4-BE49-F238E27FC236}">
                    <a16:creationId xmlns:a16="http://schemas.microsoft.com/office/drawing/2014/main" id="{A431EA56-25DD-4231-B804-13065586DF38}"/>
                  </a:ext>
                </a:extLst>
              </p:cNvPr>
              <p:cNvSpPr/>
              <p:nvPr/>
            </p:nvSpPr>
            <p:spPr>
              <a:xfrm>
                <a:off x="6972803" y="3814410"/>
                <a:ext cx="1929011" cy="99936"/>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011D8B2A-BAFD-44E8-823B-6030EA145F66}"/>
                  </a:ext>
                </a:extLst>
              </p:cNvPr>
              <p:cNvSpPr/>
              <p:nvPr/>
            </p:nvSpPr>
            <p:spPr>
              <a:xfrm>
                <a:off x="8021081" y="529395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E4E8CA3C-3D62-46F7-BBA9-0F8B4870161C}"/>
                  </a:ext>
                </a:extLst>
              </p:cNvPr>
              <p:cNvSpPr/>
              <p:nvPr/>
            </p:nvSpPr>
            <p:spPr>
              <a:xfrm>
                <a:off x="7232650" y="455629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22B386DC-4FFE-43BA-9EEE-61717D6FF4A9}"/>
                  </a:ext>
                </a:extLst>
              </p:cNvPr>
              <p:cNvSpPr/>
              <p:nvPr/>
            </p:nvSpPr>
            <p:spPr>
              <a:xfrm>
                <a:off x="7361277" y="5325414"/>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9F1D314A-9B21-48C5-8D4F-6574B78C691D}"/>
                  </a:ext>
                </a:extLst>
              </p:cNvPr>
              <p:cNvSpPr/>
              <p:nvPr/>
            </p:nvSpPr>
            <p:spPr>
              <a:xfrm>
                <a:off x="8390046" y="4500149"/>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lowchart: Process 63">
                <a:extLst>
                  <a:ext uri="{FF2B5EF4-FFF2-40B4-BE49-F238E27FC236}">
                    <a16:creationId xmlns:a16="http://schemas.microsoft.com/office/drawing/2014/main" id="{2749B168-5DAA-4D07-A547-9CEA414E6771}"/>
                  </a:ext>
                </a:extLst>
              </p:cNvPr>
              <p:cNvSpPr/>
              <p:nvPr/>
            </p:nvSpPr>
            <p:spPr>
              <a:xfrm>
                <a:off x="6957467" y="3058414"/>
                <a:ext cx="1929011" cy="99936"/>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lowchart: Process 64">
                <a:extLst>
                  <a:ext uri="{FF2B5EF4-FFF2-40B4-BE49-F238E27FC236}">
                    <a16:creationId xmlns:a16="http://schemas.microsoft.com/office/drawing/2014/main" id="{95A8BF79-3380-4044-A4A8-253EE1ECA5C7}"/>
                  </a:ext>
                </a:extLst>
              </p:cNvPr>
              <p:cNvSpPr/>
              <p:nvPr/>
            </p:nvSpPr>
            <p:spPr>
              <a:xfrm>
                <a:off x="6944971" y="2308898"/>
                <a:ext cx="1929011" cy="99936"/>
              </a:xfrm>
              <a:prstGeom prst="flowChartProcess">
                <a:avLst/>
              </a:prstGeom>
              <a:blipFill>
                <a:blip r:embed="rId5"/>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FCF69B49-5F91-4EFF-BB66-7DC8C867B064}"/>
                  </a:ext>
                </a:extLst>
              </p:cNvPr>
              <p:cNvSpPr/>
              <p:nvPr/>
            </p:nvSpPr>
            <p:spPr>
              <a:xfrm rot="13353176">
                <a:off x="7655793" y="218989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0F8694A-F483-4134-948E-EFB91ADAC466}"/>
                  </a:ext>
                </a:extLst>
              </p:cNvPr>
              <p:cNvSpPr/>
              <p:nvPr/>
            </p:nvSpPr>
            <p:spPr>
              <a:xfrm>
                <a:off x="8168854" y="367668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96A94878-5548-4274-97A7-ABDB68E89AD7}"/>
                  </a:ext>
                </a:extLst>
              </p:cNvPr>
              <p:cNvSpPr/>
              <p:nvPr/>
            </p:nvSpPr>
            <p:spPr>
              <a:xfrm>
                <a:off x="8101162" y="451553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187D943D-654B-4500-82F8-8DB0E0CD77E7}"/>
                  </a:ext>
                </a:extLst>
              </p:cNvPr>
              <p:cNvSpPr/>
              <p:nvPr/>
            </p:nvSpPr>
            <p:spPr>
              <a:xfrm>
                <a:off x="8322891" y="369750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B05C3811-EF1C-402D-A791-9DBD09595BA1}"/>
                  </a:ext>
                </a:extLst>
              </p:cNvPr>
              <p:cNvSpPr/>
              <p:nvPr/>
            </p:nvSpPr>
            <p:spPr>
              <a:xfrm>
                <a:off x="7302690" y="4504895"/>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E4305E6E-2EA2-4004-A30E-4A483BB12537}"/>
                  </a:ext>
                </a:extLst>
              </p:cNvPr>
              <p:cNvSpPr/>
              <p:nvPr/>
            </p:nvSpPr>
            <p:spPr>
              <a:xfrm>
                <a:off x="8532039" y="4496723"/>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FDF51D4E-C563-4A58-9EFC-2647B76DEACC}"/>
                  </a:ext>
                </a:extLst>
              </p:cNvPr>
              <p:cNvSpPr/>
              <p:nvPr/>
            </p:nvSpPr>
            <p:spPr>
              <a:xfrm>
                <a:off x="7120218" y="4496723"/>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97DE58DE-D40B-4C68-9F0F-29A4AA50F1DC}"/>
                  </a:ext>
                </a:extLst>
              </p:cNvPr>
              <p:cNvSpPr/>
              <p:nvPr/>
            </p:nvSpPr>
            <p:spPr>
              <a:xfrm>
                <a:off x="8141300" y="5304371"/>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AA39BBA1-02FA-46BF-93B8-DC8585A14E0E}"/>
                  </a:ext>
                </a:extLst>
              </p:cNvPr>
              <p:cNvSpPr/>
              <p:nvPr/>
            </p:nvSpPr>
            <p:spPr>
              <a:xfrm>
                <a:off x="7767040" y="534795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9592A0D2-EFFE-4A8D-8E2E-8D2D2CC7216A}"/>
                  </a:ext>
                </a:extLst>
              </p:cNvPr>
              <p:cNvSpPr/>
              <p:nvPr/>
            </p:nvSpPr>
            <p:spPr>
              <a:xfrm>
                <a:off x="8357548" y="5307256"/>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0F220643-8EF5-4E17-8E75-DB8C0FABBEFF}"/>
                  </a:ext>
                </a:extLst>
              </p:cNvPr>
              <p:cNvSpPr/>
              <p:nvPr/>
            </p:nvSpPr>
            <p:spPr>
              <a:xfrm>
                <a:off x="7516874" y="525913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4F2E6FC7-0204-475B-BFDD-B6B6E0B5C537}"/>
                  </a:ext>
                </a:extLst>
              </p:cNvPr>
              <p:cNvSpPr/>
              <p:nvPr/>
            </p:nvSpPr>
            <p:spPr>
              <a:xfrm>
                <a:off x="8620800" y="604179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2C9E59B5-DD93-4A85-B3FE-9734EE8178C1}"/>
                  </a:ext>
                </a:extLst>
              </p:cNvPr>
              <p:cNvSpPr/>
              <p:nvPr/>
            </p:nvSpPr>
            <p:spPr>
              <a:xfrm>
                <a:off x="8450229" y="606708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F7A3D3CC-F076-44EA-984F-8C6965919494}"/>
                  </a:ext>
                </a:extLst>
              </p:cNvPr>
              <p:cNvSpPr/>
              <p:nvPr/>
            </p:nvSpPr>
            <p:spPr>
              <a:xfrm>
                <a:off x="7117574" y="6072557"/>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7603EC39-4A6E-4DCF-A4CC-A6E677C693ED}"/>
                  </a:ext>
                </a:extLst>
              </p:cNvPr>
              <p:cNvSpPr/>
              <p:nvPr/>
            </p:nvSpPr>
            <p:spPr>
              <a:xfrm>
                <a:off x="7957498" y="6096142"/>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75B2B044-8BED-4BF9-917F-4475B9CE9A4A}"/>
                  </a:ext>
                </a:extLst>
              </p:cNvPr>
              <p:cNvSpPr/>
              <p:nvPr/>
            </p:nvSpPr>
            <p:spPr>
              <a:xfrm>
                <a:off x="7614154" y="608104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DA435FFD-72D9-4597-ADF0-D31D2B1645A8}"/>
                  </a:ext>
                </a:extLst>
              </p:cNvPr>
              <p:cNvSpPr/>
              <p:nvPr/>
            </p:nvSpPr>
            <p:spPr>
              <a:xfrm>
                <a:off x="8261197" y="6022720"/>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EC0FDD99-026D-4A38-8B4C-A45983F60C9D}"/>
                  </a:ext>
                </a:extLst>
              </p:cNvPr>
              <p:cNvSpPr/>
              <p:nvPr/>
            </p:nvSpPr>
            <p:spPr>
              <a:xfrm>
                <a:off x="7481129" y="6013088"/>
                <a:ext cx="108000" cy="1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0E892D7C-67FC-45CF-B7FA-F775E507AD1A}"/>
                    </a:ext>
                  </a:extLst>
                </p:cNvPr>
                <p:cNvSpPr txBox="1"/>
                <p:nvPr/>
              </p:nvSpPr>
              <p:spPr>
                <a:xfrm>
                  <a:off x="6536298" y="1006507"/>
                  <a:ext cx="2206074" cy="646331"/>
                </a:xfrm>
                <a:prstGeom prst="rect">
                  <a:avLst/>
                </a:prstGeom>
                <a:solidFill>
                  <a:schemeClr val="bg1"/>
                </a:solidFill>
              </p:spPr>
              <p:txBody>
                <a:bodyPr wrap="square">
                  <a:spAutoFit/>
                </a:bodyPr>
                <a:lstStyle/>
                <a:p>
                  <a:pPr algn="ctr"/>
                  <a:r>
                    <a:rPr lang="en-US" altLang="zh-CN" dirty="0">
                      <a:solidFill>
                        <a:schemeClr val="tx1"/>
                      </a:solidFill>
                    </a:rPr>
                    <a:t>quantized energy </a:t>
                  </a:r>
                </a:p>
                <a:p>
                  <a:pPr algn="ctr"/>
                  <a:r>
                    <a:rPr lang="en-US" altLang="zh-CN" dirty="0">
                      <a:solidFill>
                        <a:schemeClr val="tx1"/>
                      </a:solidFill>
                    </a:rPr>
                    <a:t>with step </a:t>
                  </a:r>
                  <a14:m>
                    <m:oMath xmlns:m="http://schemas.openxmlformats.org/officeDocument/2006/math">
                      <m:r>
                        <a:rPr lang="en-US" altLang="zh-CN" i="1">
                          <a:latin typeface="Cambria Math" panose="02040503050406030204" pitchFamily="18" charset="0"/>
                        </a:rPr>
                        <m:t>h</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𝜈</m:t>
                          </m:r>
                        </m:e>
                        <m:sub>
                          <m:r>
                            <a:rPr lang="en-US" altLang="zh-CN" b="0" i="1" smtClean="0">
                              <a:solidFill>
                                <a:schemeClr val="tx1"/>
                              </a:solidFill>
                              <a:latin typeface="Cambria Math" panose="02040503050406030204" pitchFamily="18" charset="0"/>
                            </a:rPr>
                            <m:t>1</m:t>
                          </m:r>
                        </m:sub>
                      </m:sSub>
                    </m:oMath>
                  </a14:m>
                  <a:endParaRPr lang="zh-CN" altLang="en-US" dirty="0"/>
                </a:p>
              </p:txBody>
            </p:sp>
          </mc:Choice>
          <mc:Fallback xmlns="">
            <p:sp>
              <p:nvSpPr>
                <p:cNvPr id="179" name="TextBox 178">
                  <a:extLst>
                    <a:ext uri="{FF2B5EF4-FFF2-40B4-BE49-F238E27FC236}">
                      <a16:creationId xmlns:a16="http://schemas.microsoft.com/office/drawing/2014/main" id="{0E892D7C-67FC-45CF-B7FA-F775E507AD1A}"/>
                    </a:ext>
                  </a:extLst>
                </p:cNvPr>
                <p:cNvSpPr txBox="1">
                  <a:spLocks noRot="1" noChangeAspect="1" noMove="1" noResize="1" noEditPoints="1" noAdjustHandles="1" noChangeArrowheads="1" noChangeShapeType="1" noTextEdit="1"/>
                </p:cNvSpPr>
                <p:nvPr/>
              </p:nvSpPr>
              <p:spPr>
                <a:xfrm>
                  <a:off x="6536298" y="1006507"/>
                  <a:ext cx="2206074" cy="646331"/>
                </a:xfrm>
                <a:prstGeom prst="rect">
                  <a:avLst/>
                </a:prstGeom>
                <a:blipFill>
                  <a:blip r:embed="rId15"/>
                  <a:stretch>
                    <a:fillRect t="-4673" b="-13084"/>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F241C962-4804-4244-827D-34F9B32E8E28}"/>
                  </a:ext>
                </a:extLst>
              </p:cNvPr>
              <p:cNvSpPr txBox="1"/>
              <p:nvPr/>
            </p:nvSpPr>
            <p:spPr>
              <a:xfrm>
                <a:off x="-73852" y="4392992"/>
                <a:ext cx="1769123" cy="6853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bar>
                        <m:barPr>
                          <m:pos m:val="top"/>
                          <m:ctrlPr>
                            <a:rPr lang="en-US" altLang="zh-CN" sz="2000" i="1">
                              <a:latin typeface="Cambria Math" panose="02040503050406030204" pitchFamily="18" charset="0"/>
                            </a:rPr>
                          </m:ctrlPr>
                        </m:barPr>
                        <m:e>
                          <m:r>
                            <a:rPr lang="en-US" altLang="zh-CN" sz="2000" i="1">
                              <a:latin typeface="Cambria Math" panose="02040503050406030204" pitchFamily="18" charset="0"/>
                            </a:rPr>
                            <m:t>𝜖</m:t>
                          </m:r>
                        </m:e>
                      </m:bar>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nary>
                            <m:naryPr>
                              <m:chr m:val="∑"/>
                              <m:subHide m:val="on"/>
                              <m:supHide m:val="on"/>
                              <m:ctrlPr>
                                <a:rPr lang="en-US" altLang="zh-CN" sz="2000" b="0" i="1" smtClean="0">
                                  <a:latin typeface="Cambria Math" panose="02040503050406030204" pitchFamily="18" charset="0"/>
                                  <a:ea typeface="Cambria Math" panose="02040503050406030204" pitchFamily="18" charset="0"/>
                                </a:rPr>
                              </m:ctrlPr>
                            </m:naryPr>
                            <m:sub/>
                            <m:sup/>
                            <m:e>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𝜖</m:t>
                                  </m:r>
                                </m:e>
                                <m:sub>
                                  <m:r>
                                    <a:rPr lang="en-US" altLang="zh-CN" sz="2000" b="0" i="1" smtClean="0">
                                      <a:latin typeface="Cambria Math" panose="02040503050406030204" pitchFamily="18" charset="0"/>
                                      <a:ea typeface="Cambria Math" panose="02040503050406030204" pitchFamily="18" charset="0"/>
                                    </a:rPr>
                                    <m:t>𝑖</m:t>
                                  </m:r>
                                </m:sub>
                              </m:sSub>
                            </m:e>
                          </m:nary>
                        </m:num>
                        <m:den>
                          <m:r>
                            <a:rPr lang="en-US" altLang="zh-CN" sz="2000" b="0" i="1" smtClean="0">
                              <a:latin typeface="Cambria Math" panose="02040503050406030204" pitchFamily="18" charset="0"/>
                            </a:rPr>
                            <m:t>𝑁</m:t>
                          </m:r>
                        </m:den>
                      </m:f>
                    </m:oMath>
                  </m:oMathPara>
                </a14:m>
                <a:endParaRPr lang="en-US" altLang="zh-CN" sz="2000" b="0" dirty="0">
                  <a:latin typeface="Times New Roman" panose="02020603050405020304" pitchFamily="18" charset="0"/>
                </a:endParaRPr>
              </a:p>
            </p:txBody>
          </p:sp>
        </mc:Choice>
        <mc:Fallback xmlns="">
          <p:sp>
            <p:nvSpPr>
              <p:cNvPr id="180" name="TextBox 179">
                <a:extLst>
                  <a:ext uri="{FF2B5EF4-FFF2-40B4-BE49-F238E27FC236}">
                    <a16:creationId xmlns:a16="http://schemas.microsoft.com/office/drawing/2014/main" id="{F241C962-4804-4244-827D-34F9B32E8E28}"/>
                  </a:ext>
                </a:extLst>
              </p:cNvPr>
              <p:cNvSpPr txBox="1">
                <a:spLocks noRot="1" noChangeAspect="1" noMove="1" noResize="1" noEditPoints="1" noAdjustHandles="1" noChangeArrowheads="1" noChangeShapeType="1" noTextEdit="1"/>
              </p:cNvSpPr>
              <p:nvPr/>
            </p:nvSpPr>
            <p:spPr>
              <a:xfrm>
                <a:off x="-73852" y="4392992"/>
                <a:ext cx="1769123" cy="685380"/>
              </a:xfrm>
              <a:prstGeom prst="rect">
                <a:avLst/>
              </a:prstGeom>
              <a:blipFill>
                <a:blip r:embed="rId16"/>
                <a:stretch>
                  <a:fillRect/>
                </a:stretch>
              </a:blipFill>
            </p:spPr>
            <p:txBody>
              <a:bodyPr/>
              <a:lstStyle/>
              <a:p>
                <a:r>
                  <a:rPr lang="zh-CN" altLang="en-US">
                    <a:noFill/>
                  </a:rPr>
                  <a:t> </a:t>
                </a:r>
              </a:p>
            </p:txBody>
          </p:sp>
        </mc:Fallback>
      </mc:AlternateContent>
      <p:grpSp>
        <p:nvGrpSpPr>
          <p:cNvPr id="3" name="Group 2">
            <a:extLst>
              <a:ext uri="{FF2B5EF4-FFF2-40B4-BE49-F238E27FC236}">
                <a16:creationId xmlns:a16="http://schemas.microsoft.com/office/drawing/2014/main" id="{42C59E21-ACF8-4853-98FC-8152CE627179}"/>
              </a:ext>
            </a:extLst>
          </p:cNvPr>
          <p:cNvGrpSpPr/>
          <p:nvPr/>
        </p:nvGrpSpPr>
        <p:grpSpPr>
          <a:xfrm>
            <a:off x="-167388" y="1882685"/>
            <a:ext cx="1973273" cy="1948531"/>
            <a:chOff x="-168022" y="2153023"/>
            <a:chExt cx="1973273" cy="1948531"/>
          </a:xfrm>
        </p:grpSpPr>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E15D0174-FBA0-4BCA-B92A-D2A6BFEFFED9}"/>
                    </a:ext>
                  </a:extLst>
                </p:cNvPr>
                <p:cNvSpPr txBox="1"/>
                <p:nvPr/>
              </p:nvSpPr>
              <p:spPr>
                <a:xfrm>
                  <a:off x="-168022" y="2153023"/>
                  <a:ext cx="1769123" cy="5055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𝜖</m:t>
                        </m:r>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𝜖</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𝐵</m:t>
                                    </m:r>
                                  </m:sub>
                                </m:sSub>
                                <m:r>
                                  <a:rPr lang="en-US" altLang="zh-CN" i="1">
                                    <a:latin typeface="Cambria Math" panose="02040503050406030204" pitchFamily="18" charset="0"/>
                                  </a:rPr>
                                  <m:t>𝑇</m:t>
                                </m:r>
                              </m:den>
                            </m:f>
                          </m:sup>
                        </m:sSup>
                      </m:oMath>
                    </m:oMathPara>
                  </a14:m>
                  <a:endParaRPr lang="en-US" altLang="zh-CN" dirty="0">
                    <a:latin typeface="Times New Roman" panose="02020603050405020304" pitchFamily="18" charset="0"/>
                    <a:cs typeface="Times New Roman" panose="02020603050405020304" pitchFamily="18" charset="0"/>
                  </a:endParaRPr>
                </a:p>
              </p:txBody>
            </p:sp>
          </mc:Choice>
          <mc:Fallback xmlns="">
            <p:sp>
              <p:nvSpPr>
                <p:cNvPr id="155" name="TextBox 154">
                  <a:extLst>
                    <a:ext uri="{FF2B5EF4-FFF2-40B4-BE49-F238E27FC236}">
                      <a16:creationId xmlns:a16="http://schemas.microsoft.com/office/drawing/2014/main" id="{E15D0174-FBA0-4BCA-B92A-D2A6BFEFFED9}"/>
                    </a:ext>
                  </a:extLst>
                </p:cNvPr>
                <p:cNvSpPr txBox="1">
                  <a:spLocks noRot="1" noChangeAspect="1" noMove="1" noResize="1" noEditPoints="1" noAdjustHandles="1" noChangeArrowheads="1" noChangeShapeType="1" noTextEdit="1"/>
                </p:cNvSpPr>
                <p:nvPr/>
              </p:nvSpPr>
              <p:spPr>
                <a:xfrm>
                  <a:off x="-168022" y="2153023"/>
                  <a:ext cx="1769123" cy="505588"/>
                </a:xfrm>
                <a:prstGeom prst="rect">
                  <a:avLst/>
                </a:prstGeom>
                <a:blipFill>
                  <a:blip r:embed="rId17"/>
                  <a:stretch>
                    <a:fillRect/>
                  </a:stretch>
                </a:blipFill>
              </p:spPr>
              <p:txBody>
                <a:bodyPr/>
                <a:lstStyle/>
                <a:p>
                  <a:r>
                    <a:rPr lang="zh-CN" altLang="en-US">
                      <a:noFill/>
                    </a:rPr>
                    <a:t> </a:t>
                  </a:r>
                </a:p>
              </p:txBody>
            </p:sp>
          </mc:Fallback>
        </mc:AlternateContent>
        <p:grpSp>
          <p:nvGrpSpPr>
            <p:cNvPr id="12" name="Group 11">
              <a:extLst>
                <a:ext uri="{FF2B5EF4-FFF2-40B4-BE49-F238E27FC236}">
                  <a16:creationId xmlns:a16="http://schemas.microsoft.com/office/drawing/2014/main" id="{D5EA32E9-8104-4D03-BA92-A37DCAF38B13}"/>
                </a:ext>
              </a:extLst>
            </p:cNvPr>
            <p:cNvGrpSpPr/>
            <p:nvPr/>
          </p:nvGrpSpPr>
          <p:grpSpPr>
            <a:xfrm>
              <a:off x="200866" y="2667323"/>
              <a:ext cx="1604385" cy="1434231"/>
              <a:chOff x="167602" y="2632602"/>
              <a:chExt cx="1604385" cy="1434231"/>
            </a:xfrm>
          </p:grpSpPr>
          <p:pic>
            <p:nvPicPr>
              <p:cNvPr id="9" name="Picture 8">
                <a:extLst>
                  <a:ext uri="{FF2B5EF4-FFF2-40B4-BE49-F238E27FC236}">
                    <a16:creationId xmlns:a16="http://schemas.microsoft.com/office/drawing/2014/main" id="{F08F6A9B-1D9C-4A0F-B01D-05C4A8A2E95C}"/>
                  </a:ext>
                </a:extLst>
              </p:cNvPr>
              <p:cNvPicPr>
                <a:picLocks noChangeAspect="1"/>
              </p:cNvPicPr>
              <p:nvPr/>
            </p:nvPicPr>
            <p:blipFill>
              <a:blip r:embed="rId18"/>
              <a:stretch>
                <a:fillRect/>
              </a:stretch>
            </p:blipFill>
            <p:spPr>
              <a:xfrm>
                <a:off x="167602" y="2632602"/>
                <a:ext cx="1533646" cy="1161853"/>
              </a:xfrm>
              <a:prstGeom prst="rect">
                <a:avLst/>
              </a:prstGeom>
            </p:spPr>
          </p:pic>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B88A74A3-E22C-4464-93E0-42E2E0340A59}"/>
                      </a:ext>
                    </a:extLst>
                  </p:cNvPr>
                  <p:cNvSpPr txBox="1"/>
                  <p:nvPr/>
                </p:nvSpPr>
                <p:spPr>
                  <a:xfrm>
                    <a:off x="1324788" y="3697501"/>
                    <a:ext cx="44719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rPr>
                            <m:t>𝜖</m:t>
                          </m:r>
                        </m:oMath>
                      </m:oMathPara>
                    </a14:m>
                    <a:endParaRPr lang="zh-CN" altLang="en-US" dirty="0"/>
                  </a:p>
                </p:txBody>
              </p:sp>
            </mc:Choice>
            <mc:Fallback xmlns="">
              <p:sp>
                <p:nvSpPr>
                  <p:cNvPr id="181" name="TextBox 180">
                    <a:extLst>
                      <a:ext uri="{FF2B5EF4-FFF2-40B4-BE49-F238E27FC236}">
                        <a16:creationId xmlns:a16="http://schemas.microsoft.com/office/drawing/2014/main" id="{B88A74A3-E22C-4464-93E0-42E2E0340A59}"/>
                      </a:ext>
                    </a:extLst>
                  </p:cNvPr>
                  <p:cNvSpPr txBox="1">
                    <a:spLocks noRot="1" noChangeAspect="1" noMove="1" noResize="1" noEditPoints="1" noAdjustHandles="1" noChangeArrowheads="1" noChangeShapeType="1" noTextEdit="1"/>
                  </p:cNvSpPr>
                  <p:nvPr/>
                </p:nvSpPr>
                <p:spPr>
                  <a:xfrm>
                    <a:off x="1324788" y="3697501"/>
                    <a:ext cx="447199" cy="369332"/>
                  </a:xfrm>
                  <a:prstGeom prst="rect">
                    <a:avLst/>
                  </a:prstGeom>
                  <a:blipFill>
                    <a:blip r:embed="rId19"/>
                    <a:stretch>
                      <a:fillRect/>
                    </a:stretch>
                  </a:blipFill>
                </p:spPr>
                <p:txBody>
                  <a:bodyPr/>
                  <a:lstStyle/>
                  <a:p>
                    <a:r>
                      <a:rPr lang="zh-CN" altLang="en-US">
                        <a:noFill/>
                      </a:rPr>
                      <a:t> </a:t>
                    </a:r>
                  </a:p>
                </p:txBody>
              </p:sp>
            </mc:Fallback>
          </mc:AlternateContent>
        </p:grpSp>
      </p:grpSp>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05B00951-395F-4B4C-A0D8-3F8919F6B495}"/>
                  </a:ext>
                </a:extLst>
              </p:cNvPr>
              <p:cNvSpPr txBox="1"/>
              <p:nvPr/>
            </p:nvSpPr>
            <p:spPr>
              <a:xfrm>
                <a:off x="2801519" y="6353060"/>
                <a:ext cx="618051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bar>
                            <m:barPr>
                              <m:pos m:val="top"/>
                              <m:ctrlPr>
                                <a:rPr lang="en-US" altLang="zh-CN" sz="2000" b="0" i="1" smtClean="0">
                                  <a:latin typeface="Cambria Math" panose="02040503050406030204" pitchFamily="18" charset="0"/>
                                </a:rPr>
                              </m:ctrlPr>
                            </m:barPr>
                            <m:e>
                              <m:r>
                                <a:rPr lang="en-US" altLang="zh-CN" sz="2000" b="0" i="1" smtClean="0">
                                  <a:latin typeface="Cambria Math" panose="02040503050406030204" pitchFamily="18" charset="0"/>
                                </a:rPr>
                                <m:t>𝜖</m:t>
                              </m:r>
                            </m:e>
                          </m:bar>
                        </m:e>
                        <m:sub>
                          <m:r>
                            <m:rPr>
                              <m:sty m:val="p"/>
                            </m:rPr>
                            <a:rPr lang="en-US" altLang="zh-CN" sz="2000" b="0" i="0" smtClean="0">
                              <a:latin typeface="Cambria Math" panose="02040503050406030204" pitchFamily="18" charset="0"/>
                            </a:rPr>
                            <m:t>continous</m:t>
                          </m:r>
                        </m:sub>
                      </m:sSub>
                      <m:r>
                        <a:rPr lang="en-US" altLang="zh-CN" sz="2000" b="0" i="1" smtClean="0">
                          <a:latin typeface="Cambria Math" panose="02040503050406030204" pitchFamily="18" charset="0"/>
                        </a:rPr>
                        <m:t>&gt;</m:t>
                      </m:r>
                      <m:bar>
                        <m:barPr>
                          <m:pos m:val="top"/>
                          <m:ctrlPr>
                            <a:rPr lang="en-US" altLang="zh-CN" sz="2000" i="1">
                              <a:latin typeface="Cambria Math" panose="02040503050406030204" pitchFamily="18" charset="0"/>
                            </a:rPr>
                          </m:ctrlPr>
                        </m:barPr>
                        <m:e>
                          <m:r>
                            <a:rPr lang="en-US" altLang="zh-CN" sz="2000" i="1">
                              <a:latin typeface="Cambria Math" panose="02040503050406030204" pitchFamily="18" charset="0"/>
                            </a:rPr>
                            <m:t>𝜖</m:t>
                          </m:r>
                        </m:e>
                      </m:bar>
                      <m:d>
                        <m:dPr>
                          <m:ctrlPr>
                            <a:rPr lang="en-US" altLang="zh-CN" sz="2000" b="0" i="1" smtClean="0">
                              <a:latin typeface="Cambria Math" panose="02040503050406030204" pitchFamily="18" charset="0"/>
                            </a:rPr>
                          </m:ctrlPr>
                        </m:dPr>
                        <m:e>
                          <m:r>
                            <m:rPr>
                              <m:sty m:val="p"/>
                            </m:rPr>
                            <a:rPr lang="en-US" altLang="zh-CN" sz="2000" b="0" i="0" smtClean="0">
                              <a:latin typeface="Cambria Math" panose="02040503050406030204" pitchFamily="18" charset="0"/>
                            </a:rPr>
                            <m:t>step</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h</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𝜈</m:t>
                              </m:r>
                            </m:e>
                            <m:sub>
                              <m:r>
                                <a:rPr lang="en-US" altLang="zh-CN" sz="2000" b="0" i="1" smtClean="0">
                                  <a:latin typeface="Cambria Math" panose="02040503050406030204" pitchFamily="18" charset="0"/>
                                </a:rPr>
                                <m:t>1</m:t>
                              </m:r>
                            </m:sub>
                          </m:sSub>
                        </m:e>
                      </m:d>
                      <m:r>
                        <a:rPr lang="en-US" altLang="zh-CN" sz="2000" b="0" i="1" smtClean="0">
                          <a:latin typeface="Cambria Math" panose="02040503050406030204" pitchFamily="18" charset="0"/>
                        </a:rPr>
                        <m:t>&gt;</m:t>
                      </m:r>
                      <m:bar>
                        <m:barPr>
                          <m:pos m:val="top"/>
                          <m:ctrlPr>
                            <a:rPr lang="en-US" altLang="zh-CN" sz="2000" i="1">
                              <a:latin typeface="Cambria Math" panose="02040503050406030204" pitchFamily="18" charset="0"/>
                            </a:rPr>
                          </m:ctrlPr>
                        </m:barPr>
                        <m:e>
                          <m:r>
                            <a:rPr lang="en-US" altLang="zh-CN" sz="2000" i="1">
                              <a:latin typeface="Cambria Math" panose="02040503050406030204" pitchFamily="18" charset="0"/>
                            </a:rPr>
                            <m:t>𝜖</m:t>
                          </m:r>
                        </m:e>
                      </m:bar>
                      <m:r>
                        <a:rPr lang="en-US" altLang="zh-CN" sz="2000" i="1">
                          <a:latin typeface="Cambria Math" panose="02040503050406030204" pitchFamily="18" charset="0"/>
                        </a:rPr>
                        <m:t>(</m:t>
                      </m:r>
                      <m:r>
                        <m:rPr>
                          <m:sty m:val="p"/>
                        </m:rPr>
                        <a:rPr lang="en-US" altLang="zh-CN" sz="2000" b="0" i="0" smtClean="0">
                          <a:latin typeface="Cambria Math" panose="02040503050406030204" pitchFamily="18" charset="0"/>
                        </a:rPr>
                        <m:t>step</m:t>
                      </m:r>
                      <m:r>
                        <a:rPr lang="en-US" altLang="zh-CN" sz="2000" b="0" i="1" smtClean="0">
                          <a:latin typeface="Cambria Math" panose="02040503050406030204" pitchFamily="18" charset="0"/>
                        </a:rPr>
                        <m:t>=</m:t>
                      </m:r>
                      <m:r>
                        <a:rPr lang="en-US" altLang="zh-CN" sz="2000" i="1">
                          <a:latin typeface="Cambria Math" panose="02040503050406030204" pitchFamily="18" charset="0"/>
                        </a:rPr>
                        <m:t>h</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𝜈</m:t>
                          </m:r>
                        </m:e>
                        <m:sub>
                          <m:r>
                            <a:rPr lang="en-US" altLang="zh-CN" sz="2000" b="0" i="1" smtClean="0">
                              <a:latin typeface="Cambria Math" panose="02040503050406030204" pitchFamily="18" charset="0"/>
                            </a:rPr>
                            <m:t>2</m:t>
                          </m:r>
                        </m:sub>
                      </m:sSub>
                      <m:r>
                        <a:rPr lang="en-US" altLang="zh-CN" sz="2000" i="1">
                          <a:latin typeface="Cambria Math" panose="02040503050406030204" pitchFamily="18" charset="0"/>
                        </a:rPr>
                        <m:t>)</m:t>
                      </m:r>
                    </m:oMath>
                  </m:oMathPara>
                </a14:m>
                <a:endParaRPr lang="zh-CN" altLang="en-US" sz="2000" dirty="0"/>
              </a:p>
            </p:txBody>
          </p:sp>
        </mc:Choice>
        <mc:Fallback xmlns="">
          <p:sp>
            <p:nvSpPr>
              <p:cNvPr id="183" name="TextBox 182">
                <a:extLst>
                  <a:ext uri="{FF2B5EF4-FFF2-40B4-BE49-F238E27FC236}">
                    <a16:creationId xmlns:a16="http://schemas.microsoft.com/office/drawing/2014/main" id="{05B00951-395F-4B4C-A0D8-3F8919F6B495}"/>
                  </a:ext>
                </a:extLst>
              </p:cNvPr>
              <p:cNvSpPr txBox="1">
                <a:spLocks noRot="1" noChangeAspect="1" noMove="1" noResize="1" noEditPoints="1" noAdjustHandles="1" noChangeArrowheads="1" noChangeShapeType="1" noTextEdit="1"/>
              </p:cNvSpPr>
              <p:nvPr/>
            </p:nvSpPr>
            <p:spPr>
              <a:xfrm>
                <a:off x="2801519" y="6353060"/>
                <a:ext cx="6180512" cy="400110"/>
              </a:xfrm>
              <a:prstGeom prst="rect">
                <a:avLst/>
              </a:prstGeom>
              <a:blipFill>
                <a:blip r:embed="rId20"/>
                <a:stretch>
                  <a:fillRect b="-151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98119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3" y="157243"/>
            <a:ext cx="4567644" cy="551589"/>
          </a:xfrm>
        </p:spPr>
        <p:txBody>
          <a:bodyPr/>
          <a:lstStyle/>
          <a:p>
            <a:r>
              <a:rPr lang="en-US" altLang="zh-CN" dirty="0">
                <a:latin typeface="Times New Roman" panose="02020603050405020304" pitchFamily="18" charset="0"/>
                <a:cs typeface="Times New Roman" panose="02020603050405020304" pitchFamily="18" charset="0"/>
              </a:rPr>
              <a:t>Average mode energy</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p:cNvSpPr txBox="1"/>
              <p:nvPr/>
            </p:nvSpPr>
            <p:spPr>
              <a:xfrm>
                <a:off x="896485" y="825074"/>
                <a:ext cx="9808631" cy="16098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70C0"/>
                              </a:solidFill>
                              <a:latin typeface="Cambria Math" panose="02040503050406030204" pitchFamily="18" charset="0"/>
                            </a:rPr>
                          </m:ctrlPr>
                        </m:sSubPr>
                        <m:e>
                          <m:r>
                            <a:rPr lang="en-US" altLang="zh-CN" sz="2000" i="1">
                              <a:solidFill>
                                <a:srgbClr val="0070C0"/>
                              </a:solidFill>
                              <a:latin typeface="Cambria Math"/>
                            </a:rPr>
                            <m:t>𝑢</m:t>
                          </m:r>
                        </m:e>
                        <m:sub>
                          <m:r>
                            <a:rPr lang="en-US" altLang="zh-CN" sz="2000" i="1">
                              <a:solidFill>
                                <a:srgbClr val="0070C0"/>
                              </a:solidFill>
                              <a:latin typeface="Cambria Math"/>
                            </a:rPr>
                            <m:t>𝜈</m:t>
                          </m:r>
                        </m:sub>
                      </m:sSub>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a:rPr>
                            <m:t>𝑇</m:t>
                          </m:r>
                          <m:r>
                            <a:rPr lang="en-US" altLang="zh-CN" sz="2000" i="1">
                              <a:solidFill>
                                <a:srgbClr val="0070C0"/>
                              </a:solidFill>
                              <a:latin typeface="Cambria Math"/>
                            </a:rPr>
                            <m:t>,</m:t>
                          </m:r>
                          <m:r>
                            <a:rPr lang="en-US" altLang="zh-CN" sz="2000" i="1">
                              <a:solidFill>
                                <a:srgbClr val="0070C0"/>
                              </a:solidFill>
                              <a:latin typeface="Cambria Math"/>
                            </a:rPr>
                            <m:t>𝜈</m:t>
                          </m:r>
                        </m:e>
                      </m:d>
                      <m:r>
                        <a:rPr lang="en-US" altLang="zh-CN" sz="2000" i="1">
                          <a:solidFill>
                            <a:srgbClr val="0070C0"/>
                          </a:solidFill>
                          <a:latin typeface="Cambria Math"/>
                        </a:rPr>
                        <m:t>=</m:t>
                      </m:r>
                      <m:f>
                        <m:fPr>
                          <m:ctrlPr>
                            <a:rPr lang="en-US" altLang="zh-CN" sz="2000" i="1" smtClean="0">
                              <a:solidFill>
                                <a:srgbClr val="0000FF"/>
                              </a:solidFill>
                              <a:latin typeface="Cambria Math" panose="02040503050406030204" pitchFamily="18" charset="0"/>
                            </a:rPr>
                          </m:ctrlPr>
                        </m:fPr>
                        <m:num>
                          <m:r>
                            <a:rPr lang="en-US" altLang="zh-CN" sz="2000" i="1">
                              <a:solidFill>
                                <a:srgbClr val="0000FF"/>
                              </a:solidFill>
                              <a:latin typeface="Cambria Math"/>
                            </a:rPr>
                            <m:t>8</m:t>
                          </m:r>
                          <m:r>
                            <a:rPr lang="en-US" altLang="zh-CN" sz="2000" i="1">
                              <a:solidFill>
                                <a:srgbClr val="0000FF"/>
                              </a:solidFill>
                              <a:latin typeface="Cambria Math"/>
                            </a:rPr>
                            <m:t>𝜋</m:t>
                          </m:r>
                          <m:sSup>
                            <m:sSupPr>
                              <m:ctrlPr>
                                <a:rPr lang="en-US" altLang="zh-CN" sz="2000" i="1">
                                  <a:solidFill>
                                    <a:srgbClr val="0000FF"/>
                                  </a:solidFill>
                                  <a:latin typeface="Cambria Math" panose="02040503050406030204" pitchFamily="18" charset="0"/>
                                </a:rPr>
                              </m:ctrlPr>
                            </m:sSupPr>
                            <m:e>
                              <m:r>
                                <a:rPr lang="en-US" altLang="zh-CN" sz="2000" i="1">
                                  <a:solidFill>
                                    <a:srgbClr val="0000FF"/>
                                  </a:solidFill>
                                  <a:latin typeface="Cambria Math" panose="02040503050406030204" pitchFamily="18" charset="0"/>
                                </a:rPr>
                                <m:t>𝜈</m:t>
                              </m:r>
                            </m:e>
                            <m:sup>
                              <m:r>
                                <a:rPr lang="en-US" altLang="zh-CN" sz="2000" i="1">
                                  <a:solidFill>
                                    <a:srgbClr val="0000FF"/>
                                  </a:solidFill>
                                  <a:latin typeface="Cambria Math" panose="02040503050406030204" pitchFamily="18" charset="0"/>
                                </a:rPr>
                                <m:t>2</m:t>
                              </m:r>
                            </m:sup>
                          </m:sSup>
                        </m:num>
                        <m:den>
                          <m:sSup>
                            <m:sSupPr>
                              <m:ctrlPr>
                                <a:rPr lang="en-US" altLang="zh-CN" sz="2000" i="1">
                                  <a:solidFill>
                                    <a:srgbClr val="0000FF"/>
                                  </a:solidFill>
                                  <a:latin typeface="Cambria Math" panose="02040503050406030204" pitchFamily="18" charset="0"/>
                                </a:rPr>
                              </m:ctrlPr>
                            </m:sSupPr>
                            <m:e>
                              <m:r>
                                <m:rPr>
                                  <m:sty m:val="p"/>
                                </m:rPr>
                                <a:rPr lang="en-US" altLang="zh-CN" sz="2000" i="1">
                                  <a:solidFill>
                                    <a:srgbClr val="0000FF"/>
                                  </a:solidFill>
                                  <a:latin typeface="Cambria Math"/>
                                </a:rPr>
                                <m:t>c</m:t>
                              </m:r>
                            </m:e>
                            <m:sup>
                              <m:r>
                                <a:rPr lang="en-US" altLang="zh-CN" sz="2000" i="1">
                                  <a:solidFill>
                                    <a:srgbClr val="0000FF"/>
                                  </a:solidFill>
                                  <a:latin typeface="Cambria Math"/>
                                </a:rPr>
                                <m:t>3</m:t>
                              </m:r>
                            </m:sup>
                          </m:sSup>
                        </m:den>
                      </m:f>
                      <m:f>
                        <m:fPr>
                          <m:ctrlPr>
                            <a:rPr lang="en-US" altLang="zh-CN" sz="2000" i="1" smtClean="0">
                              <a:solidFill>
                                <a:srgbClr val="C00000"/>
                              </a:solidFill>
                              <a:latin typeface="Cambria Math" panose="02040503050406030204" pitchFamily="18" charset="0"/>
                            </a:rPr>
                          </m:ctrlPr>
                        </m:fPr>
                        <m:num>
                          <m:r>
                            <a:rPr lang="en-US" altLang="zh-CN" sz="2000" i="1">
                              <a:solidFill>
                                <a:srgbClr val="C00000"/>
                              </a:solidFill>
                              <a:latin typeface="Cambria Math" panose="02040503050406030204" pitchFamily="18" charset="0"/>
                            </a:rPr>
                            <m:t>h</m:t>
                          </m:r>
                          <m:r>
                            <a:rPr lang="en-US" altLang="zh-CN" sz="2000" i="1">
                              <a:solidFill>
                                <a:srgbClr val="C00000"/>
                              </a:solidFill>
                              <a:latin typeface="Cambria Math"/>
                            </a:rPr>
                            <m:t>𝜈</m:t>
                          </m:r>
                        </m:num>
                        <m:den>
                          <m:sSup>
                            <m:sSupPr>
                              <m:ctrlPr>
                                <a:rPr lang="en-US" altLang="zh-CN" sz="2000" i="1">
                                  <a:solidFill>
                                    <a:srgbClr val="C00000"/>
                                  </a:solidFill>
                                  <a:latin typeface="Cambria Math" panose="02040503050406030204" pitchFamily="18" charset="0"/>
                                </a:rPr>
                              </m:ctrlPr>
                            </m:sSupPr>
                            <m:e>
                              <m:r>
                                <a:rPr lang="en-US" altLang="zh-CN" sz="2000" i="1">
                                  <a:solidFill>
                                    <a:srgbClr val="C00000"/>
                                  </a:solidFill>
                                  <a:latin typeface="Cambria Math"/>
                                </a:rPr>
                                <m:t>𝑒</m:t>
                              </m:r>
                            </m:e>
                            <m:sup>
                              <m:r>
                                <a:rPr lang="en-US" altLang="zh-CN" sz="2000" i="1">
                                  <a:solidFill>
                                    <a:srgbClr val="C00000"/>
                                  </a:solidFill>
                                  <a:latin typeface="Cambria Math" panose="02040503050406030204" pitchFamily="18" charset="0"/>
                                </a:rPr>
                                <m:t>h</m:t>
                              </m:r>
                              <m:r>
                                <a:rPr lang="en-US" altLang="zh-CN" sz="2000" i="1">
                                  <a:solidFill>
                                    <a:srgbClr val="C00000"/>
                                  </a:solidFill>
                                  <a:latin typeface="Cambria Math"/>
                                </a:rPr>
                                <m:t>𝜈</m:t>
                              </m:r>
                              <m:r>
                                <a:rPr lang="en-US" altLang="zh-CN" sz="2000" i="1">
                                  <a:solidFill>
                                    <a:srgbClr val="C00000"/>
                                  </a:solidFill>
                                  <a:latin typeface="Cambria Math"/>
                                </a:rPr>
                                <m:t>/</m:t>
                              </m:r>
                              <m:sSub>
                                <m:sSubPr>
                                  <m:ctrlPr>
                                    <a:rPr lang="en-US" altLang="zh-CN" sz="2000" i="1">
                                      <a:solidFill>
                                        <a:srgbClr val="C00000"/>
                                      </a:solidFill>
                                      <a:latin typeface="Cambria Math" panose="02040503050406030204" pitchFamily="18" charset="0"/>
                                    </a:rPr>
                                  </m:ctrlPr>
                                </m:sSubPr>
                                <m:e>
                                  <m:r>
                                    <a:rPr lang="en-US" altLang="zh-CN" sz="2000" i="1">
                                      <a:solidFill>
                                        <a:srgbClr val="C00000"/>
                                      </a:solidFill>
                                      <a:latin typeface="Cambria Math" panose="02040503050406030204" pitchFamily="18" charset="0"/>
                                    </a:rPr>
                                    <m:t>𝑘</m:t>
                                  </m:r>
                                </m:e>
                                <m:sub>
                                  <m:r>
                                    <a:rPr lang="en-US" altLang="zh-CN" sz="2000" i="1">
                                      <a:solidFill>
                                        <a:srgbClr val="C00000"/>
                                      </a:solidFill>
                                      <a:latin typeface="Cambria Math" panose="02040503050406030204" pitchFamily="18" charset="0"/>
                                    </a:rPr>
                                    <m:t>𝐵</m:t>
                                  </m:r>
                                </m:sub>
                              </m:sSub>
                              <m:r>
                                <a:rPr lang="en-US" altLang="zh-CN" sz="2000" i="1">
                                  <a:solidFill>
                                    <a:srgbClr val="C00000"/>
                                  </a:solidFill>
                                  <a:latin typeface="Cambria Math"/>
                                </a:rPr>
                                <m:t>𝑇</m:t>
                              </m:r>
                            </m:sup>
                          </m:sSup>
                          <m:r>
                            <a:rPr lang="en-US" altLang="zh-CN" sz="2000" i="1">
                              <a:solidFill>
                                <a:srgbClr val="C00000"/>
                              </a:solidFill>
                              <a:latin typeface="Cambria Math"/>
                            </a:rPr>
                            <m:t>−1</m:t>
                          </m:r>
                        </m:den>
                      </m:f>
                      <m:r>
                        <a:rPr lang="en-US" altLang="zh-CN" sz="2000" i="1">
                          <a:solidFill>
                            <a:srgbClr val="0070C0"/>
                          </a:solidFill>
                          <a:latin typeface="Cambria Math" panose="02040503050406030204" pitchFamily="18" charset="0"/>
                        </a:rPr>
                        <m:t>=</m:t>
                      </m:r>
                      <m:r>
                        <a:rPr lang="en-US" altLang="zh-CN" sz="2000" i="1" smtClean="0">
                          <a:solidFill>
                            <a:srgbClr val="0000FF"/>
                          </a:solidFill>
                          <a:latin typeface="Cambria Math"/>
                        </a:rPr>
                        <m:t>𝑔</m:t>
                      </m:r>
                      <m:d>
                        <m:dPr>
                          <m:ctrlPr>
                            <a:rPr lang="en-US" altLang="zh-CN" sz="2000" i="1">
                              <a:solidFill>
                                <a:srgbClr val="0000FF"/>
                              </a:solidFill>
                              <a:latin typeface="Cambria Math" panose="02040503050406030204" pitchFamily="18" charset="0"/>
                            </a:rPr>
                          </m:ctrlPr>
                        </m:dPr>
                        <m:e>
                          <m:r>
                            <a:rPr lang="en-US" altLang="zh-CN" sz="2000" i="1">
                              <a:solidFill>
                                <a:srgbClr val="0000FF"/>
                              </a:solidFill>
                              <a:latin typeface="Cambria Math"/>
                            </a:rPr>
                            <m:t>𝜈</m:t>
                          </m:r>
                        </m:e>
                      </m:d>
                      <m:r>
                        <a:rPr lang="en-US" altLang="zh-CN" sz="2000" i="1">
                          <a:solidFill>
                            <a:srgbClr val="0070C0"/>
                          </a:solidFill>
                          <a:latin typeface="Cambria Math"/>
                        </a:rPr>
                        <m:t>×</m:t>
                      </m:r>
                      <m:acc>
                        <m:accPr>
                          <m:chr m:val="̅"/>
                          <m:ctrlPr>
                            <a:rPr lang="en-US" altLang="zh-CN" sz="2000" i="1" smtClean="0">
                              <a:solidFill>
                                <a:srgbClr val="C00000"/>
                              </a:solidFill>
                              <a:latin typeface="Cambria Math" panose="02040503050406030204" pitchFamily="18" charset="0"/>
                            </a:rPr>
                          </m:ctrlPr>
                        </m:accPr>
                        <m:e>
                          <m:r>
                            <a:rPr lang="en-US" altLang="zh-CN" sz="2000" i="1">
                              <a:solidFill>
                                <a:srgbClr val="C00000"/>
                              </a:solidFill>
                              <a:latin typeface="Cambria Math"/>
                            </a:rPr>
                            <m:t>𝜖</m:t>
                          </m:r>
                        </m:e>
                      </m:acc>
                      <m:d>
                        <m:dPr>
                          <m:ctrlPr>
                            <a:rPr lang="en-US" altLang="zh-CN" sz="2000" i="1">
                              <a:solidFill>
                                <a:srgbClr val="C00000"/>
                              </a:solidFill>
                              <a:latin typeface="Cambria Math" panose="02040503050406030204" pitchFamily="18" charset="0"/>
                            </a:rPr>
                          </m:ctrlPr>
                        </m:dPr>
                        <m:e>
                          <m:r>
                            <a:rPr lang="en-US" altLang="zh-CN" sz="2000" i="1">
                              <a:solidFill>
                                <a:srgbClr val="C00000"/>
                              </a:solidFill>
                              <a:latin typeface="Cambria Math"/>
                            </a:rPr>
                            <m:t>𝜈</m:t>
                          </m:r>
                          <m:r>
                            <a:rPr lang="en-US" altLang="zh-CN" sz="2000" i="1">
                              <a:solidFill>
                                <a:srgbClr val="C00000"/>
                              </a:solidFill>
                              <a:latin typeface="Cambria Math"/>
                            </a:rPr>
                            <m:t>,</m:t>
                          </m:r>
                          <m:r>
                            <a:rPr lang="en-US" altLang="zh-CN" sz="2000" i="1">
                              <a:solidFill>
                                <a:srgbClr val="C00000"/>
                              </a:solidFill>
                              <a:latin typeface="Cambria Math"/>
                            </a:rPr>
                            <m:t>𝑇</m:t>
                          </m:r>
                        </m:e>
                      </m:d>
                    </m:oMath>
                  </m:oMathPara>
                </a14:m>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Suppose </a:t>
                </a:r>
                <a14:m>
                  <m:oMath xmlns:m="http://schemas.openxmlformats.org/officeDocument/2006/math">
                    <m:r>
                      <a:rPr lang="en-US" altLang="zh-CN" sz="2000" i="1">
                        <a:solidFill>
                          <a:srgbClr val="0070C0"/>
                        </a:solidFill>
                        <a:latin typeface="Cambria Math"/>
                      </a:rPr>
                      <m:t>𝑔</m:t>
                    </m:r>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a:rPr>
                          <m:t>𝜈</m:t>
                        </m:r>
                      </m:e>
                    </m:d>
                  </m:oMath>
                </a14:m>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is correct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how to let the average mode energy </a:t>
                </a:r>
                <a14:m>
                  <m:oMath xmlns:m="http://schemas.openxmlformats.org/officeDocument/2006/math">
                    <m:acc>
                      <m:accPr>
                        <m:chr m:val="̅"/>
                        <m:ctrlPr>
                          <a:rPr lang="en-US" altLang="zh-CN" sz="2000" i="1" smtClean="0">
                            <a:solidFill>
                              <a:srgbClr val="C00000"/>
                            </a:solidFill>
                            <a:latin typeface="Cambria Math" panose="02040503050406030204" pitchFamily="18" charset="0"/>
                          </a:rPr>
                        </m:ctrlPr>
                      </m:accPr>
                      <m:e>
                        <m:r>
                          <a:rPr lang="en-US" altLang="zh-CN" sz="2000" i="1">
                            <a:solidFill>
                              <a:srgbClr val="C00000"/>
                            </a:solidFill>
                            <a:latin typeface="Cambria Math"/>
                          </a:rPr>
                          <m:t>𝜖</m:t>
                        </m:r>
                      </m:e>
                    </m:acc>
                    <m:d>
                      <m:dPr>
                        <m:ctrlPr>
                          <a:rPr lang="en-US" altLang="zh-CN" sz="2000" i="1">
                            <a:solidFill>
                              <a:srgbClr val="C00000"/>
                            </a:solidFill>
                            <a:latin typeface="Cambria Math" panose="02040503050406030204" pitchFamily="18" charset="0"/>
                          </a:rPr>
                        </m:ctrlPr>
                      </m:dPr>
                      <m:e>
                        <m:r>
                          <a:rPr lang="en-US" altLang="zh-CN" sz="2000" i="1">
                            <a:solidFill>
                              <a:srgbClr val="C00000"/>
                            </a:solidFill>
                            <a:latin typeface="Cambria Math"/>
                          </a:rPr>
                          <m:t>𝜈</m:t>
                        </m:r>
                        <m:r>
                          <a:rPr lang="en-US" altLang="zh-CN" sz="2000" i="1">
                            <a:solidFill>
                              <a:srgbClr val="C00000"/>
                            </a:solidFill>
                            <a:latin typeface="Cambria Math"/>
                          </a:rPr>
                          <m:t>,</m:t>
                        </m:r>
                        <m:r>
                          <a:rPr lang="en-US" altLang="zh-CN" sz="2000" i="1">
                            <a:solidFill>
                              <a:srgbClr val="C00000"/>
                            </a:solidFill>
                            <a:latin typeface="Cambria Math"/>
                          </a:rPr>
                          <m:t>𝑇</m:t>
                        </m:r>
                      </m:e>
                    </m:d>
                  </m:oMath>
                </a14:m>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to be</a:t>
                </a:r>
              </a:p>
              <a:p>
                <a:pPr/>
                <a14:m>
                  <m:oMathPara xmlns:m="http://schemas.openxmlformats.org/officeDocument/2006/math">
                    <m:oMathParaPr>
                      <m:jc m:val="centerGroup"/>
                    </m:oMathParaPr>
                    <m:oMath xmlns:m="http://schemas.openxmlformats.org/officeDocument/2006/math">
                      <m:acc>
                        <m:accPr>
                          <m:chr m:val="̅"/>
                          <m:ctrlPr>
                            <a:rPr lang="en-US" altLang="zh-CN" sz="2000" i="1">
                              <a:solidFill>
                                <a:srgbClr val="0070C0"/>
                              </a:solidFill>
                              <a:latin typeface="Cambria Math" panose="02040503050406030204" pitchFamily="18" charset="0"/>
                            </a:rPr>
                          </m:ctrlPr>
                        </m:accPr>
                        <m:e>
                          <m:r>
                            <a:rPr lang="en-US" altLang="zh-CN" sz="2000" i="1">
                              <a:solidFill>
                                <a:srgbClr val="0070C0"/>
                              </a:solidFill>
                              <a:latin typeface="Cambria Math"/>
                            </a:rPr>
                            <m:t>𝜖</m:t>
                          </m:r>
                        </m:e>
                      </m:acc>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a:rPr>
                            <m:t>𝜈</m:t>
                          </m:r>
                          <m:r>
                            <a:rPr lang="en-US" altLang="zh-CN" sz="2000" i="1">
                              <a:solidFill>
                                <a:srgbClr val="0070C0"/>
                              </a:solidFill>
                              <a:latin typeface="Cambria Math"/>
                            </a:rPr>
                            <m:t>,</m:t>
                          </m:r>
                          <m:r>
                            <a:rPr lang="en-US" altLang="zh-CN" sz="2000" i="1">
                              <a:solidFill>
                                <a:srgbClr val="0070C0"/>
                              </a:solidFill>
                              <a:latin typeface="Cambria Math"/>
                            </a:rPr>
                            <m:t>𝑇</m:t>
                          </m:r>
                        </m:e>
                      </m:d>
                      <m:r>
                        <a:rPr lang="en-US" altLang="zh-CN" sz="2000" i="1">
                          <a:solidFill>
                            <a:srgbClr val="0070C0"/>
                          </a:solidFill>
                          <a:latin typeface="Cambria Math" panose="02040503050406030204" pitchFamily="18" charset="0"/>
                        </a:rPr>
                        <m:t>=</m:t>
                      </m:r>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a:rPr>
                            <m:t>h</m:t>
                          </m:r>
                          <m:r>
                            <a:rPr lang="en-US" altLang="zh-CN" sz="2000" i="1">
                              <a:solidFill>
                                <a:srgbClr val="0070C0"/>
                              </a:solidFill>
                              <a:latin typeface="Cambria Math"/>
                            </a:rPr>
                            <m:t>𝜈</m:t>
                          </m:r>
                        </m:num>
                        <m:den>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a:rPr>
                                <m:t>𝑒</m:t>
                              </m:r>
                            </m:e>
                            <m:sup>
                              <m:r>
                                <a:rPr lang="en-US" altLang="zh-CN" sz="2000" i="1">
                                  <a:solidFill>
                                    <a:srgbClr val="0070C0"/>
                                  </a:solidFill>
                                  <a:latin typeface="Cambria Math"/>
                                </a:rPr>
                                <m:t>h</m:t>
                              </m:r>
                              <m:r>
                                <a:rPr lang="en-US" altLang="zh-CN" sz="2000" i="1">
                                  <a:solidFill>
                                    <a:srgbClr val="0070C0"/>
                                  </a:solidFill>
                                  <a:latin typeface="Cambria Math"/>
                                </a:rPr>
                                <m:t>𝜈</m:t>
                              </m:r>
                              <m:r>
                                <a:rPr lang="en-US" altLang="zh-CN" sz="2000" i="1">
                                  <a:solidFill>
                                    <a:srgbClr val="0070C0"/>
                                  </a:solidFill>
                                  <a:latin typeface="Cambria Math"/>
                                </a:rPr>
                                <m:t>/</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𝑘</m:t>
                                  </m:r>
                                </m:e>
                                <m:sub>
                                  <m:r>
                                    <a:rPr lang="en-US" altLang="zh-CN" sz="2000" i="1">
                                      <a:solidFill>
                                        <a:srgbClr val="0070C0"/>
                                      </a:solidFill>
                                      <a:latin typeface="Cambria Math"/>
                                    </a:rPr>
                                    <m:t>𝐵</m:t>
                                  </m:r>
                                </m:sub>
                              </m:sSub>
                              <m:r>
                                <a:rPr lang="en-US" altLang="zh-CN" sz="2000" i="1">
                                  <a:solidFill>
                                    <a:srgbClr val="0070C0"/>
                                  </a:solidFill>
                                  <a:latin typeface="Cambria Math"/>
                                </a:rPr>
                                <m:t>𝑇</m:t>
                              </m:r>
                            </m:sup>
                          </m:sSup>
                          <m:r>
                            <a:rPr lang="en-US" altLang="zh-CN" sz="2000" i="1">
                              <a:solidFill>
                                <a:srgbClr val="0070C0"/>
                              </a:solidFill>
                              <a:latin typeface="Cambria Math"/>
                            </a:rPr>
                            <m:t>−1</m:t>
                          </m:r>
                        </m:den>
                      </m:f>
                    </m:oMath>
                  </m:oMathPara>
                </a14:m>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896485" y="825074"/>
                <a:ext cx="9808631" cy="1609800"/>
              </a:xfrm>
              <a:prstGeom prst="rect">
                <a:avLst/>
              </a:prstGeom>
              <a:blipFill>
                <a:blip r:embed="rId3"/>
                <a:stretch>
                  <a:fillRect l="-6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46787" y="2434874"/>
                <a:ext cx="10625024" cy="4146904"/>
              </a:xfrm>
              <a:prstGeom prst="rect">
                <a:avLst/>
              </a:prstGeom>
              <a:noFill/>
              <a:ln>
                <a:noFill/>
              </a:ln>
            </p:spPr>
            <p:txBody>
              <a:bodyPr wrap="square" rtlCol="0">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After exhausting all methods for two months, Planck finally took a desperate gamble: he postulated that the energy exchanged between the oscillators and the radiation could only be integer multiples of </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ℎ</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𝜈</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Thus, the energy of the radiation field for a particular frequency would be </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integer multiples of ℎ</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𝜈</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sz="2000" b="0" i="1" smtClean="0">
                              <a:solidFill>
                                <a:srgbClr val="0070C0"/>
                              </a:solidFill>
                              <a:latin typeface="Cambria Math" panose="02040503050406030204" pitchFamily="18" charset="0"/>
                            </a:rPr>
                          </m:ctrlPr>
                        </m:sSubPr>
                        <m:e>
                          <m:r>
                            <a:rPr lang="en-US" altLang="zh-CN" sz="2000" i="1">
                              <a:solidFill>
                                <a:srgbClr val="0070C0"/>
                              </a:solidFill>
                              <a:latin typeface="Cambria Math"/>
                            </a:rPr>
                            <m:t>𝜖</m:t>
                          </m:r>
                        </m:e>
                        <m:sub>
                          <m:r>
                            <a:rPr lang="en-US" altLang="zh-CN" sz="2000" b="0" i="1" smtClean="0">
                              <a:solidFill>
                                <a:srgbClr val="0070C0"/>
                              </a:solidFill>
                              <a:latin typeface="Cambria Math" panose="02040503050406030204" pitchFamily="18" charset="0"/>
                            </a:rPr>
                            <m:t>𝑛</m:t>
                          </m:r>
                        </m:sub>
                      </m:sSub>
                      <m:r>
                        <a:rPr lang="en-US" altLang="zh-CN" sz="2000" b="0" i="1" smtClean="0">
                          <a:solidFill>
                            <a:srgbClr val="0070C0"/>
                          </a:solidFill>
                          <a:latin typeface="Cambria Math" panose="02040503050406030204" pitchFamily="18" charset="0"/>
                        </a:rPr>
                        <m:t>=</m:t>
                      </m:r>
                      <m:r>
                        <a:rPr lang="en-US" altLang="zh-CN" sz="2000" b="0" i="1" smtClean="0">
                          <a:solidFill>
                            <a:srgbClr val="0070C0"/>
                          </a:solidFill>
                          <a:latin typeface="Cambria Math" panose="02040503050406030204" pitchFamily="18" charset="0"/>
                        </a:rPr>
                        <m:t>𝑛h</m:t>
                      </m:r>
                      <m:r>
                        <a:rPr lang="en-US" altLang="zh-CN" sz="2000" b="0" i="1" smtClean="0">
                          <a:solidFill>
                            <a:srgbClr val="0070C0"/>
                          </a:solidFill>
                          <a:latin typeface="Cambria Math" panose="02040503050406030204" pitchFamily="18" charset="0"/>
                        </a:rPr>
                        <m:t>𝜈</m:t>
                      </m:r>
                      <m:r>
                        <a:rPr lang="en-US" altLang="zh-CN" sz="2000" b="0" i="1" smtClean="0">
                          <a:solidFill>
                            <a:srgbClr val="0070C0"/>
                          </a:solidFill>
                          <a:latin typeface="Cambria Math" panose="02040503050406030204" pitchFamily="18" charset="0"/>
                        </a:rPr>
                        <m:t>,   </m:t>
                      </m:r>
                      <m:r>
                        <a:rPr lang="en-US" altLang="zh-CN" sz="2000" b="0" i="1" smtClean="0">
                          <a:solidFill>
                            <a:srgbClr val="0070C0"/>
                          </a:solidFill>
                          <a:latin typeface="Cambria Math" panose="02040503050406030204" pitchFamily="18" charset="0"/>
                        </a:rPr>
                        <m:t>𝑛</m:t>
                      </m:r>
                      <m:r>
                        <a:rPr lang="en-US" altLang="zh-CN" sz="2000" b="0" i="1" smtClean="0">
                          <a:solidFill>
                            <a:srgbClr val="0070C0"/>
                          </a:solidFill>
                          <a:latin typeface="Cambria Math" panose="02040503050406030204" pitchFamily="18" charset="0"/>
                        </a:rPr>
                        <m:t>=0,1,2,⋯∞</m:t>
                      </m:r>
                    </m:oMath>
                  </m:oMathPara>
                </a14:m>
                <a:endPar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Thus the average mode energy is</a:t>
                </a:r>
                <a:endPar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en-US" altLang="zh-CN" sz="2000" i="1" smtClean="0">
                              <a:solidFill>
                                <a:srgbClr val="0070C0"/>
                              </a:solidFill>
                              <a:latin typeface="Cambria Math" panose="02040503050406030204" pitchFamily="18" charset="0"/>
                            </a:rPr>
                          </m:ctrlPr>
                        </m:accPr>
                        <m:e>
                          <m:r>
                            <a:rPr lang="en-US" altLang="zh-CN" sz="2000" i="1">
                              <a:solidFill>
                                <a:srgbClr val="0070C0"/>
                              </a:solidFill>
                              <a:latin typeface="Cambria Math"/>
                            </a:rPr>
                            <m:t>𝜖</m:t>
                          </m:r>
                        </m:e>
                      </m:acc>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a:rPr>
                            <m:t>𝜈</m:t>
                          </m:r>
                          <m:r>
                            <a:rPr lang="en-US" altLang="zh-CN" sz="2000" i="1">
                              <a:solidFill>
                                <a:srgbClr val="0070C0"/>
                              </a:solidFill>
                              <a:latin typeface="Cambria Math"/>
                            </a:rPr>
                            <m:t>,</m:t>
                          </m:r>
                          <m:r>
                            <a:rPr lang="en-US" altLang="zh-CN" sz="2000" i="1">
                              <a:solidFill>
                                <a:srgbClr val="0070C0"/>
                              </a:solidFill>
                              <a:latin typeface="Cambria Math"/>
                            </a:rPr>
                            <m:t>𝑇</m:t>
                          </m:r>
                        </m:e>
                      </m:d>
                      <m:r>
                        <m:rPr>
                          <m:aln/>
                        </m:rPr>
                        <a:rPr lang="en-US" altLang="zh-CN" sz="2000" i="1">
                          <a:solidFill>
                            <a:srgbClr val="0070C0"/>
                          </a:solidFill>
                          <a:latin typeface="Cambria Math"/>
                        </a:rPr>
                        <m:t>=</m:t>
                      </m:r>
                      <m:nary>
                        <m:naryPr>
                          <m:chr m:val="∑"/>
                          <m:ctrlPr>
                            <a:rPr lang="en-US" altLang="zh-CN" sz="2000" i="1">
                              <a:solidFill>
                                <a:srgbClr val="0070C0"/>
                              </a:solidFill>
                              <a:latin typeface="Cambria Math" panose="02040503050406030204" pitchFamily="18" charset="0"/>
                            </a:rPr>
                          </m:ctrlPr>
                        </m:naryPr>
                        <m:sub>
                          <m:r>
                            <m:rPr>
                              <m:brk m:alnAt="23"/>
                            </m:rPr>
                            <a:rPr lang="en-US" altLang="zh-CN" sz="2000" i="1">
                              <a:solidFill>
                                <a:srgbClr val="0070C0"/>
                              </a:solidFill>
                              <a:latin typeface="Cambria Math"/>
                            </a:rPr>
                            <m:t>𝑛</m:t>
                          </m:r>
                          <m:r>
                            <a:rPr lang="en-US" altLang="zh-CN" sz="2000" i="1">
                              <a:solidFill>
                                <a:srgbClr val="0070C0"/>
                              </a:solidFill>
                              <a:latin typeface="Cambria Math"/>
                            </a:rPr>
                            <m:t>=0</m:t>
                          </m:r>
                        </m:sub>
                        <m:sup>
                          <m:r>
                            <a:rPr lang="en-US" altLang="zh-CN" sz="2000" i="1">
                              <a:solidFill>
                                <a:srgbClr val="0070C0"/>
                              </a:solidFill>
                              <a:latin typeface="Cambria Math"/>
                              <a:ea typeface="Cambria Math"/>
                            </a:rPr>
                            <m:t>∞</m:t>
                          </m:r>
                        </m:sup>
                        <m:e>
                          <m:sSub>
                            <m:sSubPr>
                              <m:ctrlPr>
                                <a:rPr lang="en-US" altLang="zh-CN" sz="2000" i="1">
                                  <a:solidFill>
                                    <a:srgbClr val="0070C0"/>
                                  </a:solidFill>
                                  <a:latin typeface="Cambria Math" panose="02040503050406030204" pitchFamily="18" charset="0"/>
                                  <a:ea typeface="Cambria Math"/>
                                </a:rPr>
                              </m:ctrlPr>
                            </m:sSubPr>
                            <m:e>
                              <m:r>
                                <a:rPr lang="en-US" altLang="zh-CN" sz="2000" i="1">
                                  <a:solidFill>
                                    <a:srgbClr val="0070C0"/>
                                  </a:solidFill>
                                  <a:latin typeface="Cambria Math" panose="02040503050406030204" pitchFamily="18" charset="0"/>
                                  <a:ea typeface="Cambria Math"/>
                                </a:rPr>
                                <m:t>𝜖</m:t>
                              </m:r>
                            </m:e>
                            <m:sub>
                              <m:r>
                                <a:rPr lang="en-US" altLang="zh-CN" sz="2000" i="1">
                                  <a:solidFill>
                                    <a:srgbClr val="0070C0"/>
                                  </a:solidFill>
                                  <a:latin typeface="Cambria Math" panose="02040503050406030204" pitchFamily="18" charset="0"/>
                                  <a:ea typeface="Cambria Math"/>
                                </a:rPr>
                                <m:t>𝑛</m:t>
                              </m:r>
                            </m:sub>
                          </m:sSub>
                          <m:r>
                            <a:rPr lang="en-US" altLang="zh-CN" sz="2000" i="1">
                              <a:solidFill>
                                <a:srgbClr val="0070C0"/>
                              </a:solidFill>
                              <a:latin typeface="Cambria Math"/>
                              <a:ea typeface="Cambria Math"/>
                            </a:rPr>
                            <m:t>×</m:t>
                          </m:r>
                          <m:r>
                            <a:rPr lang="en-US" altLang="zh-CN" sz="2000" b="0" i="1" smtClean="0">
                              <a:solidFill>
                                <a:srgbClr val="0070C0"/>
                              </a:solidFill>
                              <a:latin typeface="Cambria Math" panose="02040503050406030204" pitchFamily="18" charset="0"/>
                              <a:ea typeface="Cambria Math"/>
                            </a:rPr>
                            <m:t>𝑃</m:t>
                          </m:r>
                          <m:r>
                            <a:rPr lang="en-US" altLang="zh-CN" sz="2000" b="0" i="1" smtClean="0">
                              <a:solidFill>
                                <a:srgbClr val="0070C0"/>
                              </a:solidFill>
                              <a:latin typeface="Cambria Math" panose="02040503050406030204" pitchFamily="18" charset="0"/>
                              <a:ea typeface="Cambria Math"/>
                            </a:rPr>
                            <m:t>(</m:t>
                          </m:r>
                          <m:sSub>
                            <m:sSubPr>
                              <m:ctrlPr>
                                <a:rPr lang="en-US" altLang="zh-CN" sz="2000" b="0" i="1" smtClean="0">
                                  <a:solidFill>
                                    <a:srgbClr val="0070C0"/>
                                  </a:solidFill>
                                  <a:latin typeface="Cambria Math" panose="02040503050406030204" pitchFamily="18" charset="0"/>
                                  <a:ea typeface="Cambria Math"/>
                                </a:rPr>
                              </m:ctrlPr>
                            </m:sSubPr>
                            <m:e>
                              <m:r>
                                <a:rPr lang="en-US" altLang="zh-CN" sz="2000" b="0" i="1" smtClean="0">
                                  <a:solidFill>
                                    <a:srgbClr val="0070C0"/>
                                  </a:solidFill>
                                  <a:latin typeface="Cambria Math" panose="02040503050406030204" pitchFamily="18" charset="0"/>
                                  <a:ea typeface="Cambria Math"/>
                                </a:rPr>
                                <m:t>𝜖</m:t>
                              </m:r>
                            </m:e>
                            <m:sub>
                              <m:r>
                                <a:rPr lang="en-US" altLang="zh-CN" sz="2000" b="0" i="1" smtClean="0">
                                  <a:solidFill>
                                    <a:srgbClr val="0070C0"/>
                                  </a:solidFill>
                                  <a:latin typeface="Cambria Math" panose="02040503050406030204" pitchFamily="18" charset="0"/>
                                  <a:ea typeface="Cambria Math"/>
                                </a:rPr>
                                <m:t>𝑛</m:t>
                              </m:r>
                            </m:sub>
                          </m:sSub>
                          <m:r>
                            <a:rPr lang="en-US" altLang="zh-CN" sz="2000" b="0" i="1" smtClean="0">
                              <a:solidFill>
                                <a:srgbClr val="0070C0"/>
                              </a:solidFill>
                              <a:latin typeface="Cambria Math" panose="02040503050406030204" pitchFamily="18" charset="0"/>
                              <a:ea typeface="Cambria Math"/>
                            </a:rPr>
                            <m:t>)</m:t>
                          </m:r>
                          <m:r>
                            <a:rPr lang="en-US" altLang="zh-CN" sz="2000" i="1">
                              <a:solidFill>
                                <a:srgbClr val="0070C0"/>
                              </a:solidFill>
                              <a:latin typeface="Cambria Math"/>
                              <a:ea typeface="Cambria Math"/>
                            </a:rPr>
                            <m:t> </m:t>
                          </m:r>
                        </m:e>
                      </m:nary>
                    </m:oMath>
                    <m:oMath xmlns:m="http://schemas.openxmlformats.org/officeDocument/2006/math">
                      <m:r>
                        <m:rPr>
                          <m:aln/>
                        </m:rPr>
                        <a:rPr lang="en-US" altLang="zh-CN" sz="2000" i="1">
                          <a:solidFill>
                            <a:srgbClr val="0070C0"/>
                          </a:solidFill>
                          <a:latin typeface="Cambria Math"/>
                        </a:rPr>
                        <m:t>=</m:t>
                      </m:r>
                      <m:nary>
                        <m:naryPr>
                          <m:chr m:val="∑"/>
                          <m:ctrlPr>
                            <a:rPr lang="en-US" altLang="zh-CN" sz="2000" i="1">
                              <a:solidFill>
                                <a:srgbClr val="0070C0"/>
                              </a:solidFill>
                              <a:latin typeface="Cambria Math" panose="02040503050406030204" pitchFamily="18" charset="0"/>
                            </a:rPr>
                          </m:ctrlPr>
                        </m:naryPr>
                        <m:sub>
                          <m:r>
                            <a:rPr lang="en-US" altLang="zh-CN" sz="2000" i="1">
                              <a:solidFill>
                                <a:srgbClr val="0070C0"/>
                              </a:solidFill>
                              <a:latin typeface="Cambria Math" panose="02040503050406030204" pitchFamily="18" charset="0"/>
                            </a:rPr>
                            <m:t>𝑛</m:t>
                          </m:r>
                          <m:r>
                            <a:rPr lang="en-US" altLang="zh-CN" sz="2000" i="1">
                              <a:solidFill>
                                <a:srgbClr val="0070C0"/>
                              </a:solidFill>
                              <a:latin typeface="Cambria Math"/>
                            </a:rPr>
                            <m:t>=0</m:t>
                          </m:r>
                        </m:sub>
                        <m:sup>
                          <m:r>
                            <a:rPr lang="en-US" altLang="zh-CN" sz="2000" i="1">
                              <a:solidFill>
                                <a:srgbClr val="0070C0"/>
                              </a:solidFill>
                              <a:latin typeface="Cambria Math"/>
                              <a:ea typeface="Cambria Math"/>
                            </a:rPr>
                            <m:t>∞</m:t>
                          </m:r>
                        </m:sup>
                        <m:e>
                          <m:r>
                            <a:rPr lang="en-US" altLang="zh-CN" sz="2000" i="1">
                              <a:solidFill>
                                <a:srgbClr val="0070C0"/>
                              </a:solidFill>
                              <a:latin typeface="Cambria Math"/>
                            </a:rPr>
                            <m:t>𝑛h</m:t>
                          </m:r>
                          <m:r>
                            <a:rPr lang="en-US" altLang="zh-CN" sz="2000" i="1">
                              <a:solidFill>
                                <a:srgbClr val="0070C0"/>
                              </a:solidFill>
                              <a:latin typeface="Cambria Math"/>
                            </a:rPr>
                            <m:t>𝜈</m:t>
                          </m:r>
                        </m:e>
                      </m:nary>
                      <m:f>
                        <m:fPr>
                          <m:ctrlPr>
                            <a:rPr lang="en-US" altLang="zh-CN" sz="2000" i="1">
                              <a:solidFill>
                                <a:srgbClr val="0070C0"/>
                              </a:solidFill>
                              <a:latin typeface="Cambria Math" panose="02040503050406030204" pitchFamily="18" charset="0"/>
                            </a:rPr>
                          </m:ctrlPr>
                        </m:fPr>
                        <m:num>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a:rPr>
                                <m:t>𝑒</m:t>
                              </m:r>
                            </m:e>
                            <m:sup>
                              <m:r>
                                <a:rPr lang="en-US" altLang="zh-CN" sz="2000" i="1">
                                  <a:solidFill>
                                    <a:srgbClr val="0070C0"/>
                                  </a:solidFill>
                                  <a:latin typeface="Cambria Math"/>
                                </a:rPr>
                                <m:t>−</m:t>
                              </m:r>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panose="02040503050406030204" pitchFamily="18" charset="0"/>
                                    </a:rPr>
                                    <m:t>𝑛</m:t>
                                  </m:r>
                                  <m:r>
                                    <a:rPr lang="en-US" altLang="zh-CN" sz="2000" i="1">
                                      <a:solidFill>
                                        <a:srgbClr val="0070C0"/>
                                      </a:solidFill>
                                      <a:latin typeface="Cambria Math"/>
                                    </a:rPr>
                                    <m:t>h</m:t>
                                  </m:r>
                                  <m:r>
                                    <a:rPr lang="en-US" altLang="zh-CN" sz="2000" i="1">
                                      <a:solidFill>
                                        <a:srgbClr val="0070C0"/>
                                      </a:solidFill>
                                      <a:latin typeface="Cambria Math"/>
                                    </a:rPr>
                                    <m:t>𝜈</m:t>
                                  </m:r>
                                </m:num>
                                <m:den>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𝑘</m:t>
                                      </m:r>
                                    </m:e>
                                    <m:sub>
                                      <m:r>
                                        <a:rPr lang="en-US" altLang="zh-CN" sz="2000" i="1">
                                          <a:solidFill>
                                            <a:srgbClr val="0070C0"/>
                                          </a:solidFill>
                                          <a:latin typeface="Cambria Math"/>
                                        </a:rPr>
                                        <m:t>𝐵</m:t>
                                      </m:r>
                                    </m:sub>
                                  </m:sSub>
                                  <m:r>
                                    <a:rPr lang="en-US" altLang="zh-CN" sz="2000" i="1">
                                      <a:solidFill>
                                        <a:srgbClr val="0070C0"/>
                                      </a:solidFill>
                                      <a:latin typeface="Cambria Math"/>
                                    </a:rPr>
                                    <m:t>𝑇</m:t>
                                  </m:r>
                                </m:den>
                              </m:f>
                            </m:sup>
                          </m:sSup>
                        </m:num>
                        <m:den>
                          <m:nary>
                            <m:naryPr>
                              <m:chr m:val="∑"/>
                              <m:ctrlPr>
                                <a:rPr lang="en-US" altLang="zh-CN" sz="2000" i="1">
                                  <a:solidFill>
                                    <a:srgbClr val="0070C0"/>
                                  </a:solidFill>
                                  <a:latin typeface="Cambria Math" panose="02040503050406030204" pitchFamily="18" charset="0"/>
                                </a:rPr>
                              </m:ctrlPr>
                            </m:naryPr>
                            <m:sub>
                              <m:r>
                                <a:rPr lang="en-US" altLang="zh-CN" sz="2000" i="1">
                                  <a:solidFill>
                                    <a:srgbClr val="0070C0"/>
                                  </a:solidFill>
                                  <a:latin typeface="Cambria Math" panose="02040503050406030204" pitchFamily="18" charset="0"/>
                                </a:rPr>
                                <m:t>𝑛</m:t>
                              </m:r>
                              <m:r>
                                <a:rPr lang="en-US" altLang="zh-CN" sz="2000" i="1">
                                  <a:solidFill>
                                    <a:srgbClr val="0070C0"/>
                                  </a:solidFill>
                                  <a:latin typeface="Cambria Math"/>
                                </a:rPr>
                                <m:t>=0</m:t>
                              </m:r>
                            </m:sub>
                            <m:sup>
                              <m:r>
                                <a:rPr lang="en-US" altLang="zh-CN" sz="2000" i="1">
                                  <a:solidFill>
                                    <a:srgbClr val="0070C0"/>
                                  </a:solidFill>
                                  <a:latin typeface="Cambria Math"/>
                                  <a:ea typeface="Cambria Math"/>
                                </a:rPr>
                                <m:t>∞</m:t>
                              </m:r>
                            </m:sup>
                            <m:e>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a:rPr>
                                    <m:t>𝑒</m:t>
                                  </m:r>
                                </m:e>
                                <m:sup>
                                  <m:r>
                                    <a:rPr lang="en-US" altLang="zh-CN" sz="2000" i="1">
                                      <a:solidFill>
                                        <a:srgbClr val="0070C0"/>
                                      </a:solidFill>
                                      <a:latin typeface="Cambria Math"/>
                                    </a:rPr>
                                    <m:t>−</m:t>
                                  </m:r>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panose="02040503050406030204" pitchFamily="18" charset="0"/>
                                        </a:rPr>
                                        <m:t>𝑛</m:t>
                                      </m:r>
                                      <m:r>
                                        <a:rPr lang="en-US" altLang="zh-CN" sz="2000" i="1">
                                          <a:solidFill>
                                            <a:srgbClr val="0070C0"/>
                                          </a:solidFill>
                                          <a:latin typeface="Cambria Math"/>
                                        </a:rPr>
                                        <m:t>h</m:t>
                                      </m:r>
                                      <m:r>
                                        <a:rPr lang="en-US" altLang="zh-CN" sz="2000" i="1">
                                          <a:solidFill>
                                            <a:srgbClr val="0070C0"/>
                                          </a:solidFill>
                                          <a:latin typeface="Cambria Math"/>
                                        </a:rPr>
                                        <m:t>𝜈</m:t>
                                      </m:r>
                                    </m:num>
                                    <m:den>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𝑘</m:t>
                                          </m:r>
                                        </m:e>
                                        <m:sub>
                                          <m:r>
                                            <a:rPr lang="en-US" altLang="zh-CN" sz="2000" i="1">
                                              <a:solidFill>
                                                <a:srgbClr val="0070C0"/>
                                              </a:solidFill>
                                              <a:latin typeface="Cambria Math"/>
                                            </a:rPr>
                                            <m:t>𝐵</m:t>
                                          </m:r>
                                        </m:sub>
                                      </m:sSub>
                                      <m:r>
                                        <a:rPr lang="en-US" altLang="zh-CN" sz="2000" i="1">
                                          <a:solidFill>
                                            <a:srgbClr val="0070C0"/>
                                          </a:solidFill>
                                          <a:latin typeface="Cambria Math"/>
                                        </a:rPr>
                                        <m:t>𝑇</m:t>
                                      </m:r>
                                    </m:den>
                                  </m:f>
                                </m:sup>
                              </m:sSup>
                            </m:e>
                          </m:nary>
                        </m:den>
                      </m:f>
                      <m:r>
                        <a:rPr lang="en-US" altLang="zh-CN" sz="2000" i="1">
                          <a:solidFill>
                            <a:srgbClr val="0070C0"/>
                          </a:solidFill>
                          <a:latin typeface="Cambria Math"/>
                        </a:rPr>
                        <m:t>=</m:t>
                      </m:r>
                      <m:r>
                        <a:rPr lang="en-US" altLang="zh-CN" sz="2000" i="1">
                          <a:solidFill>
                            <a:srgbClr val="0070C0"/>
                          </a:solidFill>
                          <a:latin typeface="Cambria Math" panose="02040503050406030204" pitchFamily="18" charset="0"/>
                          <a:ea typeface="Cambria Math" panose="02040503050406030204" pitchFamily="18" charset="0"/>
                        </a:rPr>
                        <m:t>⋯=</m:t>
                      </m:r>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a:rPr>
                            <m:t>h</m:t>
                          </m:r>
                          <m:r>
                            <a:rPr lang="en-US" altLang="zh-CN" sz="2000" i="1">
                              <a:solidFill>
                                <a:srgbClr val="0070C0"/>
                              </a:solidFill>
                              <a:latin typeface="Cambria Math"/>
                            </a:rPr>
                            <m:t>𝜈</m:t>
                          </m:r>
                        </m:num>
                        <m:den>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a:rPr>
                                <m:t>𝑒</m:t>
                              </m:r>
                            </m:e>
                            <m:sup>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a:rPr>
                                    <m:t>h</m:t>
                                  </m:r>
                                  <m:r>
                                    <a:rPr lang="en-US" altLang="zh-CN" sz="2000" i="1">
                                      <a:solidFill>
                                        <a:srgbClr val="0070C0"/>
                                      </a:solidFill>
                                      <a:latin typeface="Cambria Math"/>
                                    </a:rPr>
                                    <m:t>𝜈</m:t>
                                  </m:r>
                                </m:num>
                                <m:den>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𝑘</m:t>
                                      </m:r>
                                    </m:e>
                                    <m:sub>
                                      <m:r>
                                        <a:rPr lang="en-US" altLang="zh-CN" sz="2000" i="1">
                                          <a:solidFill>
                                            <a:srgbClr val="0070C0"/>
                                          </a:solidFill>
                                          <a:latin typeface="Cambria Math"/>
                                        </a:rPr>
                                        <m:t>𝐵</m:t>
                                      </m:r>
                                    </m:sub>
                                  </m:sSub>
                                  <m:r>
                                    <a:rPr lang="en-US" altLang="zh-CN" sz="2000" i="1">
                                      <a:solidFill>
                                        <a:srgbClr val="0070C0"/>
                                      </a:solidFill>
                                      <a:latin typeface="Cambria Math"/>
                                    </a:rPr>
                                    <m:t>𝑇</m:t>
                                  </m:r>
                                </m:den>
                              </m:f>
                            </m:sup>
                          </m:sSup>
                          <m:r>
                            <a:rPr lang="en-US" altLang="zh-CN" sz="2000" i="1">
                              <a:solidFill>
                                <a:srgbClr val="0070C0"/>
                              </a:solidFill>
                              <a:latin typeface="Cambria Math"/>
                            </a:rPr>
                            <m:t>−1</m:t>
                          </m:r>
                        </m:den>
                      </m:f>
                    </m:oMath>
                  </m:oMathPara>
                </a14:m>
                <a:br>
                  <a:rPr lang="en-US" altLang="zh-CN" sz="2000" i="1" dirty="0">
                    <a:solidFill>
                      <a:srgbClr val="0070C0"/>
                    </a:solidFill>
                    <a:latin typeface="Times New Roman" panose="02020603050405020304" pitchFamily="18" charset="0"/>
                    <a:ea typeface="Cambria Math"/>
                    <a:cs typeface="Times New Roman" panose="02020603050405020304" pitchFamily="18" charset="0"/>
                  </a:rPr>
                </a:b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46787" y="2434874"/>
                <a:ext cx="10625024" cy="4146904"/>
              </a:xfrm>
              <a:prstGeom prst="rect">
                <a:avLst/>
              </a:prstGeom>
              <a:blipFill>
                <a:blip r:embed="rId4"/>
                <a:stretch>
                  <a:fillRect l="-631" t="-734" r="-45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5900143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500"/>
                                        <p:tgtEl>
                                          <p:spTgt spid="7">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500"/>
                                        <p:tgtEl>
                                          <p:spTgt spid="7">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500"/>
                                        <p:tgtEl>
                                          <p:spTgt spid="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290" y="1084822"/>
            <a:ext cx="4803840" cy="551589"/>
          </a:xfrm>
        </p:spPr>
        <p:txBody>
          <a:bodyPr/>
          <a:lstStyle/>
          <a:p>
            <a:r>
              <a:rPr lang="en-US" altLang="zh-CN" dirty="0">
                <a:latin typeface="Times New Roman" panose="02020603050405020304" pitchFamily="18" charset="0"/>
                <a:cs typeface="Times New Roman" panose="02020603050405020304" pitchFamily="18" charset="0"/>
              </a:rPr>
              <a:t>Cosmic microwave background radiation</a:t>
            </a:r>
          </a:p>
        </p:txBody>
      </p:sp>
      <p:pic>
        <p:nvPicPr>
          <p:cNvPr id="1026" name="Picture 2" descr="PPT - Explore the Big Bang Theory - Listen &amp; Learn PowerPoint ...">
            <a:extLst>
              <a:ext uri="{FF2B5EF4-FFF2-40B4-BE49-F238E27FC236}">
                <a16:creationId xmlns:a16="http://schemas.microsoft.com/office/drawing/2014/main" id="{C5504A3C-8FA5-49B4-8E7F-F26A405E2160}"/>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2335" b="86564" l="7000" r="94125">
                        <a14:foregroundMark x1="10875" y1="50220" x2="10875" y2="50220"/>
                        <a14:foregroundMark x1="7000" y1="48678" x2="7000" y2="48678"/>
                        <a14:foregroundMark x1="47500" y1="12335" x2="47500" y2="12335"/>
                        <a14:foregroundMark x1="90500" y1="44714" x2="90500" y2="44714"/>
                        <a14:foregroundMark x1="94125" y1="48458" x2="94125" y2="48458"/>
                        <a14:foregroundMark x1="55250" y1="86564" x2="55250" y2="86564"/>
                        <a14:foregroundMark x1="94125" y1="51322" x2="94125" y2="51322"/>
                      </a14:backgroundRemoval>
                    </a14:imgEffect>
                  </a14:imgLayer>
                </a14:imgProps>
              </a:ext>
              <a:ext uri="{28A0092B-C50C-407E-A947-70E740481C1C}">
                <a14:useLocalDpi xmlns:a14="http://schemas.microsoft.com/office/drawing/2010/main" val="0"/>
              </a:ext>
            </a:extLst>
          </a:blip>
          <a:srcRect l="3990" t="7781" r="3650" b="7105"/>
          <a:stretch/>
        </p:blipFill>
        <p:spPr bwMode="auto">
          <a:xfrm>
            <a:off x="4654550" y="3480049"/>
            <a:ext cx="7282805" cy="320675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B6BA1EAB-84CE-4CBC-953A-D5213A5B33FE}"/>
              </a:ext>
            </a:extLst>
          </p:cNvPr>
          <p:cNvGrpSpPr/>
          <p:nvPr/>
        </p:nvGrpSpPr>
        <p:grpSpPr>
          <a:xfrm>
            <a:off x="4139231" y="301269"/>
            <a:ext cx="4638742" cy="3206751"/>
            <a:chOff x="547774" y="1387450"/>
            <a:chExt cx="5151351" cy="3881512"/>
          </a:xfrm>
        </p:grpSpPr>
        <p:pic>
          <p:nvPicPr>
            <p:cNvPr id="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774" y="1387450"/>
              <a:ext cx="5151351" cy="3881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a14="http://schemas.microsoft.com/office/drawing/2010/main" Requires="a14">
            <p:sp>
              <p:nvSpPr>
                <p:cNvPr id="14" name="Rectangle 13"/>
                <p:cNvSpPr/>
                <p:nvPr/>
              </p:nvSpPr>
              <p:spPr>
                <a:xfrm>
                  <a:off x="3320479" y="1963688"/>
                  <a:ext cx="14340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solidFill>
                              <a:srgbClr val="0070C0"/>
                            </a:solidFill>
                            <a:latin typeface="Cambria Math" panose="02040503050406030204" pitchFamily="18" charset="0"/>
                          </a:rPr>
                          <m:t>𝑇</m:t>
                        </m:r>
                        <m:r>
                          <a:rPr lang="en-US" sz="2000" b="0" i="1" dirty="0" smtClean="0">
                            <a:solidFill>
                              <a:srgbClr val="0070C0"/>
                            </a:solidFill>
                            <a:latin typeface="Cambria Math" panose="02040503050406030204" pitchFamily="18" charset="0"/>
                          </a:rPr>
                          <m:t>=2.73 </m:t>
                        </m:r>
                        <m:r>
                          <m:rPr>
                            <m:sty m:val="p"/>
                          </m:rPr>
                          <a:rPr lang="en-US" sz="2000" b="0" i="0" dirty="0" smtClean="0">
                            <a:solidFill>
                              <a:srgbClr val="0070C0"/>
                            </a:solidFill>
                            <a:latin typeface="Cambria Math" panose="02040503050406030204" pitchFamily="18" charset="0"/>
                          </a:rPr>
                          <m:t>K</m:t>
                        </m:r>
                      </m:oMath>
                    </m:oMathPara>
                  </a14:m>
                  <a:endParaRPr lang="en-US" sz="2000" dirty="0">
                    <a:solidFill>
                      <a:srgbClr val="0070C0"/>
                    </a:solidFill>
                  </a:endParaRPr>
                </a:p>
              </p:txBody>
            </p:sp>
          </mc:Choice>
          <mc:Fallback>
            <p:sp>
              <p:nvSpPr>
                <p:cNvPr id="14" name="Rectangle 13"/>
                <p:cNvSpPr>
                  <a:spLocks noRot="1" noChangeAspect="1" noMove="1" noResize="1" noEditPoints="1" noAdjustHandles="1" noChangeArrowheads="1" noChangeShapeType="1" noTextEdit="1"/>
                </p:cNvSpPr>
                <p:nvPr/>
              </p:nvSpPr>
              <p:spPr>
                <a:xfrm>
                  <a:off x="3320479" y="1963688"/>
                  <a:ext cx="1434046" cy="400110"/>
                </a:xfrm>
                <a:prstGeom prst="rect">
                  <a:avLst/>
                </a:prstGeom>
                <a:blipFill>
                  <a:blip r:embed="rId6"/>
                  <a:stretch>
                    <a:fillRect r="-5213" b="-12963"/>
                  </a:stretch>
                </a:blipFill>
              </p:spPr>
              <p:txBody>
                <a:bodyPr/>
                <a:lstStyle/>
                <a:p>
                  <a:r>
                    <a:rPr lang="zh-CN" altLang="en-US">
                      <a:noFill/>
                    </a:rPr>
                    <a:t> </a:t>
                  </a:r>
                </a:p>
              </p:txBody>
            </p:sp>
          </mc:Fallback>
        </mc:AlternateContent>
      </p:grpSp>
      <p:pic>
        <p:nvPicPr>
          <p:cNvPr id="8" name="Picture 7">
            <a:extLst>
              <a:ext uri="{FF2B5EF4-FFF2-40B4-BE49-F238E27FC236}">
                <a16:creationId xmlns:a16="http://schemas.microsoft.com/office/drawing/2014/main" id="{9033311A-4C63-4CB1-8CD8-28F74480B574}"/>
              </a:ext>
            </a:extLst>
          </p:cNvPr>
          <p:cNvPicPr>
            <a:picLocks noChangeAspect="1"/>
          </p:cNvPicPr>
          <p:nvPr/>
        </p:nvPicPr>
        <p:blipFill rotWithShape="1">
          <a:blip r:embed="rId7"/>
          <a:srcRect t="15634"/>
          <a:stretch/>
        </p:blipFill>
        <p:spPr>
          <a:xfrm rot="16200000">
            <a:off x="9153253" y="579381"/>
            <a:ext cx="2209158" cy="2499845"/>
          </a:xfrm>
          <a:prstGeom prst="rect">
            <a:avLst/>
          </a:prstGeom>
        </p:spPr>
      </p:pic>
      <p:pic>
        <p:nvPicPr>
          <p:cNvPr id="10" name="Picture 9">
            <a:extLst>
              <a:ext uri="{FF2B5EF4-FFF2-40B4-BE49-F238E27FC236}">
                <a16:creationId xmlns:a16="http://schemas.microsoft.com/office/drawing/2014/main" id="{C0576388-5A3F-4D38-BB8F-5BCD58AED3D6}"/>
              </a:ext>
            </a:extLst>
          </p:cNvPr>
          <p:cNvPicPr>
            <a:picLocks noChangeAspect="1"/>
          </p:cNvPicPr>
          <p:nvPr/>
        </p:nvPicPr>
        <p:blipFill rotWithShape="1">
          <a:blip r:embed="rId8"/>
          <a:srcRect l="8574" r="4749"/>
          <a:stretch/>
        </p:blipFill>
        <p:spPr>
          <a:xfrm>
            <a:off x="525715" y="3270250"/>
            <a:ext cx="3645266" cy="3206750"/>
          </a:xfrm>
          <a:prstGeom prst="rect">
            <a:avLst/>
          </a:prstGeom>
        </p:spPr>
      </p:pic>
    </p:spTree>
    <p:extLst>
      <p:ext uri="{BB962C8B-B14F-4D97-AF65-F5344CB8AC3E}">
        <p14:creationId xmlns:p14="http://schemas.microsoft.com/office/powerpoint/2010/main" val="1088400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原子物理学&amp;#x0D;&amp;#x0A;和量子力学的建立&amp;quot;&quot;/&gt;&lt;property id=&quot;20307&quot; value=&quot;256&quot;/&gt;&lt;/object&gt;&lt;object type=&quot;3&quot; unique_id=&quot;10014&quot;&gt;&lt;property id=&quot;20148&quot; value=&quot;5&quot;/&gt;&lt;property id=&quot;20300&quot; value=&quot;Slide 8 - &amp;quot;黑体辐射光谱&amp;quot;&quot;/&gt;&lt;property id=&quot;20307&quot; value=&quot;263&quot;/&gt;&lt;/object&gt;&lt;object type=&quot;3&quot; unique_id=&quot;10058&quot;&gt;&lt;property id=&quot;20148&quot; value=&quot;5&quot;/&gt;&lt;property id=&quot;20300&quot; value=&quot;Slide 2 - &amp;quot;量子力学的建立过程&amp;quot;&quot;/&gt;&lt;property id=&quot;20307&quot; value=&quot;265&quot;/&gt;&lt;/object&gt;&lt;object type=&quot;3&quot; unique_id=&quot;10086&quot;&gt;&lt;property id=&quot;20148&quot; value=&quot;5&quot;/&gt;&lt;property id=&quot;20300&quot; value=&quot;Slide 4 - &amp;quot;辐射(emission)和吸收(absorption)&amp;quot;&quot;/&gt;&lt;property id=&quot;20307&quot; value=&quot;269&quot;/&gt;&lt;/object&gt;&lt;object type=&quot;3&quot; unique_id=&quot;10087&quot;&gt;&lt;property id=&quot;20148&quot; value=&quot;5&quot;/&gt;&lt;property id=&quot;20300&quot; value=&quot;Slide 6 - &amp;quot;黑体辐射&amp;quot;&quot;/&gt;&lt;property id=&quot;20307&quot; value=&quot;270&quot;/&gt;&lt;/object&gt;&lt;object type=&quot;3&quot; unique_id=&quot;10148&quot;&gt;&lt;property id=&quot;20148&quot; value=&quot;5&quot;/&gt;&lt;property id=&quot;20300&quot; value=&quot;Slide 10 - &amp;quot;黑体辐射谱的经典公式&amp;quot;&quot;/&gt;&lt;property id=&quot;20307&quot; value=&quot;271&quot;/&gt;&lt;/object&gt;&lt;object type=&quot;3&quot; unique_id=&quot;10265&quot;&gt;&lt;property id=&quot;20148&quot; value=&quot;5&quot;/&gt;&lt;property id=&quot;20300&quot; value=&quot;Slide 3 - &amp;quot;黑体辐射&amp;quot;&quot;/&gt;&lt;property id=&quot;20307&quot; value=&quot;273&quot;/&gt;&lt;/object&gt;&lt;object type=&quot;3&quot; unique_id=&quot;10266&quot;&gt;&lt;property id=&quot;20148&quot; value=&quot;5&quot;/&gt;&lt;property id=&quot;20300&quot; value=&quot;Slide 7 - &amp;quot;辐射场的能量密度谱&amp;quot;&quot;/&gt;&lt;property id=&quot;20307&quot; value=&quot;275&quot;/&gt;&lt;/object&gt;&lt;object type=&quot;3&quot; unique_id=&quot;10267&quot;&gt;&lt;property id=&quot;20148&quot; value=&quot;5&quot;/&gt;&lt;property id=&quot;20300&quot; value=&quot;Slide 9 - &amp;quot;能量密度谱的两种表示方式&amp;quot;&quot;/&gt;&lt;property id=&quot;20307&quot; value=&quot;274&quot;/&gt;&lt;/object&gt;&lt;object type=&quot;3&quot; unique_id=&quot;10269&quot;&gt;&lt;property id=&quot;20148&quot; value=&quot;5&quot;/&gt;&lt;property id=&quot;20300&quot; value=&quot;Slide 16 - &amp;quot;著名的黑体辐射现象&amp;quot;&quot;/&gt;&lt;property id=&quot;20307&quot; value=&quot;276&quot;/&gt;&lt;/object&gt;&lt;object type=&quot;3&quot; unique_id=&quot;10270&quot;&gt;&lt;property id=&quot;20148&quot; value=&quot;5&quot;/&gt;&lt;property id=&quot;20300&quot; value=&quot;Slide 17 - &amp;quot;著名的黑体辐射现象&amp;quot;&quot;/&gt;&lt;property id=&quot;20307&quot; value=&quot;278&quot;/&gt;&lt;/object&gt;&lt;object type=&quot;3&quot; unique_id=&quot;10436&quot;&gt;&lt;property id=&quot;20148&quot; value=&quot;5&quot;/&gt;&lt;property id=&quot;20300&quot; value=&quot;Slide 18 - &amp;quot;光电效应的解释&amp;#x0D;&amp;#x0A;(1905 爱因斯坦)&amp;quot;&quot;/&gt;&lt;property id=&quot;20307&quot; value=&quot;281&quot;/&gt;&lt;/object&gt;&lt;object type=&quot;3&quot; unique_id=&quot;10437&quot;&gt;&lt;property id=&quot;20148&quot; value=&quot;5&quot;/&gt;&lt;property id=&quot;20300&quot; value=&quot;Slide 19 - &amp;quot;光电效应&amp;quot;&quot;/&gt;&lt;property id=&quot;20307&quot; value=&quot;282&quot;/&gt;&lt;/object&gt;&lt;object type=&quot;3&quot; unique_id=&quot;10438&quot;&gt;&lt;property id=&quot;20148&quot; value=&quot;5&quot;/&gt;&lt;property id=&quot;20300&quot; value=&quot;Slide 20 - &amp;quot;光电效应实验&amp;quot;&quot;/&gt;&lt;property id=&quot;20307&quot; value=&quot;283&quot;/&gt;&lt;/object&gt;&lt;object type=&quot;3&quot; unique_id=&quot;10439&quot;&gt;&lt;property id=&quot;20148&quot; value=&quot;5&quot;/&gt;&lt;property id=&quot;20300&quot; value=&quot;Slide 21 - &amp;quot;爱因斯坦光电效应解释（1905）&amp;quot;&quot;/&gt;&lt;property id=&quot;20307&quot; value=&quot;284&quot;/&gt;&lt;/object&gt;&lt;object type=&quot;3&quot; unique_id=&quot;10440&quot;&gt;&lt;property id=&quot;20148&quot; value=&quot;5&quot;/&gt;&lt;property id=&quot;20300&quot; value=&quot;Slide 22 - &amp;quot;光量子论的应用&amp;quot;&quot;/&gt;&lt;property id=&quot;20307&quot; value=&quot;285&quot;/&gt;&lt;/object&gt;&lt;object type=&quot;3&quot; unique_id=&quot;10441&quot;&gt;&lt;property id=&quot;20148&quot; value=&quot;5&quot;/&gt;&lt;property id=&quot;20300&quot; value=&quot;Slide 23&quot;/&gt;&lt;property id=&quot;20307&quot; value=&quot;286&quot;/&gt;&lt;/object&gt;&lt;object type=&quot;3&quot; unique_id=&quot;10442&quot;&gt;&lt;property id=&quot;20148&quot; value=&quot;5&quot;/&gt;&lt;property id=&quot;20300&quot; value=&quot;Slide 24 - &amp;quot;最后一击，Compton散射&amp;#x0D;&amp;#x0A;（1923）&amp;quot;&quot;/&gt;&lt;property id=&quot;20307&quot; value=&quot;287&quot;/&gt;&lt;/object&gt;&lt;object type=&quot;3&quot; unique_id=&quot;10443&quot;&gt;&lt;property id=&quot;20148&quot; value=&quot;5&quot;/&gt;&lt;property id=&quot;20300&quot; value=&quot;Slide 25&quot;/&gt;&lt;property id=&quot;20307&quot; value=&quot;288&quot;/&gt;&lt;/object&gt;&lt;object type=&quot;3&quot; unique_id=&quot;10444&quot;&gt;&lt;property id=&quot;20148&quot; value=&quot;5&quot;/&gt;&lt;property id=&quot;20300&quot; value=&quot;Slide 27&quot;/&gt;&lt;property id=&quot;20307&quot; value=&quot;289&quot;/&gt;&lt;/object&gt;&lt;object type=&quot;3&quot; unique_id=&quot;10445&quot;&gt;&lt;property id=&quot;20148&quot; value=&quot;5&quot;/&gt;&lt;property id=&quot;20300&quot; value=&quot;Slide 26 - &amp;quot;康普顿散射的推导&amp;quot;&quot;/&gt;&lt;property id=&quot;20307&quot; value=&quot;290&quot;/&gt;&lt;/object&gt;&lt;object type=&quot;3&quot; unique_id=&quot;10446&quot;&gt;&lt;property id=&quot;20148&quot; value=&quot;5&quot;/&gt;&lt;property id=&quot;20300&quot; value=&quot;Slide 29 - &amp;quot;作业&amp;quot;&quot;/&gt;&lt;property id=&quot;20307&quot; value=&quot;291&quot;/&gt;&lt;/object&gt;&lt;object type=&quot;3&quot; unique_id=&quot;10525&quot;&gt;&lt;property id=&quot;20148&quot; value=&quot;5&quot;/&gt;&lt;property id=&quot;20300&quot; value=&quot;Slide 11 - &amp;quot;Planck公式 （1900）&amp;quot;&quot;/&gt;&lt;property id=&quot;20307&quot; value=&quot;292&quot;/&gt;&lt;/object&gt;&lt;object type=&quot;3&quot; unique_id=&quot;10526&quot;&gt;&lt;property id=&quot;20148&quot; value=&quot;5&quot;/&gt;&lt;property id=&quot;20300&quot; value=&quot;Slide 13 - &amp;quot;Planck的解释&amp;quot;&quot;/&gt;&lt;property id=&quot;20307&quot; value=&quot;293&quot;/&gt;&lt;/object&gt;&lt;object type=&quot;3&quot; unique_id=&quot;11475&quot;&gt;&lt;property id=&quot;20148&quot; value=&quot;5&quot;/&gt;&lt;property id=&quot;20300&quot; value=&quot;Slide 14 - &amp;quot;从瑞利-金斯公式到普朗克公式&amp;quot;&quot;/&gt;&lt;property id=&quot;20307&quot; value=&quot;295&quot;/&gt;&lt;/object&gt;&lt;object type=&quot;3&quot; unique_id=&quot;12039&quot;&gt;&lt;property id=&quot;20148&quot; value=&quot;5&quot;/&gt;&lt;property id=&quot;20300&quot; value=&quot;Slide 12 - &amp;quot;光场的模密度𝑔 𝜈 &amp;quot;&quot;/&gt;&lt;property id=&quot;20307&quot; value=&quot;296&quot;/&gt;&lt;/object&gt;&lt;object type=&quot;3&quot; unique_id=&quot;12156&quot;&gt;&lt;property id=&quot;20148&quot; value=&quot;5&quot;/&gt;&lt;property id=&quot;20300&quot; value=&quot;Slide 5 - &amp;quot;热辐射&amp;quot;&quot;/&gt;&lt;property id=&quot;20307&quot; value=&quot;297&quot;/&gt;&lt;/object&gt;&lt;object type=&quot;3&quot; unique_id=&quot;12608&quot;&gt;&lt;property id=&quot;20148&quot; value=&quot;5&quot;/&gt;&lt;property id=&quot;20300&quot; value=&quot;Slide 15 - &amp;quot;普朗克的谐振子到底是什么，它为何如此行为？&amp;quot;&quot;/&gt;&lt;property id=&quot;20307&quot; value=&quot;300&quot;/&gt;&lt;/object&gt;&lt;object type=&quot;3&quot; unique_id=&quot;13059&quot;&gt;&lt;property id=&quot;20148&quot; value=&quot;5&quot;/&gt;&lt;property id=&quot;20300&quot; value=&quot;Slide 28 - &amp;quot;备注&amp;quot;&quot;/&gt;&lt;property id=&quot;20307&quot; value=&quot;301&quot;/&gt;&lt;/object&gt;&lt;/object&gt;&lt;/object&gt;&lt;/database&gt;"/>
  <p:tag name="SECTOMILLISECCONVERTED" val="1"/>
</p:tagLst>
</file>

<file path=ppt/theme/theme1.xml><?xml version="1.0" encoding="utf-8"?>
<a:theme xmlns:a="http://schemas.openxmlformats.org/drawingml/2006/main" name="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dirty="0" smtClean="0">
            <a:ea typeface="黑体" panose="02010609060101010101" pitchFamily="49" charset="-122"/>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22113</TotalTime>
  <Words>7583</Words>
  <Application>Microsoft Office PowerPoint</Application>
  <PresentationFormat>Widescreen</PresentationFormat>
  <Paragraphs>311</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TimesNewRomanPS-ItalicMT</vt:lpstr>
      <vt:lpstr>TimesNewRomanPSMT</vt:lpstr>
      <vt:lpstr>黑体</vt:lpstr>
      <vt:lpstr>Arial</vt:lpstr>
      <vt:lpstr>Calibri</vt:lpstr>
      <vt:lpstr>Cambria Math</vt:lpstr>
      <vt:lpstr>Times New Roman</vt:lpstr>
      <vt:lpstr>Office Theme</vt:lpstr>
      <vt:lpstr>Thermal radiation</vt:lpstr>
      <vt:lpstr>Spectral lines</vt:lpstr>
      <vt:lpstr>The characteristic spectra of substances</vt:lpstr>
      <vt:lpstr>The relation between the absorption and emission spectra</vt:lpstr>
      <vt:lpstr>Kirchhoff's law of thermal radiation</vt:lpstr>
      <vt:lpstr>An ideal Blackbody</vt:lpstr>
      <vt:lpstr>Blackbody radiation (BR) spectrum</vt:lpstr>
      <vt:lpstr>Planck’s hope to save the 2nd law of thermodynamics</vt:lpstr>
      <vt:lpstr>Blackbody radiation</vt:lpstr>
      <vt:lpstr>Two forms of spectrum of energy density</vt:lpstr>
      <vt:lpstr>Fitting the spectrum of blackbody radiation</vt:lpstr>
      <vt:lpstr>The explanation of Planck’s formula</vt:lpstr>
      <vt:lpstr>*optical mode density</vt:lpstr>
      <vt:lpstr>*optical mode density</vt:lpstr>
      <vt:lpstr>Boltzmann distribution and the average mode energy ϵ ̅(ν)</vt:lpstr>
      <vt:lpstr>Rayleigh-Jeans vs. Planck</vt:lpstr>
      <vt:lpstr>The ultraviolet catastrophe</vt:lpstr>
      <vt:lpstr>Planck’s reflection about his own theory</vt:lpstr>
      <vt:lpstr>Average mode energy </vt:lpstr>
      <vt:lpstr>Average mode energy</vt:lpstr>
      <vt:lpstr>Cosmic microwave background radiation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Kai</dc:creator>
  <cp:lastModifiedBy>zhao kevin</cp:lastModifiedBy>
  <cp:revision>1359</cp:revision>
  <cp:lastPrinted>2013-09-22T00:18:07Z</cp:lastPrinted>
  <dcterms:created xsi:type="dcterms:W3CDTF">2013-05-26T05:06:15Z</dcterms:created>
  <dcterms:modified xsi:type="dcterms:W3CDTF">2026-09-20T09:53:11Z</dcterms:modified>
</cp:coreProperties>
</file>