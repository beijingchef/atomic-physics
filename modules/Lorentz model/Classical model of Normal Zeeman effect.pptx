
<file path=[Content_Types].xml><?xml version="1.0" encoding="utf-8"?>
<Types xmlns="http://schemas.openxmlformats.org/package/2006/content-types">
  <Default Extension="bin" ContentType="application/vnd.openxmlformats-officedocument.oleObject"/>
  <Default Extension="emf" ContentType="image/x-emf"/>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8"/>
  </p:notesMasterIdLst>
  <p:sldIdLst>
    <p:sldId id="288" r:id="rId2"/>
    <p:sldId id="326" r:id="rId3"/>
    <p:sldId id="599" r:id="rId4"/>
    <p:sldId id="327" r:id="rId5"/>
    <p:sldId id="301" r:id="rId6"/>
    <p:sldId id="325" r:id="rId7"/>
  </p:sldIdLst>
  <p:sldSz cx="12192000" cy="6858000"/>
  <p:notesSz cx="6858000" cy="9144000"/>
  <p:custDataLst>
    <p:tags r:id="rId9"/>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980" autoAdjust="0"/>
    <p:restoredTop sz="79020" autoAdjust="0"/>
  </p:normalViewPr>
  <p:slideViewPr>
    <p:cSldViewPr snapToGrid="0">
      <p:cViewPr varScale="1">
        <p:scale>
          <a:sx n="88" d="100"/>
          <a:sy n="88" d="100"/>
        </p:scale>
        <p:origin x="1299" y="51"/>
      </p:cViewPr>
      <p:guideLst>
        <p:guide orient="horz" pos="2160"/>
        <p:guide pos="3840"/>
      </p:guideLst>
    </p:cSldViewPr>
  </p:slideViewPr>
  <p:outlineViewPr>
    <p:cViewPr>
      <p:scale>
        <a:sx n="33" d="100"/>
        <a:sy n="33" d="100"/>
      </p:scale>
      <p:origin x="0" y="-6474"/>
    </p:cViewPr>
  </p:outlineViewPr>
  <p:notesTextViewPr>
    <p:cViewPr>
      <p:scale>
        <a:sx n="1" d="1"/>
        <a:sy n="1" d="1"/>
      </p:scale>
      <p:origin x="0" y="0"/>
    </p:cViewPr>
  </p:notesTextViewPr>
  <p:notesViewPr>
    <p:cSldViewPr snapToGrid="0">
      <p:cViewPr varScale="1">
        <p:scale>
          <a:sx n="75" d="100"/>
          <a:sy n="75" d="100"/>
        </p:scale>
        <p:origin x="-2914" y="-86"/>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tags" Target="tags/tag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image" Target="../media/image9.png"/><Relationship Id="rId1" Type="http://schemas.openxmlformats.org/officeDocument/2006/relationships/image" Target="../media/image8.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06387D0-1216-4FA3-AF01-EA63AC44C2D4}" type="datetimeFigureOut">
              <a:rPr lang="en-US" smtClean="0"/>
              <a:t>9/7/2026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08A642B-1D08-47C1-9385-1FDD33F8CE06}" type="slidenum">
              <a:rPr lang="en-US" smtClean="0"/>
              <a:t>‹#›</a:t>
            </a:fld>
            <a:endParaRPr lang="en-US"/>
          </a:p>
        </p:txBody>
      </p:sp>
    </p:spTree>
    <p:extLst>
      <p:ext uri="{BB962C8B-B14F-4D97-AF65-F5344CB8AC3E}">
        <p14:creationId xmlns:p14="http://schemas.microsoft.com/office/powerpoint/2010/main" val="32123503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C08A642B-1D08-47C1-9385-1FDD33F8CE06}" type="slidenum">
              <a:rPr lang="en-US" smtClean="0"/>
              <a:t>1</a:t>
            </a:fld>
            <a:endParaRPr lang="en-US"/>
          </a:p>
        </p:txBody>
      </p:sp>
    </p:spTree>
    <p:extLst>
      <p:ext uri="{BB962C8B-B14F-4D97-AF65-F5344CB8AC3E}">
        <p14:creationId xmlns:p14="http://schemas.microsoft.com/office/powerpoint/2010/main" val="39832606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zh-CN" altLang="en-US" dirty="0"/>
          </a:p>
        </p:txBody>
      </p:sp>
      <p:sp>
        <p:nvSpPr>
          <p:cNvPr id="4" name="Slide Number Placeholder 3"/>
          <p:cNvSpPr>
            <a:spLocks noGrp="1"/>
          </p:cNvSpPr>
          <p:nvPr>
            <p:ph type="sldNum" sz="quarter" idx="5"/>
          </p:nvPr>
        </p:nvSpPr>
        <p:spPr/>
        <p:txBody>
          <a:bodyPr/>
          <a:lstStyle/>
          <a:p>
            <a:fld id="{C08A642B-1D08-47C1-9385-1FDD33F8CE06}" type="slidenum">
              <a:rPr lang="en-US" smtClean="0"/>
              <a:t>2</a:t>
            </a:fld>
            <a:endParaRPr lang="en-US"/>
          </a:p>
        </p:txBody>
      </p:sp>
    </p:spTree>
    <p:extLst>
      <p:ext uri="{BB962C8B-B14F-4D97-AF65-F5344CB8AC3E}">
        <p14:creationId xmlns:p14="http://schemas.microsoft.com/office/powerpoint/2010/main" val="41986158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D978C1A6-BBE9-4961-A96C-F7F5F1B52B77}" type="slidenum">
              <a:rPr lang="zh-CN" altLang="en-US" smtClean="0"/>
              <a:t>3</a:t>
            </a:fld>
            <a:endParaRPr lang="zh-CN" altLang="en-US"/>
          </a:p>
        </p:txBody>
      </p:sp>
    </p:spTree>
    <p:extLst>
      <p:ext uri="{BB962C8B-B14F-4D97-AF65-F5344CB8AC3E}">
        <p14:creationId xmlns:p14="http://schemas.microsoft.com/office/powerpoint/2010/main" val="358356378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altLang="zh-CN" dirty="0" err="1"/>
              <a:t>Anzatz</a:t>
            </a:r>
            <a:r>
              <a:rPr lang="zh-CN" altLang="en-US" dirty="0"/>
              <a:t>：</a:t>
            </a:r>
            <a:r>
              <a:rPr lang="en-US" altLang="zh-CN" dirty="0"/>
              <a:t>an</a:t>
            </a:r>
            <a:r>
              <a:rPr lang="en-US" altLang="zh-CN" baseline="0" dirty="0"/>
              <a:t> educated guess</a:t>
            </a:r>
            <a:endParaRPr lang="en-US" dirty="0"/>
          </a:p>
        </p:txBody>
      </p:sp>
      <p:sp>
        <p:nvSpPr>
          <p:cNvPr id="4" name="Slide Number Placeholder 3"/>
          <p:cNvSpPr>
            <a:spLocks noGrp="1"/>
          </p:cNvSpPr>
          <p:nvPr>
            <p:ph type="sldNum" sz="quarter" idx="10"/>
          </p:nvPr>
        </p:nvSpPr>
        <p:spPr/>
        <p:txBody>
          <a:bodyPr/>
          <a:lstStyle/>
          <a:p>
            <a:fld id="{C08A642B-1D08-47C1-9385-1FDD33F8CE06}" type="slidenum">
              <a:rPr lang="en-US" smtClean="0"/>
              <a:t>5</a:t>
            </a:fld>
            <a:endParaRPr lang="en-US"/>
          </a:p>
        </p:txBody>
      </p:sp>
    </p:spTree>
    <p:extLst>
      <p:ext uri="{BB962C8B-B14F-4D97-AF65-F5344CB8AC3E}">
        <p14:creationId xmlns:p14="http://schemas.microsoft.com/office/powerpoint/2010/main" val="251133083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32"/>
            <a:ext cx="10363200" cy="1470025"/>
          </a:xfrm>
        </p:spPr>
        <p:txBody>
          <a:bodyPr/>
          <a:lstStyle/>
          <a:p>
            <a:r>
              <a:rPr lang="en-US"/>
              <a:t>Click to edit Master title style</a:t>
            </a:r>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9/7/2026</a:t>
            </a:fld>
            <a:endParaRPr lang="en-US"/>
          </a:p>
        </p:txBody>
      </p:sp>
      <p:sp>
        <p:nvSpPr>
          <p:cNvPr id="5" name="Footer Placeholder 4"/>
          <p:cNvSpPr>
            <a:spLocks noGrp="1"/>
          </p:cNvSpPr>
          <p:nvPr>
            <p:ph type="ftr" sz="quarter" idx="11"/>
          </p:nvPr>
        </p:nvSpPr>
        <p:spPr>
          <a:xfrm>
            <a:off x="4165600" y="6356357"/>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04115872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lvl1pPr>
              <a:defRPr sz="3200" b="1">
                <a:latin typeface="+mj-lt"/>
                <a:ea typeface="黑体" panose="02010609060101010101" pitchFamily="49" charset="-122"/>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6529541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7"/>
            <a:ext cx="103632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189" indent="0">
              <a:buNone/>
              <a:defRPr sz="18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9/7/2026</a:t>
            </a:fld>
            <a:endParaRPr lang="en-US"/>
          </a:p>
        </p:txBody>
      </p:sp>
      <p:sp>
        <p:nvSpPr>
          <p:cNvPr id="5" name="Footer Placeholder 4"/>
          <p:cNvSpPr>
            <a:spLocks noGrp="1"/>
          </p:cNvSpPr>
          <p:nvPr>
            <p:ph type="ftr" sz="quarter" idx="11"/>
          </p:nvPr>
        </p:nvSpPr>
        <p:spPr>
          <a:xfrm>
            <a:off x="4165600" y="6356357"/>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28018428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6"/>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9/7/2026</a:t>
            </a:fld>
            <a:endParaRPr lang="en-US"/>
          </a:p>
        </p:txBody>
      </p:sp>
      <p:sp>
        <p:nvSpPr>
          <p:cNvPr id="6" name="Footer Placeholder 5"/>
          <p:cNvSpPr>
            <a:spLocks noGrp="1"/>
          </p:cNvSpPr>
          <p:nvPr>
            <p:ph type="ftr" sz="quarter" idx="11"/>
          </p:nvPr>
        </p:nvSpPr>
        <p:spPr>
          <a:xfrm>
            <a:off x="4165600" y="6356357"/>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395284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72" y="1535113"/>
            <a:ext cx="5389033" cy="63976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72"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9/7/2026</a:t>
            </a:fld>
            <a:endParaRPr lang="en-US"/>
          </a:p>
        </p:txBody>
      </p:sp>
      <p:sp>
        <p:nvSpPr>
          <p:cNvPr id="8" name="Footer Placeholder 7"/>
          <p:cNvSpPr>
            <a:spLocks noGrp="1"/>
          </p:cNvSpPr>
          <p:nvPr>
            <p:ph type="ftr" sz="quarter" idx="11"/>
          </p:nvPr>
        </p:nvSpPr>
        <p:spPr>
          <a:xfrm>
            <a:off x="4165600" y="6356357"/>
            <a:ext cx="3860800" cy="365125"/>
          </a:xfrm>
          <a:prstGeom prst="rect">
            <a:avLst/>
          </a:prstGeom>
        </p:spPr>
        <p:txBody>
          <a:bodyPr/>
          <a:lstStyle/>
          <a:p>
            <a:endParaRPr lang="en-US"/>
          </a:p>
        </p:txBody>
      </p:sp>
      <p:sp>
        <p:nvSpPr>
          <p:cNvPr id="9" name="Slide Number Placeholder 8"/>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487001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9/7/2026</a:t>
            </a:fld>
            <a:endParaRPr lang="en-US"/>
          </a:p>
        </p:txBody>
      </p:sp>
      <p:sp>
        <p:nvSpPr>
          <p:cNvPr id="4" name="Footer Placeholder 3"/>
          <p:cNvSpPr>
            <a:spLocks noGrp="1"/>
          </p:cNvSpPr>
          <p:nvPr>
            <p:ph type="ftr" sz="quarter" idx="11"/>
          </p:nvPr>
        </p:nvSpPr>
        <p:spPr>
          <a:xfrm>
            <a:off x="4165600" y="6356357"/>
            <a:ext cx="3860800" cy="365125"/>
          </a:xfrm>
          <a:prstGeom prst="rect">
            <a:avLst/>
          </a:prstGeom>
        </p:spPr>
        <p:txBody>
          <a:bodyPr/>
          <a:lstStyle/>
          <a:p>
            <a:endParaRPr lang="en-US"/>
          </a:p>
        </p:txBody>
      </p:sp>
      <p:sp>
        <p:nvSpPr>
          <p:cNvPr id="5" name="Slide Number Placeholder 4"/>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723019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9/7/2026</a:t>
            </a:fld>
            <a:endParaRPr lang="en-US"/>
          </a:p>
        </p:txBody>
      </p:sp>
      <p:sp>
        <p:nvSpPr>
          <p:cNvPr id="3" name="Footer Placeholder 2"/>
          <p:cNvSpPr>
            <a:spLocks noGrp="1"/>
          </p:cNvSpPr>
          <p:nvPr>
            <p:ph type="ftr" sz="quarter" idx="11"/>
          </p:nvPr>
        </p:nvSpPr>
        <p:spPr>
          <a:xfrm>
            <a:off x="4165600" y="6356357"/>
            <a:ext cx="3860800" cy="365125"/>
          </a:xfrm>
          <a:prstGeom prst="rect">
            <a:avLst/>
          </a:prstGeom>
        </p:spPr>
        <p:txBody>
          <a:bodyPr/>
          <a:lstStyle/>
          <a:p>
            <a:endParaRPr lang="en-US"/>
          </a:p>
        </p:txBody>
      </p:sp>
      <p:sp>
        <p:nvSpPr>
          <p:cNvPr id="4" name="Slide Number Placeholder 3"/>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994952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3" y="273050"/>
            <a:ext cx="4011084"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4766733" y="273057"/>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3" y="1435103"/>
            <a:ext cx="4011084" cy="4691063"/>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9/7/2026</a:t>
            </a:fld>
            <a:endParaRPr lang="en-US"/>
          </a:p>
        </p:txBody>
      </p:sp>
      <p:sp>
        <p:nvSpPr>
          <p:cNvPr id="6" name="Footer Placeholder 5"/>
          <p:cNvSpPr>
            <a:spLocks noGrp="1"/>
          </p:cNvSpPr>
          <p:nvPr>
            <p:ph type="ftr" sz="quarter" idx="11"/>
          </p:nvPr>
        </p:nvSpPr>
        <p:spPr>
          <a:xfrm>
            <a:off x="4165600" y="6356357"/>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20282003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9/7/2026</a:t>
            </a:fld>
            <a:endParaRPr lang="en-US"/>
          </a:p>
        </p:txBody>
      </p:sp>
      <p:sp>
        <p:nvSpPr>
          <p:cNvPr id="6" name="Footer Placeholder 5"/>
          <p:cNvSpPr>
            <a:spLocks noGrp="1"/>
          </p:cNvSpPr>
          <p:nvPr>
            <p:ph type="ftr" sz="quarter" idx="11"/>
          </p:nvPr>
        </p:nvSpPr>
        <p:spPr>
          <a:xfrm>
            <a:off x="4165600" y="6356357"/>
            <a:ext cx="3860800" cy="365125"/>
          </a:xfrm>
          <a:prstGeom prst="rect">
            <a:avLst/>
          </a:prstGeom>
        </p:spPr>
        <p:txBody>
          <a:bodyPr/>
          <a:lstStyle/>
          <a:p>
            <a:endParaRPr lang="en-US"/>
          </a:p>
        </p:txBody>
      </p:sp>
      <p:sp>
        <p:nvSpPr>
          <p:cNvPr id="7" name="Slide Number Placeholder 6"/>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39046543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9/7/2026</a:t>
            </a:fld>
            <a:endParaRPr lang="en-US"/>
          </a:p>
        </p:txBody>
      </p:sp>
      <p:sp>
        <p:nvSpPr>
          <p:cNvPr id="5" name="Footer Placeholder 4"/>
          <p:cNvSpPr>
            <a:spLocks noGrp="1"/>
          </p:cNvSpPr>
          <p:nvPr>
            <p:ph type="ftr" sz="quarter" idx="11"/>
          </p:nvPr>
        </p:nvSpPr>
        <p:spPr>
          <a:xfrm>
            <a:off x="4165600" y="6356357"/>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41048896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5"/>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5"/>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609600" y="6356357"/>
            <a:ext cx="2844800" cy="365125"/>
          </a:xfrm>
          <a:prstGeom prst="rect">
            <a:avLst/>
          </a:prstGeom>
        </p:spPr>
        <p:txBody>
          <a:bodyPr/>
          <a:lstStyle/>
          <a:p>
            <a:fld id="{FBD3D0E2-FFB6-45FA-A865-B24E917AD09C}" type="datetimeFigureOut">
              <a:rPr lang="en-US" smtClean="0"/>
              <a:t>9/7/2026</a:t>
            </a:fld>
            <a:endParaRPr lang="en-US"/>
          </a:p>
        </p:txBody>
      </p:sp>
      <p:sp>
        <p:nvSpPr>
          <p:cNvPr id="5" name="Footer Placeholder 4"/>
          <p:cNvSpPr>
            <a:spLocks noGrp="1"/>
          </p:cNvSpPr>
          <p:nvPr>
            <p:ph type="ftr" sz="quarter" idx="11"/>
          </p:nvPr>
        </p:nvSpPr>
        <p:spPr>
          <a:xfrm>
            <a:off x="4165600" y="6356357"/>
            <a:ext cx="3860800" cy="365125"/>
          </a:xfrm>
          <a:prstGeom prst="rect">
            <a:avLst/>
          </a:prstGeom>
        </p:spPr>
        <p:txBody>
          <a:bodyPr/>
          <a:lstStyle/>
          <a:p>
            <a:endParaRPr lang="en-US"/>
          </a:p>
        </p:txBody>
      </p:sp>
      <p:sp>
        <p:nvSpPr>
          <p:cNvPr id="6" name="Slide Number Placeholder 5"/>
          <p:cNvSpPr>
            <a:spLocks noGrp="1"/>
          </p:cNvSpPr>
          <p:nvPr>
            <p:ph type="sldNum" sz="quarter" idx="12"/>
          </p:nvPr>
        </p:nvSpPr>
        <p:spPr>
          <a:xfrm>
            <a:off x="8737600" y="6356357"/>
            <a:ext cx="2844800" cy="365125"/>
          </a:xfrm>
          <a:prstGeom prst="rect">
            <a:avLst/>
          </a:prstGeom>
        </p:spPr>
        <p:txBody>
          <a:bodyPr/>
          <a:lstStyle/>
          <a:p>
            <a:fld id="{A288CA69-4B7E-474A-B0AD-D23A2F48DB42}" type="slidenum">
              <a:rPr lang="en-US" smtClean="0"/>
              <a:t>‹#›</a:t>
            </a:fld>
            <a:endParaRPr lang="en-US"/>
          </a:p>
        </p:txBody>
      </p:sp>
    </p:spTree>
    <p:extLst>
      <p:ext uri="{BB962C8B-B14F-4D97-AF65-F5344CB8AC3E}">
        <p14:creationId xmlns:p14="http://schemas.microsoft.com/office/powerpoint/2010/main" val="11454256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3392" y="188640"/>
            <a:ext cx="10972800" cy="576064"/>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609600" y="908720"/>
            <a:ext cx="10972800" cy="5616624"/>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966028562"/>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377" rtl="0" eaLnBrk="1" latinLnBrk="0" hangingPunct="1">
        <a:spcBef>
          <a:spcPct val="0"/>
        </a:spcBef>
        <a:buNone/>
        <a:defRPr sz="4400" kern="1200">
          <a:solidFill>
            <a:schemeClr val="tx1"/>
          </a:solidFill>
          <a:latin typeface="+mj-lt"/>
          <a:ea typeface="+mj-ea"/>
          <a:cs typeface="+mj-cs"/>
        </a:defRPr>
      </a:lvl1pPr>
    </p:titleStyle>
    <p:bodyStyle>
      <a:lvl1pPr marL="342891" indent="-342891" algn="l" defTabSz="914377"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32" indent="-285744" algn="l" defTabSz="914377"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2971" indent="-228594" algn="l" defTabSz="914377"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160"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349"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537"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726"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8914"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103" indent="-228594" algn="l" defTabSz="914377"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1.bin"/><Relationship Id="rId13" Type="http://schemas.openxmlformats.org/officeDocument/2006/relationships/image" Target="../media/image8.png"/><Relationship Id="rId3" Type="http://schemas.openxmlformats.org/officeDocument/2006/relationships/notesSlide" Target="../notesSlides/notesSlide2.xml"/><Relationship Id="rId7" Type="http://schemas.openxmlformats.org/officeDocument/2006/relationships/image" Target="../media/image5.png"/><Relationship Id="rId12"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vmlDrawing" Target="../drawings/vmlDrawing1.vml"/><Relationship Id="rId11" Type="http://schemas.openxmlformats.org/officeDocument/2006/relationships/image" Target="../media/image10.png"/><Relationship Id="rId5" Type="http://schemas.openxmlformats.org/officeDocument/2006/relationships/image" Target="../media/image2.png"/><Relationship Id="rId10" Type="http://schemas.openxmlformats.org/officeDocument/2006/relationships/image" Target="../media/image6.png"/><Relationship Id="rId4" Type="http://schemas.openxmlformats.org/officeDocument/2006/relationships/image" Target="../media/image1.png"/><Relationship Id="rId9" Type="http://schemas.openxmlformats.org/officeDocument/2006/relationships/image" Target="../media/image7.wmf"/></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0.wmf"/><Relationship Id="rId3" Type="http://schemas.openxmlformats.org/officeDocument/2006/relationships/notesSlide" Target="../notesSlides/notesSlide3.xml"/><Relationship Id="rId7" Type="http://schemas.openxmlformats.org/officeDocument/2006/relationships/image" Target="../media/image12.png"/><Relationship Id="rId12" Type="http://schemas.openxmlformats.org/officeDocument/2006/relationships/oleObject" Target="../embeddings/oleObject4.bin"/><Relationship Id="rId2" Type="http://schemas.openxmlformats.org/officeDocument/2006/relationships/slideLayout" Target="../slideLayouts/slideLayout7.xml"/><Relationship Id="rId16" Type="http://schemas.openxmlformats.org/officeDocument/2006/relationships/image" Target="../media/image13.png"/><Relationship Id="rId1" Type="http://schemas.openxmlformats.org/officeDocument/2006/relationships/vmlDrawing" Target="../drawings/vmlDrawing2.vml"/><Relationship Id="rId6" Type="http://schemas.openxmlformats.org/officeDocument/2006/relationships/image" Target="../media/image8.wmf"/><Relationship Id="rId11" Type="http://schemas.openxmlformats.org/officeDocument/2006/relationships/image" Target="../media/image9.png"/><Relationship Id="rId5" Type="http://schemas.openxmlformats.org/officeDocument/2006/relationships/oleObject" Target="../embeddings/oleObject2.bin"/><Relationship Id="rId15" Type="http://schemas.openxmlformats.org/officeDocument/2006/relationships/image" Target="../media/image10.wmf"/><Relationship Id="rId10" Type="http://schemas.openxmlformats.org/officeDocument/2006/relationships/oleObject" Target="../embeddings/oleObject3.bin"/><Relationship Id="rId4" Type="http://schemas.openxmlformats.org/officeDocument/2006/relationships/image" Target="../media/image11.png"/><Relationship Id="rId9" Type="http://schemas.openxmlformats.org/officeDocument/2006/relationships/image" Target="../media/image9.png"/><Relationship Id="rId14"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410.png"/><Relationship Id="rId13" Type="http://schemas.openxmlformats.org/officeDocument/2006/relationships/image" Target="../media/image840.png"/><Relationship Id="rId18" Type="http://schemas.openxmlformats.org/officeDocument/2006/relationships/image" Target="../media/image17.wmf"/><Relationship Id="rId3" Type="http://schemas.openxmlformats.org/officeDocument/2006/relationships/notesSlide" Target="../notesSlides/notesSlide4.xml"/><Relationship Id="rId7" Type="http://schemas.openxmlformats.org/officeDocument/2006/relationships/image" Target="../media/image400.png"/><Relationship Id="rId17" Type="http://schemas.openxmlformats.org/officeDocument/2006/relationships/oleObject" Target="../embeddings/oleObject6.bin"/><Relationship Id="rId2" Type="http://schemas.openxmlformats.org/officeDocument/2006/relationships/slideLayout" Target="../slideLayouts/slideLayout2.xml"/><Relationship Id="rId16" Type="http://schemas.openxmlformats.org/officeDocument/2006/relationships/image" Target="../media/image16.wmf"/><Relationship Id="rId1" Type="http://schemas.openxmlformats.org/officeDocument/2006/relationships/vmlDrawing" Target="../drawings/vmlDrawing3.vml"/><Relationship Id="rId6" Type="http://schemas.openxmlformats.org/officeDocument/2006/relationships/image" Target="../media/image18.png"/><Relationship Id="rId5" Type="http://schemas.openxmlformats.org/officeDocument/2006/relationships/image" Target="../media/image380.png"/><Relationship Id="rId15" Type="http://schemas.openxmlformats.org/officeDocument/2006/relationships/oleObject" Target="../embeddings/oleObject5.bin"/><Relationship Id="rId10" Type="http://schemas.openxmlformats.org/officeDocument/2006/relationships/image" Target="../media/image430.png"/><Relationship Id="rId4" Type="http://schemas.openxmlformats.org/officeDocument/2006/relationships/image" Target="../media/image370.png"/><Relationship Id="rId9" Type="http://schemas.openxmlformats.org/officeDocument/2006/relationships/image" Target="../media/image19.png"/><Relationship Id="rId14" Type="http://schemas.openxmlformats.org/officeDocument/2006/relationships/image" Target="../media/image850.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440.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22.emf"/><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B858C60-974E-47E3-9225-CDF5984B1211}"/>
              </a:ext>
            </a:extLst>
          </p:cNvPr>
          <p:cNvGrpSpPr/>
          <p:nvPr/>
        </p:nvGrpSpPr>
        <p:grpSpPr>
          <a:xfrm>
            <a:off x="1483476" y="1327285"/>
            <a:ext cx="10409862" cy="5315598"/>
            <a:chOff x="1305503" y="1327285"/>
            <a:chExt cx="10409862" cy="5315598"/>
          </a:xfrm>
        </p:grpSpPr>
        <p:pic>
          <p:nvPicPr>
            <p:cNvPr id="3164" name="Picture 9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05503" y="1327285"/>
              <a:ext cx="7844304" cy="53155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8B844449-03C9-4BA1-B6EE-756906F2D8AB}"/>
                    </a:ext>
                  </a:extLst>
                </p:cNvPr>
                <p:cNvSpPr/>
                <p:nvPr/>
              </p:nvSpPr>
              <p:spPr>
                <a:xfrm>
                  <a:off x="8061073" y="4005415"/>
                  <a:ext cx="3654292" cy="1231106"/>
                </a:xfrm>
                <a:prstGeom prst="rect">
                  <a:avLst/>
                </a:prstGeom>
              </p:spPr>
              <p:txBody>
                <a:bodyPr wrap="square">
                  <a:spAutoFit/>
                </a:bodyPr>
                <a:lstStyle/>
                <a:p>
                  <a:pPr algn="ctr"/>
                  <a:r>
                    <a:rPr lang="zh-CN" altLang="en-US" dirty="0">
                      <a:latin typeface="黑体" panose="02010609060101010101" pitchFamily="49" charset="-122"/>
                      <a:ea typeface="黑体" panose="02010609060101010101" pitchFamily="49" charset="-122"/>
                    </a:rPr>
                    <a:t>垂直磁场方向观测（横向）</a:t>
                  </a:r>
                  <a:endParaRPr lang="en-US" altLang="zh-CN" dirty="0">
                    <a:latin typeface="黑体" panose="02010609060101010101" pitchFamily="49" charset="-122"/>
                    <a:ea typeface="黑体" panose="02010609060101010101" pitchFamily="49" charset="-122"/>
                  </a:endParaRPr>
                </a:p>
                <a:p>
                  <a:pPr marL="285750" indent="-285750">
                    <a:buFont typeface="Arial" panose="020B0604020202020204" pitchFamily="34" charset="0"/>
                    <a:buChar char="•"/>
                  </a:pPr>
                  <a14:m>
                    <m:oMath xmlns:m="http://schemas.openxmlformats.org/officeDocument/2006/math">
                      <m:sSub>
                        <m:sSubPr>
                          <m:ctrlPr>
                            <a:rPr lang="en-US" altLang="zh-CN" b="0" i="1" smtClean="0">
                              <a:latin typeface="Cambria Math" panose="02040503050406030204" pitchFamily="18" charset="0"/>
                              <a:ea typeface="黑体" panose="02010609060101010101" pitchFamily="49" charset="-122"/>
                            </a:rPr>
                          </m:ctrlPr>
                        </m:sSubPr>
                        <m:e>
                          <m:r>
                            <a:rPr lang="en-US" altLang="zh-CN" b="0" i="1" smtClean="0">
                              <a:latin typeface="Cambria Math" panose="02040503050406030204" pitchFamily="18" charset="0"/>
                              <a:ea typeface="黑体" panose="02010609060101010101" pitchFamily="49" charset="-122"/>
                            </a:rPr>
                            <m:t>𝜔</m:t>
                          </m:r>
                        </m:e>
                        <m:sub>
                          <m:r>
                            <a:rPr lang="en-US" altLang="zh-CN" b="0" i="1" smtClean="0">
                              <a:latin typeface="Cambria Math" panose="02040503050406030204" pitchFamily="18" charset="0"/>
                              <a:ea typeface="黑体" panose="02010609060101010101" pitchFamily="49" charset="-122"/>
                            </a:rPr>
                            <m:t>0</m:t>
                          </m:r>
                        </m:sub>
                      </m:sSub>
                    </m:oMath>
                  </a14:m>
                  <a:r>
                    <a:rPr lang="zh-CN" altLang="en-US" dirty="0">
                      <a:latin typeface="黑体" panose="02010609060101010101" pitchFamily="49" charset="-122"/>
                      <a:ea typeface="黑体" panose="02010609060101010101" pitchFamily="49" charset="-122"/>
                    </a:rPr>
                    <a:t>，平行于磁场的线偏振（</a:t>
                  </a:r>
                  <a14:m>
                    <m:oMath xmlns:m="http://schemas.openxmlformats.org/officeDocument/2006/math">
                      <m:r>
                        <a:rPr lang="en-US" altLang="zh-CN" b="0" i="1" smtClean="0">
                          <a:latin typeface="Cambria Math" panose="02040503050406030204" pitchFamily="18" charset="0"/>
                          <a:ea typeface="黑体" panose="02010609060101010101" pitchFamily="49" charset="-122"/>
                        </a:rPr>
                        <m:t>𝜋</m:t>
                      </m:r>
                    </m:oMath>
                  </a14:m>
                  <a:r>
                    <a:rPr lang="zh-CN" altLang="en-US" dirty="0">
                      <a:latin typeface="黑体" panose="02010609060101010101" pitchFamily="49" charset="-122"/>
                      <a:ea typeface="黑体" panose="02010609060101010101" pitchFamily="49" charset="-122"/>
                    </a:rPr>
                    <a:t>光）</a:t>
                  </a:r>
                  <a:endParaRPr lang="en-US" altLang="zh-CN" dirty="0">
                    <a:latin typeface="黑体" panose="02010609060101010101" pitchFamily="49" charset="-122"/>
                    <a:ea typeface="黑体" panose="02010609060101010101" pitchFamily="49" charset="-122"/>
                  </a:endParaRPr>
                </a:p>
                <a:p>
                  <a:pPr marL="285750" indent="-285750">
                    <a:buFont typeface="Arial" panose="020B0604020202020204" pitchFamily="34" charset="0"/>
                    <a:buChar char="•"/>
                  </a:pPr>
                  <a14:m>
                    <m:oMath xmlns:m="http://schemas.openxmlformats.org/officeDocument/2006/math">
                      <m:sSub>
                        <m:sSubPr>
                          <m:ctrlPr>
                            <a:rPr lang="en-US" altLang="zh-CN" b="0" i="1" smtClean="0">
                              <a:latin typeface="Cambria Math" panose="02040503050406030204" pitchFamily="18" charset="0"/>
                              <a:ea typeface="黑体" panose="02010609060101010101" pitchFamily="49" charset="-122"/>
                            </a:rPr>
                          </m:ctrlPr>
                        </m:sSubPr>
                        <m:e>
                          <m:r>
                            <a:rPr lang="en-US" altLang="zh-CN" b="0" i="1" smtClean="0">
                              <a:latin typeface="Cambria Math" panose="02040503050406030204" pitchFamily="18" charset="0"/>
                              <a:ea typeface="黑体" panose="02010609060101010101" pitchFamily="49" charset="-122"/>
                            </a:rPr>
                            <m:t>𝜔</m:t>
                          </m:r>
                        </m:e>
                        <m:sub>
                          <m:r>
                            <a:rPr lang="en-US" altLang="zh-CN" b="0" i="1" smtClean="0">
                              <a:latin typeface="Cambria Math" panose="02040503050406030204" pitchFamily="18" charset="0"/>
                              <a:ea typeface="黑体" panose="02010609060101010101" pitchFamily="49" charset="-122"/>
                            </a:rPr>
                            <m:t>−</m:t>
                          </m:r>
                        </m:sub>
                      </m:sSub>
                    </m:oMath>
                  </a14:m>
                  <a:r>
                    <a:rPr lang="zh-CN" altLang="en-US" dirty="0">
                      <a:latin typeface="黑体" panose="02010609060101010101" pitchFamily="49" charset="-122"/>
                      <a:ea typeface="黑体" panose="02010609060101010101" pitchFamily="49" charset="-122"/>
                    </a:rPr>
                    <a:t>，垂直于磁场的线偏振（</a:t>
                  </a:r>
                  <a14:m>
                    <m:oMath xmlns:m="http://schemas.openxmlformats.org/officeDocument/2006/math">
                      <m:r>
                        <a:rPr lang="en-US" altLang="zh-CN" b="0" i="1" smtClean="0">
                          <a:latin typeface="Cambria Math" panose="02040503050406030204" pitchFamily="18" charset="0"/>
                          <a:ea typeface="黑体" panose="02010609060101010101" pitchFamily="49" charset="-122"/>
                        </a:rPr>
                        <m:t>𝜎</m:t>
                      </m:r>
                    </m:oMath>
                  </a14:m>
                  <a:r>
                    <a:rPr lang="zh-CN" altLang="en-US" dirty="0">
                      <a:latin typeface="黑体" panose="02010609060101010101" pitchFamily="49" charset="-122"/>
                      <a:ea typeface="黑体" panose="02010609060101010101" pitchFamily="49" charset="-122"/>
                    </a:rPr>
                    <a:t>光）</a:t>
                  </a:r>
                  <a:endParaRPr lang="en-US" altLang="zh-CN" b="0" i="1" dirty="0">
                    <a:latin typeface="Cambria Math" panose="02040503050406030204" pitchFamily="18" charset="0"/>
                    <a:ea typeface="黑体" panose="02010609060101010101" pitchFamily="49" charset="-122"/>
                  </a:endParaRPr>
                </a:p>
                <a:p>
                  <a:pPr marL="285750" indent="-285750">
                    <a:buFont typeface="Arial" panose="020B0604020202020204" pitchFamily="34" charset="0"/>
                    <a:buChar char="•"/>
                  </a:pPr>
                  <a14:m>
                    <m:oMath xmlns:m="http://schemas.openxmlformats.org/officeDocument/2006/math">
                      <m:sSub>
                        <m:sSubPr>
                          <m:ctrlPr>
                            <a:rPr lang="en-US" altLang="zh-CN" b="0" i="1" smtClean="0">
                              <a:latin typeface="Cambria Math" panose="02040503050406030204" pitchFamily="18" charset="0"/>
                              <a:ea typeface="黑体" panose="02010609060101010101" pitchFamily="49" charset="-122"/>
                            </a:rPr>
                          </m:ctrlPr>
                        </m:sSubPr>
                        <m:e>
                          <m:r>
                            <a:rPr lang="en-US" altLang="zh-CN" b="0" i="1" smtClean="0">
                              <a:latin typeface="Cambria Math" panose="02040503050406030204" pitchFamily="18" charset="0"/>
                              <a:ea typeface="黑体" panose="02010609060101010101" pitchFamily="49" charset="-122"/>
                            </a:rPr>
                            <m:t>𝜔</m:t>
                          </m:r>
                        </m:e>
                        <m:sub>
                          <m:r>
                            <a:rPr lang="en-US" altLang="zh-CN" b="0" i="1" smtClean="0">
                              <a:latin typeface="Cambria Math" panose="02040503050406030204" pitchFamily="18" charset="0"/>
                              <a:ea typeface="黑体" panose="02010609060101010101" pitchFamily="49" charset="-122"/>
                            </a:rPr>
                            <m:t>+</m:t>
                          </m:r>
                        </m:sub>
                      </m:sSub>
                    </m:oMath>
                  </a14:m>
                  <a:r>
                    <a:rPr lang="zh-CN" altLang="en-US" dirty="0">
                      <a:latin typeface="黑体" panose="02010609060101010101" pitchFamily="49" charset="-122"/>
                      <a:ea typeface="黑体" panose="02010609060101010101" pitchFamily="49" charset="-122"/>
                    </a:rPr>
                    <a:t>，垂直于磁场的线偏振（</a:t>
                  </a:r>
                  <a14:m>
                    <m:oMath xmlns:m="http://schemas.openxmlformats.org/officeDocument/2006/math">
                      <m:r>
                        <a:rPr lang="en-US" altLang="zh-CN" i="1">
                          <a:latin typeface="Cambria Math" panose="02040503050406030204" pitchFamily="18" charset="0"/>
                          <a:ea typeface="黑体" panose="02010609060101010101" pitchFamily="49" charset="-122"/>
                        </a:rPr>
                        <m:t>𝜎</m:t>
                      </m:r>
                    </m:oMath>
                  </a14:m>
                  <a:r>
                    <a:rPr lang="zh-CN" altLang="en-US" dirty="0">
                      <a:latin typeface="黑体" panose="02010609060101010101" pitchFamily="49" charset="-122"/>
                      <a:ea typeface="黑体" panose="02010609060101010101" pitchFamily="49" charset="-122"/>
                    </a:rPr>
                    <a:t>光）</a:t>
                  </a:r>
                  <a:endParaRPr lang="en-US" altLang="zh-CN" dirty="0">
                    <a:latin typeface="黑体" panose="02010609060101010101" pitchFamily="49" charset="-122"/>
                    <a:ea typeface="黑体" panose="02010609060101010101" pitchFamily="49" charset="-122"/>
                  </a:endParaRPr>
                </a:p>
              </p:txBody>
            </p:sp>
          </mc:Choice>
          <mc:Fallback xmlns="">
            <p:sp>
              <p:nvSpPr>
                <p:cNvPr id="6" name="Rectangle 5">
                  <a:extLst>
                    <a:ext uri="{FF2B5EF4-FFF2-40B4-BE49-F238E27FC236}">
                      <a16:creationId xmlns:a16="http://schemas.microsoft.com/office/drawing/2014/main" id="{8B844449-03C9-4BA1-B6EE-756906F2D8AB}"/>
                    </a:ext>
                  </a:extLst>
                </p:cNvPr>
                <p:cNvSpPr>
                  <a:spLocks noRot="1" noChangeAspect="1" noMove="1" noResize="1" noEditPoints="1" noAdjustHandles="1" noChangeArrowheads="1" noChangeShapeType="1" noTextEdit="1"/>
                </p:cNvSpPr>
                <p:nvPr/>
              </p:nvSpPr>
              <p:spPr>
                <a:xfrm>
                  <a:off x="8061073" y="4005415"/>
                  <a:ext cx="3654292" cy="1231106"/>
                </a:xfrm>
                <a:prstGeom prst="rect">
                  <a:avLst/>
                </a:prstGeom>
                <a:blipFill>
                  <a:blip r:embed="rId4"/>
                  <a:stretch>
                    <a:fillRect l="-1169" t="-2475" r="-7513" b="-346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C0E765D7-8C34-45E8-A463-D00CAA99CD4E}"/>
                    </a:ext>
                  </a:extLst>
                </p:cNvPr>
                <p:cNvSpPr/>
                <p:nvPr/>
              </p:nvSpPr>
              <p:spPr>
                <a:xfrm>
                  <a:off x="4916885" y="1572636"/>
                  <a:ext cx="5136247" cy="1015663"/>
                </a:xfrm>
                <a:prstGeom prst="rect">
                  <a:avLst/>
                </a:prstGeom>
              </p:spPr>
              <p:txBody>
                <a:bodyPr wrap="square">
                  <a:spAutoFit/>
                </a:bodyPr>
                <a:lstStyle/>
                <a:p>
                  <a:pPr algn="ctr"/>
                  <a:r>
                    <a:rPr lang="zh-CN" altLang="en-US" sz="2000" dirty="0">
                      <a:latin typeface="黑体" panose="02010609060101010101" pitchFamily="49" charset="-122"/>
                      <a:ea typeface="黑体" panose="02010609060101010101" pitchFamily="49" charset="-122"/>
                    </a:rPr>
                    <a:t>沿磁场方向观测（纵向）</a:t>
                  </a:r>
                  <a:endParaRPr lang="en-US" altLang="zh-CN" sz="2000" dirty="0">
                    <a:latin typeface="黑体" panose="02010609060101010101" pitchFamily="49" charset="-122"/>
                    <a:ea typeface="黑体" panose="02010609060101010101" pitchFamily="49" charset="-122"/>
                  </a:endParaRPr>
                </a:p>
                <a:p>
                  <a:pPr marL="342900" indent="-342900">
                    <a:buFont typeface="Arial" panose="020B0604020202020204" pitchFamily="34" charset="0"/>
                    <a:buChar char="•"/>
                  </a:pPr>
                  <a:r>
                    <a:rPr lang="zh-CN" altLang="en-US" sz="2000" dirty="0">
                      <a:latin typeface="黑体" panose="02010609060101010101" pitchFamily="49" charset="-122"/>
                      <a:ea typeface="黑体" panose="02010609060101010101" pitchFamily="49" charset="-122"/>
                    </a:rPr>
                    <a:t>有两个频率</a:t>
                  </a:r>
                  <a14:m>
                    <m:oMath xmlns:m="http://schemas.openxmlformats.org/officeDocument/2006/math">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𝜔</m:t>
                          </m:r>
                        </m:e>
                        <m:sub>
                          <m:r>
                            <a:rPr lang="en-US" altLang="zh-CN" sz="2000" b="0" i="1" smtClean="0">
                              <a:latin typeface="Cambria Math" panose="02040503050406030204" pitchFamily="18" charset="0"/>
                              <a:ea typeface="黑体" panose="02010609060101010101" pitchFamily="49" charset="-122"/>
                            </a:rPr>
                            <m:t>−</m:t>
                          </m:r>
                        </m:sub>
                      </m:sSub>
                    </m:oMath>
                  </a14:m>
                  <a:r>
                    <a:rPr lang="en-US" altLang="zh-CN" sz="2000" dirty="0">
                      <a:latin typeface="黑体" panose="02010609060101010101" pitchFamily="49" charset="-122"/>
                      <a:ea typeface="黑体" panose="02010609060101010101" pitchFamily="49" charset="-122"/>
                    </a:rPr>
                    <a:t>,</a:t>
                  </a:r>
                  <a14:m>
                    <m:oMath xmlns:m="http://schemas.openxmlformats.org/officeDocument/2006/math">
                      <m:sSub>
                        <m:sSubPr>
                          <m:ctrlPr>
                            <a:rPr lang="en-US" altLang="zh-CN" sz="2000" b="0" i="1" dirty="0" smtClean="0">
                              <a:latin typeface="Cambria Math" panose="02040503050406030204" pitchFamily="18" charset="0"/>
                              <a:ea typeface="黑体" panose="02010609060101010101" pitchFamily="49" charset="-122"/>
                            </a:rPr>
                          </m:ctrlPr>
                        </m:sSubPr>
                        <m:e>
                          <m:r>
                            <a:rPr lang="en-US" altLang="zh-CN" sz="2000" b="0" i="1" dirty="0" smtClean="0">
                              <a:latin typeface="Cambria Math" panose="02040503050406030204" pitchFamily="18" charset="0"/>
                              <a:ea typeface="黑体" panose="02010609060101010101" pitchFamily="49" charset="-122"/>
                            </a:rPr>
                            <m:t>𝜔</m:t>
                          </m:r>
                        </m:e>
                        <m:sub>
                          <m:r>
                            <a:rPr lang="en-US" altLang="zh-CN" sz="2000" b="0" i="1" dirty="0" smtClean="0">
                              <a:latin typeface="Cambria Math" panose="02040503050406030204" pitchFamily="18" charset="0"/>
                              <a:ea typeface="黑体" panose="02010609060101010101" pitchFamily="49" charset="-122"/>
                            </a:rPr>
                            <m:t>+</m:t>
                          </m:r>
                        </m:sub>
                      </m:sSub>
                    </m:oMath>
                  </a14:m>
                  <a:r>
                    <a:rPr lang="zh-CN" altLang="en-US" sz="2000" dirty="0">
                      <a:latin typeface="黑体" panose="02010609060101010101" pitchFamily="49" charset="-122"/>
                      <a:ea typeface="黑体" panose="02010609060101010101" pitchFamily="49" charset="-122"/>
                    </a:rPr>
                    <a:t>，对称分布在</a:t>
                  </a:r>
                  <a14:m>
                    <m:oMath xmlns:m="http://schemas.openxmlformats.org/officeDocument/2006/math">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𝜔</m:t>
                          </m:r>
                        </m:e>
                        <m:sub>
                          <m:r>
                            <a:rPr lang="en-US" altLang="zh-CN" sz="2000" b="0" i="1" dirty="0" smtClean="0">
                              <a:latin typeface="Cambria Math" panose="02040503050406030204" pitchFamily="18" charset="0"/>
                            </a:rPr>
                            <m:t>0</m:t>
                          </m:r>
                        </m:sub>
                      </m:sSub>
                    </m:oMath>
                  </a14:m>
                  <a:r>
                    <a:rPr lang="zh-CN" altLang="en-US" sz="2000" dirty="0">
                      <a:latin typeface="黑体" panose="02010609060101010101" pitchFamily="49" charset="-122"/>
                      <a:ea typeface="黑体" panose="02010609060101010101" pitchFamily="49" charset="-122"/>
                    </a:rPr>
                    <a:t>两边</a:t>
                  </a:r>
                  <a:endParaRPr lang="en-US" altLang="zh-CN" sz="2000" dirty="0">
                    <a:latin typeface="黑体" panose="02010609060101010101" pitchFamily="49" charset="-122"/>
                    <a:ea typeface="黑体" panose="02010609060101010101" pitchFamily="49" charset="-122"/>
                  </a:endParaRPr>
                </a:p>
                <a:p>
                  <a:pPr marL="342900" indent="-342900">
                    <a:buFont typeface="Arial" panose="020B0604020202020204" pitchFamily="34" charset="0"/>
                    <a:buChar char="•"/>
                  </a:pPr>
                  <a:r>
                    <a:rPr lang="zh-CN" altLang="en-US" sz="2000" dirty="0">
                      <a:latin typeface="黑体" panose="02010609060101010101" pitchFamily="49" charset="-122"/>
                      <a:ea typeface="黑体" panose="02010609060101010101" pitchFamily="49" charset="-122"/>
                    </a:rPr>
                    <a:t>偏振分别为左旋和右旋 </a:t>
                  </a:r>
                  <a:r>
                    <a:rPr lang="en-US" altLang="zh-CN" sz="2000" dirty="0">
                      <a:latin typeface="黑体" panose="02010609060101010101" pitchFamily="49" charset="-122"/>
                      <a:ea typeface="黑体" panose="02010609060101010101" pitchFamily="49" charset="-122"/>
                    </a:rPr>
                    <a:t>(</a:t>
                  </a:r>
                  <a14:m>
                    <m:oMath xmlns:m="http://schemas.openxmlformats.org/officeDocument/2006/math">
                      <m:r>
                        <a:rPr lang="en-US" altLang="zh-CN" sz="2000" b="0" i="1" smtClean="0">
                          <a:latin typeface="Cambria Math" panose="02040503050406030204" pitchFamily="18" charset="0"/>
                          <a:ea typeface="黑体" panose="02010609060101010101" pitchFamily="49" charset="-122"/>
                        </a:rPr>
                        <m:t>𝜎</m:t>
                      </m:r>
                    </m:oMath>
                  </a14:m>
                  <a:r>
                    <a:rPr lang="zh-CN" altLang="en-US" sz="2000" dirty="0">
                      <a:latin typeface="黑体" panose="02010609060101010101" pitchFamily="49" charset="-122"/>
                      <a:ea typeface="黑体" panose="02010609060101010101" pitchFamily="49" charset="-122"/>
                    </a:rPr>
                    <a:t>光）</a:t>
                  </a:r>
                  <a:endParaRPr lang="en-US" altLang="zh-CN" sz="2000" dirty="0">
                    <a:latin typeface="黑体" panose="02010609060101010101" pitchFamily="49" charset="-122"/>
                    <a:ea typeface="黑体" panose="02010609060101010101" pitchFamily="49" charset="-122"/>
                  </a:endParaRPr>
                </a:p>
              </p:txBody>
            </p:sp>
          </mc:Choice>
          <mc:Fallback xmlns="">
            <p:sp>
              <p:nvSpPr>
                <p:cNvPr id="5" name="Rectangle 4">
                  <a:extLst>
                    <a:ext uri="{FF2B5EF4-FFF2-40B4-BE49-F238E27FC236}">
                      <a16:creationId xmlns:a16="http://schemas.microsoft.com/office/drawing/2014/main" id="{C0E765D7-8C34-45E8-A463-D00CAA99CD4E}"/>
                    </a:ext>
                  </a:extLst>
                </p:cNvPr>
                <p:cNvSpPr>
                  <a:spLocks noRot="1" noChangeAspect="1" noMove="1" noResize="1" noEditPoints="1" noAdjustHandles="1" noChangeArrowheads="1" noChangeShapeType="1" noTextEdit="1"/>
                </p:cNvSpPr>
                <p:nvPr/>
              </p:nvSpPr>
              <p:spPr>
                <a:xfrm>
                  <a:off x="4916885" y="1572636"/>
                  <a:ext cx="5136247" cy="1015663"/>
                </a:xfrm>
                <a:prstGeom prst="rect">
                  <a:avLst/>
                </a:prstGeom>
                <a:blipFill>
                  <a:blip r:embed="rId5"/>
                  <a:stretch>
                    <a:fillRect l="-1069" t="-3593" b="-8383"/>
                  </a:stretch>
                </a:blipFill>
              </p:spPr>
              <p:txBody>
                <a:bodyPr/>
                <a:lstStyle/>
                <a:p>
                  <a:r>
                    <a:rPr lang="en-US">
                      <a:noFill/>
                    </a:rPr>
                    <a:t> </a:t>
                  </a:r>
                </a:p>
              </p:txBody>
            </p:sp>
          </mc:Fallback>
        </mc:AlternateContent>
      </p:grpSp>
      <p:sp>
        <p:nvSpPr>
          <p:cNvPr id="2" name="Title 1"/>
          <p:cNvSpPr>
            <a:spLocks noGrp="1"/>
          </p:cNvSpPr>
          <p:nvPr>
            <p:ph type="title"/>
          </p:nvPr>
        </p:nvSpPr>
        <p:spPr/>
        <p:txBody>
          <a:bodyPr/>
          <a:lstStyle/>
          <a:p>
            <a:r>
              <a:rPr lang="zh-CN" altLang="en-US" dirty="0"/>
              <a:t>塞曼效应（</a:t>
            </a:r>
            <a:r>
              <a:rPr lang="en-US" altLang="zh-CN" dirty="0"/>
              <a:t>1896</a:t>
            </a:r>
            <a:r>
              <a:rPr lang="zh-CN" altLang="en-US" dirty="0"/>
              <a:t>）及其经典（洛伦茨）解释</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83502" y="794381"/>
                <a:ext cx="9663830" cy="503226"/>
              </a:xfrm>
            </p:spPr>
            <p:txBody>
              <a:bodyPr>
                <a:normAutofit/>
              </a:bodyPr>
              <a:lstStyle/>
              <a:p>
                <a:pPr marL="0" indent="0">
                  <a:buNone/>
                </a:pPr>
                <a:r>
                  <a:rPr lang="zh-CN" altLang="en-US" sz="2000" dirty="0"/>
                  <a:t>无磁场时，任意方向观察到的光都只有一个频率</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𝜔</m:t>
                        </m:r>
                      </m:e>
                      <m:sub>
                        <m:r>
                          <a:rPr lang="en-US" altLang="zh-CN" sz="2000" b="0" i="1" smtClean="0">
                            <a:latin typeface="Cambria Math" panose="02040503050406030204" pitchFamily="18" charset="0"/>
                          </a:rPr>
                          <m:t>0</m:t>
                        </m:r>
                      </m:sub>
                    </m:sSub>
                  </m:oMath>
                </a14:m>
                <a:r>
                  <a:rPr lang="zh-CN" altLang="en-US" sz="2000" dirty="0"/>
                  <a:t>，而且是非偏振的。加磁场后：</a:t>
                </a:r>
                <a:endParaRPr lang="en-US" altLang="zh-CN"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83502" y="794381"/>
                <a:ext cx="9663830" cy="503226"/>
              </a:xfrm>
              <a:blipFill>
                <a:blip r:embed="rId6"/>
                <a:stretch>
                  <a:fillRect l="-694" t="-9639"/>
                </a:stretch>
              </a:blipFill>
            </p:spPr>
            <p:txBody>
              <a:bodyPr/>
              <a:lstStyle/>
              <a:p>
                <a:r>
                  <a:rPr lang="zh-CN" altLang="en-US">
                    <a:noFill/>
                  </a:rPr>
                  <a:t> </a:t>
                </a:r>
              </a:p>
            </p:txBody>
          </p:sp>
        </mc:Fallback>
      </mc:AlternateContent>
      <p:pic>
        <p:nvPicPr>
          <p:cNvPr id="3075" name="Picture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988306" y="4017569"/>
            <a:ext cx="2613581" cy="26853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 name="Picture 9">
            <a:extLst>
              <a:ext uri="{FF2B5EF4-FFF2-40B4-BE49-F238E27FC236}">
                <a16:creationId xmlns:a16="http://schemas.microsoft.com/office/drawing/2014/main" id="{ECF5F73D-9931-41F3-A6B2-B96E5284ACA6}"/>
              </a:ext>
            </a:extLst>
          </p:cNvPr>
          <p:cNvPicPr>
            <a:picLocks noChangeAspect="1"/>
          </p:cNvPicPr>
          <p:nvPr/>
        </p:nvPicPr>
        <p:blipFill>
          <a:blip r:embed="rId8"/>
          <a:stretch>
            <a:fillRect/>
          </a:stretch>
        </p:blipFill>
        <p:spPr>
          <a:xfrm>
            <a:off x="4705556" y="5484708"/>
            <a:ext cx="389302" cy="455904"/>
          </a:xfrm>
          <a:prstGeom prst="rect">
            <a:avLst/>
          </a:prstGeom>
        </p:spPr>
      </p:pic>
      <p:pic>
        <p:nvPicPr>
          <p:cNvPr id="11" name="Picture 10">
            <a:extLst>
              <a:ext uri="{FF2B5EF4-FFF2-40B4-BE49-F238E27FC236}">
                <a16:creationId xmlns:a16="http://schemas.microsoft.com/office/drawing/2014/main" id="{1BA81778-43F6-4AFB-8669-503EB47397F1}"/>
              </a:ext>
            </a:extLst>
          </p:cNvPr>
          <p:cNvPicPr>
            <a:picLocks noChangeAspect="1"/>
          </p:cNvPicPr>
          <p:nvPr/>
        </p:nvPicPr>
        <p:blipFill>
          <a:blip r:embed="rId8"/>
          <a:stretch>
            <a:fillRect/>
          </a:stretch>
        </p:blipFill>
        <p:spPr>
          <a:xfrm rot="16200000">
            <a:off x="3186117" y="3456552"/>
            <a:ext cx="389302" cy="455904"/>
          </a:xfrm>
          <a:prstGeom prst="rect">
            <a:avLst/>
          </a:prstGeom>
        </p:spPr>
      </p:pic>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9E1C853-5FEF-4569-9074-A0A4BE3CA663}"/>
                  </a:ext>
                </a:extLst>
              </p:cNvPr>
              <p:cNvSpPr txBox="1"/>
              <p:nvPr/>
            </p:nvSpPr>
            <p:spPr>
              <a:xfrm>
                <a:off x="6460885" y="5791875"/>
                <a:ext cx="3324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m:t>
                          </m:r>
                        </m:sup>
                      </m:sSup>
                    </m:oMath>
                  </m:oMathPara>
                </a14:m>
                <a:endParaRPr lang="en-US" dirty="0"/>
              </a:p>
            </p:txBody>
          </p:sp>
        </mc:Choice>
        <mc:Fallback xmlns="">
          <p:sp>
            <p:nvSpPr>
              <p:cNvPr id="4" name="TextBox 3">
                <a:extLst>
                  <a:ext uri="{FF2B5EF4-FFF2-40B4-BE49-F238E27FC236}">
                    <a16:creationId xmlns:a16="http://schemas.microsoft.com/office/drawing/2014/main" id="{B9E1C853-5FEF-4569-9074-A0A4BE3CA663}"/>
                  </a:ext>
                </a:extLst>
              </p:cNvPr>
              <p:cNvSpPr txBox="1">
                <a:spLocks noRot="1" noChangeAspect="1" noMove="1" noResize="1" noEditPoints="1" noAdjustHandles="1" noChangeArrowheads="1" noChangeShapeType="1" noTextEdit="1"/>
              </p:cNvSpPr>
              <p:nvPr/>
            </p:nvSpPr>
            <p:spPr>
              <a:xfrm>
                <a:off x="6460885" y="5791875"/>
                <a:ext cx="332462" cy="276999"/>
              </a:xfrm>
              <a:prstGeom prst="rect">
                <a:avLst/>
              </a:prstGeom>
              <a:blipFill>
                <a:blip r:embed="rId9"/>
                <a:stretch>
                  <a:fillRect l="-92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2CDB470D-FCD8-4C6B-9696-85B93A55C45B}"/>
                  </a:ext>
                </a:extLst>
              </p:cNvPr>
              <p:cNvSpPr txBox="1"/>
              <p:nvPr/>
            </p:nvSpPr>
            <p:spPr>
              <a:xfrm>
                <a:off x="7917980" y="5791875"/>
                <a:ext cx="3324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m:t>
                          </m:r>
                        </m:sup>
                      </m:sSup>
                    </m:oMath>
                  </m:oMathPara>
                </a14:m>
                <a:endParaRPr lang="en-US" dirty="0"/>
              </a:p>
            </p:txBody>
          </p:sp>
        </mc:Choice>
        <mc:Fallback xmlns="">
          <p:sp>
            <p:nvSpPr>
              <p:cNvPr id="12" name="TextBox 11">
                <a:extLst>
                  <a:ext uri="{FF2B5EF4-FFF2-40B4-BE49-F238E27FC236}">
                    <a16:creationId xmlns:a16="http://schemas.microsoft.com/office/drawing/2014/main" id="{2CDB470D-FCD8-4C6B-9696-85B93A55C45B}"/>
                  </a:ext>
                </a:extLst>
              </p:cNvPr>
              <p:cNvSpPr txBox="1">
                <a:spLocks noRot="1" noChangeAspect="1" noMove="1" noResize="1" noEditPoints="1" noAdjustHandles="1" noChangeArrowheads="1" noChangeShapeType="1" noTextEdit="1"/>
              </p:cNvSpPr>
              <p:nvPr/>
            </p:nvSpPr>
            <p:spPr>
              <a:xfrm>
                <a:off x="7917980" y="5791875"/>
                <a:ext cx="332462" cy="276999"/>
              </a:xfrm>
              <a:prstGeom prst="rect">
                <a:avLst/>
              </a:prstGeom>
              <a:blipFill>
                <a:blip r:embed="rId10"/>
                <a:stretch>
                  <a:fillRect l="-9259" r="-5556"/>
                </a:stretch>
              </a:blipFill>
            </p:spPr>
            <p:txBody>
              <a:bodyPr/>
              <a:lstStyle/>
              <a:p>
                <a:r>
                  <a:rPr lang="en-US">
                    <a:noFill/>
                  </a:rPr>
                  <a:t> </a:t>
                </a:r>
              </a:p>
            </p:txBody>
          </p:sp>
        </mc:Fallback>
      </mc:AlternateContent>
    </p:spTree>
    <p:extLst>
      <p:ext uri="{BB962C8B-B14F-4D97-AF65-F5344CB8AC3E}">
        <p14:creationId xmlns:p14="http://schemas.microsoft.com/office/powerpoint/2010/main" val="32131959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 name="Group 8">
            <a:extLst>
              <a:ext uri="{FF2B5EF4-FFF2-40B4-BE49-F238E27FC236}">
                <a16:creationId xmlns:a16="http://schemas.microsoft.com/office/drawing/2014/main" id="{1B858C60-974E-47E3-9225-CDF5984B1211}"/>
              </a:ext>
            </a:extLst>
          </p:cNvPr>
          <p:cNvGrpSpPr/>
          <p:nvPr/>
        </p:nvGrpSpPr>
        <p:grpSpPr>
          <a:xfrm>
            <a:off x="1483476" y="1327285"/>
            <a:ext cx="10409862" cy="5315598"/>
            <a:chOff x="1305503" y="1327285"/>
            <a:chExt cx="10409862" cy="5315598"/>
          </a:xfrm>
        </p:grpSpPr>
        <p:pic>
          <p:nvPicPr>
            <p:cNvPr id="3164" name="Picture 9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05503" y="1327285"/>
              <a:ext cx="7844304" cy="531559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8B844449-03C9-4BA1-B6EE-756906F2D8AB}"/>
                    </a:ext>
                  </a:extLst>
                </p:cNvPr>
                <p:cNvSpPr/>
                <p:nvPr/>
              </p:nvSpPr>
              <p:spPr>
                <a:xfrm>
                  <a:off x="8061073" y="4005415"/>
                  <a:ext cx="3654292" cy="1231106"/>
                </a:xfrm>
                <a:prstGeom prst="rect">
                  <a:avLst/>
                </a:prstGeom>
              </p:spPr>
              <p:txBody>
                <a:bodyPr wrap="square">
                  <a:spAutoFit/>
                </a:bodyPr>
                <a:lstStyle/>
                <a:p>
                  <a:pPr algn="ctr"/>
                  <a:r>
                    <a:rPr lang="zh-CN" altLang="en-US" dirty="0">
                      <a:latin typeface="黑体" panose="02010609060101010101" pitchFamily="49" charset="-122"/>
                      <a:ea typeface="黑体" panose="02010609060101010101" pitchFamily="49" charset="-122"/>
                    </a:rPr>
                    <a:t>垂直磁场方向观测（横向）</a:t>
                  </a:r>
                  <a:endParaRPr lang="en-US" altLang="zh-CN" dirty="0">
                    <a:latin typeface="黑体" panose="02010609060101010101" pitchFamily="49" charset="-122"/>
                    <a:ea typeface="黑体" panose="02010609060101010101" pitchFamily="49" charset="-122"/>
                  </a:endParaRPr>
                </a:p>
                <a:p>
                  <a:pPr marL="285750" indent="-285750">
                    <a:buFont typeface="Arial" panose="020B0604020202020204" pitchFamily="34" charset="0"/>
                    <a:buChar char="•"/>
                  </a:pPr>
                  <a14:m>
                    <m:oMath xmlns:m="http://schemas.openxmlformats.org/officeDocument/2006/math">
                      <m:sSub>
                        <m:sSubPr>
                          <m:ctrlPr>
                            <a:rPr lang="en-US" altLang="zh-CN" b="0" i="1" smtClean="0">
                              <a:latin typeface="Cambria Math" panose="02040503050406030204" pitchFamily="18" charset="0"/>
                              <a:ea typeface="黑体" panose="02010609060101010101" pitchFamily="49" charset="-122"/>
                            </a:rPr>
                          </m:ctrlPr>
                        </m:sSubPr>
                        <m:e>
                          <m:r>
                            <a:rPr lang="en-US" altLang="zh-CN" b="0" i="1" smtClean="0">
                              <a:latin typeface="Cambria Math" panose="02040503050406030204" pitchFamily="18" charset="0"/>
                              <a:ea typeface="黑体" panose="02010609060101010101" pitchFamily="49" charset="-122"/>
                            </a:rPr>
                            <m:t>𝜔</m:t>
                          </m:r>
                        </m:e>
                        <m:sub>
                          <m:r>
                            <a:rPr lang="en-US" altLang="zh-CN" b="0" i="1" smtClean="0">
                              <a:latin typeface="Cambria Math" panose="02040503050406030204" pitchFamily="18" charset="0"/>
                              <a:ea typeface="黑体" panose="02010609060101010101" pitchFamily="49" charset="-122"/>
                            </a:rPr>
                            <m:t>0</m:t>
                          </m:r>
                        </m:sub>
                      </m:sSub>
                    </m:oMath>
                  </a14:m>
                  <a:r>
                    <a:rPr lang="zh-CN" altLang="en-US" dirty="0">
                      <a:latin typeface="黑体" panose="02010609060101010101" pitchFamily="49" charset="-122"/>
                      <a:ea typeface="黑体" panose="02010609060101010101" pitchFamily="49" charset="-122"/>
                    </a:rPr>
                    <a:t>，平行于磁场的线偏振（</a:t>
                  </a:r>
                  <a14:m>
                    <m:oMath xmlns:m="http://schemas.openxmlformats.org/officeDocument/2006/math">
                      <m:r>
                        <a:rPr lang="en-US" altLang="zh-CN" b="0" i="1" smtClean="0">
                          <a:latin typeface="Cambria Math" panose="02040503050406030204" pitchFamily="18" charset="0"/>
                          <a:ea typeface="黑体" panose="02010609060101010101" pitchFamily="49" charset="-122"/>
                        </a:rPr>
                        <m:t>𝜋</m:t>
                      </m:r>
                    </m:oMath>
                  </a14:m>
                  <a:r>
                    <a:rPr lang="zh-CN" altLang="en-US" dirty="0">
                      <a:latin typeface="黑体" panose="02010609060101010101" pitchFamily="49" charset="-122"/>
                      <a:ea typeface="黑体" panose="02010609060101010101" pitchFamily="49" charset="-122"/>
                    </a:rPr>
                    <a:t>光）</a:t>
                  </a:r>
                  <a:endParaRPr lang="en-US" altLang="zh-CN" dirty="0">
                    <a:latin typeface="黑体" panose="02010609060101010101" pitchFamily="49" charset="-122"/>
                    <a:ea typeface="黑体" panose="02010609060101010101" pitchFamily="49" charset="-122"/>
                  </a:endParaRPr>
                </a:p>
                <a:p>
                  <a:pPr marL="285750" indent="-285750">
                    <a:buFont typeface="Arial" panose="020B0604020202020204" pitchFamily="34" charset="0"/>
                    <a:buChar char="•"/>
                  </a:pPr>
                  <a14:m>
                    <m:oMath xmlns:m="http://schemas.openxmlformats.org/officeDocument/2006/math">
                      <m:sSub>
                        <m:sSubPr>
                          <m:ctrlPr>
                            <a:rPr lang="en-US" altLang="zh-CN" b="0" i="1" smtClean="0">
                              <a:latin typeface="Cambria Math" panose="02040503050406030204" pitchFamily="18" charset="0"/>
                              <a:ea typeface="黑体" panose="02010609060101010101" pitchFamily="49" charset="-122"/>
                            </a:rPr>
                          </m:ctrlPr>
                        </m:sSubPr>
                        <m:e>
                          <m:r>
                            <a:rPr lang="en-US" altLang="zh-CN" b="0" i="1" smtClean="0">
                              <a:latin typeface="Cambria Math" panose="02040503050406030204" pitchFamily="18" charset="0"/>
                              <a:ea typeface="黑体" panose="02010609060101010101" pitchFamily="49" charset="-122"/>
                            </a:rPr>
                            <m:t>𝜔</m:t>
                          </m:r>
                        </m:e>
                        <m:sub>
                          <m:r>
                            <a:rPr lang="en-US" altLang="zh-CN" b="0" i="1" smtClean="0">
                              <a:latin typeface="Cambria Math" panose="02040503050406030204" pitchFamily="18" charset="0"/>
                              <a:ea typeface="黑体" panose="02010609060101010101" pitchFamily="49" charset="-122"/>
                            </a:rPr>
                            <m:t>−</m:t>
                          </m:r>
                        </m:sub>
                      </m:sSub>
                    </m:oMath>
                  </a14:m>
                  <a:r>
                    <a:rPr lang="zh-CN" altLang="en-US" dirty="0">
                      <a:latin typeface="黑体" panose="02010609060101010101" pitchFamily="49" charset="-122"/>
                      <a:ea typeface="黑体" panose="02010609060101010101" pitchFamily="49" charset="-122"/>
                    </a:rPr>
                    <a:t>，垂直于磁场的线偏振（</a:t>
                  </a:r>
                  <a14:m>
                    <m:oMath xmlns:m="http://schemas.openxmlformats.org/officeDocument/2006/math">
                      <m:r>
                        <a:rPr lang="en-US" altLang="zh-CN" b="0" i="1" smtClean="0">
                          <a:latin typeface="Cambria Math" panose="02040503050406030204" pitchFamily="18" charset="0"/>
                          <a:ea typeface="黑体" panose="02010609060101010101" pitchFamily="49" charset="-122"/>
                        </a:rPr>
                        <m:t>𝜎</m:t>
                      </m:r>
                    </m:oMath>
                  </a14:m>
                  <a:r>
                    <a:rPr lang="zh-CN" altLang="en-US" dirty="0">
                      <a:latin typeface="黑体" panose="02010609060101010101" pitchFamily="49" charset="-122"/>
                      <a:ea typeface="黑体" panose="02010609060101010101" pitchFamily="49" charset="-122"/>
                    </a:rPr>
                    <a:t>光）</a:t>
                  </a:r>
                  <a:endParaRPr lang="en-US" altLang="zh-CN" b="0" i="1" dirty="0">
                    <a:latin typeface="Cambria Math" panose="02040503050406030204" pitchFamily="18" charset="0"/>
                    <a:ea typeface="黑体" panose="02010609060101010101" pitchFamily="49" charset="-122"/>
                  </a:endParaRPr>
                </a:p>
                <a:p>
                  <a:pPr marL="285750" indent="-285750">
                    <a:buFont typeface="Arial" panose="020B0604020202020204" pitchFamily="34" charset="0"/>
                    <a:buChar char="•"/>
                  </a:pPr>
                  <a14:m>
                    <m:oMath xmlns:m="http://schemas.openxmlformats.org/officeDocument/2006/math">
                      <m:sSub>
                        <m:sSubPr>
                          <m:ctrlPr>
                            <a:rPr lang="en-US" altLang="zh-CN" b="0" i="1" smtClean="0">
                              <a:latin typeface="Cambria Math" panose="02040503050406030204" pitchFamily="18" charset="0"/>
                              <a:ea typeface="黑体" panose="02010609060101010101" pitchFamily="49" charset="-122"/>
                            </a:rPr>
                          </m:ctrlPr>
                        </m:sSubPr>
                        <m:e>
                          <m:r>
                            <a:rPr lang="en-US" altLang="zh-CN" b="0" i="1" smtClean="0">
                              <a:latin typeface="Cambria Math" panose="02040503050406030204" pitchFamily="18" charset="0"/>
                              <a:ea typeface="黑体" panose="02010609060101010101" pitchFamily="49" charset="-122"/>
                            </a:rPr>
                            <m:t>𝜔</m:t>
                          </m:r>
                        </m:e>
                        <m:sub>
                          <m:r>
                            <a:rPr lang="en-US" altLang="zh-CN" b="0" i="1" smtClean="0">
                              <a:latin typeface="Cambria Math" panose="02040503050406030204" pitchFamily="18" charset="0"/>
                              <a:ea typeface="黑体" panose="02010609060101010101" pitchFamily="49" charset="-122"/>
                            </a:rPr>
                            <m:t>+</m:t>
                          </m:r>
                        </m:sub>
                      </m:sSub>
                    </m:oMath>
                  </a14:m>
                  <a:r>
                    <a:rPr lang="zh-CN" altLang="en-US" dirty="0">
                      <a:latin typeface="黑体" panose="02010609060101010101" pitchFamily="49" charset="-122"/>
                      <a:ea typeface="黑体" panose="02010609060101010101" pitchFamily="49" charset="-122"/>
                    </a:rPr>
                    <a:t>，垂直于磁场的线偏振（</a:t>
                  </a:r>
                  <a14:m>
                    <m:oMath xmlns:m="http://schemas.openxmlformats.org/officeDocument/2006/math">
                      <m:r>
                        <a:rPr lang="en-US" altLang="zh-CN" i="1">
                          <a:latin typeface="Cambria Math" panose="02040503050406030204" pitchFamily="18" charset="0"/>
                          <a:ea typeface="黑体" panose="02010609060101010101" pitchFamily="49" charset="-122"/>
                        </a:rPr>
                        <m:t>𝜎</m:t>
                      </m:r>
                    </m:oMath>
                  </a14:m>
                  <a:r>
                    <a:rPr lang="zh-CN" altLang="en-US" dirty="0">
                      <a:latin typeface="黑体" panose="02010609060101010101" pitchFamily="49" charset="-122"/>
                      <a:ea typeface="黑体" panose="02010609060101010101" pitchFamily="49" charset="-122"/>
                    </a:rPr>
                    <a:t>光）</a:t>
                  </a:r>
                  <a:endParaRPr lang="en-US" altLang="zh-CN" dirty="0">
                    <a:latin typeface="黑体" panose="02010609060101010101" pitchFamily="49" charset="-122"/>
                    <a:ea typeface="黑体" panose="02010609060101010101" pitchFamily="49" charset="-122"/>
                  </a:endParaRPr>
                </a:p>
              </p:txBody>
            </p:sp>
          </mc:Choice>
          <mc:Fallback xmlns="">
            <p:sp>
              <p:nvSpPr>
                <p:cNvPr id="6" name="Rectangle 5">
                  <a:extLst>
                    <a:ext uri="{FF2B5EF4-FFF2-40B4-BE49-F238E27FC236}">
                      <a16:creationId xmlns:a16="http://schemas.microsoft.com/office/drawing/2014/main" id="{8B844449-03C9-4BA1-B6EE-756906F2D8AB}"/>
                    </a:ext>
                  </a:extLst>
                </p:cNvPr>
                <p:cNvSpPr>
                  <a:spLocks noRot="1" noChangeAspect="1" noMove="1" noResize="1" noEditPoints="1" noAdjustHandles="1" noChangeArrowheads="1" noChangeShapeType="1" noTextEdit="1"/>
                </p:cNvSpPr>
                <p:nvPr/>
              </p:nvSpPr>
              <p:spPr>
                <a:xfrm>
                  <a:off x="8061073" y="4005415"/>
                  <a:ext cx="3654292" cy="1231106"/>
                </a:xfrm>
                <a:prstGeom prst="rect">
                  <a:avLst/>
                </a:prstGeom>
                <a:blipFill>
                  <a:blip r:embed="rId5"/>
                  <a:stretch>
                    <a:fillRect l="-1169" t="-2475" r="-7513" b="-3465"/>
                  </a:stretch>
                </a:blipFill>
              </p:spPr>
              <p:txBody>
                <a:bodyPr/>
                <a:lstStyle/>
                <a:p>
                  <a:r>
                    <a:rPr lang="en-US">
                      <a:noFill/>
                    </a:rPr>
                    <a:t> </a:t>
                  </a:r>
                </a:p>
              </p:txBody>
            </p:sp>
          </mc:Fallback>
        </mc:AlternateContent>
      </p:grpSp>
      <p:sp>
        <p:nvSpPr>
          <p:cNvPr id="2" name="Title 1"/>
          <p:cNvSpPr>
            <a:spLocks noGrp="1"/>
          </p:cNvSpPr>
          <p:nvPr>
            <p:ph type="title"/>
          </p:nvPr>
        </p:nvSpPr>
        <p:spPr/>
        <p:txBody>
          <a:bodyPr/>
          <a:lstStyle/>
          <a:p>
            <a:r>
              <a:rPr lang="zh-CN" altLang="en-US" dirty="0"/>
              <a:t>塞曼效应（</a:t>
            </a:r>
            <a:r>
              <a:rPr lang="en-US" altLang="zh-CN" dirty="0"/>
              <a:t>1896</a:t>
            </a:r>
            <a:r>
              <a:rPr lang="zh-CN" altLang="en-US" dirty="0"/>
              <a:t>）及其经典（洛伦茨）解释</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083502" y="794381"/>
                <a:ext cx="9663830" cy="503226"/>
              </a:xfrm>
            </p:spPr>
            <p:txBody>
              <a:bodyPr>
                <a:normAutofit/>
              </a:bodyPr>
              <a:lstStyle/>
              <a:p>
                <a:pPr marL="0" indent="0">
                  <a:buNone/>
                </a:pPr>
                <a:r>
                  <a:rPr lang="zh-CN" altLang="en-US" sz="2000" dirty="0"/>
                  <a:t>无磁场时，任意方向观察到的光都只有一个频率</a:t>
                </a:r>
                <a14:m>
                  <m:oMath xmlns:m="http://schemas.openxmlformats.org/officeDocument/2006/math">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𝜔</m:t>
                        </m:r>
                      </m:e>
                      <m:sub>
                        <m:r>
                          <a:rPr lang="en-US" altLang="zh-CN" sz="2000" b="0" i="1" smtClean="0">
                            <a:latin typeface="Cambria Math" panose="02040503050406030204" pitchFamily="18" charset="0"/>
                          </a:rPr>
                          <m:t>0</m:t>
                        </m:r>
                      </m:sub>
                    </m:sSub>
                  </m:oMath>
                </a14:m>
                <a:r>
                  <a:rPr lang="zh-CN" altLang="en-US" sz="2000" dirty="0"/>
                  <a:t>，而且是非偏振的。加磁场后：</a:t>
                </a:r>
                <a:endParaRPr lang="en-US" altLang="zh-CN"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083502" y="794381"/>
                <a:ext cx="9663830" cy="503226"/>
              </a:xfrm>
              <a:blipFill>
                <a:blip r:embed="rId7"/>
                <a:stretch>
                  <a:fillRect l="-694" t="-9639"/>
                </a:stretch>
              </a:blipFill>
            </p:spPr>
            <p:txBody>
              <a:bodyPr/>
              <a:lstStyle/>
              <a:p>
                <a:r>
                  <a:rPr lang="zh-CN" altLang="en-US">
                    <a:noFill/>
                  </a:rPr>
                  <a:t> </a:t>
                </a:r>
              </a:p>
            </p:txBody>
          </p:sp>
        </mc:Fallback>
      </mc:AlternateContent>
      <p:graphicFrame>
        <p:nvGraphicFramePr>
          <p:cNvPr id="8" name="Object 7">
            <a:extLst>
              <a:ext uri="{FF2B5EF4-FFF2-40B4-BE49-F238E27FC236}">
                <a16:creationId xmlns:a16="http://schemas.microsoft.com/office/drawing/2014/main" id="{5130849C-4125-4B47-BBCD-4B11545BA2C0}"/>
              </a:ext>
            </a:extLst>
          </p:cNvPr>
          <p:cNvGraphicFramePr>
            <a:graphicFrameLocks noChangeAspect="1"/>
          </p:cNvGraphicFramePr>
          <p:nvPr>
            <p:extLst>
              <p:ext uri="{D42A27DB-BD31-4B8C-83A1-F6EECF244321}">
                <p14:modId xmlns:p14="http://schemas.microsoft.com/office/powerpoint/2010/main" val="746364671"/>
              </p:ext>
            </p:extLst>
          </p:nvPr>
        </p:nvGraphicFramePr>
        <p:xfrm>
          <a:off x="315508" y="4540529"/>
          <a:ext cx="2811832" cy="576063"/>
        </p:xfrm>
        <a:graphic>
          <a:graphicData uri="http://schemas.openxmlformats.org/presentationml/2006/ole">
            <mc:AlternateContent xmlns:mc="http://schemas.openxmlformats.org/markup-compatibility/2006">
              <mc:Choice xmlns:v="urn:schemas-microsoft-com:vml" Requires="v">
                <p:oleObj spid="_x0000_s7209" name="Equation" r:id="rId8" imgW="1117440" imgH="228600" progId="Equation.DSMT4">
                  <p:embed/>
                </p:oleObj>
              </mc:Choice>
              <mc:Fallback>
                <p:oleObj name="Equation" r:id="rId8" imgW="1117440" imgH="228600" progId="Equation.DSMT4">
                  <p:embed/>
                  <p:pic>
                    <p:nvPicPr>
                      <p:cNvPr id="8" name="Object 7">
                        <a:extLst>
                          <a:ext uri="{FF2B5EF4-FFF2-40B4-BE49-F238E27FC236}">
                            <a16:creationId xmlns:a16="http://schemas.microsoft.com/office/drawing/2014/main" id="{5130849C-4125-4B47-BBCD-4B11545BA2C0}"/>
                          </a:ext>
                        </a:extLst>
                      </p:cNvPr>
                      <p:cNvPicPr/>
                      <p:nvPr/>
                    </p:nvPicPr>
                    <p:blipFill>
                      <a:blip r:embed="rId9"/>
                      <a:stretch>
                        <a:fillRect/>
                      </a:stretch>
                    </p:blipFill>
                    <p:spPr>
                      <a:xfrm>
                        <a:off x="315508" y="4540529"/>
                        <a:ext cx="2811832" cy="576063"/>
                      </a:xfrm>
                      <a:prstGeom prst="rect">
                        <a:avLst/>
                      </a:prstGeom>
                    </p:spPr>
                  </p:pic>
                </p:oleObj>
              </mc:Fallback>
            </mc:AlternateContent>
          </a:graphicData>
        </a:graphic>
      </p:graphicFrame>
      <p:pic>
        <p:nvPicPr>
          <p:cNvPr id="10" name="Picture 9">
            <a:extLst>
              <a:ext uri="{FF2B5EF4-FFF2-40B4-BE49-F238E27FC236}">
                <a16:creationId xmlns:a16="http://schemas.microsoft.com/office/drawing/2014/main" id="{4456DCBF-F2B2-4BAF-84E0-943F49AE8FCA}"/>
              </a:ext>
            </a:extLst>
          </p:cNvPr>
          <p:cNvPicPr>
            <a:picLocks noChangeAspect="1"/>
          </p:cNvPicPr>
          <p:nvPr/>
        </p:nvPicPr>
        <p:blipFill>
          <a:blip r:embed="rId10"/>
          <a:stretch>
            <a:fillRect/>
          </a:stretch>
        </p:blipFill>
        <p:spPr>
          <a:xfrm>
            <a:off x="5129888" y="5607715"/>
            <a:ext cx="389302" cy="455904"/>
          </a:xfrm>
          <a:prstGeom prst="rect">
            <a:avLst/>
          </a:prstGeom>
        </p:spPr>
      </p:pic>
      <p:pic>
        <p:nvPicPr>
          <p:cNvPr id="11" name="Picture 10">
            <a:extLst>
              <a:ext uri="{FF2B5EF4-FFF2-40B4-BE49-F238E27FC236}">
                <a16:creationId xmlns:a16="http://schemas.microsoft.com/office/drawing/2014/main" id="{60B4932E-A0F7-4A26-9308-9E59B1DBEE38}"/>
              </a:ext>
            </a:extLst>
          </p:cNvPr>
          <p:cNvPicPr>
            <a:picLocks noChangeAspect="1"/>
          </p:cNvPicPr>
          <p:nvPr/>
        </p:nvPicPr>
        <p:blipFill>
          <a:blip r:embed="rId10"/>
          <a:stretch>
            <a:fillRect/>
          </a:stretch>
        </p:blipFill>
        <p:spPr>
          <a:xfrm rot="16200000">
            <a:off x="3166617" y="3562481"/>
            <a:ext cx="389302" cy="455904"/>
          </a:xfrm>
          <a:prstGeom prst="rect">
            <a:avLst/>
          </a:prstGeom>
        </p:spPr>
      </p:pic>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6E44A65D-2184-4A18-8686-2C30F3C69E0E}"/>
                  </a:ext>
                </a:extLst>
              </p:cNvPr>
              <p:cNvSpPr/>
              <p:nvPr/>
            </p:nvSpPr>
            <p:spPr>
              <a:xfrm>
                <a:off x="5094859" y="1572636"/>
                <a:ext cx="4963541" cy="1015663"/>
              </a:xfrm>
              <a:prstGeom prst="rect">
                <a:avLst/>
              </a:prstGeom>
            </p:spPr>
            <p:txBody>
              <a:bodyPr wrap="square">
                <a:spAutoFit/>
              </a:bodyPr>
              <a:lstStyle/>
              <a:p>
                <a:pPr algn="ctr"/>
                <a:r>
                  <a:rPr lang="zh-CN" altLang="en-US" sz="2000" dirty="0">
                    <a:latin typeface="黑体" panose="02010609060101010101" pitchFamily="49" charset="-122"/>
                    <a:ea typeface="黑体" panose="02010609060101010101" pitchFamily="49" charset="-122"/>
                  </a:rPr>
                  <a:t>沿磁场方向观测（纵向）</a:t>
                </a:r>
                <a:endParaRPr lang="en-US" altLang="zh-CN" sz="2000" dirty="0">
                  <a:latin typeface="黑体" panose="02010609060101010101" pitchFamily="49" charset="-122"/>
                  <a:ea typeface="黑体" panose="02010609060101010101" pitchFamily="49" charset="-122"/>
                </a:endParaRPr>
              </a:p>
              <a:p>
                <a:pPr marL="342900" indent="-342900">
                  <a:buFont typeface="Arial" panose="020B0604020202020204" pitchFamily="34" charset="0"/>
                  <a:buChar char="•"/>
                </a:pPr>
                <a:r>
                  <a:rPr lang="zh-CN" altLang="en-US" sz="2000" dirty="0">
                    <a:latin typeface="黑体" panose="02010609060101010101" pitchFamily="49" charset="-122"/>
                    <a:ea typeface="黑体" panose="02010609060101010101" pitchFamily="49" charset="-122"/>
                  </a:rPr>
                  <a:t>有两个频率</a:t>
                </a:r>
                <a14:m>
                  <m:oMath xmlns:m="http://schemas.openxmlformats.org/officeDocument/2006/math">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𝜔</m:t>
                        </m:r>
                      </m:e>
                      <m:sub>
                        <m:r>
                          <a:rPr lang="en-US" altLang="zh-CN" sz="2000" b="0" i="1" smtClean="0">
                            <a:latin typeface="Cambria Math" panose="02040503050406030204" pitchFamily="18" charset="0"/>
                            <a:ea typeface="黑体" panose="02010609060101010101" pitchFamily="49" charset="-122"/>
                          </a:rPr>
                          <m:t>−</m:t>
                        </m:r>
                      </m:sub>
                    </m:sSub>
                  </m:oMath>
                </a14:m>
                <a:r>
                  <a:rPr lang="en-US" altLang="zh-CN" sz="2000" dirty="0">
                    <a:latin typeface="黑体" panose="02010609060101010101" pitchFamily="49" charset="-122"/>
                    <a:ea typeface="黑体" panose="02010609060101010101" pitchFamily="49" charset="-122"/>
                  </a:rPr>
                  <a:t>,</a:t>
                </a:r>
                <a14:m>
                  <m:oMath xmlns:m="http://schemas.openxmlformats.org/officeDocument/2006/math">
                    <m:sSub>
                      <m:sSubPr>
                        <m:ctrlPr>
                          <a:rPr lang="en-US" altLang="zh-CN" sz="2000" b="0" i="1" dirty="0" smtClean="0">
                            <a:latin typeface="Cambria Math" panose="02040503050406030204" pitchFamily="18" charset="0"/>
                            <a:ea typeface="黑体" panose="02010609060101010101" pitchFamily="49" charset="-122"/>
                          </a:rPr>
                        </m:ctrlPr>
                      </m:sSubPr>
                      <m:e>
                        <m:r>
                          <a:rPr lang="en-US" altLang="zh-CN" sz="2000" b="0" i="1" dirty="0" smtClean="0">
                            <a:latin typeface="Cambria Math" panose="02040503050406030204" pitchFamily="18" charset="0"/>
                            <a:ea typeface="黑体" panose="02010609060101010101" pitchFamily="49" charset="-122"/>
                          </a:rPr>
                          <m:t>𝜔</m:t>
                        </m:r>
                      </m:e>
                      <m:sub>
                        <m:r>
                          <a:rPr lang="en-US" altLang="zh-CN" sz="2000" b="0" i="1" dirty="0" smtClean="0">
                            <a:latin typeface="Cambria Math" panose="02040503050406030204" pitchFamily="18" charset="0"/>
                            <a:ea typeface="黑体" panose="02010609060101010101" pitchFamily="49" charset="-122"/>
                          </a:rPr>
                          <m:t>+</m:t>
                        </m:r>
                      </m:sub>
                    </m:sSub>
                  </m:oMath>
                </a14:m>
                <a:r>
                  <a:rPr lang="zh-CN" altLang="en-US" sz="2000" dirty="0">
                    <a:latin typeface="黑体" panose="02010609060101010101" pitchFamily="49" charset="-122"/>
                    <a:ea typeface="黑体" panose="02010609060101010101" pitchFamily="49" charset="-122"/>
                  </a:rPr>
                  <a:t>，对称分布在</a:t>
                </a:r>
                <a14:m>
                  <m:oMath xmlns:m="http://schemas.openxmlformats.org/officeDocument/2006/math">
                    <m:sSub>
                      <m:sSubPr>
                        <m:ctrlPr>
                          <a:rPr lang="en-US" altLang="zh-CN" sz="2000" b="0" i="1" dirty="0" smtClean="0">
                            <a:latin typeface="Cambria Math" panose="02040503050406030204" pitchFamily="18" charset="0"/>
                          </a:rPr>
                        </m:ctrlPr>
                      </m:sSubPr>
                      <m:e>
                        <m:r>
                          <a:rPr lang="en-US" altLang="zh-CN" sz="2000" b="0" i="1" dirty="0" smtClean="0">
                            <a:latin typeface="Cambria Math" panose="02040503050406030204" pitchFamily="18" charset="0"/>
                          </a:rPr>
                          <m:t>𝜔</m:t>
                        </m:r>
                      </m:e>
                      <m:sub>
                        <m:r>
                          <a:rPr lang="en-US" altLang="zh-CN" sz="2000" b="0" i="1" dirty="0" smtClean="0">
                            <a:latin typeface="Cambria Math" panose="02040503050406030204" pitchFamily="18" charset="0"/>
                          </a:rPr>
                          <m:t>0</m:t>
                        </m:r>
                      </m:sub>
                    </m:sSub>
                  </m:oMath>
                </a14:m>
                <a:r>
                  <a:rPr lang="zh-CN" altLang="en-US" sz="2000" dirty="0">
                    <a:latin typeface="黑体" panose="02010609060101010101" pitchFamily="49" charset="-122"/>
                    <a:ea typeface="黑体" panose="02010609060101010101" pitchFamily="49" charset="-122"/>
                  </a:rPr>
                  <a:t>两边</a:t>
                </a:r>
                <a:endParaRPr lang="en-US" altLang="zh-CN" sz="2000" dirty="0">
                  <a:latin typeface="黑体" panose="02010609060101010101" pitchFamily="49" charset="-122"/>
                  <a:ea typeface="黑体" panose="02010609060101010101" pitchFamily="49" charset="-122"/>
                </a:endParaRPr>
              </a:p>
              <a:p>
                <a:pPr marL="342900" indent="-342900">
                  <a:buFont typeface="Arial" panose="020B0604020202020204" pitchFamily="34" charset="0"/>
                  <a:buChar char="•"/>
                </a:pPr>
                <a:r>
                  <a:rPr lang="zh-CN" altLang="en-US" sz="2000" dirty="0">
                    <a:latin typeface="黑体" panose="02010609060101010101" pitchFamily="49" charset="-122"/>
                    <a:ea typeface="黑体" panose="02010609060101010101" pitchFamily="49" charset="-122"/>
                  </a:rPr>
                  <a:t>偏振分别为左旋和右旋 </a:t>
                </a:r>
                <a:r>
                  <a:rPr lang="en-US" altLang="zh-CN" sz="2000" dirty="0">
                    <a:latin typeface="黑体" panose="02010609060101010101" pitchFamily="49" charset="-122"/>
                    <a:ea typeface="黑体" panose="02010609060101010101" pitchFamily="49" charset="-122"/>
                  </a:rPr>
                  <a:t>(</a:t>
                </a:r>
                <a14:m>
                  <m:oMath xmlns:m="http://schemas.openxmlformats.org/officeDocument/2006/math">
                    <m:r>
                      <a:rPr lang="en-US" altLang="zh-CN" sz="2000" b="0" i="1" smtClean="0">
                        <a:latin typeface="Cambria Math" panose="02040503050406030204" pitchFamily="18" charset="0"/>
                        <a:ea typeface="黑体" panose="02010609060101010101" pitchFamily="49" charset="-122"/>
                      </a:rPr>
                      <m:t>𝜎</m:t>
                    </m:r>
                  </m:oMath>
                </a14:m>
                <a:r>
                  <a:rPr lang="zh-CN" altLang="en-US" sz="2000" dirty="0">
                    <a:latin typeface="黑体" panose="02010609060101010101" pitchFamily="49" charset="-122"/>
                    <a:ea typeface="黑体" panose="02010609060101010101" pitchFamily="49" charset="-122"/>
                  </a:rPr>
                  <a:t>光）</a:t>
                </a:r>
                <a:endParaRPr lang="en-US" altLang="zh-CN" sz="2000" dirty="0">
                  <a:latin typeface="黑体" panose="02010609060101010101" pitchFamily="49" charset="-122"/>
                  <a:ea typeface="黑体" panose="02010609060101010101" pitchFamily="49" charset="-122"/>
                </a:endParaRPr>
              </a:p>
            </p:txBody>
          </p:sp>
        </mc:Choice>
        <mc:Fallback xmlns="">
          <p:sp>
            <p:nvSpPr>
              <p:cNvPr id="12" name="Rectangle 11">
                <a:extLst>
                  <a:ext uri="{FF2B5EF4-FFF2-40B4-BE49-F238E27FC236}">
                    <a16:creationId xmlns:a16="http://schemas.microsoft.com/office/drawing/2014/main" id="{6E44A65D-2184-4A18-8686-2C30F3C69E0E}"/>
                  </a:ext>
                </a:extLst>
              </p:cNvPr>
              <p:cNvSpPr>
                <a:spLocks noRot="1" noChangeAspect="1" noMove="1" noResize="1" noEditPoints="1" noAdjustHandles="1" noChangeArrowheads="1" noChangeShapeType="1" noTextEdit="1"/>
              </p:cNvSpPr>
              <p:nvPr/>
            </p:nvSpPr>
            <p:spPr>
              <a:xfrm>
                <a:off x="5094859" y="1572636"/>
                <a:ext cx="4963541" cy="1015663"/>
              </a:xfrm>
              <a:prstGeom prst="rect">
                <a:avLst/>
              </a:prstGeom>
              <a:blipFill>
                <a:blip r:embed="rId11"/>
                <a:stretch>
                  <a:fillRect l="-1106" t="-3593" b="-83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A784765-AE63-4FB5-A852-686AC122AD85}"/>
                  </a:ext>
                </a:extLst>
              </p:cNvPr>
              <p:cNvSpPr txBox="1"/>
              <p:nvPr/>
            </p:nvSpPr>
            <p:spPr>
              <a:xfrm>
                <a:off x="6460885" y="5791875"/>
                <a:ext cx="3324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m:t>
                          </m:r>
                        </m:sup>
                      </m:sSup>
                    </m:oMath>
                  </m:oMathPara>
                </a14:m>
                <a:endParaRPr lang="en-US" dirty="0"/>
              </a:p>
            </p:txBody>
          </p:sp>
        </mc:Choice>
        <mc:Fallback xmlns="">
          <p:sp>
            <p:nvSpPr>
              <p:cNvPr id="13" name="TextBox 12">
                <a:extLst>
                  <a:ext uri="{FF2B5EF4-FFF2-40B4-BE49-F238E27FC236}">
                    <a16:creationId xmlns:a16="http://schemas.microsoft.com/office/drawing/2014/main" id="{CA784765-AE63-4FB5-A852-686AC122AD85}"/>
                  </a:ext>
                </a:extLst>
              </p:cNvPr>
              <p:cNvSpPr txBox="1">
                <a:spLocks noRot="1" noChangeAspect="1" noMove="1" noResize="1" noEditPoints="1" noAdjustHandles="1" noChangeArrowheads="1" noChangeShapeType="1" noTextEdit="1"/>
              </p:cNvSpPr>
              <p:nvPr/>
            </p:nvSpPr>
            <p:spPr>
              <a:xfrm>
                <a:off x="6460885" y="5791875"/>
                <a:ext cx="332462" cy="276999"/>
              </a:xfrm>
              <a:prstGeom prst="rect">
                <a:avLst/>
              </a:prstGeom>
              <a:blipFill>
                <a:blip r:embed="rId12"/>
                <a:stretch>
                  <a:fillRect l="-925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DD015D46-F6B5-4D83-9963-831963F43B8C}"/>
                  </a:ext>
                </a:extLst>
              </p:cNvPr>
              <p:cNvSpPr txBox="1"/>
              <p:nvPr/>
            </p:nvSpPr>
            <p:spPr>
              <a:xfrm>
                <a:off x="7917980" y="5791875"/>
                <a:ext cx="332462" cy="2769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𝜎</m:t>
                          </m:r>
                        </m:e>
                        <m:sup>
                          <m:r>
                            <a:rPr lang="en-US" b="0" i="1" smtClean="0">
                              <a:latin typeface="Cambria Math" panose="02040503050406030204" pitchFamily="18" charset="0"/>
                            </a:rPr>
                            <m:t>+</m:t>
                          </m:r>
                        </m:sup>
                      </m:sSup>
                    </m:oMath>
                  </m:oMathPara>
                </a14:m>
                <a:endParaRPr lang="en-US" dirty="0"/>
              </a:p>
            </p:txBody>
          </p:sp>
        </mc:Choice>
        <mc:Fallback xmlns="">
          <p:sp>
            <p:nvSpPr>
              <p:cNvPr id="14" name="TextBox 13">
                <a:extLst>
                  <a:ext uri="{FF2B5EF4-FFF2-40B4-BE49-F238E27FC236}">
                    <a16:creationId xmlns:a16="http://schemas.microsoft.com/office/drawing/2014/main" id="{DD015D46-F6B5-4D83-9963-831963F43B8C}"/>
                  </a:ext>
                </a:extLst>
              </p:cNvPr>
              <p:cNvSpPr txBox="1">
                <a:spLocks noRot="1" noChangeAspect="1" noMove="1" noResize="1" noEditPoints="1" noAdjustHandles="1" noChangeArrowheads="1" noChangeShapeType="1" noTextEdit="1"/>
              </p:cNvSpPr>
              <p:nvPr/>
            </p:nvSpPr>
            <p:spPr>
              <a:xfrm>
                <a:off x="7917980" y="5791875"/>
                <a:ext cx="332462" cy="276999"/>
              </a:xfrm>
              <a:prstGeom prst="rect">
                <a:avLst/>
              </a:prstGeom>
              <a:blipFill>
                <a:blip r:embed="rId13"/>
                <a:stretch>
                  <a:fillRect l="-9259" r="-5556"/>
                </a:stretch>
              </a:blipFill>
            </p:spPr>
            <p:txBody>
              <a:bodyPr/>
              <a:lstStyle/>
              <a:p>
                <a:r>
                  <a:rPr lang="en-US">
                    <a:noFill/>
                  </a:rPr>
                  <a:t> </a:t>
                </a:r>
              </a:p>
            </p:txBody>
          </p:sp>
        </mc:Fallback>
      </mc:AlternateContent>
    </p:spTree>
    <p:extLst>
      <p:ext uri="{BB962C8B-B14F-4D97-AF65-F5344CB8AC3E}">
        <p14:creationId xmlns:p14="http://schemas.microsoft.com/office/powerpoint/2010/main" val="3174686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3" name="Rectangle 7"/>
              <p:cNvSpPr>
                <a:spLocks noChangeArrowheads="1"/>
              </p:cNvSpPr>
              <p:nvPr/>
            </p:nvSpPr>
            <p:spPr bwMode="auto">
              <a:xfrm>
                <a:off x="932004" y="958243"/>
                <a:ext cx="8845408" cy="1016368"/>
              </a:xfrm>
              <a:prstGeom prst="rect">
                <a:avLst/>
              </a:prstGeom>
              <a:noFill/>
              <a:ln w="9525">
                <a:noFill/>
                <a:miter lim="800000"/>
              </a:ln>
              <a:effectLst/>
            </p:spPr>
            <p:txBody>
              <a:bodyPr wrap="square">
                <a:spAutoFit/>
              </a:bodyPr>
              <a:lstStyle/>
              <a:p>
                <a:pPr>
                  <a:lnSpc>
                    <a:spcPct val="150000"/>
                  </a:lnSpc>
                  <a:spcBef>
                    <a:spcPct val="20000"/>
                  </a:spcBef>
                </a:pPr>
                <a14:m>
                  <m:oMathPara xmlns:m="http://schemas.openxmlformats.org/officeDocument/2006/math">
                    <m:oMathParaPr>
                      <m:jc m:val="centerGroup"/>
                    </m:oMathParaPr>
                    <m:oMath xmlns:m="http://schemas.openxmlformats.org/officeDocument/2006/math">
                      <m:r>
                        <a:rPr lang="en-US" altLang="zh-CN" sz="2000" b="1" i="1" smtClean="0">
                          <a:latin typeface="Cambria Math" panose="02040503050406030204" pitchFamily="18" charset="0"/>
                        </a:rPr>
                        <m:t>𝒑</m:t>
                      </m:r>
                      <m:r>
                        <a:rPr lang="en-US" altLang="zh-CN" sz="2000" b="1" i="1" smtClean="0">
                          <a:latin typeface="Cambria Math" panose="02040503050406030204" pitchFamily="18" charset="0"/>
                        </a:rPr>
                        <m:t>=</m:t>
                      </m:r>
                      <m:r>
                        <a:rPr lang="en-US" altLang="zh-CN" sz="2000" b="0" i="1" smtClean="0">
                          <a:latin typeface="Cambria Math" panose="02040503050406030204" pitchFamily="18" charset="0"/>
                        </a:rPr>
                        <m:t>𝑞</m:t>
                      </m:r>
                      <m:r>
                        <a:rPr lang="en-US" altLang="zh-CN" sz="2000" b="1" i="1" smtClean="0">
                          <a:latin typeface="Cambria Math" panose="02040503050406030204" pitchFamily="18" charset="0"/>
                        </a:rPr>
                        <m:t>𝒓</m:t>
                      </m:r>
                      <m:r>
                        <a:rPr lang="en-US" altLang="zh-CN" sz="2000" b="1" i="1" smtClean="0">
                          <a:latin typeface="Cambria Math" panose="02040503050406030204" pitchFamily="18" charset="0"/>
                        </a:rPr>
                        <m:t>                 </m:t>
                      </m:r>
                      <m:r>
                        <a:rPr lang="en-US" altLang="zh-CN" sz="2000" b="1" i="1" smtClean="0">
                          <a:latin typeface="Cambria Math" panose="02040503050406030204" pitchFamily="18" charset="0"/>
                        </a:rPr>
                        <m:t>𝒓</m:t>
                      </m:r>
                      <m:r>
                        <a:rPr lang="zh-CN" altLang="en-US" sz="2000" b="1" i="1">
                          <a:latin typeface="Cambria Math" panose="02040503050406030204" pitchFamily="18" charset="0"/>
                        </a:rPr>
                        <m:t>为</m:t>
                      </m:r>
                      <m:r>
                        <a:rPr lang="zh-CN" altLang="en-US" sz="2000" b="1" i="1" smtClean="0">
                          <a:latin typeface="Cambria Math" panose="02040503050406030204" pitchFamily="18" charset="0"/>
                        </a:rPr>
                        <m:t>电荷</m:t>
                      </m:r>
                      <m:r>
                        <a:rPr lang="zh-CN" altLang="en-US" sz="2000" b="1" i="1">
                          <a:latin typeface="Cambria Math" panose="02040503050406030204" pitchFamily="18" charset="0"/>
                        </a:rPr>
                        <m:t>位置</m:t>
                      </m:r>
                    </m:oMath>
                  </m:oMathPara>
                </a14:m>
                <a:endParaRPr lang="en-US" altLang="zh-CN" sz="2000" dirty="0">
                  <a:latin typeface="+mn-ea"/>
                </a:endParaRPr>
              </a:p>
              <a:p>
                <a:pPr>
                  <a:lnSpc>
                    <a:spcPct val="150000"/>
                  </a:lnSpc>
                  <a:spcBef>
                    <a:spcPct val="20000"/>
                  </a:spcBef>
                </a:pPr>
                <a:r>
                  <a:rPr lang="zh-CN" altLang="en-US" sz="2000" dirty="0">
                    <a:latin typeface="+mn-ea"/>
                  </a:rPr>
                  <a:t>球坐标系：电荷在坐标原点沿</a:t>
                </a:r>
                <a14:m>
                  <m:oMath xmlns:m="http://schemas.openxmlformats.org/officeDocument/2006/math">
                    <m:r>
                      <a:rPr lang="en-US" altLang="zh-CN" sz="2000" b="0" i="1" smtClean="0">
                        <a:latin typeface="Cambria Math" panose="02040503050406030204" pitchFamily="18" charset="0"/>
                      </a:rPr>
                      <m:t>𝑧</m:t>
                    </m:r>
                  </m:oMath>
                </a14:m>
                <a:r>
                  <a:rPr lang="zh-CN" altLang="en-US" sz="2000" b="1" dirty="0">
                    <a:latin typeface="+mn-ea"/>
                  </a:rPr>
                  <a:t>轴振荡，则在遥远的</a:t>
                </a:r>
                <a14:m>
                  <m:oMath xmlns:m="http://schemas.openxmlformats.org/officeDocument/2006/math">
                    <m:r>
                      <a:rPr lang="en-US" altLang="zh-CN" sz="2000" b="1" i="1">
                        <a:latin typeface="Cambria Math" panose="02040503050406030204" pitchFamily="18" charset="0"/>
                      </a:rPr>
                      <m:t>𝑹</m:t>
                    </m:r>
                  </m:oMath>
                </a14:m>
                <a:r>
                  <a:rPr lang="zh-CN" altLang="en-US" sz="2000" b="1" dirty="0">
                    <a:latin typeface="+mn-ea"/>
                  </a:rPr>
                  <a:t>处，</a:t>
                </a:r>
                <a14:m>
                  <m:oMath xmlns:m="http://schemas.openxmlformats.org/officeDocument/2006/math">
                    <m:r>
                      <a:rPr lang="en-US" altLang="zh-CN" sz="2000" b="1" i="0" smtClean="0">
                        <a:latin typeface="Cambria Math" panose="02040503050406030204" pitchFamily="18" charset="0"/>
                      </a:rPr>
                      <m:t>(</m:t>
                    </m:r>
                    <m:r>
                      <a:rPr lang="en-US" altLang="zh-CN" sz="2000" b="0" i="1" smtClean="0">
                        <a:latin typeface="Cambria Math" panose="02040503050406030204" pitchFamily="18" charset="0"/>
                      </a:rPr>
                      <m:t>𝑅</m:t>
                    </m:r>
                    <m:r>
                      <a:rPr lang="en-US" altLang="zh-CN" sz="200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𝜆</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𝑟</m:t>
                    </m:r>
                    <m:r>
                      <a:rPr lang="en-US" altLang="zh-CN" sz="2000" b="0" i="1" smtClean="0">
                        <a:latin typeface="Cambria Math" panose="02040503050406030204" pitchFamily="18" charset="0"/>
                        <a:ea typeface="Cambria Math" panose="02040503050406030204" pitchFamily="18" charset="0"/>
                      </a:rPr>
                      <m:t>)</m:t>
                    </m:r>
                  </m:oMath>
                </a14:m>
                <a:endParaRPr lang="zh-CN" altLang="en-US" sz="2000" b="1" dirty="0">
                  <a:latin typeface="+mn-ea"/>
                </a:endParaRPr>
              </a:p>
            </p:txBody>
          </p:sp>
        </mc:Choice>
        <mc:Fallback xmlns="">
          <p:sp>
            <p:nvSpPr>
              <p:cNvPr id="13" name="Rectangle 7"/>
              <p:cNvSpPr>
                <a:spLocks noRot="1" noChangeAspect="1" noMove="1" noResize="1" noEditPoints="1" noAdjustHandles="1" noChangeArrowheads="1" noChangeShapeType="1" noTextEdit="1"/>
              </p:cNvSpPr>
              <p:nvPr/>
            </p:nvSpPr>
            <p:spPr bwMode="auto">
              <a:xfrm>
                <a:off x="932004" y="958243"/>
                <a:ext cx="8845408" cy="1016368"/>
              </a:xfrm>
              <a:prstGeom prst="rect">
                <a:avLst/>
              </a:prstGeom>
              <a:blipFill>
                <a:blip r:embed="rId4"/>
                <a:stretch>
                  <a:fillRect l="-758" b="-8383"/>
                </a:stretch>
              </a:blipFill>
              <a:ln w="9525">
                <a:noFill/>
                <a:miter lim="800000"/>
              </a:ln>
              <a:effectLst/>
            </p:spPr>
            <p:txBody>
              <a:bodyPr/>
              <a:lstStyle/>
              <a:p>
                <a:r>
                  <a:rPr lang="en-US">
                    <a:noFill/>
                  </a:rPr>
                  <a:t> </a:t>
                </a:r>
              </a:p>
            </p:txBody>
          </p:sp>
        </mc:Fallback>
      </mc:AlternateContent>
      <p:graphicFrame>
        <p:nvGraphicFramePr>
          <p:cNvPr id="25" name="Object 21"/>
          <p:cNvGraphicFramePr>
            <a:graphicFrameLocks noChangeAspect="1"/>
          </p:cNvGraphicFramePr>
          <p:nvPr>
            <p:extLst>
              <p:ext uri="{D42A27DB-BD31-4B8C-83A1-F6EECF244321}">
                <p14:modId xmlns:p14="http://schemas.microsoft.com/office/powerpoint/2010/main" val="2450789721"/>
              </p:ext>
            </p:extLst>
          </p:nvPr>
        </p:nvGraphicFramePr>
        <p:xfrm>
          <a:off x="6024075" y="3590871"/>
          <a:ext cx="4135437" cy="1868487"/>
        </p:xfrm>
        <a:graphic>
          <a:graphicData uri="http://schemas.openxmlformats.org/presentationml/2006/ole">
            <mc:AlternateContent xmlns:mc="http://schemas.openxmlformats.org/markup-compatibility/2006">
              <mc:Choice xmlns:v="urn:schemas-microsoft-com:vml" Requires="v">
                <p:oleObj spid="_x0000_s10281" name="Equation" r:id="rId5" imgW="1536480" imgH="749160" progId="Equation.DSMT4">
                  <p:embed/>
                </p:oleObj>
              </mc:Choice>
              <mc:Fallback>
                <p:oleObj name="Equation" r:id="rId5" imgW="1536480" imgH="749160" progId="Equation.DSMT4">
                  <p:embed/>
                  <p:pic>
                    <p:nvPicPr>
                      <p:cNvPr id="25" name="Object 21"/>
                      <p:cNvPicPr>
                        <a:picLocks noChangeAspect="1" noChangeArrowheads="1"/>
                      </p:cNvPicPr>
                      <p:nvPr/>
                    </p:nvPicPr>
                    <p:blipFill>
                      <a:blip r:embed="rId6"/>
                      <a:srcRect/>
                      <a:stretch>
                        <a:fillRect/>
                      </a:stretch>
                    </p:blipFill>
                    <p:spPr bwMode="auto">
                      <a:xfrm>
                        <a:off x="6024075" y="3590871"/>
                        <a:ext cx="4135437" cy="1868487"/>
                      </a:xfrm>
                      <a:prstGeom prst="rect">
                        <a:avLst/>
                      </a:prstGeom>
                      <a:noFill/>
                    </p:spPr>
                  </p:pic>
                </p:oleObj>
              </mc:Fallback>
            </mc:AlternateContent>
          </a:graphicData>
        </a:graphic>
      </p:graphicFrame>
      <mc:AlternateContent xmlns:mc="http://schemas.openxmlformats.org/markup-compatibility/2006" xmlns:a14="http://schemas.microsoft.com/office/drawing/2010/main">
        <mc:Choice Requires="a14">
          <p:sp>
            <p:nvSpPr>
              <p:cNvPr id="16" name="Rectangle 9"/>
              <p:cNvSpPr>
                <a:spLocks noChangeArrowheads="1"/>
              </p:cNvSpPr>
              <p:nvPr/>
            </p:nvSpPr>
            <p:spPr bwMode="auto">
              <a:xfrm>
                <a:off x="5918759" y="2478293"/>
                <a:ext cx="3728906" cy="954813"/>
              </a:xfrm>
              <a:prstGeom prst="rect">
                <a:avLst/>
              </a:prstGeom>
              <a:noFill/>
              <a:ln w="9525">
                <a:noFill/>
                <a:miter lim="800000"/>
              </a:ln>
              <a:effectLst/>
            </p:spPr>
            <p:txBody>
              <a:bodyPr wrap="none">
                <a:spAutoFit/>
              </a:bodyPr>
              <a:lstStyle/>
              <a:p>
                <a:pPr>
                  <a:lnSpc>
                    <a:spcPct val="150000"/>
                  </a:lnSpc>
                </a:pPr>
                <a:r>
                  <a:rPr lang="zh-CN" altLang="en-US" sz="2000" dirty="0">
                    <a:latin typeface="+mn-ea"/>
                  </a:rPr>
                  <a:t> </a:t>
                </a:r>
                <a14:m>
                  <m:oMath xmlns:m="http://schemas.openxmlformats.org/officeDocument/2006/math">
                    <m:r>
                      <a:rPr lang="en-US" altLang="zh-CN" sz="2000" b="1" i="1" smtClean="0">
                        <a:latin typeface="Cambria Math" panose="02040503050406030204" pitchFamily="18" charset="0"/>
                      </a:rPr>
                      <m:t>𝑩</m:t>
                    </m:r>
                    <m:r>
                      <a:rPr lang="en-US" altLang="zh-CN" sz="2000" b="1" i="1" smtClean="0">
                        <a:latin typeface="Cambria Math" panose="02040503050406030204" pitchFamily="18" charset="0"/>
                      </a:rPr>
                      <m:t> </m:t>
                    </m:r>
                  </m:oMath>
                </a14:m>
                <a:r>
                  <a:rPr lang="zh-CN" altLang="en-US" sz="2000" dirty="0">
                    <a:latin typeface="+mn-ea"/>
                  </a:rPr>
                  <a:t>沿纬线振荡， </a:t>
                </a:r>
                <a14:m>
                  <m:oMath xmlns:m="http://schemas.openxmlformats.org/officeDocument/2006/math">
                    <m:r>
                      <a:rPr lang="en-US" altLang="zh-CN" sz="2000" b="1" i="1" smtClean="0">
                        <a:latin typeface="Cambria Math" panose="02040503050406030204" pitchFamily="18" charset="0"/>
                      </a:rPr>
                      <m:t>𝑬</m:t>
                    </m:r>
                    <m:r>
                      <a:rPr lang="en-US" altLang="zh-CN" sz="2000" b="1" i="1" smtClean="0">
                        <a:latin typeface="Cambria Math" panose="02040503050406030204" pitchFamily="18" charset="0"/>
                      </a:rPr>
                      <m:t> </m:t>
                    </m:r>
                  </m:oMath>
                </a14:m>
                <a:r>
                  <a:rPr lang="zh-CN" altLang="en-US" sz="2000" dirty="0">
                    <a:latin typeface="+mn-ea"/>
                  </a:rPr>
                  <a:t>沿经线振荡</a:t>
                </a:r>
                <a:endParaRPr lang="en-US" altLang="zh-CN" sz="2000" dirty="0">
                  <a:latin typeface="+mn-ea"/>
                </a:endParaRPr>
              </a:p>
              <a:p>
                <a:pPr>
                  <a:lnSpc>
                    <a:spcPct val="150000"/>
                  </a:lnSpc>
                </a:pPr>
                <a:r>
                  <a:rPr lang="zh-CN" altLang="en-US" sz="2000" dirty="0">
                    <a:latin typeface="+mn-ea"/>
                  </a:rPr>
                  <a:t>电磁波沿</a:t>
                </a:r>
                <a14:m>
                  <m:oMath xmlns:m="http://schemas.openxmlformats.org/officeDocument/2006/math">
                    <m:r>
                      <a:rPr lang="en-US" altLang="zh-CN" sz="2000" b="1" i="1" smtClean="0">
                        <a:latin typeface="Cambria Math" panose="02040503050406030204" pitchFamily="18" charset="0"/>
                      </a:rPr>
                      <m:t>𝑹</m:t>
                    </m:r>
                  </m:oMath>
                </a14:m>
                <a:r>
                  <a:rPr lang="zh-CN" altLang="en-US" sz="2000" dirty="0">
                    <a:latin typeface="+mn-ea"/>
                  </a:rPr>
                  <a:t>的方向传播</a:t>
                </a:r>
              </a:p>
            </p:txBody>
          </p:sp>
        </mc:Choice>
        <mc:Fallback xmlns="">
          <p:sp>
            <p:nvSpPr>
              <p:cNvPr id="16" name="Rectangle 9"/>
              <p:cNvSpPr>
                <a:spLocks noRot="1" noChangeAspect="1" noMove="1" noResize="1" noEditPoints="1" noAdjustHandles="1" noChangeArrowheads="1" noChangeShapeType="1" noTextEdit="1"/>
              </p:cNvSpPr>
              <p:nvPr/>
            </p:nvSpPr>
            <p:spPr bwMode="auto">
              <a:xfrm>
                <a:off x="5918759" y="2478293"/>
                <a:ext cx="3728906" cy="954813"/>
              </a:xfrm>
              <a:prstGeom prst="rect">
                <a:avLst/>
              </a:prstGeom>
              <a:blipFill>
                <a:blip r:embed="rId7"/>
                <a:stretch>
                  <a:fillRect l="-1797" r="-817" b="-9615"/>
                </a:stretch>
              </a:blipFill>
              <a:ln w="9525">
                <a:noFill/>
                <a:miter lim="800000"/>
              </a:ln>
              <a:effectLst/>
            </p:spPr>
            <p:txBody>
              <a:bodyPr/>
              <a:lstStyle/>
              <a:p>
                <a:r>
                  <a:rPr lang="en-US">
                    <a:noFill/>
                  </a:rPr>
                  <a:t> </a:t>
                </a:r>
              </a:p>
            </p:txBody>
          </p:sp>
        </mc:Fallback>
      </mc:AlternateContent>
      <p:sp>
        <p:nvSpPr>
          <p:cNvPr id="21" name="Title 1">
            <a:extLst>
              <a:ext uri="{FF2B5EF4-FFF2-40B4-BE49-F238E27FC236}">
                <a16:creationId xmlns:a16="http://schemas.microsoft.com/office/drawing/2014/main" id="{EED127D0-0D78-4657-BAD1-6A50C39E77AA}"/>
              </a:ext>
            </a:extLst>
          </p:cNvPr>
          <p:cNvSpPr txBox="1">
            <a:spLocks/>
          </p:cNvSpPr>
          <p:nvPr/>
        </p:nvSpPr>
        <p:spPr>
          <a:xfrm>
            <a:off x="534789" y="162919"/>
            <a:ext cx="8070980" cy="551589"/>
          </a:xfrm>
          <a:prstGeom prst="rect">
            <a:avLst/>
          </a:prstGeom>
        </p:spPr>
        <p:txBody>
          <a:bodyPr/>
          <a:lstStyle>
            <a:lvl1pPr algn="ctr" defTabSz="914354" rtl="0" eaLnBrk="1" latinLnBrk="0" hangingPunct="1">
              <a:spcBef>
                <a:spcPct val="0"/>
              </a:spcBef>
              <a:buNone/>
              <a:defRPr sz="4400" kern="1200">
                <a:solidFill>
                  <a:schemeClr val="tx1"/>
                </a:solidFill>
                <a:latin typeface="+mj-lt"/>
                <a:ea typeface="+mj-ea"/>
                <a:cs typeface="+mj-cs"/>
              </a:defRPr>
            </a:lvl1pPr>
          </a:lstStyle>
          <a:p>
            <a:r>
              <a:rPr lang="zh-CN" altLang="en-US" sz="3600" dirty="0"/>
              <a:t>电偶极辐射</a:t>
            </a:r>
            <a:endParaRPr lang="en-US" sz="3600" dirty="0"/>
          </a:p>
        </p:txBody>
      </p:sp>
      <p:grpSp>
        <p:nvGrpSpPr>
          <p:cNvPr id="11" name="Group 10">
            <a:extLst>
              <a:ext uri="{FF2B5EF4-FFF2-40B4-BE49-F238E27FC236}">
                <a16:creationId xmlns:a16="http://schemas.microsoft.com/office/drawing/2014/main" id="{0C124EB9-AAD1-4F08-A2FD-953BB891A21F}"/>
              </a:ext>
            </a:extLst>
          </p:cNvPr>
          <p:cNvGrpSpPr/>
          <p:nvPr/>
        </p:nvGrpSpPr>
        <p:grpSpPr>
          <a:xfrm>
            <a:off x="1273502" y="2149794"/>
            <a:ext cx="4544264" cy="4319040"/>
            <a:chOff x="1273502" y="2149794"/>
            <a:chExt cx="4544264" cy="4319040"/>
          </a:xfrm>
        </p:grpSpPr>
        <p:grpSp>
          <p:nvGrpSpPr>
            <p:cNvPr id="2" name="Group 1">
              <a:extLst>
                <a:ext uri="{FF2B5EF4-FFF2-40B4-BE49-F238E27FC236}">
                  <a16:creationId xmlns:a16="http://schemas.microsoft.com/office/drawing/2014/main" id="{32ABB3B0-DACA-4EA9-91FE-60D650F96B75}"/>
                </a:ext>
              </a:extLst>
            </p:cNvPr>
            <p:cNvGrpSpPr/>
            <p:nvPr/>
          </p:nvGrpSpPr>
          <p:grpSpPr>
            <a:xfrm>
              <a:off x="1273502" y="2149794"/>
              <a:ext cx="4544264" cy="4319040"/>
              <a:chOff x="1273502" y="2149794"/>
              <a:chExt cx="4544264" cy="4319040"/>
            </a:xfrm>
          </p:grpSpPr>
          <p:grpSp>
            <p:nvGrpSpPr>
              <p:cNvPr id="7" name="Group 6">
                <a:extLst>
                  <a:ext uri="{FF2B5EF4-FFF2-40B4-BE49-F238E27FC236}">
                    <a16:creationId xmlns:a16="http://schemas.microsoft.com/office/drawing/2014/main" id="{46FD4148-7DC9-4D07-AC60-AC64B649350C}"/>
                  </a:ext>
                </a:extLst>
              </p:cNvPr>
              <p:cNvGrpSpPr/>
              <p:nvPr/>
            </p:nvGrpSpPr>
            <p:grpSpPr>
              <a:xfrm>
                <a:off x="1273502" y="2149794"/>
                <a:ext cx="4544264" cy="4319040"/>
                <a:chOff x="1385481" y="1529110"/>
                <a:chExt cx="4544264" cy="4319040"/>
              </a:xfrm>
            </p:grpSpPr>
            <mc:AlternateContent xmlns:mc="http://schemas.openxmlformats.org/markup-compatibility/2006" xmlns:a14="http://schemas.microsoft.com/office/drawing/2010/main">
              <mc:Choice Requires="a14">
                <p:graphicFrame>
                  <p:nvGraphicFramePr>
                    <p:cNvPr id="26" name="Object 15"/>
                    <p:cNvGraphicFramePr>
                      <a:graphicFrameLocks noChangeAspect="1"/>
                    </p:cNvGraphicFramePr>
                    <p:nvPr>
                      <p:extLst>
                        <p:ext uri="{D42A27DB-BD31-4B8C-83A1-F6EECF244321}">
                          <p14:modId xmlns:p14="http://schemas.microsoft.com/office/powerpoint/2010/main" val="2273752718"/>
                        </p:ext>
                      </p:extLst>
                    </p:nvPr>
                  </p:nvGraphicFramePr>
                  <p:xfrm>
                    <a:off x="1385481" y="1529110"/>
                    <a:ext cx="4544264" cy="4319040"/>
                  </p:xfrm>
                  <a:graphic>
                    <a:graphicData uri="http://schemas.openxmlformats.org/presentationml/2006/ole">
                      <mc:AlternateContent>
                        <mc:Choice xmlns:v="urn:schemas-microsoft-com:vml" Requires="v">
                          <p:oleObj spid="_x0000_s10282" name="Clip" r:id="rId8" imgW="9982200" imgH="9801225" progId="">
                            <p:embed/>
                          </p:oleObj>
                        </mc:Choice>
                        <mc:Fallback>
                          <p:oleObj name="Clip" r:id="rId8" imgW="9982200" imgH="9801225" progId="">
                            <p:embed/>
                            <p:pic>
                              <p:nvPicPr>
                                <p:cNvPr id="26" name="Object 15"/>
                                <p:cNvPicPr>
                                  <a:picLocks noChangeAspect="1" noChangeArrowheads="1"/>
                                </p:cNvPicPr>
                                <p:nvPr/>
                              </p:nvPicPr>
                              <p:blipFill>
                                <a:blip r:embed="rId9">
                                  <a:extLst>
                                    <a:ext uri="{28A0092B-C50C-407E-A947-70E740481C1C}">
                                      <a14:useLocalDpi val="0"/>
                                    </a:ext>
                                  </a:extLst>
                                </a:blip>
                                <a:srcRect/>
                                <a:stretch>
                                  <a:fillRect/>
                                </a:stretch>
                              </p:blipFill>
                              <p:spPr bwMode="auto">
                                <a:xfrm>
                                  <a:off x="1385481" y="1529110"/>
                                  <a:ext cx="4544264" cy="4319040"/>
                                </a:xfrm>
                                <a:prstGeom prst="rect">
                                  <a:avLst/>
                                </a:prstGeom>
                                <a:noFill/>
                              </p:spPr>
                            </p:pic>
                          </p:oleObj>
                        </mc:Fallback>
                      </mc:AlternateContent>
                    </a:graphicData>
                  </a:graphic>
                </p:graphicFrame>
              </mc:Choice>
              <mc:Fallback xmlns="">
                <p:graphicFrame>
                  <p:nvGraphicFramePr>
                    <p:cNvPr id="26" name="Object 15"/>
                    <p:cNvGraphicFramePr>
                      <a:graphicFrameLocks noChangeAspect="1"/>
                    </p:cNvGraphicFramePr>
                    <p:nvPr>
                      <p:extLst>
                        <p:ext uri="{D42A27DB-BD31-4B8C-83A1-F6EECF244321}">
                          <p14:modId xmlns:p14="http://schemas.microsoft.com/office/powerpoint/2010/main" val="2273752718"/>
                        </p:ext>
                      </p:extLst>
                    </p:nvPr>
                  </p:nvGraphicFramePr>
                  <p:xfrm>
                    <a:off x="1385481" y="1529110"/>
                    <a:ext cx="4544264" cy="4319040"/>
                  </p:xfrm>
                  <a:graphic>
                    <a:graphicData uri="http://schemas.openxmlformats.org/presentationml/2006/ole">
                      <mc:AlternateContent>
                        <mc:Choice xmlns:v="urn:schemas-microsoft-com:vml" Requires="v">
                          <p:oleObj spid="_x0000_s10255" name="Clip" r:id="rId10" imgW="9982200" imgH="9801225" progId="">
                            <p:embed/>
                          </p:oleObj>
                        </mc:Choice>
                        <mc:Fallback>
                          <p:oleObj name="Clip" r:id="rId10" imgW="9982200" imgH="9801225" progId="">
                            <p:embed/>
                            <p:pic>
                              <p:nvPicPr>
                                <p:cNvPr id="26" name="Object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385481" y="1529110"/>
                                  <a:ext cx="4544264" cy="4319040"/>
                                </a:xfrm>
                                <a:prstGeom prst="rect">
                                  <a:avLst/>
                                </a:prstGeom>
                                <a:noFill/>
                              </p:spPr>
                            </p:pic>
                          </p:oleObj>
                        </mc:Fallback>
                      </mc:AlternateContent>
                    </a:graphicData>
                  </a:graphic>
                </p:graphicFrame>
              </mc:Fallback>
            </mc:AlternateContent>
            <mc:AlternateContent xmlns:mc="http://schemas.openxmlformats.org/markup-compatibility/2006" xmlns:a14="http://schemas.microsoft.com/office/drawing/2010/main">
              <mc:Choice Requires="a14">
                <p:graphicFrame>
                  <p:nvGraphicFramePr>
                    <p:cNvPr id="4" name="Object 3">
                      <a:extLst>
                        <a:ext uri="{FF2B5EF4-FFF2-40B4-BE49-F238E27FC236}">
                          <a16:creationId xmlns:a16="http://schemas.microsoft.com/office/drawing/2014/main" id="{73F1B38F-EEA7-46E5-9A33-83A127974409}"/>
                        </a:ext>
                      </a:extLst>
                    </p:cNvPr>
                    <p:cNvGraphicFramePr>
                      <a:graphicFrameLocks noChangeAspect="1"/>
                    </p:cNvGraphicFramePr>
                    <p:nvPr>
                      <p:extLst>
                        <p:ext uri="{D42A27DB-BD31-4B8C-83A1-F6EECF244321}">
                          <p14:modId xmlns:p14="http://schemas.microsoft.com/office/powerpoint/2010/main" val="2056954953"/>
                        </p:ext>
                      </p:extLst>
                    </p:nvPr>
                  </p:nvGraphicFramePr>
                  <p:xfrm>
                    <a:off x="3506539" y="3322680"/>
                    <a:ext cx="238934" cy="318579"/>
                  </p:xfrm>
                  <a:graphic>
                    <a:graphicData uri="http://schemas.openxmlformats.org/presentationml/2006/ole">
                      <mc:AlternateContent>
                        <mc:Choice xmlns:v="urn:schemas-microsoft-com:vml" Requires="v">
                          <p:oleObj spid="_x0000_s10283" name="Equation" r:id="rId12" imgW="114120" imgH="152280" progId="Equation.DSMT4">
                            <p:embed/>
                          </p:oleObj>
                        </mc:Choice>
                        <mc:Fallback>
                          <p:oleObj name="Equation" r:id="rId12" imgW="114120" imgH="152280" progId="Equation.DSMT4">
                            <p:embed/>
                            <p:pic>
                              <p:nvPicPr>
                                <p:cNvPr id="4" name="Object 3">
                                  <a:extLst>
                                    <a:ext uri="{FF2B5EF4-FFF2-40B4-BE49-F238E27FC236}">
                                      <a16:creationId xmlns:a16="http://schemas.microsoft.com/office/drawing/2014/main" id="{73F1B38F-EEA7-46E5-9A33-83A127974409}"/>
                                    </a:ext>
                                  </a:extLst>
                                </p:cNvPr>
                                <p:cNvPicPr/>
                                <p:nvPr/>
                              </p:nvPicPr>
                              <p:blipFill>
                                <a:blip r:embed="rId13"/>
                                <a:stretch>
                                  <a:fillRect/>
                                </a:stretch>
                              </p:blipFill>
                              <p:spPr>
                                <a:xfrm>
                                  <a:off x="3506539" y="3322680"/>
                                  <a:ext cx="238934" cy="318579"/>
                                </a:xfrm>
                                <a:prstGeom prst="rect">
                                  <a:avLst/>
                                </a:prstGeom>
                              </p:spPr>
                            </p:pic>
                          </p:oleObj>
                        </mc:Fallback>
                      </mc:AlternateContent>
                    </a:graphicData>
                  </a:graphic>
                </p:graphicFrame>
              </mc:Choice>
              <mc:Fallback xmlns="">
                <p:graphicFrame>
                  <p:nvGraphicFramePr>
                    <p:cNvPr id="4" name="Object 3">
                      <a:extLst>
                        <a:ext uri="{FF2B5EF4-FFF2-40B4-BE49-F238E27FC236}">
                          <a16:creationId xmlns:a16="http://schemas.microsoft.com/office/drawing/2014/main" id="{73F1B38F-EEA7-46E5-9A33-83A127974409}"/>
                        </a:ext>
                      </a:extLst>
                    </p:cNvPr>
                    <p:cNvGraphicFramePr>
                      <a:graphicFrameLocks noChangeAspect="1"/>
                    </p:cNvGraphicFramePr>
                    <p:nvPr>
                      <p:extLst>
                        <p:ext uri="{D42A27DB-BD31-4B8C-83A1-F6EECF244321}">
                          <p14:modId xmlns:p14="http://schemas.microsoft.com/office/powerpoint/2010/main" val="2056954953"/>
                        </p:ext>
                      </p:extLst>
                    </p:nvPr>
                  </p:nvGraphicFramePr>
                  <p:xfrm>
                    <a:off x="3506539" y="3322680"/>
                    <a:ext cx="238934" cy="318579"/>
                  </p:xfrm>
                  <a:graphic>
                    <a:graphicData uri="http://schemas.openxmlformats.org/presentationml/2006/ole">
                      <mc:AlternateContent>
                        <mc:Choice xmlns:v="urn:schemas-microsoft-com:vml" Requires="v">
                          <p:oleObj spid="_x0000_s10256" name="Equation" r:id="rId14" imgW="114120" imgH="152280" progId="Equation.DSMT4">
                            <p:embed/>
                          </p:oleObj>
                        </mc:Choice>
                        <mc:Fallback>
                          <p:oleObj name="Equation" r:id="rId14" imgW="114120" imgH="152280" progId="Equation.DSMT4">
                            <p:embed/>
                            <p:pic>
                              <p:nvPicPr>
                                <p:cNvPr id="4" name="Object 3">
                                  <a:extLst>
                                    <a:ext uri="{FF2B5EF4-FFF2-40B4-BE49-F238E27FC236}">
                                      <a16:creationId xmlns:a16="http://schemas.microsoft.com/office/drawing/2014/main" id="{73F1B38F-EEA7-46E5-9A33-83A127974409}"/>
                                    </a:ext>
                                  </a:extLst>
                                </p:cNvPr>
                                <p:cNvPicPr/>
                                <p:nvPr/>
                              </p:nvPicPr>
                              <p:blipFill>
                                <a:blip r:embed="rId15"/>
                                <a:stretch>
                                  <a:fillRect/>
                                </a:stretch>
                              </p:blipFill>
                              <p:spPr>
                                <a:xfrm>
                                  <a:off x="3506539" y="3322680"/>
                                  <a:ext cx="238934" cy="318579"/>
                                </a:xfrm>
                                <a:prstGeom prst="rect">
                                  <a:avLst/>
                                </a:prstGeom>
                              </p:spPr>
                            </p:pic>
                          </p:oleObj>
                        </mc:Fallback>
                      </mc:AlternateContent>
                    </a:graphicData>
                  </a:graphic>
                </p:graphicFrame>
              </mc:Fallback>
            </mc:AlternateContent>
            <p:sp>
              <p:nvSpPr>
                <p:cNvPr id="5" name="Arc 4">
                  <a:extLst>
                    <a:ext uri="{FF2B5EF4-FFF2-40B4-BE49-F238E27FC236}">
                      <a16:creationId xmlns:a16="http://schemas.microsoft.com/office/drawing/2014/main" id="{337BBB94-B103-42A7-9930-AA2594FDA0B4}"/>
                    </a:ext>
                  </a:extLst>
                </p:cNvPr>
                <p:cNvSpPr/>
                <p:nvPr/>
              </p:nvSpPr>
              <p:spPr>
                <a:xfrm rot="1149468">
                  <a:off x="3466934" y="3598571"/>
                  <a:ext cx="218899" cy="191202"/>
                </a:xfrm>
                <a:prstGeom prst="arc">
                  <a:avLst>
                    <a:gd name="adj1" fmla="val 12955880"/>
                    <a:gd name="adj2" fmla="val 19323252"/>
                  </a:avLst>
                </a:prstGeom>
                <a:effectLst/>
              </p:spPr>
              <p:style>
                <a:lnRef idx="2">
                  <a:schemeClr val="dk1"/>
                </a:lnRef>
                <a:fillRef idx="0">
                  <a:schemeClr val="dk1"/>
                </a:fillRef>
                <a:effectRef idx="1">
                  <a:schemeClr val="dk1"/>
                </a:effectRef>
                <a:fontRef idx="minor">
                  <a:schemeClr val="tx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D3BC14F8-48C2-4DE8-8F83-1AA40D2C5364}"/>
                      </a:ext>
                    </a:extLst>
                  </p:cNvPr>
                  <p:cNvSpPr txBox="1"/>
                  <p:nvPr/>
                </p:nvSpPr>
                <p:spPr>
                  <a:xfrm>
                    <a:off x="3765696" y="3757744"/>
                    <a:ext cx="347154" cy="43088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2200" b="1" i="1" smtClean="0">
                              <a:solidFill>
                                <a:srgbClr val="C00000"/>
                              </a:solidFill>
                              <a:latin typeface="Cambria Math" panose="02040503050406030204" pitchFamily="18" charset="0"/>
                            </a:rPr>
                            <m:t>𝑹</m:t>
                          </m:r>
                        </m:oMath>
                      </m:oMathPara>
                    </a14:m>
                    <a:endParaRPr lang="en-US" sz="2200" b="1" dirty="0">
                      <a:solidFill>
                        <a:srgbClr val="C00000"/>
                      </a:solidFill>
                    </a:endParaRPr>
                  </a:p>
                </p:txBody>
              </p:sp>
            </mc:Choice>
            <mc:Fallback xmlns="">
              <p:sp>
                <p:nvSpPr>
                  <p:cNvPr id="20" name="TextBox 19">
                    <a:extLst>
                      <a:ext uri="{FF2B5EF4-FFF2-40B4-BE49-F238E27FC236}">
                        <a16:creationId xmlns:a16="http://schemas.microsoft.com/office/drawing/2014/main" id="{D3BC14F8-48C2-4DE8-8F83-1AA40D2C5364}"/>
                      </a:ext>
                    </a:extLst>
                  </p:cNvPr>
                  <p:cNvSpPr txBox="1">
                    <a:spLocks noRot="1" noChangeAspect="1" noMove="1" noResize="1" noEditPoints="1" noAdjustHandles="1" noChangeArrowheads="1" noChangeShapeType="1" noTextEdit="1"/>
                  </p:cNvSpPr>
                  <p:nvPr/>
                </p:nvSpPr>
                <p:spPr>
                  <a:xfrm>
                    <a:off x="3765696" y="3757744"/>
                    <a:ext cx="347154" cy="430887"/>
                  </a:xfrm>
                  <a:prstGeom prst="rect">
                    <a:avLst/>
                  </a:prstGeom>
                  <a:blipFill>
                    <a:blip r:embed="rId16"/>
                    <a:stretch>
                      <a:fillRect l="-1754" r="-10526"/>
                    </a:stretch>
                  </a:blipFill>
                </p:spPr>
                <p:txBody>
                  <a:bodyPr/>
                  <a:lstStyle/>
                  <a:p>
                    <a:r>
                      <a:rPr lang="en-US">
                        <a:noFill/>
                      </a:rPr>
                      <a:t> </a:t>
                    </a:r>
                  </a:p>
                </p:txBody>
              </p:sp>
            </mc:Fallback>
          </mc:AlternateContent>
        </p:grpSp>
        <p:cxnSp>
          <p:nvCxnSpPr>
            <p:cNvPr id="6" name="Straight Arrow Connector 5">
              <a:extLst>
                <a:ext uri="{FF2B5EF4-FFF2-40B4-BE49-F238E27FC236}">
                  <a16:creationId xmlns:a16="http://schemas.microsoft.com/office/drawing/2014/main" id="{A6DAC5A7-E49F-46DA-93DC-C7B4323537D4}"/>
                </a:ext>
              </a:extLst>
            </p:cNvPr>
            <p:cNvCxnSpPr>
              <a:cxnSpLocks/>
            </p:cNvCxnSpPr>
            <p:nvPr/>
          </p:nvCxnSpPr>
          <p:spPr>
            <a:xfrm flipV="1">
              <a:off x="3408050" y="3699290"/>
              <a:ext cx="559605" cy="825824"/>
            </a:xfrm>
            <a:prstGeom prst="straightConnector1">
              <a:avLst/>
            </a:prstGeom>
            <a:ln w="25400">
              <a:solidFill>
                <a:srgbClr val="C00000"/>
              </a:solidFill>
              <a:prstDash val="sysDash"/>
              <a:tailEnd type="triangle" w="med" len="lg"/>
            </a:ln>
          </p:spPr>
          <p:style>
            <a:lnRef idx="1">
              <a:schemeClr val="accent1"/>
            </a:lnRef>
            <a:fillRef idx="0">
              <a:schemeClr val="accent1"/>
            </a:fillRef>
            <a:effectRef idx="0">
              <a:schemeClr val="accent1"/>
            </a:effectRef>
            <a:fontRef idx="minor">
              <a:schemeClr val="tx1"/>
            </a:fontRef>
          </p:style>
        </p:cxn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7B5C8A7-438F-4810-82D3-D277A0DB5C33}"/>
              </a:ext>
            </a:extLst>
          </p:cNvPr>
          <p:cNvPicPr>
            <a:picLocks noChangeAspect="1"/>
          </p:cNvPicPr>
          <p:nvPr/>
        </p:nvPicPr>
        <p:blipFill>
          <a:blip r:embed="rId2"/>
          <a:stretch>
            <a:fillRect/>
          </a:stretch>
        </p:blipFill>
        <p:spPr>
          <a:xfrm>
            <a:off x="934417" y="1256969"/>
            <a:ext cx="2987204" cy="3300378"/>
          </a:xfrm>
          <a:prstGeom prst="rect">
            <a:avLst/>
          </a:prstGeom>
        </p:spPr>
      </p:pic>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56CAAD88-8F9A-42D2-ADB8-192FE52275E2}"/>
                  </a:ext>
                </a:extLst>
              </p:cNvPr>
              <p:cNvSpPr txBox="1"/>
              <p:nvPr/>
            </p:nvSpPr>
            <p:spPr>
              <a:xfrm>
                <a:off x="4261899" y="609125"/>
                <a:ext cx="7525045" cy="5643789"/>
              </a:xfrm>
              <a:prstGeom prst="rect">
                <a:avLst/>
              </a:prstGeom>
              <a:noFill/>
            </p:spPr>
            <p:txBody>
              <a:bodyPr wrap="square" rtlCol="0">
                <a:spAutoFit/>
              </a:bodyPr>
              <a:lstStyle/>
              <a:p>
                <a:pPr>
                  <a:lnSpc>
                    <a:spcPct val="150000"/>
                  </a:lnSpc>
                </a:pPr>
                <a:r>
                  <a:rPr lang="zh-CN" altLang="en-US" dirty="0"/>
                  <a:t>在谐振子回复力和洛伦茨力的作用下。电子的运动方程为</a:t>
                </a:r>
                <a:endParaRPr lang="en-US" altLang="zh-CN" dirty="0"/>
              </a:p>
              <a:p>
                <a:pPr>
                  <a:lnSpc>
                    <a:spcPct val="150000"/>
                  </a:lnSpc>
                </a:pPr>
                <a14:m>
                  <m:oMathPara xmlns:m="http://schemas.openxmlformats.org/officeDocument/2006/math">
                    <m:oMathParaPr>
                      <m:jc m:val="centerGroup"/>
                    </m:oMathParaPr>
                    <m:oMath xmlns:m="http://schemas.openxmlformats.org/officeDocument/2006/math">
                      <m:r>
                        <a:rPr lang="en-US" altLang="zh-CN" b="0" i="1" smtClean="0">
                          <a:latin typeface="Cambria Math" panose="02040503050406030204" pitchFamily="18" charset="0"/>
                        </a:rPr>
                        <m:t>𝑚</m:t>
                      </m:r>
                      <m:acc>
                        <m:accPr>
                          <m:chr m:val="̈"/>
                          <m:ctrlPr>
                            <a:rPr lang="en-US" altLang="zh-CN" b="0" i="1" smtClean="0">
                              <a:latin typeface="Cambria Math" panose="02040503050406030204" pitchFamily="18" charset="0"/>
                            </a:rPr>
                          </m:ctrlPr>
                        </m:accPr>
                        <m:e>
                          <m:r>
                            <a:rPr lang="en-US" altLang="zh-CN" b="1" i="1" smtClean="0">
                              <a:latin typeface="Cambria Math" panose="02040503050406030204" pitchFamily="18" charset="0"/>
                            </a:rPr>
                            <m:t>𝒓</m:t>
                          </m:r>
                        </m:e>
                      </m:acc>
                      <m:r>
                        <a:rPr lang="en-US" altLang="zh-CN" b="0" i="1" smtClean="0">
                          <a:latin typeface="Cambria Math" panose="02040503050406030204" pitchFamily="18" charset="0"/>
                        </a:rPr>
                        <m:t>=−</m:t>
                      </m:r>
                      <m:r>
                        <a:rPr lang="en-US" altLang="zh-CN" b="0" i="1" smtClean="0">
                          <a:latin typeface="Cambria Math" panose="02040503050406030204" pitchFamily="18" charset="0"/>
                        </a:rPr>
                        <m:t>𝑚</m:t>
                      </m:r>
                      <m:sSubSup>
                        <m:sSubSupPr>
                          <m:ctrlPr>
                            <a:rPr lang="en-US" altLang="zh-CN" b="0" i="1" smtClean="0">
                              <a:latin typeface="Cambria Math" panose="02040503050406030204" pitchFamily="18" charset="0"/>
                            </a:rPr>
                          </m:ctrlPr>
                        </m:sSubSupPr>
                        <m:e>
                          <m:r>
                            <a:rPr lang="en-US" altLang="zh-CN" b="0" i="1" smtClean="0">
                              <a:latin typeface="Cambria Math" panose="02040503050406030204" pitchFamily="18" charset="0"/>
                            </a:rPr>
                            <m:t>𝜔</m:t>
                          </m:r>
                        </m:e>
                        <m:sub>
                          <m:r>
                            <a:rPr lang="en-US" altLang="zh-CN" b="0" i="1" smtClean="0">
                              <a:latin typeface="Cambria Math" panose="02040503050406030204" pitchFamily="18" charset="0"/>
                            </a:rPr>
                            <m:t>0</m:t>
                          </m:r>
                        </m:sub>
                        <m:sup>
                          <m:r>
                            <a:rPr lang="en-US" altLang="zh-CN" b="0" i="1" smtClean="0">
                              <a:latin typeface="Cambria Math" panose="02040503050406030204" pitchFamily="18" charset="0"/>
                            </a:rPr>
                            <m:t>2</m:t>
                          </m:r>
                        </m:sup>
                      </m:sSubSup>
                      <m:r>
                        <a:rPr lang="en-US" altLang="zh-CN" b="1" i="1" smtClean="0">
                          <a:latin typeface="Cambria Math" panose="02040503050406030204" pitchFamily="18" charset="0"/>
                        </a:rPr>
                        <m:t>𝒓</m:t>
                      </m:r>
                      <m:r>
                        <a:rPr lang="en-US" altLang="zh-CN" b="1" i="1" smtClean="0">
                          <a:latin typeface="Cambria Math" panose="02040503050406030204" pitchFamily="18" charset="0"/>
                        </a:rPr>
                        <m:t>−</m:t>
                      </m:r>
                      <m:r>
                        <a:rPr lang="en-US" altLang="zh-CN" b="0" i="1" smtClean="0">
                          <a:latin typeface="Cambria Math" panose="02040503050406030204" pitchFamily="18" charset="0"/>
                        </a:rPr>
                        <m:t>𝑒</m:t>
                      </m:r>
                      <m:acc>
                        <m:accPr>
                          <m:chr m:val="̇"/>
                          <m:ctrlPr>
                            <a:rPr lang="en-US" altLang="zh-CN" b="0" i="1" smtClean="0">
                              <a:latin typeface="Cambria Math" panose="02040503050406030204" pitchFamily="18" charset="0"/>
                            </a:rPr>
                          </m:ctrlPr>
                        </m:accPr>
                        <m:e>
                          <m:r>
                            <a:rPr lang="en-US" altLang="zh-CN" b="1" i="1" smtClean="0">
                              <a:latin typeface="Cambria Math" panose="02040503050406030204" pitchFamily="18" charset="0"/>
                            </a:rPr>
                            <m:t>𝒓</m:t>
                          </m:r>
                        </m:e>
                      </m:acc>
                      <m:r>
                        <a:rPr lang="en-US" altLang="zh-CN" b="0" i="1" smtClean="0">
                          <a:latin typeface="Cambria Math" panose="02040503050406030204" pitchFamily="18" charset="0"/>
                          <a:ea typeface="Cambria Math" panose="02040503050406030204" pitchFamily="18" charset="0"/>
                        </a:rPr>
                        <m:t>×</m:t>
                      </m:r>
                      <m:r>
                        <a:rPr lang="en-US" altLang="zh-CN" b="1" i="1" smtClean="0">
                          <a:latin typeface="Cambria Math" panose="02040503050406030204" pitchFamily="18" charset="0"/>
                          <a:ea typeface="Cambria Math" panose="02040503050406030204" pitchFamily="18" charset="0"/>
                        </a:rPr>
                        <m:t>𝑩</m:t>
                      </m:r>
                    </m:oMath>
                  </m:oMathPara>
                </a14:m>
                <a:endParaRPr lang="en-US" altLang="zh-CN" b="1" dirty="0"/>
              </a:p>
              <a:p>
                <a:pPr>
                  <a:lnSpc>
                    <a:spcPct val="150000"/>
                  </a:lnSpc>
                </a:pPr>
                <a:r>
                  <a:rPr lang="zh-CN" altLang="en-US" dirty="0"/>
                  <a:t>而电子的任意振荡等效于左图所示的三种基本振动模式的叠加。</a:t>
                </a:r>
                <a:endParaRPr lang="en-US" altLang="zh-CN" dirty="0"/>
              </a:p>
              <a:p>
                <a:pPr>
                  <a:lnSpc>
                    <a:spcPct val="150000"/>
                  </a:lnSpc>
                </a:pPr>
                <a:r>
                  <a:rPr lang="zh-CN" altLang="en-US" dirty="0"/>
                  <a:t>这三种模式恰好是运动方程的</a:t>
                </a:r>
                <a:r>
                  <a:rPr lang="zh-CN" altLang="en-US" dirty="0">
                    <a:highlight>
                      <a:srgbClr val="FFFF00"/>
                    </a:highlight>
                  </a:rPr>
                  <a:t>本征振荡模式</a:t>
                </a:r>
                <a:r>
                  <a:rPr lang="zh-CN" altLang="en-US" dirty="0"/>
                  <a:t>，即该振荡模式在力场中只会改变频率和振幅，不会转变为其他模式。</a:t>
                </a:r>
                <a:endParaRPr lang="en-US" altLang="zh-CN" dirty="0"/>
              </a:p>
              <a:p>
                <a:pPr marL="285750" indent="-285750">
                  <a:lnSpc>
                    <a:spcPct val="150000"/>
                  </a:lnSpc>
                  <a:buFont typeface="Arial" panose="020B0604020202020204" pitchFamily="34" charset="0"/>
                  <a:buChar char="•"/>
                </a:pPr>
                <a:r>
                  <a:rPr lang="zh-CN" altLang="en-US" dirty="0"/>
                  <a:t>对于沿</a:t>
                </a:r>
                <a14:m>
                  <m:oMath xmlns:m="http://schemas.openxmlformats.org/officeDocument/2006/math">
                    <m:r>
                      <a:rPr lang="en-US" altLang="zh-CN" b="0" i="1" smtClean="0">
                        <a:latin typeface="Cambria Math" panose="02040503050406030204" pitchFamily="18" charset="0"/>
                      </a:rPr>
                      <m:t>𝑧</m:t>
                    </m:r>
                  </m:oMath>
                </a14:m>
                <a:r>
                  <a:rPr lang="zh-CN" altLang="en-US" dirty="0"/>
                  <a:t>轴振荡模式，电子感受不到洛伦茨力，其运动方程为</a:t>
                </a:r>
                <a:endParaRPr lang="en-US"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r>
                        <a:rPr lang="en-US" b="0" i="1" smtClean="0">
                          <a:latin typeface="Cambria Math" panose="02040503050406030204" pitchFamily="18" charset="0"/>
                        </a:rPr>
                        <m:t>=−</m:t>
                      </m:r>
                      <m:r>
                        <a:rPr lang="en-US" b="0" i="1" smtClean="0">
                          <a:latin typeface="Cambria Math" panose="02040503050406030204" pitchFamily="18" charset="0"/>
                        </a:rPr>
                        <m:t>𝑚</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𝜔</m:t>
                          </m:r>
                        </m:e>
                        <m:sub>
                          <m:r>
                            <a:rPr lang="en-US" b="0" i="1" smtClean="0">
                              <a:latin typeface="Cambria Math" panose="02040503050406030204" pitchFamily="18" charset="0"/>
                            </a:rPr>
                            <m:t>0</m:t>
                          </m:r>
                        </m:sub>
                        <m:sup>
                          <m:r>
                            <a:rPr lang="en-US" b="0" i="1" smtClean="0">
                              <a:latin typeface="Cambria Math" panose="02040503050406030204" pitchFamily="18" charset="0"/>
                            </a:rPr>
                            <m:t>2</m:t>
                          </m:r>
                        </m:sup>
                      </m:sSubSup>
                      <m:r>
                        <a:rPr lang="en-US" b="0" i="1" smtClean="0">
                          <a:latin typeface="Cambria Math" panose="02040503050406030204" pitchFamily="18" charset="0"/>
                        </a:rPr>
                        <m:t>𝑧</m:t>
                      </m:r>
                    </m:oMath>
                  </m:oMathPara>
                </a14:m>
                <a:endParaRPr lang="en-US" b="0" dirty="0"/>
              </a:p>
              <a:p>
                <a:pPr>
                  <a:lnSpc>
                    <a:spcPct val="150000"/>
                  </a:lnSpc>
                </a:pPr>
                <a:r>
                  <a:rPr lang="en-US" altLang="zh-CN" dirty="0"/>
                  <a:t>	</a:t>
                </a:r>
                <a:r>
                  <a:rPr lang="zh-CN" altLang="en-US" dirty="0"/>
                  <a:t>这个方程的解正是沿</a:t>
                </a:r>
                <a14:m>
                  <m:oMath xmlns:m="http://schemas.openxmlformats.org/officeDocument/2006/math">
                    <m:r>
                      <m:rPr>
                        <m:sty m:val="p"/>
                      </m:rPr>
                      <a:rPr lang="en-US" altLang="zh-CN" i="1" dirty="0">
                        <a:latin typeface="Cambria Math" panose="02040503050406030204" pitchFamily="18" charset="0"/>
                      </a:rPr>
                      <m:t>z</m:t>
                    </m:r>
                  </m:oMath>
                </a14:m>
                <a:r>
                  <a:rPr lang="zh-CN" altLang="en-US" b="0" dirty="0"/>
                  <a:t>轴，频率为</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𝜔</m:t>
                        </m:r>
                      </m:e>
                      <m:sub>
                        <m:r>
                          <a:rPr lang="en-US" i="1">
                            <a:latin typeface="Cambria Math" panose="02040503050406030204" pitchFamily="18" charset="0"/>
                          </a:rPr>
                          <m:t>0</m:t>
                        </m:r>
                      </m:sub>
                    </m:sSub>
                  </m:oMath>
                </a14:m>
                <a:r>
                  <a:rPr lang="zh-CN" altLang="en-US" b="0" dirty="0"/>
                  <a:t>的振荡。</a:t>
                </a:r>
                <a:endParaRPr lang="en-US" b="0"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𝑧</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𝑧</m:t>
                          </m:r>
                        </m:e>
                        <m:sub>
                          <m:r>
                            <a:rPr lang="en-US" b="0" i="1" smtClean="0">
                              <a:latin typeface="Cambria Math" panose="02040503050406030204" pitchFamily="18" charset="0"/>
                            </a:rPr>
                            <m:t>0</m:t>
                          </m:r>
                        </m:sub>
                      </m:sSub>
                      <m:r>
                        <m:rPr>
                          <m:sty m:val="p"/>
                        </m:rPr>
                        <a:rPr lang="en-US" b="0" i="0" smtClean="0">
                          <a:latin typeface="Cambria Math" panose="02040503050406030204" pitchFamily="18" charset="0"/>
                        </a:rPr>
                        <m:t>cos</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r>
                        <a:rPr lang="en-US" b="0" i="1" smtClean="0">
                          <a:latin typeface="Cambria Math" panose="02040503050406030204" pitchFamily="18" charset="0"/>
                        </a:rPr>
                        <m:t>𝑡</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𝜙</m:t>
                          </m:r>
                        </m:e>
                        <m:sub>
                          <m:r>
                            <a:rPr lang="en-US" b="0" i="1" smtClean="0">
                              <a:latin typeface="Cambria Math" panose="02040503050406030204" pitchFamily="18" charset="0"/>
                            </a:rPr>
                            <m:t>0</m:t>
                          </m:r>
                        </m:sub>
                      </m:sSub>
                      <m:r>
                        <a:rPr lang="en-US" b="0" i="1" smtClean="0">
                          <a:latin typeface="Cambria Math" panose="02040503050406030204" pitchFamily="18" charset="0"/>
                        </a:rPr>
                        <m:t>)</m:t>
                      </m:r>
                    </m:oMath>
                  </m:oMathPara>
                </a14:m>
                <a:endParaRPr lang="en-US" b="0" dirty="0"/>
              </a:p>
              <a:p>
                <a:pPr marL="285750" indent="-285750">
                  <a:lnSpc>
                    <a:spcPct val="150000"/>
                  </a:lnSpc>
                  <a:buFont typeface="Arial" panose="020B0604020202020204" pitchFamily="34" charset="0"/>
                  <a:buChar char="•"/>
                </a:pPr>
                <a:r>
                  <a:rPr lang="zh-CN" altLang="en-US" dirty="0"/>
                  <a:t>对于在</a:t>
                </a:r>
                <a14:m>
                  <m:oMath xmlns:m="http://schemas.openxmlformats.org/officeDocument/2006/math">
                    <m:r>
                      <a:rPr lang="en-US" altLang="zh-CN" i="1" dirty="0" smtClean="0">
                        <a:latin typeface="Cambria Math" panose="02040503050406030204" pitchFamily="18" charset="0"/>
                      </a:rPr>
                      <m:t>𝑥</m:t>
                    </m:r>
                  </m:oMath>
                </a14:m>
                <a:r>
                  <a:rPr lang="en-US" altLang="zh-CN" dirty="0"/>
                  <a:t>-</a:t>
                </a:r>
                <a14:m>
                  <m:oMath xmlns:m="http://schemas.openxmlformats.org/officeDocument/2006/math">
                    <m:r>
                      <a:rPr lang="en-US" altLang="zh-CN" i="1" dirty="0">
                        <a:latin typeface="Cambria Math" panose="02040503050406030204" pitchFamily="18" charset="0"/>
                      </a:rPr>
                      <m:t>𝑦</m:t>
                    </m:r>
                  </m:oMath>
                </a14:m>
                <a:r>
                  <a:rPr lang="zh-CN" altLang="en-US" dirty="0"/>
                  <a:t>平面上的圆周运动，洛伦茨力和回复力共线，合力仍然是向心的，故仍保持圆周运动。向心力大小的改变只改变频率</a:t>
                </a:r>
                <a:endParaRPr lang="en-US" altLang="zh-CN" dirty="0"/>
              </a:p>
              <a:p>
                <a:pPr>
                  <a:lnSpc>
                    <a:spcPct val="150000"/>
                  </a:lnSpc>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𝑚</m:t>
                      </m:r>
                      <m:r>
                        <a:rPr lang="en-US" i="1">
                          <a:latin typeface="Cambria Math" panose="02040503050406030204" pitchFamily="18" charset="0"/>
                        </a:rPr>
                        <m:t>𝑟</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𝜔</m:t>
                          </m:r>
                        </m:e>
                        <m:sup>
                          <m:r>
                            <a:rPr lang="en-US" b="0" i="1" smtClean="0">
                              <a:latin typeface="Cambria Math" panose="02040503050406030204" pitchFamily="18" charset="0"/>
                            </a:rPr>
                            <m:t>2</m:t>
                          </m:r>
                        </m:sup>
                      </m:sSup>
                      <m:r>
                        <a:rPr lang="en-US" b="0" i="1" smtClean="0">
                          <a:latin typeface="Cambria Math" panose="02040503050406030204" pitchFamily="18" charset="0"/>
                        </a:rPr>
                        <m:t>=</m:t>
                      </m:r>
                      <m:r>
                        <a:rPr lang="en-US" b="0" i="1" smtClean="0">
                          <a:latin typeface="Cambria Math" panose="02040503050406030204" pitchFamily="18" charset="0"/>
                        </a:rPr>
                        <m:t>𝑚𝑟</m:t>
                      </m:r>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𝜔</m:t>
                          </m:r>
                        </m:e>
                        <m:sub>
                          <m:r>
                            <a:rPr lang="en-US" b="0" i="1" smtClean="0">
                              <a:latin typeface="Cambria Math" panose="02040503050406030204" pitchFamily="18" charset="0"/>
                            </a:rPr>
                            <m:t>0</m:t>
                          </m:r>
                        </m:sub>
                        <m:sup>
                          <m:r>
                            <a:rPr lang="en-US" b="0" i="1" smtClean="0">
                              <a:latin typeface="Cambria Math" panose="02040503050406030204" pitchFamily="18" charset="0"/>
                            </a:rPr>
                            <m:t>2</m:t>
                          </m:r>
                        </m:sup>
                      </m:sSubSup>
                      <m:r>
                        <a:rPr lang="en-US" i="1">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𝑒𝑟</m:t>
                      </m:r>
                      <m:r>
                        <a:rPr lang="en-US" b="0" i="1" smtClean="0">
                          <a:latin typeface="Cambria Math" panose="02040503050406030204" pitchFamily="18" charset="0"/>
                          <a:ea typeface="Cambria Math" panose="02040503050406030204" pitchFamily="18" charset="0"/>
                        </a:rPr>
                        <m:t>𝜔</m:t>
                      </m:r>
                      <m:r>
                        <a:rPr lang="en-US" b="0" i="1" smtClean="0">
                          <a:latin typeface="Cambria Math" panose="02040503050406030204" pitchFamily="18" charset="0"/>
                          <a:ea typeface="Cambria Math" panose="02040503050406030204" pitchFamily="18" charset="0"/>
                        </a:rPr>
                        <m:t>𝐵</m:t>
                      </m:r>
                    </m:oMath>
                  </m:oMathPara>
                </a14:m>
                <a:endParaRPr lang="en-US" b="0" dirty="0">
                  <a:ea typeface="Cambria Math" panose="02040503050406030204" pitchFamily="18" charset="0"/>
                </a:endParaRPr>
              </a:p>
              <a:p>
                <a:pPr>
                  <a:lnSpc>
                    <a:spcPct val="150000"/>
                  </a:lnSpc>
                </a:pPr>
                <a:r>
                  <a:rPr lang="zh-CN" altLang="en-US" dirty="0"/>
                  <a:t>当</a:t>
                </a:r>
                <a:r>
                  <a:rPr lang="zh-CN" altLang="en-US"/>
                  <a:t>磁场大小满足  </a:t>
                </a:r>
                <a14:m>
                  <m:oMath xmlns:m="http://schemas.openxmlformats.org/officeDocument/2006/math">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ea typeface="Cambria Math" panose="02040503050406030204" pitchFamily="18" charset="0"/>
                          </a:rPr>
                          <m:t>𝑒𝐵</m:t>
                        </m:r>
                      </m:num>
                      <m:den>
                        <m:r>
                          <a:rPr lang="en-US" i="1">
                            <a:latin typeface="Cambria Math" panose="02040503050406030204" pitchFamily="18" charset="0"/>
                            <a:ea typeface="Cambria Math" panose="02040503050406030204" pitchFamily="18" charset="0"/>
                          </a:rPr>
                          <m:t>2</m:t>
                        </m:r>
                        <m:r>
                          <a:rPr lang="en-US" i="1">
                            <a:latin typeface="Cambria Math" panose="02040503050406030204" pitchFamily="18" charset="0"/>
                            <a:ea typeface="Cambria Math" panose="02040503050406030204" pitchFamily="18" charset="0"/>
                          </a:rPr>
                          <m:t>𝑚</m:t>
                        </m:r>
                      </m:den>
                    </m:f>
                    <m:r>
                      <a:rPr lang="en-US" b="0" i="1" smtClean="0">
                        <a:latin typeface="Cambria Math" panose="02040503050406030204" pitchFamily="18" charset="0"/>
                        <a:ea typeface="Cambria Math" panose="02040503050406030204" pitchFamily="18" charset="0"/>
                      </a:rPr>
                      <m:t>≪</m:t>
                    </m:r>
                    <m:sSub>
                      <m:sSubPr>
                        <m:ctrlPr>
                          <a:rPr lang="en-US" b="0" i="1" smtClean="0">
                            <a:latin typeface="Cambria Math" panose="02040503050406030204" pitchFamily="18" charset="0"/>
                            <a:ea typeface="Cambria Math" panose="02040503050406030204" pitchFamily="18" charset="0"/>
                          </a:rPr>
                        </m:ctrlPr>
                      </m:sSubPr>
                      <m:e>
                        <m:r>
                          <a:rPr lang="en-US" b="0" i="1" smtClean="0">
                            <a:latin typeface="Cambria Math" panose="02040503050406030204" pitchFamily="18" charset="0"/>
                            <a:ea typeface="Cambria Math" panose="02040503050406030204" pitchFamily="18" charset="0"/>
                          </a:rPr>
                          <m:t>𝜔</m:t>
                        </m:r>
                      </m:e>
                      <m:sub>
                        <m:r>
                          <a:rPr lang="en-US" b="0" i="1" smtClean="0">
                            <a:latin typeface="Cambria Math" panose="02040503050406030204" pitchFamily="18" charset="0"/>
                            <a:ea typeface="Cambria Math" panose="02040503050406030204" pitchFamily="18" charset="0"/>
                          </a:rPr>
                          <m:t>0</m:t>
                        </m:r>
                      </m:sub>
                    </m:sSub>
                  </m:oMath>
                </a14:m>
                <a:r>
                  <a:rPr lang="zh-CN" altLang="en-US" dirty="0"/>
                  <a:t> 时，解得：</a:t>
                </a:r>
                <a14:m>
                  <m:oMath xmlns:m="http://schemas.openxmlformats.org/officeDocument/2006/math">
                    <m:r>
                      <a:rPr lang="en-US" b="0" i="0" smtClean="0">
                        <a:latin typeface="Cambria Math" panose="02040503050406030204" pitchFamily="18" charset="0"/>
                      </a:rPr>
                      <m:t> </m:t>
                    </m:r>
                    <m:r>
                      <a:rPr lang="en-US" i="1">
                        <a:latin typeface="Cambria Math" panose="02040503050406030204" pitchFamily="18" charset="0"/>
                      </a:rPr>
                      <m:t>𝜔</m:t>
                    </m:r>
                    <m:r>
                      <a:rPr lang="en-US" i="1">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𝜔</m:t>
                        </m:r>
                      </m:e>
                      <m:sub>
                        <m:r>
                          <a:rPr lang="en-US" b="0" i="1" smtClean="0">
                            <a:latin typeface="Cambria Math" panose="02040503050406030204" pitchFamily="18" charset="0"/>
                          </a:rPr>
                          <m:t>0</m:t>
                        </m:r>
                      </m:sub>
                    </m:sSub>
                    <m:r>
                      <a:rPr lang="en-US" b="0" i="1" smtClean="0">
                        <a:latin typeface="Cambria Math" panose="02040503050406030204" pitchFamily="18" charset="0"/>
                        <a:ea typeface="Cambria Math" panose="02040503050406030204" pitchFamily="18" charset="0"/>
                      </a:rPr>
                      <m:t>±</m:t>
                    </m:r>
                    <m:f>
                      <m:fPr>
                        <m:ctrlPr>
                          <a:rPr lang="en-US" b="0" i="1" smtClean="0">
                            <a:latin typeface="Cambria Math" panose="02040503050406030204" pitchFamily="18" charset="0"/>
                            <a:ea typeface="Cambria Math" panose="02040503050406030204" pitchFamily="18" charset="0"/>
                          </a:rPr>
                        </m:ctrlPr>
                      </m:fPr>
                      <m:num>
                        <m:r>
                          <a:rPr lang="en-US" b="0" i="1" smtClean="0">
                            <a:latin typeface="Cambria Math" panose="02040503050406030204" pitchFamily="18" charset="0"/>
                            <a:ea typeface="Cambria Math" panose="02040503050406030204" pitchFamily="18" charset="0"/>
                          </a:rPr>
                          <m:t>𝑒𝐵</m:t>
                        </m:r>
                      </m:num>
                      <m:den>
                        <m:r>
                          <a:rPr lang="en-US" b="0" i="1" smtClean="0">
                            <a:latin typeface="Cambria Math" panose="02040503050406030204" pitchFamily="18" charset="0"/>
                            <a:ea typeface="Cambria Math" panose="02040503050406030204" pitchFamily="18" charset="0"/>
                          </a:rPr>
                          <m:t>2</m:t>
                        </m:r>
                        <m:r>
                          <a:rPr lang="en-US" b="0" i="1" smtClean="0">
                            <a:latin typeface="Cambria Math" panose="02040503050406030204" pitchFamily="18" charset="0"/>
                            <a:ea typeface="Cambria Math" panose="02040503050406030204" pitchFamily="18" charset="0"/>
                          </a:rPr>
                          <m:t>𝑚</m:t>
                        </m:r>
                      </m:den>
                    </m:f>
                  </m:oMath>
                </a14:m>
                <a:endParaRPr lang="en-US" dirty="0"/>
              </a:p>
            </p:txBody>
          </p:sp>
        </mc:Choice>
        <mc:Fallback>
          <p:sp>
            <p:nvSpPr>
              <p:cNvPr id="9" name="TextBox 8">
                <a:extLst>
                  <a:ext uri="{FF2B5EF4-FFF2-40B4-BE49-F238E27FC236}">
                    <a16:creationId xmlns:a16="http://schemas.microsoft.com/office/drawing/2014/main" id="{56CAAD88-8F9A-42D2-ADB8-192FE52275E2}"/>
                  </a:ext>
                </a:extLst>
              </p:cNvPr>
              <p:cNvSpPr txBox="1">
                <a:spLocks noRot="1" noChangeAspect="1" noMove="1" noResize="1" noEditPoints="1" noAdjustHandles="1" noChangeArrowheads="1" noChangeShapeType="1" noTextEdit="1"/>
              </p:cNvSpPr>
              <p:nvPr/>
            </p:nvSpPr>
            <p:spPr>
              <a:xfrm>
                <a:off x="4261899" y="609125"/>
                <a:ext cx="7525045" cy="5643789"/>
              </a:xfrm>
              <a:prstGeom prst="rect">
                <a:avLst/>
              </a:prstGeom>
              <a:blipFill>
                <a:blip r:embed="rId3"/>
                <a:stretch>
                  <a:fillRect l="-648" r="-567"/>
                </a:stretch>
              </a:blipFill>
            </p:spPr>
            <p:txBody>
              <a:bodyPr/>
              <a:lstStyle/>
              <a:p>
                <a:r>
                  <a:rPr lang="en-US">
                    <a:noFill/>
                  </a:rPr>
                  <a:t> </a:t>
                </a:r>
              </a:p>
            </p:txBody>
          </p:sp>
        </mc:Fallback>
      </mc:AlternateContent>
      <p:sp>
        <p:nvSpPr>
          <p:cNvPr id="2" name="Rectangle 1">
            <a:extLst>
              <a:ext uri="{FF2B5EF4-FFF2-40B4-BE49-F238E27FC236}">
                <a16:creationId xmlns:a16="http://schemas.microsoft.com/office/drawing/2014/main" id="{8BC23D56-176B-48F6-AC99-91FE0018A630}"/>
              </a:ext>
            </a:extLst>
          </p:cNvPr>
          <p:cNvSpPr/>
          <p:nvPr/>
        </p:nvSpPr>
        <p:spPr>
          <a:xfrm>
            <a:off x="574156" y="5068167"/>
            <a:ext cx="3420901" cy="923330"/>
          </a:xfrm>
          <a:prstGeom prst="rect">
            <a:avLst/>
          </a:prstGeom>
        </p:spPr>
        <p:txBody>
          <a:bodyPr wrap="square">
            <a:spAutoFit/>
          </a:bodyPr>
          <a:lstStyle/>
          <a:p>
            <a:r>
              <a:rPr lang="zh-CN" altLang="en-US" dirty="0"/>
              <a:t>这三种电子的不同振荡所辐射的电磁波就给出了塞曼效应中的实验现象。</a:t>
            </a:r>
            <a:endParaRPr lang="en-US" altLang="zh-CN" dirty="0"/>
          </a:p>
        </p:txBody>
      </p:sp>
    </p:spTree>
    <p:extLst>
      <p:ext uri="{BB962C8B-B14F-4D97-AF65-F5344CB8AC3E}">
        <p14:creationId xmlns:p14="http://schemas.microsoft.com/office/powerpoint/2010/main" val="29423504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a:t>*塞曼效应的经典解释</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1816030" y="808136"/>
                <a:ext cx="8816110" cy="956656"/>
              </a:xfrm>
            </p:spPr>
            <p:txBody>
              <a:bodyPr>
                <a:normAutofit/>
              </a:bodyPr>
              <a:lstStyle/>
              <a:p>
                <a:pPr marL="1588" lvl="1" indent="0">
                  <a:buNone/>
                </a:pPr>
                <a:r>
                  <a:rPr lang="zh-CN" altLang="en-US" sz="1800" dirty="0"/>
                  <a:t>在量子力学诞生之前，</a:t>
                </a:r>
                <a:r>
                  <a:rPr lang="zh-CN" altLang="en-US" sz="1800" b="1" dirty="0">
                    <a:highlight>
                      <a:srgbClr val="FFFF00"/>
                    </a:highlight>
                  </a:rPr>
                  <a:t>洛伦茨模型</a:t>
                </a:r>
                <a:r>
                  <a:rPr lang="zh-CN" altLang="en-US" sz="1800" dirty="0"/>
                  <a:t>是描述光和原子的相互作用的一个非常有效的模型。它把原子简化成一个本征频率为</a:t>
                </a:r>
                <a14:m>
                  <m:oMath xmlns:m="http://schemas.openxmlformats.org/officeDocument/2006/math">
                    <m:sSub>
                      <m:sSubPr>
                        <m:ctrlPr>
                          <a:rPr lang="en-US" altLang="zh-CN" sz="1800" i="1">
                            <a:latin typeface="Cambria Math" panose="02040503050406030204" pitchFamily="18" charset="0"/>
                          </a:rPr>
                        </m:ctrlPr>
                      </m:sSubPr>
                      <m:e>
                        <m:r>
                          <a:rPr lang="en-US" altLang="zh-CN" sz="1800" i="1">
                            <a:latin typeface="Cambria Math"/>
                          </a:rPr>
                          <m:t>𝜔</m:t>
                        </m:r>
                      </m:e>
                      <m:sub>
                        <m:r>
                          <a:rPr lang="en-US" altLang="zh-CN" sz="1800" i="1">
                            <a:latin typeface="Cambria Math"/>
                          </a:rPr>
                          <m:t>0</m:t>
                        </m:r>
                      </m:sub>
                    </m:sSub>
                  </m:oMath>
                </a14:m>
                <a:r>
                  <a:rPr lang="zh-CN" altLang="en-US" sz="1800" dirty="0"/>
                  <a:t>的简谐振子。设电子质量为</a:t>
                </a:r>
                <a14:m>
                  <m:oMath xmlns:m="http://schemas.openxmlformats.org/officeDocument/2006/math">
                    <m:r>
                      <a:rPr lang="en-US" altLang="zh-CN" sz="1800" b="0" i="1" smtClean="0">
                        <a:latin typeface="Cambria Math" panose="02040503050406030204" pitchFamily="18" charset="0"/>
                      </a:rPr>
                      <m:t>𝑚</m:t>
                    </m:r>
                  </m:oMath>
                </a14:m>
                <a:r>
                  <a:rPr lang="en-US" altLang="zh-CN" sz="1800" dirty="0"/>
                  <a:t>, </a:t>
                </a:r>
                <a:r>
                  <a:rPr lang="zh-CN" altLang="en-US" sz="1800" dirty="0"/>
                  <a:t>电量为</a:t>
                </a:r>
                <a14:m>
                  <m:oMath xmlns:m="http://schemas.openxmlformats.org/officeDocument/2006/math">
                    <m:r>
                      <a:rPr lang="en-US" altLang="zh-CN" sz="1800" b="0" i="1" smtClean="0">
                        <a:latin typeface="Cambria Math" panose="02040503050406030204" pitchFamily="18" charset="0"/>
                      </a:rPr>
                      <m:t>−</m:t>
                    </m:r>
                    <m:r>
                      <a:rPr lang="en-US" altLang="zh-CN" sz="1800" b="0" i="1" smtClean="0">
                        <a:latin typeface="Cambria Math" panose="02040503050406030204" pitchFamily="18" charset="0"/>
                      </a:rPr>
                      <m:t>𝑒</m:t>
                    </m:r>
                    <m:r>
                      <a:rPr lang="zh-CN" altLang="en-US" sz="1800" i="1">
                        <a:latin typeface="Cambria Math" panose="02040503050406030204" pitchFamily="18" charset="0"/>
                      </a:rPr>
                      <m:t>。</m:t>
                    </m:r>
                  </m:oMath>
                </a14:m>
                <a:r>
                  <a:rPr lang="zh-CN" altLang="en-US" sz="1800" dirty="0"/>
                  <a:t>那么在磁场</a:t>
                </a:r>
                <a14:m>
                  <m:oMath xmlns:m="http://schemas.openxmlformats.org/officeDocument/2006/math">
                    <m:r>
                      <a:rPr lang="en-US" altLang="zh-CN" sz="1800" b="1" i="1" smtClean="0">
                        <a:latin typeface="Cambria Math" panose="02040503050406030204" pitchFamily="18" charset="0"/>
                      </a:rPr>
                      <m:t>𝑩</m:t>
                    </m:r>
                  </m:oMath>
                </a14:m>
                <a:r>
                  <a:rPr lang="zh-CN" altLang="en-US" sz="1800" dirty="0"/>
                  <a:t>下，原子内部电子的运动方程为</a:t>
                </a:r>
                <a:endParaRPr lang="en-US" altLang="zh-CN" sz="18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1816030" y="808136"/>
                <a:ext cx="8816110" cy="956656"/>
              </a:xfrm>
              <a:blipFill>
                <a:blip r:embed="rId4"/>
                <a:stretch>
                  <a:fillRect l="-622" t="-3822" r="-1245" b="-382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Rectangle 4"/>
              <p:cNvSpPr/>
              <p:nvPr/>
            </p:nvSpPr>
            <p:spPr>
              <a:xfrm>
                <a:off x="1871574" y="2500997"/>
                <a:ext cx="4717189" cy="369332"/>
              </a:xfrm>
              <a:prstGeom prst="rect">
                <a:avLst/>
              </a:prstGeom>
            </p:spPr>
            <p:txBody>
              <a:bodyPr wrap="none">
                <a:spAutoFit/>
              </a:bodyPr>
              <a:lstStyle/>
              <a:p>
                <a:pPr marL="1588" lvl="1"/>
                <a:r>
                  <a:rPr lang="zh-CN" altLang="en-US" dirty="0"/>
                  <a:t>假设磁场沿</a:t>
                </a:r>
                <a14:m>
                  <m:oMath xmlns:m="http://schemas.openxmlformats.org/officeDocument/2006/math">
                    <m:r>
                      <a:rPr lang="en-US" altLang="zh-CN" i="1" dirty="0" smtClean="0">
                        <a:latin typeface="Cambria Math" panose="02040503050406030204" pitchFamily="18" charset="0"/>
                      </a:rPr>
                      <m:t>𝑧</m:t>
                    </m:r>
                  </m:oMath>
                </a14:m>
                <a:r>
                  <a:rPr lang="zh-CN" altLang="en-US" dirty="0"/>
                  <a:t>方向：</a:t>
                </a:r>
                <a14:m>
                  <m:oMath xmlns:m="http://schemas.openxmlformats.org/officeDocument/2006/math">
                    <m:r>
                      <a:rPr lang="en-US" altLang="zh-CN" b="1" i="1">
                        <a:latin typeface="Cambria Math"/>
                      </a:rPr>
                      <m:t>𝑩</m:t>
                    </m:r>
                    <m:r>
                      <a:rPr lang="en-US" altLang="zh-CN" i="1">
                        <a:latin typeface="Cambria Math"/>
                      </a:rPr>
                      <m:t>=</m:t>
                    </m:r>
                    <m:r>
                      <a:rPr lang="en-US" altLang="zh-CN" i="1">
                        <a:latin typeface="Cambria Math"/>
                      </a:rPr>
                      <m:t>𝐵</m:t>
                    </m:r>
                    <m:acc>
                      <m:accPr>
                        <m:chr m:val="̂"/>
                        <m:ctrlPr>
                          <a:rPr lang="en-US" altLang="zh-CN" i="1">
                            <a:latin typeface="Cambria Math" panose="02040503050406030204" pitchFamily="18" charset="0"/>
                          </a:rPr>
                        </m:ctrlPr>
                      </m:accPr>
                      <m:e>
                        <m:r>
                          <a:rPr lang="en-US" altLang="zh-CN" b="1" i="1" smtClean="0">
                            <a:latin typeface="Cambria Math" panose="02040503050406030204" pitchFamily="18" charset="0"/>
                          </a:rPr>
                          <m:t>𝒛</m:t>
                        </m:r>
                      </m:e>
                    </m:acc>
                  </m:oMath>
                </a14:m>
                <a:r>
                  <a:rPr lang="en-US" altLang="zh-CN" dirty="0"/>
                  <a:t>, </a:t>
                </a:r>
                <a:r>
                  <a:rPr lang="zh-CN" altLang="en-US" dirty="0"/>
                  <a:t>则上式可简化为</a:t>
                </a:r>
              </a:p>
            </p:txBody>
          </p:sp>
        </mc:Choice>
        <mc:Fallback xmlns="">
          <p:sp>
            <p:nvSpPr>
              <p:cNvPr id="5" name="Rectangle 4"/>
              <p:cNvSpPr>
                <a:spLocks noRot="1" noChangeAspect="1" noMove="1" noResize="1" noEditPoints="1" noAdjustHandles="1" noChangeArrowheads="1" noChangeShapeType="1" noTextEdit="1"/>
              </p:cNvSpPr>
              <p:nvPr/>
            </p:nvSpPr>
            <p:spPr>
              <a:xfrm>
                <a:off x="1871574" y="2500997"/>
                <a:ext cx="4717189" cy="369332"/>
              </a:xfrm>
              <a:prstGeom prst="rect">
                <a:avLst/>
              </a:prstGeom>
              <a:blipFill>
                <a:blip r:embed="rId5"/>
                <a:stretch>
                  <a:fillRect l="-1034" t="-13115" b="-26230"/>
                </a:stretch>
              </a:blipFill>
            </p:spPr>
            <p:txBody>
              <a:bodyPr/>
              <a:lstStyle/>
              <a:p>
                <a:r>
                  <a:rPr lang="zh-CN" altLang="en-US">
                    <a:noFill/>
                  </a:rPr>
                  <a:t> </a:t>
                </a:r>
              </a:p>
            </p:txBody>
          </p:sp>
        </mc:Fallback>
      </mc:AlternateContent>
      <p:pic>
        <p:nvPicPr>
          <p:cNvPr id="5125" name="Picture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782804" y="3569181"/>
            <a:ext cx="2891898" cy="9023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6" name="TextBox 5"/>
              <p:cNvSpPr txBox="1"/>
              <p:nvPr/>
            </p:nvSpPr>
            <p:spPr>
              <a:xfrm>
                <a:off x="1871574" y="3822094"/>
                <a:ext cx="4781175" cy="369332"/>
              </a:xfrm>
              <a:prstGeom prst="rect">
                <a:avLst/>
              </a:prstGeom>
              <a:noFill/>
            </p:spPr>
            <p:txBody>
              <a:bodyPr wrap="square" rtlCol="0">
                <a:spAutoFit/>
              </a:bodyPr>
              <a:lstStyle/>
              <a:p>
                <a14:m>
                  <m:oMath xmlns:m="http://schemas.openxmlformats.org/officeDocument/2006/math">
                    <m:r>
                      <a:rPr lang="en-US" altLang="zh-CN" b="1" i="1">
                        <a:latin typeface="Cambria Math"/>
                      </a:rPr>
                      <m:t>𝒓</m:t>
                    </m:r>
                  </m:oMath>
                </a14:m>
                <a:r>
                  <a:rPr lang="zh-CN" altLang="en-US" dirty="0"/>
                  <a:t>仍应做周期运动，我们作如下猜测</a:t>
                </a:r>
                <a:r>
                  <a:rPr lang="en-US" altLang="zh-CN" dirty="0"/>
                  <a:t>(ansatz)</a:t>
                </a:r>
                <a:r>
                  <a:rPr lang="zh-CN" altLang="en-US" dirty="0"/>
                  <a:t>：</a:t>
                </a:r>
                <a:endParaRPr lang="en-US" dirty="0"/>
              </a:p>
            </p:txBody>
          </p:sp>
        </mc:Choice>
        <mc:Fallback xmlns="">
          <p:sp>
            <p:nvSpPr>
              <p:cNvPr id="6" name="TextBox 5"/>
              <p:cNvSpPr txBox="1">
                <a:spLocks noRot="1" noChangeAspect="1" noMove="1" noResize="1" noEditPoints="1" noAdjustHandles="1" noChangeArrowheads="1" noChangeShapeType="1" noTextEdit="1"/>
              </p:cNvSpPr>
              <p:nvPr/>
            </p:nvSpPr>
            <p:spPr>
              <a:xfrm>
                <a:off x="1871574" y="3822094"/>
                <a:ext cx="4781175" cy="369332"/>
              </a:xfrm>
              <a:prstGeom prst="rect">
                <a:avLst/>
              </a:prstGeom>
              <a:blipFill>
                <a:blip r:embed="rId7"/>
                <a:stretch>
                  <a:fillRect t="-14754" b="-2623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TextBox 10"/>
              <p:cNvSpPr txBox="1"/>
              <p:nvPr/>
            </p:nvSpPr>
            <p:spPr>
              <a:xfrm>
                <a:off x="1816030" y="4527102"/>
                <a:ext cx="8816111" cy="369332"/>
              </a:xfrm>
              <a:prstGeom prst="rect">
                <a:avLst/>
              </a:prstGeom>
              <a:noFill/>
            </p:spPr>
            <p:txBody>
              <a:bodyPr wrap="square" rtlCol="0">
                <a:spAutoFit/>
              </a:bodyPr>
              <a:lstStyle/>
              <a:p>
                <a:r>
                  <a:rPr lang="zh-CN" altLang="en-US" dirty="0"/>
                  <a:t>其中</a:t>
                </a:r>
                <a14:m>
                  <m:oMath xmlns:m="http://schemas.openxmlformats.org/officeDocument/2006/math">
                    <m:r>
                      <a:rPr lang="en-US" altLang="zh-CN" i="1" dirty="0" smtClean="0">
                        <a:latin typeface="Cambria Math" panose="02040503050406030204" pitchFamily="18" charset="0"/>
                      </a:rPr>
                      <m:t>𝑥</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𝑦</m:t>
                    </m:r>
                    <m:r>
                      <a:rPr lang="en-US" altLang="zh-CN" i="1" dirty="0" smtClean="0">
                        <a:latin typeface="Cambria Math" panose="02040503050406030204" pitchFamily="18" charset="0"/>
                      </a:rPr>
                      <m:t>,</m:t>
                    </m:r>
                    <m:r>
                      <a:rPr lang="en-US" altLang="zh-CN" i="1" dirty="0" smtClean="0">
                        <a:latin typeface="Cambria Math" panose="02040503050406030204" pitchFamily="18" charset="0"/>
                      </a:rPr>
                      <m:t>𝑧</m:t>
                    </m:r>
                  </m:oMath>
                </a14:m>
                <a:r>
                  <a:rPr lang="en-US" altLang="zh-CN" dirty="0"/>
                  <a:t> </a:t>
                </a:r>
                <a:r>
                  <a:rPr lang="zh-CN" altLang="en-US" dirty="0"/>
                  <a:t>是与时间无关的复数。把这个猜解带入微分方程，可以得到一个线性方程组</a:t>
                </a:r>
                <a:endParaRPr lang="en-US" dirty="0"/>
              </a:p>
            </p:txBody>
          </p:sp>
        </mc:Choice>
        <mc:Fallback xmlns="">
          <p:sp>
            <p:nvSpPr>
              <p:cNvPr id="11" name="TextBox 10"/>
              <p:cNvSpPr txBox="1">
                <a:spLocks noRot="1" noChangeAspect="1" noMove="1" noResize="1" noEditPoints="1" noAdjustHandles="1" noChangeArrowheads="1" noChangeShapeType="1" noTextEdit="1"/>
              </p:cNvSpPr>
              <p:nvPr/>
            </p:nvSpPr>
            <p:spPr>
              <a:xfrm>
                <a:off x="1816030" y="4527102"/>
                <a:ext cx="8816111" cy="369332"/>
              </a:xfrm>
              <a:prstGeom prst="rect">
                <a:avLst/>
              </a:prstGeom>
              <a:blipFill>
                <a:blip r:embed="rId8"/>
                <a:stretch>
                  <a:fillRect l="-622" t="-15000" r="-415" b="-21667"/>
                </a:stretch>
              </a:blipFill>
            </p:spPr>
            <p:txBody>
              <a:bodyPr/>
              <a:lstStyle/>
              <a:p>
                <a:r>
                  <a:rPr lang="zh-CN" altLang="en-US">
                    <a:noFill/>
                  </a:rPr>
                  <a:t> </a:t>
                </a:r>
              </a:p>
            </p:txBody>
          </p:sp>
        </mc:Fallback>
      </mc:AlternateContent>
      <p:pic>
        <p:nvPicPr>
          <p:cNvPr id="5126" name="Picture 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633488" y="5002432"/>
            <a:ext cx="4998176" cy="9611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3" name="TextBox 12"/>
              <p:cNvSpPr txBox="1"/>
              <p:nvPr/>
            </p:nvSpPr>
            <p:spPr>
              <a:xfrm>
                <a:off x="2017776" y="6135078"/>
                <a:ext cx="5990695" cy="369332"/>
              </a:xfrm>
              <a:prstGeom prst="rect">
                <a:avLst/>
              </a:prstGeom>
              <a:noFill/>
            </p:spPr>
            <p:txBody>
              <a:bodyPr wrap="square" rtlCol="0">
                <a:spAutoFit/>
              </a:bodyPr>
              <a:lstStyle/>
              <a:p>
                <a:r>
                  <a:rPr lang="zh-CN" altLang="en-US" dirty="0"/>
                  <a:t>当</a:t>
                </a:r>
                <a14:m>
                  <m:oMath xmlns:m="http://schemas.openxmlformats.org/officeDocument/2006/math">
                    <m:sSub>
                      <m:sSubPr>
                        <m:ctrlPr>
                          <a:rPr lang="en-US" altLang="zh-CN" i="1">
                            <a:latin typeface="Cambria Math" panose="02040503050406030204" pitchFamily="18" charset="0"/>
                          </a:rPr>
                        </m:ctrlPr>
                      </m:sSubPr>
                      <m:e>
                        <m:r>
                          <m:rPr>
                            <m:sty m:val="p"/>
                          </m:rPr>
                          <a:rPr lang="en-US" altLang="zh-CN">
                            <a:latin typeface="Cambria Math"/>
                          </a:rPr>
                          <m:t>Ω</m:t>
                        </m:r>
                      </m:e>
                      <m:sub>
                        <m:r>
                          <m:rPr>
                            <m:sty m:val="p"/>
                          </m:rPr>
                          <a:rPr lang="en-US" altLang="zh-CN" i="0">
                            <a:latin typeface="Cambria Math"/>
                          </a:rPr>
                          <m:t>L</m:t>
                        </m:r>
                      </m:sub>
                    </m:sSub>
                    <m:r>
                      <a:rPr lang="en-US" altLang="zh-CN" i="1">
                        <a:latin typeface="Cambria Math"/>
                      </a:rPr>
                      <m:t>≪</m:t>
                    </m:r>
                    <m:sSub>
                      <m:sSubPr>
                        <m:ctrlPr>
                          <a:rPr lang="en-US" altLang="zh-CN" i="1">
                            <a:latin typeface="Cambria Math" panose="02040503050406030204" pitchFamily="18" charset="0"/>
                          </a:rPr>
                        </m:ctrlPr>
                      </m:sSubPr>
                      <m:e>
                        <m:r>
                          <a:rPr lang="en-US" altLang="zh-CN" i="1">
                            <a:latin typeface="Cambria Math"/>
                          </a:rPr>
                          <m:t>𝜔</m:t>
                        </m:r>
                      </m:e>
                      <m:sub>
                        <m:r>
                          <a:rPr lang="en-US" altLang="zh-CN" i="1">
                            <a:latin typeface="Cambria Math"/>
                          </a:rPr>
                          <m:t>0</m:t>
                        </m:r>
                      </m:sub>
                    </m:sSub>
                    <m:r>
                      <a:rPr lang="zh-CN" altLang="en-US" i="1">
                        <a:latin typeface="Cambria Math" panose="02040503050406030204" pitchFamily="18" charset="0"/>
                      </a:rPr>
                      <m:t>时，</m:t>
                    </m:r>
                  </m:oMath>
                </a14:m>
                <a:r>
                  <a:rPr lang="zh-CN" altLang="en-US" dirty="0"/>
                  <a:t>解得</a:t>
                </a:r>
                <a14:m>
                  <m:oMath xmlns:m="http://schemas.openxmlformats.org/officeDocument/2006/math">
                    <m:r>
                      <a:rPr lang="en-US" altLang="zh-CN" b="0" i="1" smtClean="0">
                        <a:latin typeface="Cambria Math" panose="02040503050406030204" pitchFamily="18" charset="0"/>
                      </a:rPr>
                      <m:t>𝜔</m:t>
                    </m:r>
                    <m:r>
                      <a:rPr lang="zh-CN" altLang="en-US" i="1">
                        <a:latin typeface="Cambria Math" panose="02040503050406030204" pitchFamily="18" charset="0"/>
                      </a:rPr>
                      <m:t>有</m:t>
                    </m:r>
                    <m:r>
                      <a:rPr lang="en-US" altLang="zh-CN" b="0" i="1" smtClean="0">
                        <a:latin typeface="Cambria Math" panose="02040503050406030204" pitchFamily="18" charset="0"/>
                      </a:rPr>
                      <m:t>3</m:t>
                    </m:r>
                    <m:r>
                      <a:rPr lang="zh-CN" altLang="en-US" i="1">
                        <a:latin typeface="Cambria Math" panose="02040503050406030204" pitchFamily="18" charset="0"/>
                      </a:rPr>
                      <m:t>个</m:t>
                    </m:r>
                    <m:r>
                      <a:rPr lang="zh-CN" altLang="en-US" i="1" smtClean="0">
                        <a:latin typeface="Cambria Math" panose="02040503050406030204" pitchFamily="18" charset="0"/>
                      </a:rPr>
                      <m:t>解</m:t>
                    </m:r>
                    <m:r>
                      <a:rPr lang="zh-CN" altLang="en-US" i="1">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𝜔</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m:rPr>
                            <m:sty m:val="p"/>
                          </m:rPr>
                          <a:rPr lang="en-US" altLang="zh-CN" b="0" i="0" smtClean="0">
                            <a:latin typeface="Cambria Math" panose="02040503050406030204" pitchFamily="18" charset="0"/>
                          </a:rPr>
                          <m:t>Ω</m:t>
                        </m:r>
                      </m:e>
                      <m:sub>
                        <m:r>
                          <m:rPr>
                            <m:sty m:val="p"/>
                          </m:rPr>
                          <a:rPr lang="en-US" altLang="zh-CN" b="0" i="0" smtClean="0">
                            <a:latin typeface="Cambria Math" panose="02040503050406030204" pitchFamily="18" charset="0"/>
                          </a:rPr>
                          <m:t>L</m:t>
                        </m:r>
                      </m:sub>
                    </m:sSub>
                    <m:r>
                      <a:rPr lang="en-US" altLang="zh-CN" b="0" i="0"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𝜔</m:t>
                        </m:r>
                      </m:e>
                      <m:sub>
                        <m:r>
                          <a:rPr lang="en-US" altLang="zh-CN" b="0" i="1" smtClean="0">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a:rPr lang="en-US" altLang="zh-CN" i="1">
                            <a:latin typeface="Cambria Math" panose="02040503050406030204" pitchFamily="18" charset="0"/>
                          </a:rPr>
                          <m:t>𝜔</m:t>
                        </m:r>
                      </m:e>
                      <m:sub>
                        <m:r>
                          <a:rPr lang="en-US" altLang="zh-CN" i="1">
                            <a:latin typeface="Cambria Math" panose="02040503050406030204" pitchFamily="18" charset="0"/>
                          </a:rPr>
                          <m:t>0</m:t>
                        </m:r>
                      </m:sub>
                    </m:sSub>
                    <m:r>
                      <a:rPr lang="en-US" altLang="zh-CN" b="0" i="1" smtClean="0">
                        <a:latin typeface="Cambria Math" panose="02040503050406030204" pitchFamily="18" charset="0"/>
                      </a:rPr>
                      <m:t>+</m:t>
                    </m:r>
                    <m:sSub>
                      <m:sSubPr>
                        <m:ctrlPr>
                          <a:rPr lang="en-US" altLang="zh-CN" i="1">
                            <a:latin typeface="Cambria Math" panose="02040503050406030204" pitchFamily="18" charset="0"/>
                          </a:rPr>
                        </m:ctrlPr>
                      </m:sSubPr>
                      <m:e>
                        <m:r>
                          <m:rPr>
                            <m:sty m:val="p"/>
                          </m:rPr>
                          <a:rPr lang="en-US" altLang="zh-CN">
                            <a:latin typeface="Cambria Math" panose="02040503050406030204" pitchFamily="18" charset="0"/>
                          </a:rPr>
                          <m:t>Ω</m:t>
                        </m:r>
                      </m:e>
                      <m:sub>
                        <m:r>
                          <m:rPr>
                            <m:sty m:val="p"/>
                          </m:rPr>
                          <a:rPr lang="en-US" altLang="zh-CN">
                            <a:latin typeface="Cambria Math" panose="02040503050406030204" pitchFamily="18" charset="0"/>
                          </a:rPr>
                          <m:t>L</m:t>
                        </m:r>
                      </m:sub>
                    </m:sSub>
                  </m:oMath>
                </a14:m>
                <a:endParaRPr lang="en-US" dirty="0"/>
              </a:p>
            </p:txBody>
          </p:sp>
        </mc:Choice>
        <mc:Fallback xmlns="">
          <p:sp>
            <p:nvSpPr>
              <p:cNvPr id="13" name="TextBox 12"/>
              <p:cNvSpPr txBox="1">
                <a:spLocks noRot="1" noChangeAspect="1" noMove="1" noResize="1" noEditPoints="1" noAdjustHandles="1" noChangeArrowheads="1" noChangeShapeType="1" noTextEdit="1"/>
              </p:cNvSpPr>
              <p:nvPr/>
            </p:nvSpPr>
            <p:spPr>
              <a:xfrm>
                <a:off x="2017776" y="6135078"/>
                <a:ext cx="5990695" cy="369332"/>
              </a:xfrm>
              <a:prstGeom prst="rect">
                <a:avLst/>
              </a:prstGeom>
              <a:blipFill>
                <a:blip r:embed="rId10"/>
                <a:stretch>
                  <a:fillRect l="-814" t="-13115" b="-19672"/>
                </a:stretch>
              </a:blipFill>
            </p:spPr>
            <p:txBody>
              <a:bodyPr/>
              <a:lstStyle/>
              <a:p>
                <a:r>
                  <a:rPr lang="zh-CN" altLang="en-US">
                    <a:noFill/>
                  </a:rPr>
                  <a:t> </a:t>
                </a:r>
              </a:p>
            </p:txBody>
          </p:sp>
        </mc:Fallback>
      </mc:AlternateContent>
      <p:grpSp>
        <p:nvGrpSpPr>
          <p:cNvPr id="23" name="Group 22"/>
          <p:cNvGrpSpPr/>
          <p:nvPr/>
        </p:nvGrpSpPr>
        <p:grpSpPr>
          <a:xfrm>
            <a:off x="8377931" y="1588652"/>
            <a:ext cx="2180083" cy="1304302"/>
            <a:chOff x="6867144" y="1676643"/>
            <a:chExt cx="2180083" cy="1304302"/>
          </a:xfrm>
        </p:grpSpPr>
        <p:sp>
          <p:nvSpPr>
            <p:cNvPr id="21" name="Rectangle 20"/>
            <p:cNvSpPr/>
            <p:nvPr/>
          </p:nvSpPr>
          <p:spPr>
            <a:xfrm>
              <a:off x="6867144" y="1676643"/>
              <a:ext cx="2103120" cy="130430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 name="Straight Arrow Connector 7"/>
            <p:cNvCxnSpPr>
              <a:endCxn id="9" idx="5"/>
            </p:cNvCxnSpPr>
            <p:nvPr/>
          </p:nvCxnSpPr>
          <p:spPr>
            <a:xfrm flipH="1" flipV="1">
              <a:off x="7151898" y="2046535"/>
              <a:ext cx="501630" cy="785619"/>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Oval 8"/>
            <p:cNvSpPr/>
            <p:nvPr/>
          </p:nvSpPr>
          <p:spPr>
            <a:xfrm>
              <a:off x="7066044" y="1964033"/>
              <a:ext cx="100584" cy="9665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12" name="Rectangle 11"/>
                <p:cNvSpPr/>
                <p:nvPr/>
              </p:nvSpPr>
              <p:spPr>
                <a:xfrm>
                  <a:off x="7050137" y="2173803"/>
                  <a:ext cx="360996"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b="1" i="1">
                            <a:latin typeface="Cambria Math"/>
                          </a:rPr>
                          <m:t>𝒓</m:t>
                        </m:r>
                      </m:oMath>
                    </m:oMathPara>
                  </a14:m>
                  <a:endParaRPr lang="en-US" b="1" dirty="0"/>
                </a:p>
              </p:txBody>
            </p:sp>
          </mc:Choice>
          <mc:Fallback xmlns="">
            <p:sp>
              <p:nvSpPr>
                <p:cNvPr id="12" name="Rectangle 11"/>
                <p:cNvSpPr>
                  <a:spLocks noRot="1" noChangeAspect="1" noMove="1" noResize="1" noEditPoints="1" noAdjustHandles="1" noChangeArrowheads="1" noChangeShapeType="1" noTextEdit="1"/>
                </p:cNvSpPr>
                <p:nvPr/>
              </p:nvSpPr>
              <p:spPr>
                <a:xfrm>
                  <a:off x="7050137" y="2173803"/>
                  <a:ext cx="360996" cy="369332"/>
                </a:xfrm>
                <a:prstGeom prst="rect">
                  <a:avLst/>
                </a:prstGeom>
                <a:blipFill>
                  <a:blip r:embed="rId13"/>
                  <a:stretch>
                    <a:fillRect/>
                  </a:stretch>
                </a:blipFill>
              </p:spPr>
              <p:txBody>
                <a:bodyPr/>
                <a:lstStyle/>
                <a:p>
                  <a:r>
                    <a:rPr lang="en-US">
                      <a:noFill/>
                    </a:rPr>
                    <a:t> </a:t>
                  </a:r>
                </a:p>
              </p:txBody>
            </p:sp>
          </mc:Fallback>
        </mc:AlternateContent>
        <p:cxnSp>
          <p:nvCxnSpPr>
            <p:cNvPr id="18" name="Straight Arrow Connector 17"/>
            <p:cNvCxnSpPr/>
            <p:nvPr/>
          </p:nvCxnSpPr>
          <p:spPr>
            <a:xfrm>
              <a:off x="7225810" y="2057185"/>
              <a:ext cx="229107" cy="36933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0" name="TextBox 19"/>
                <p:cNvSpPr txBox="1"/>
                <p:nvPr/>
              </p:nvSpPr>
              <p:spPr>
                <a:xfrm>
                  <a:off x="7340363" y="2131679"/>
                  <a:ext cx="1706864" cy="374783"/>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1" i="1">
                            <a:latin typeface="Cambria Math"/>
                          </a:rPr>
                          <m:t>𝑭</m:t>
                        </m:r>
                        <m:r>
                          <a:rPr lang="en-US" i="1">
                            <a:latin typeface="Cambria Math"/>
                          </a:rPr>
                          <m:t>=−</m:t>
                        </m:r>
                        <m:sSub>
                          <m:sSubPr>
                            <m:ctrlPr>
                              <a:rPr lang="en-US" i="1">
                                <a:latin typeface="Cambria Math" panose="02040503050406030204" pitchFamily="18" charset="0"/>
                              </a:rPr>
                            </m:ctrlPr>
                          </m:sSubPr>
                          <m:e>
                            <m:r>
                              <a:rPr lang="en-US" i="1">
                                <a:latin typeface="Cambria Math"/>
                              </a:rPr>
                              <m:t>𝑚</m:t>
                            </m:r>
                          </m:e>
                          <m:sub>
                            <m:r>
                              <a:rPr lang="en-US" i="1">
                                <a:latin typeface="Cambria Math"/>
                              </a:rPr>
                              <m:t>𝑒</m:t>
                            </m:r>
                          </m:sub>
                        </m:sSub>
                        <m:sSubSup>
                          <m:sSubSupPr>
                            <m:ctrlPr>
                              <a:rPr lang="en-US" i="1">
                                <a:latin typeface="Cambria Math" panose="02040503050406030204" pitchFamily="18" charset="0"/>
                              </a:rPr>
                            </m:ctrlPr>
                          </m:sSubSupPr>
                          <m:e>
                            <m:r>
                              <a:rPr lang="en-US" i="1">
                                <a:latin typeface="Cambria Math"/>
                              </a:rPr>
                              <m:t>𝜔</m:t>
                            </m:r>
                          </m:e>
                          <m:sub>
                            <m:r>
                              <a:rPr lang="en-US" i="1">
                                <a:latin typeface="Cambria Math"/>
                              </a:rPr>
                              <m:t>0</m:t>
                            </m:r>
                          </m:sub>
                          <m:sup>
                            <m:r>
                              <a:rPr lang="en-US" i="1">
                                <a:latin typeface="Cambria Math"/>
                              </a:rPr>
                              <m:t>2</m:t>
                            </m:r>
                          </m:sup>
                        </m:sSubSup>
                        <m:r>
                          <a:rPr lang="en-US" b="1" i="1">
                            <a:latin typeface="Cambria Math"/>
                          </a:rPr>
                          <m:t>𝒓</m:t>
                        </m:r>
                      </m:oMath>
                    </m:oMathPara>
                  </a14:m>
                  <a:endParaRPr lang="en-US" b="1" dirty="0"/>
                </a:p>
              </p:txBody>
            </p:sp>
          </mc:Choice>
          <mc:Fallback xmlns="">
            <p:sp>
              <p:nvSpPr>
                <p:cNvPr id="20" name="TextBox 19"/>
                <p:cNvSpPr txBox="1">
                  <a:spLocks noRot="1" noChangeAspect="1" noMove="1" noResize="1" noEditPoints="1" noAdjustHandles="1" noChangeArrowheads="1" noChangeShapeType="1" noTextEdit="1"/>
                </p:cNvSpPr>
                <p:nvPr/>
              </p:nvSpPr>
              <p:spPr>
                <a:xfrm>
                  <a:off x="7340363" y="2131679"/>
                  <a:ext cx="1706864" cy="374783"/>
                </a:xfrm>
                <a:prstGeom prst="rect">
                  <a:avLst/>
                </a:prstGeom>
                <a:blipFill>
                  <a:blip r:embed="rId14"/>
                  <a:stretch>
                    <a:fillRect/>
                  </a:stretch>
                </a:blipFill>
              </p:spPr>
              <p:txBody>
                <a:bodyPr/>
                <a:lstStyle/>
                <a:p>
                  <a:r>
                    <a:rPr lang="en-US">
                      <a:noFill/>
                    </a:rPr>
                    <a:t> </a:t>
                  </a:r>
                </a:p>
              </p:txBody>
            </p:sp>
          </mc:Fallback>
        </mc:AlternateContent>
      </p:grpSp>
      <p:graphicFrame>
        <p:nvGraphicFramePr>
          <p:cNvPr id="22" name="Object 21">
            <a:extLst>
              <a:ext uri="{FF2B5EF4-FFF2-40B4-BE49-F238E27FC236}">
                <a16:creationId xmlns:a16="http://schemas.microsoft.com/office/drawing/2014/main" id="{D4691C08-9BAB-4904-BAAF-BBBAE36ADBA3}"/>
              </a:ext>
            </a:extLst>
          </p:cNvPr>
          <p:cNvGraphicFramePr>
            <a:graphicFrameLocks noChangeAspect="1"/>
          </p:cNvGraphicFramePr>
          <p:nvPr>
            <p:extLst>
              <p:ext uri="{D42A27DB-BD31-4B8C-83A1-F6EECF244321}">
                <p14:modId xmlns:p14="http://schemas.microsoft.com/office/powerpoint/2010/main" val="2179533935"/>
              </p:ext>
            </p:extLst>
          </p:nvPr>
        </p:nvGraphicFramePr>
        <p:xfrm>
          <a:off x="3688528" y="1769789"/>
          <a:ext cx="2444048" cy="705499"/>
        </p:xfrm>
        <a:graphic>
          <a:graphicData uri="http://schemas.openxmlformats.org/presentationml/2006/ole">
            <mc:AlternateContent xmlns:mc="http://schemas.openxmlformats.org/markup-compatibility/2006">
              <mc:Choice xmlns:v="urn:schemas-microsoft-com:vml" Requires="v">
                <p:oleObj spid="_x0000_s6276" name="Equation" r:id="rId15" imgW="1231560" imgH="355320" progId="Equation.DSMT4">
                  <p:embed/>
                </p:oleObj>
              </mc:Choice>
              <mc:Fallback>
                <p:oleObj name="Equation" r:id="rId15" imgW="1231560" imgH="355320" progId="Equation.DSMT4">
                  <p:embed/>
                  <p:pic>
                    <p:nvPicPr>
                      <p:cNvPr id="8" name="Object 7">
                        <a:extLst>
                          <a:ext uri="{FF2B5EF4-FFF2-40B4-BE49-F238E27FC236}">
                            <a16:creationId xmlns:a16="http://schemas.microsoft.com/office/drawing/2014/main" id="{5130849C-4125-4B47-BBCD-4B11545BA2C0}"/>
                          </a:ext>
                        </a:extLst>
                      </p:cNvPr>
                      <p:cNvPicPr/>
                      <p:nvPr/>
                    </p:nvPicPr>
                    <p:blipFill>
                      <a:blip r:embed="rId16"/>
                      <a:stretch>
                        <a:fillRect/>
                      </a:stretch>
                    </p:blipFill>
                    <p:spPr>
                      <a:xfrm>
                        <a:off x="3688528" y="1769789"/>
                        <a:ext cx="2444048" cy="705499"/>
                      </a:xfrm>
                      <a:prstGeom prst="rect">
                        <a:avLst/>
                      </a:prstGeom>
                    </p:spPr>
                  </p:pic>
                </p:oleObj>
              </mc:Fallback>
            </mc:AlternateContent>
          </a:graphicData>
        </a:graphic>
      </p:graphicFrame>
      <p:graphicFrame>
        <p:nvGraphicFramePr>
          <p:cNvPr id="24" name="Object 23">
            <a:extLst>
              <a:ext uri="{FF2B5EF4-FFF2-40B4-BE49-F238E27FC236}">
                <a16:creationId xmlns:a16="http://schemas.microsoft.com/office/drawing/2014/main" id="{C5ED5DD2-B725-468E-A8C7-FF69755ECD1D}"/>
              </a:ext>
            </a:extLst>
          </p:cNvPr>
          <p:cNvGraphicFramePr>
            <a:graphicFrameLocks noChangeAspect="1"/>
          </p:cNvGraphicFramePr>
          <p:nvPr>
            <p:extLst>
              <p:ext uri="{D42A27DB-BD31-4B8C-83A1-F6EECF244321}">
                <p14:modId xmlns:p14="http://schemas.microsoft.com/office/powerpoint/2010/main" val="2690612168"/>
              </p:ext>
            </p:extLst>
          </p:nvPr>
        </p:nvGraphicFramePr>
        <p:xfrm>
          <a:off x="2847512" y="2913766"/>
          <a:ext cx="3805237" cy="704850"/>
        </p:xfrm>
        <a:graphic>
          <a:graphicData uri="http://schemas.openxmlformats.org/presentationml/2006/ole">
            <mc:AlternateContent xmlns:mc="http://schemas.openxmlformats.org/markup-compatibility/2006">
              <mc:Choice xmlns:v="urn:schemas-microsoft-com:vml" Requires="v">
                <p:oleObj spid="_x0000_s6277" name="Equation" r:id="rId17" imgW="1917360" imgH="355320" progId="Equation.DSMT4">
                  <p:embed/>
                </p:oleObj>
              </mc:Choice>
              <mc:Fallback>
                <p:oleObj name="Equation" r:id="rId17" imgW="1917360" imgH="355320" progId="Equation.DSMT4">
                  <p:embed/>
                  <p:pic>
                    <p:nvPicPr>
                      <p:cNvPr id="22" name="Object 21">
                        <a:extLst>
                          <a:ext uri="{FF2B5EF4-FFF2-40B4-BE49-F238E27FC236}">
                            <a16:creationId xmlns:a16="http://schemas.microsoft.com/office/drawing/2014/main" id="{D4691C08-9BAB-4904-BAAF-BBBAE36ADBA3}"/>
                          </a:ext>
                        </a:extLst>
                      </p:cNvPr>
                      <p:cNvPicPr/>
                      <p:nvPr/>
                    </p:nvPicPr>
                    <p:blipFill>
                      <a:blip r:embed="rId18"/>
                      <a:stretch>
                        <a:fillRect/>
                      </a:stretch>
                    </p:blipFill>
                    <p:spPr>
                      <a:xfrm>
                        <a:off x="2847512" y="2913766"/>
                        <a:ext cx="3805237" cy="704850"/>
                      </a:xfrm>
                      <a:prstGeom prst="rect">
                        <a:avLst/>
                      </a:prstGeom>
                    </p:spPr>
                  </p:pic>
                </p:oleObj>
              </mc:Fallback>
            </mc:AlternateContent>
          </a:graphicData>
        </a:graphic>
      </p:graphicFrame>
    </p:spTree>
    <p:extLst>
      <p:ext uri="{BB962C8B-B14F-4D97-AF65-F5344CB8AC3E}">
        <p14:creationId xmlns:p14="http://schemas.microsoft.com/office/powerpoint/2010/main" val="32877900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4"/>
                                        </p:tgtEl>
                                        <p:attrNameLst>
                                          <p:attrName>style.visibility</p:attrName>
                                        </p:attrNameLst>
                                      </p:cBhvr>
                                      <p:to>
                                        <p:strVal val="visible"/>
                                      </p:to>
                                    </p:set>
                                    <p:animEffect transition="in" filter="fade">
                                      <p:cBhvr>
                                        <p:cTn id="17" dur="500"/>
                                        <p:tgtEl>
                                          <p:spTgt spid="2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fade">
                                      <p:cBhvr>
                                        <p:cTn id="22" dur="500"/>
                                        <p:tgtEl>
                                          <p:spTgt spid="6"/>
                                        </p:tgtEl>
                                      </p:cBhvr>
                                    </p:animEffect>
                                  </p:childTnLst>
                                </p:cTn>
                              </p:par>
                              <p:par>
                                <p:cTn id="23" presetID="10" presetClass="entr" presetSubtype="0" fill="hold" nodeType="withEffect">
                                  <p:stCondLst>
                                    <p:cond delay="0"/>
                                  </p:stCondLst>
                                  <p:childTnLst>
                                    <p:set>
                                      <p:cBhvr>
                                        <p:cTn id="24" dur="1" fill="hold">
                                          <p:stCondLst>
                                            <p:cond delay="0"/>
                                          </p:stCondLst>
                                        </p:cTn>
                                        <p:tgtEl>
                                          <p:spTgt spid="5125"/>
                                        </p:tgtEl>
                                        <p:attrNameLst>
                                          <p:attrName>style.visibility</p:attrName>
                                        </p:attrNameLst>
                                      </p:cBhvr>
                                      <p:to>
                                        <p:strVal val="visible"/>
                                      </p:to>
                                    </p:set>
                                    <p:animEffect transition="in" filter="fade">
                                      <p:cBhvr>
                                        <p:cTn id="25" dur="500"/>
                                        <p:tgtEl>
                                          <p:spTgt spid="5125"/>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5126"/>
                                        </p:tgtEl>
                                        <p:attrNameLst>
                                          <p:attrName>style.visibility</p:attrName>
                                        </p:attrNameLst>
                                      </p:cBhvr>
                                      <p:to>
                                        <p:strVal val="visible"/>
                                      </p:to>
                                    </p:set>
                                    <p:animEffect transition="in" filter="fade">
                                      <p:cBhvr>
                                        <p:cTn id="34" dur="500"/>
                                        <p:tgtEl>
                                          <p:spTgt spid="5126"/>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fade">
                                      <p:cBhvr>
                                        <p:cTn id="39"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11" grpId="0"/>
      <p:bldP spid="1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a:t>
            </a:r>
            <a:r>
              <a:rPr lang="zh-CN" altLang="en-US" dirty="0"/>
              <a:t>塞曼效应的经典解释</a:t>
            </a:r>
            <a:endParaRPr lang="en-US" dirty="0"/>
          </a:p>
        </p:txBody>
      </p:sp>
      <mc:AlternateContent xmlns:mc="http://schemas.openxmlformats.org/markup-compatibility/2006" xmlns:a14="http://schemas.microsoft.com/office/drawing/2010/main">
        <mc:Choice Requires="a14">
          <p:sp>
            <p:nvSpPr>
              <p:cNvPr id="7" name="TextBox 12"/>
              <p:cNvSpPr txBox="1"/>
              <p:nvPr/>
            </p:nvSpPr>
            <p:spPr>
              <a:xfrm>
                <a:off x="1845138" y="976918"/>
                <a:ext cx="7908635"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这三个</a:t>
                </a:r>
                <a14:m>
                  <m:oMath xmlns:m="http://schemas.openxmlformats.org/officeDocument/2006/math">
                    <m:r>
                      <a:rPr lang="zh-CN" altLang="en-US" b="0" i="1" dirty="0">
                        <a:latin typeface="Cambria Math" panose="02040503050406030204" pitchFamily="18" charset="0"/>
                      </a:rPr>
                      <m:t>频率</m:t>
                    </m:r>
                    <m:r>
                      <a:rPr lang="zh-CN" altLang="en-US" i="1" dirty="0" smtClean="0">
                        <a:latin typeface="Cambria Math" panose="02040503050406030204" pitchFamily="18" charset="0"/>
                      </a:rPr>
                      <m:t>的</m:t>
                    </m:r>
                    <m:r>
                      <a:rPr lang="zh-CN" altLang="en-US" i="1" dirty="0">
                        <a:latin typeface="Cambria Math" panose="02040503050406030204" pitchFamily="18" charset="0"/>
                      </a:rPr>
                      <m:t>解</m:t>
                    </m:r>
                    <m:r>
                      <a:rPr lang="en-US" altLang="zh-CN" b="0" i="1" dirty="0" smtClean="0">
                        <a:latin typeface="Cambria Math" panose="02040503050406030204" pitchFamily="18" charset="0"/>
                      </a:rPr>
                      <m:t> </m:t>
                    </m:r>
                    <m:sSub>
                      <m:sSubPr>
                        <m:ctrlPr>
                          <a:rPr lang="en-US" altLang="zh-CN" b="0" i="1" smtClean="0">
                            <a:solidFill>
                              <a:srgbClr val="0070C0"/>
                            </a:solidFill>
                            <a:latin typeface="Cambria Math" panose="02040503050406030204" pitchFamily="18" charset="0"/>
                          </a:rPr>
                        </m:ctrlPr>
                      </m:sSubPr>
                      <m:e>
                        <m:r>
                          <a:rPr lang="en-US" altLang="zh-CN" b="0" i="1" smtClean="0">
                            <a:solidFill>
                              <a:srgbClr val="0070C0"/>
                            </a:solidFill>
                            <a:latin typeface="Cambria Math" panose="02040503050406030204" pitchFamily="18" charset="0"/>
                          </a:rPr>
                          <m:t>𝜔</m:t>
                        </m:r>
                      </m:e>
                      <m:sub>
                        <m:r>
                          <a:rPr lang="en-US" altLang="zh-CN" b="0" i="1" smtClean="0">
                            <a:solidFill>
                              <a:srgbClr val="0070C0"/>
                            </a:solidFill>
                            <a:latin typeface="Cambria Math" panose="02040503050406030204" pitchFamily="18" charset="0"/>
                          </a:rPr>
                          <m:t>0</m:t>
                        </m:r>
                      </m:sub>
                    </m:sSub>
                    <m:r>
                      <a:rPr lang="en-US" altLang="zh-CN" b="0" i="1" smtClean="0">
                        <a:solidFill>
                          <a:srgbClr val="0070C0"/>
                        </a:solidFill>
                        <a:latin typeface="Cambria Math" panose="02040503050406030204" pitchFamily="18" charset="0"/>
                      </a:rPr>
                      <m:t>−</m:t>
                    </m:r>
                    <m:sSub>
                      <m:sSubPr>
                        <m:ctrlPr>
                          <a:rPr lang="en-US" altLang="zh-CN" b="0" i="1" smtClean="0">
                            <a:solidFill>
                              <a:srgbClr val="0070C0"/>
                            </a:solidFill>
                            <a:latin typeface="Cambria Math" panose="02040503050406030204" pitchFamily="18" charset="0"/>
                          </a:rPr>
                        </m:ctrlPr>
                      </m:sSubPr>
                      <m:e>
                        <m:r>
                          <m:rPr>
                            <m:sty m:val="p"/>
                          </m:rPr>
                          <a:rPr lang="en-US" altLang="zh-CN" b="0" i="0" smtClean="0">
                            <a:solidFill>
                              <a:srgbClr val="0070C0"/>
                            </a:solidFill>
                            <a:latin typeface="Cambria Math" panose="02040503050406030204" pitchFamily="18" charset="0"/>
                          </a:rPr>
                          <m:t>Ω</m:t>
                        </m:r>
                      </m:e>
                      <m:sub>
                        <m:r>
                          <m:rPr>
                            <m:sty m:val="p"/>
                          </m:rPr>
                          <a:rPr lang="en-US" altLang="zh-CN" b="0" i="0" smtClean="0">
                            <a:solidFill>
                              <a:srgbClr val="0070C0"/>
                            </a:solidFill>
                            <a:latin typeface="Cambria Math" panose="02040503050406030204" pitchFamily="18" charset="0"/>
                          </a:rPr>
                          <m:t>L</m:t>
                        </m:r>
                      </m:sub>
                    </m:sSub>
                    <m:r>
                      <a:rPr lang="en-US" altLang="zh-CN" b="0" i="0" smtClean="0">
                        <a:solidFill>
                          <a:srgbClr val="0070C0"/>
                        </a:solidFill>
                        <a:latin typeface="Cambria Math" panose="02040503050406030204" pitchFamily="18" charset="0"/>
                      </a:rPr>
                      <m:t>, </m:t>
                    </m:r>
                    <m:r>
                      <a:rPr lang="en-US" altLang="zh-CN" b="0" i="1" smtClean="0">
                        <a:solidFill>
                          <a:srgbClr val="0070C0"/>
                        </a:solidFill>
                        <a:latin typeface="Cambria Math" panose="02040503050406030204" pitchFamily="18" charset="0"/>
                      </a:rPr>
                      <m:t> </m:t>
                    </m:r>
                    <m:sSub>
                      <m:sSubPr>
                        <m:ctrlPr>
                          <a:rPr lang="en-US" altLang="zh-CN" b="0" i="1" smtClean="0">
                            <a:solidFill>
                              <a:srgbClr val="0070C0"/>
                            </a:solidFill>
                            <a:latin typeface="Cambria Math" panose="02040503050406030204" pitchFamily="18" charset="0"/>
                          </a:rPr>
                        </m:ctrlPr>
                      </m:sSubPr>
                      <m:e>
                        <m:r>
                          <a:rPr lang="en-US" altLang="zh-CN" b="0" i="1" smtClean="0">
                            <a:solidFill>
                              <a:srgbClr val="0070C0"/>
                            </a:solidFill>
                            <a:latin typeface="Cambria Math" panose="02040503050406030204" pitchFamily="18" charset="0"/>
                          </a:rPr>
                          <m:t>𝜔</m:t>
                        </m:r>
                      </m:e>
                      <m:sub>
                        <m:r>
                          <a:rPr lang="en-US" altLang="zh-CN" b="0" i="1" smtClean="0">
                            <a:solidFill>
                              <a:srgbClr val="0070C0"/>
                            </a:solidFill>
                            <a:latin typeface="Cambria Math" panose="02040503050406030204" pitchFamily="18" charset="0"/>
                          </a:rPr>
                          <m:t>0</m:t>
                        </m:r>
                      </m:sub>
                    </m:sSub>
                    <m:r>
                      <a:rPr lang="en-US" altLang="zh-CN" b="0" i="1" smtClean="0">
                        <a:solidFill>
                          <a:srgbClr val="0070C0"/>
                        </a:solidFill>
                        <a:latin typeface="Cambria Math" panose="02040503050406030204" pitchFamily="18" charset="0"/>
                      </a:rPr>
                      <m:t>,  </m:t>
                    </m:r>
                    <m:sSub>
                      <m:sSubPr>
                        <m:ctrlPr>
                          <a:rPr lang="en-US" altLang="zh-CN" i="1">
                            <a:solidFill>
                              <a:srgbClr val="0070C0"/>
                            </a:solidFill>
                            <a:latin typeface="Cambria Math" panose="02040503050406030204" pitchFamily="18" charset="0"/>
                          </a:rPr>
                        </m:ctrlPr>
                      </m:sSubPr>
                      <m:e>
                        <m:r>
                          <a:rPr lang="en-US" altLang="zh-CN" i="1">
                            <a:solidFill>
                              <a:srgbClr val="0070C0"/>
                            </a:solidFill>
                            <a:latin typeface="Cambria Math" panose="02040503050406030204" pitchFamily="18" charset="0"/>
                          </a:rPr>
                          <m:t>𝜔</m:t>
                        </m:r>
                      </m:e>
                      <m:sub>
                        <m:r>
                          <a:rPr lang="en-US" altLang="zh-CN" i="1">
                            <a:solidFill>
                              <a:srgbClr val="0070C0"/>
                            </a:solidFill>
                            <a:latin typeface="Cambria Math" panose="02040503050406030204" pitchFamily="18" charset="0"/>
                          </a:rPr>
                          <m:t>0</m:t>
                        </m:r>
                      </m:sub>
                    </m:sSub>
                    <m:r>
                      <a:rPr lang="en-US" altLang="zh-CN" b="0" i="1" smtClean="0">
                        <a:solidFill>
                          <a:srgbClr val="0070C0"/>
                        </a:solidFill>
                        <a:latin typeface="Cambria Math" panose="02040503050406030204" pitchFamily="18" charset="0"/>
                      </a:rPr>
                      <m:t>+</m:t>
                    </m:r>
                    <m:sSub>
                      <m:sSubPr>
                        <m:ctrlPr>
                          <a:rPr lang="en-US" altLang="zh-CN" i="1">
                            <a:solidFill>
                              <a:srgbClr val="0070C0"/>
                            </a:solidFill>
                            <a:latin typeface="Cambria Math" panose="02040503050406030204" pitchFamily="18" charset="0"/>
                          </a:rPr>
                        </m:ctrlPr>
                      </m:sSubPr>
                      <m:e>
                        <m:r>
                          <m:rPr>
                            <m:sty m:val="p"/>
                          </m:rPr>
                          <a:rPr lang="en-US" altLang="zh-CN">
                            <a:solidFill>
                              <a:srgbClr val="0070C0"/>
                            </a:solidFill>
                            <a:latin typeface="Cambria Math" panose="02040503050406030204" pitchFamily="18" charset="0"/>
                          </a:rPr>
                          <m:t>Ω</m:t>
                        </m:r>
                      </m:e>
                      <m:sub>
                        <m:r>
                          <m:rPr>
                            <m:sty m:val="p"/>
                          </m:rPr>
                          <a:rPr lang="en-US" altLang="zh-CN">
                            <a:solidFill>
                              <a:srgbClr val="0070C0"/>
                            </a:solidFill>
                            <a:latin typeface="Cambria Math" panose="02040503050406030204" pitchFamily="18" charset="0"/>
                          </a:rPr>
                          <m:t>L</m:t>
                        </m:r>
                      </m:sub>
                    </m:sSub>
                  </m:oMath>
                </a14:m>
                <a:r>
                  <a:rPr lang="en-US" dirty="0">
                    <a:latin typeface="黑体" panose="02010609060101010101" pitchFamily="49" charset="-122"/>
                    <a:ea typeface="黑体" panose="02010609060101010101" pitchFamily="49" charset="-122"/>
                  </a:rPr>
                  <a:t> </a:t>
                </a:r>
                <a:r>
                  <a:rPr lang="zh-CN" altLang="en-US" dirty="0">
                    <a:latin typeface="黑体" panose="02010609060101010101" pitchFamily="49" charset="-122"/>
                    <a:ea typeface="黑体" panose="02010609060101010101" pitchFamily="49" charset="-122"/>
                  </a:rPr>
                  <a:t>分别对应三种振荡模式</a:t>
                </a:r>
                <a:endParaRPr lang="en-US" dirty="0">
                  <a:latin typeface="黑体" panose="02010609060101010101" pitchFamily="49" charset="-122"/>
                  <a:ea typeface="黑体" panose="02010609060101010101" pitchFamily="49" charset="-122"/>
                </a:endParaRPr>
              </a:p>
            </p:txBody>
          </p:sp>
        </mc:Choice>
        <mc:Fallback xmlns="">
          <p:sp>
            <p:nvSpPr>
              <p:cNvPr id="7" name="TextBox 12"/>
              <p:cNvSpPr txBox="1">
                <a:spLocks noRot="1" noChangeAspect="1" noMove="1" noResize="1" noEditPoints="1" noAdjustHandles="1" noChangeArrowheads="1" noChangeShapeType="1" noTextEdit="1"/>
              </p:cNvSpPr>
              <p:nvPr/>
            </p:nvSpPr>
            <p:spPr>
              <a:xfrm>
                <a:off x="1845138" y="976918"/>
                <a:ext cx="7908635" cy="369332"/>
              </a:xfrm>
              <a:prstGeom prst="rect">
                <a:avLst/>
              </a:prstGeom>
              <a:blipFill>
                <a:blip r:embed="rId2"/>
                <a:stretch>
                  <a:fillRect l="-694" t="-11475" b="-21311"/>
                </a:stretch>
              </a:blipFill>
            </p:spPr>
            <p:txBody>
              <a:bodyPr/>
              <a:lstStyle/>
              <a:p>
                <a:r>
                  <a:rPr lang="zh-CN" altLang="en-US">
                    <a:noFill/>
                  </a:rPr>
                  <a:t> </a:t>
                </a:r>
              </a:p>
            </p:txBody>
          </p:sp>
        </mc:Fallback>
      </mc:AlternateContent>
      <p:sp>
        <p:nvSpPr>
          <p:cNvPr id="10" name="TextBox 12"/>
          <p:cNvSpPr txBox="1"/>
          <p:nvPr/>
        </p:nvSpPr>
        <p:spPr>
          <a:xfrm>
            <a:off x="1762181" y="2734006"/>
            <a:ext cx="7908635" cy="369332"/>
          </a:xfrm>
          <a:prstGeom prst="rect">
            <a:avLst/>
          </a:prstGeom>
          <a:noFill/>
        </p:spPr>
        <p:txBody>
          <a:bodyPr wrap="square" rtlCol="0">
            <a:spAutoFit/>
          </a:bodyPr>
          <a:lstStyle/>
          <a:p>
            <a:r>
              <a:rPr lang="zh-CN" altLang="en-US" dirty="0">
                <a:latin typeface="黑体" panose="02010609060101010101" pitchFamily="49" charset="-122"/>
                <a:ea typeface="黑体" panose="02010609060101010101" pitchFamily="49" charset="-122"/>
              </a:rPr>
              <a:t>这</a:t>
            </a:r>
            <a:r>
              <a:rPr lang="en-US" altLang="zh-CN" dirty="0">
                <a:latin typeface="黑体" panose="02010609060101010101" pitchFamily="49" charset="-122"/>
                <a:ea typeface="黑体" panose="02010609060101010101" pitchFamily="49" charset="-122"/>
              </a:rPr>
              <a:t>3</a:t>
            </a:r>
            <a:r>
              <a:rPr lang="zh-CN" altLang="en-US" dirty="0">
                <a:latin typeface="黑体" panose="02010609060101010101" pitchFamily="49" charset="-122"/>
                <a:ea typeface="黑体" panose="02010609060101010101" pitchFamily="49" charset="-122"/>
              </a:rPr>
              <a:t>种电子的振荡模式如下图，它们的辐射的偏振特性也和塞曼的发现一致。</a:t>
            </a:r>
            <a:endParaRPr lang="en-US" dirty="0">
              <a:latin typeface="黑体" panose="02010609060101010101" pitchFamily="49" charset="-122"/>
              <a:ea typeface="黑体" panose="02010609060101010101" pitchFamily="49" charset="-122"/>
            </a:endParaRPr>
          </a:p>
        </p:txBody>
      </p:sp>
      <p:grpSp>
        <p:nvGrpSpPr>
          <p:cNvPr id="11" name="Group 10">
            <a:extLst>
              <a:ext uri="{FF2B5EF4-FFF2-40B4-BE49-F238E27FC236}">
                <a16:creationId xmlns:a16="http://schemas.microsoft.com/office/drawing/2014/main" id="{736626E0-F5AC-42DC-88E0-127F4419CEB5}"/>
              </a:ext>
            </a:extLst>
          </p:cNvPr>
          <p:cNvGrpSpPr/>
          <p:nvPr/>
        </p:nvGrpSpPr>
        <p:grpSpPr>
          <a:xfrm>
            <a:off x="1952796" y="1346250"/>
            <a:ext cx="7651392" cy="1322219"/>
            <a:chOff x="2253229" y="1659887"/>
            <a:chExt cx="7356164" cy="1098472"/>
          </a:xfrm>
        </p:grpSpPr>
        <p:pic>
          <p:nvPicPr>
            <p:cNvPr id="6" name="图片 5"/>
            <p:cNvPicPr>
              <a:picLocks noChangeAspect="1"/>
            </p:cNvPicPr>
            <p:nvPr/>
          </p:nvPicPr>
          <p:blipFill>
            <a:blip r:embed="rId3"/>
            <a:stretch>
              <a:fillRect/>
            </a:stretch>
          </p:blipFill>
          <p:spPr>
            <a:xfrm>
              <a:off x="6522547" y="1659887"/>
              <a:ext cx="3086846" cy="1075719"/>
            </a:xfrm>
            <a:prstGeom prst="rect">
              <a:avLst/>
            </a:prstGeom>
          </p:spPr>
        </p:pic>
        <p:pic>
          <p:nvPicPr>
            <p:cNvPr id="5" name="Picture 4">
              <a:extLst>
                <a:ext uri="{FF2B5EF4-FFF2-40B4-BE49-F238E27FC236}">
                  <a16:creationId xmlns:a16="http://schemas.microsoft.com/office/drawing/2014/main" id="{39755E34-7FB5-4E14-B8FF-C9FCA0C74453}"/>
                </a:ext>
              </a:extLst>
            </p:cNvPr>
            <p:cNvPicPr>
              <a:picLocks noChangeAspect="1"/>
            </p:cNvPicPr>
            <p:nvPr/>
          </p:nvPicPr>
          <p:blipFill>
            <a:blip r:embed="rId4"/>
            <a:stretch>
              <a:fillRect/>
            </a:stretch>
          </p:blipFill>
          <p:spPr>
            <a:xfrm>
              <a:off x="2253229" y="1673177"/>
              <a:ext cx="4480948" cy="1085182"/>
            </a:xfrm>
            <a:prstGeom prst="rect">
              <a:avLst/>
            </a:prstGeom>
          </p:spPr>
        </p:pic>
      </p:grpSp>
      <p:grpSp>
        <p:nvGrpSpPr>
          <p:cNvPr id="17" name="Group 16">
            <a:extLst>
              <a:ext uri="{FF2B5EF4-FFF2-40B4-BE49-F238E27FC236}">
                <a16:creationId xmlns:a16="http://schemas.microsoft.com/office/drawing/2014/main" id="{EF65AF5B-CADF-4CE9-91A1-C88C0EBD7280}"/>
              </a:ext>
            </a:extLst>
          </p:cNvPr>
          <p:cNvGrpSpPr/>
          <p:nvPr/>
        </p:nvGrpSpPr>
        <p:grpSpPr>
          <a:xfrm>
            <a:off x="4259453" y="3278022"/>
            <a:ext cx="3438201" cy="3397731"/>
            <a:chOff x="4153127" y="3320208"/>
            <a:chExt cx="3438201" cy="3397731"/>
          </a:xfrm>
        </p:grpSpPr>
        <p:pic>
          <p:nvPicPr>
            <p:cNvPr id="9" name="图片 8"/>
            <p:cNvPicPr>
              <a:picLocks noChangeAspect="1"/>
            </p:cNvPicPr>
            <p:nvPr/>
          </p:nvPicPr>
          <p:blipFill>
            <a:blip r:embed="rId5"/>
            <a:stretch>
              <a:fillRect/>
            </a:stretch>
          </p:blipFill>
          <p:spPr>
            <a:xfrm>
              <a:off x="4153127" y="3775046"/>
              <a:ext cx="2416540" cy="2942893"/>
            </a:xfrm>
            <a:prstGeom prst="rect">
              <a:avLst/>
            </a:prstGeom>
          </p:spPr>
        </p:pic>
        <p:pic>
          <p:nvPicPr>
            <p:cNvPr id="12" name="Picture 11">
              <a:extLst>
                <a:ext uri="{FF2B5EF4-FFF2-40B4-BE49-F238E27FC236}">
                  <a16:creationId xmlns:a16="http://schemas.microsoft.com/office/drawing/2014/main" id="{FCA47BF2-A729-41E7-8357-823EB586E27E}"/>
                </a:ext>
              </a:extLst>
            </p:cNvPr>
            <p:cNvPicPr>
              <a:picLocks noChangeAspect="1"/>
            </p:cNvPicPr>
            <p:nvPr/>
          </p:nvPicPr>
          <p:blipFill>
            <a:blip r:embed="rId6"/>
            <a:stretch>
              <a:fillRect/>
            </a:stretch>
          </p:blipFill>
          <p:spPr>
            <a:xfrm>
              <a:off x="7202026" y="5592638"/>
              <a:ext cx="389302" cy="455904"/>
            </a:xfrm>
            <a:prstGeom prst="rect">
              <a:avLst/>
            </a:prstGeom>
          </p:spPr>
        </p:pic>
        <p:pic>
          <p:nvPicPr>
            <p:cNvPr id="13" name="Picture 12">
              <a:extLst>
                <a:ext uri="{FF2B5EF4-FFF2-40B4-BE49-F238E27FC236}">
                  <a16:creationId xmlns:a16="http://schemas.microsoft.com/office/drawing/2014/main" id="{213FBED6-3B68-43B9-B0EA-0DDA8907B747}"/>
                </a:ext>
              </a:extLst>
            </p:cNvPr>
            <p:cNvPicPr>
              <a:picLocks noChangeAspect="1"/>
            </p:cNvPicPr>
            <p:nvPr/>
          </p:nvPicPr>
          <p:blipFill>
            <a:blip r:embed="rId6"/>
            <a:stretch>
              <a:fillRect/>
            </a:stretch>
          </p:blipFill>
          <p:spPr>
            <a:xfrm rot="16200000">
              <a:off x="5101949" y="3286907"/>
              <a:ext cx="389302" cy="455904"/>
            </a:xfrm>
            <a:prstGeom prst="rect">
              <a:avLst/>
            </a:prstGeom>
          </p:spPr>
        </p:pic>
      </p:grpSp>
    </p:spTree>
    <p:extLst>
      <p:ext uri="{BB962C8B-B14F-4D97-AF65-F5344CB8AC3E}">
        <p14:creationId xmlns:p14="http://schemas.microsoft.com/office/powerpoint/2010/main" val="939323385"/>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PROD_NEXTUNIQUEID" val="10009"/>
  <p:tag name="MMPROD_UIDATA" val="&lt;database version=&quot;7.0&quot;&gt;&lt;object type=&quot;1&quot; unique_id=&quot;10001&quot;&gt;&lt;object type=&quot;8&quot; unique_id=&quot;10002&quot;&gt;&lt;/object&gt;&lt;object type=&quot;2&quot; unique_id=&quot;10003&quot;&gt;&lt;object type=&quot;3&quot; unique_id=&quot;10004&quot;&gt;&lt;property id=&quot;20148&quot; value=&quot;5&quot;/&gt;&lt;property id=&quot;20300&quot; value=&quot;Slide 1 - &amp;quot;原子物理学和量子力学的诞生&amp;quot;&quot;/&gt;&lt;property id=&quot;20307&quot; value=&quot;256&quot;/&gt;&lt;/object&gt;&lt;object type=&quot;3&quot; unique_id=&quot;10013&quot;&gt;&lt;property id=&quot;20148&quot; value=&quot;5&quot;/&gt;&lt;property id=&quot;20300&quot; value=&quot;Slide 9 - &amp;quot;几个重要的物理量&amp;quot;&quot;/&gt;&lt;property id=&quot;20307&quot; value=&quot;262&quot;/&gt;&lt;/object&gt;&lt;object type=&quot;3&quot; unique_id=&quot;10058&quot;&gt;&lt;property id=&quot;20148&quot; value=&quot;5&quot;/&gt;&lt;property id=&quot;20300&quot; value=&quot;Slide 2 - &amp;quot;第一届索尔维物理会议&amp;quot;&quot;/&gt;&lt;property id=&quot;20307&quot; value=&quot;265&quot;/&gt;&lt;/object&gt;&lt;object type=&quot;3&quot; unique_id=&quot;10072&quot;&gt;&lt;property id=&quot;20148&quot; value=&quot;5&quot;/&gt;&lt;property id=&quot;20300&quot; value=&quot;Slide 3 - &amp;quot;The 1st Solvay Conference 1911&amp;quot;&quot;/&gt;&lt;property id=&quot;20307&quot; value=&quot;267&quot;/&gt;&lt;/object&gt;&lt;object type=&quot;3&quot; unique_id=&quot;10112&quot;&gt;&lt;property id=&quot;20148&quot; value=&quot;5&quot;/&gt;&lt;property id=&quot;20300&quot; value=&quot;Slide 4 - &amp;quot;氢原子光谱&amp;quot;&quot;/&gt;&lt;property id=&quot;20307&quot; value=&quot;273&quot;/&gt;&lt;/object&gt;&lt;object type=&quot;3&quot; unique_id=&quot;10113&quot;&gt;&lt;property id=&quot;20148&quot; value=&quot;5&quot;/&gt;&lt;property id=&quot;20300&quot; value=&quot;Slide 5 - &amp;quot;氢原子光谱&amp;quot;&quot;/&gt;&lt;property id=&quot;20307&quot; value=&quot;274&quot;/&gt;&lt;/object&gt;&lt;object type=&quot;3&quot; unique_id=&quot;10116&quot;&gt;&lt;property id=&quot;20148&quot; value=&quot;5&quot;/&gt;&lt;property id=&quot;20300&quot; value=&quot;Slide 31 - &amp;quot;第五届索尔维会议（1927）&amp;quot;&quot;/&gt;&lt;property id=&quot;20307&quot; value=&quot;270&quot;/&gt;&lt;/object&gt;&lt;object type=&quot;3&quot; unique_id=&quot;10117&quot;&gt;&lt;property id=&quot;20148&quot; value=&quot;5&quot;/&gt;&lt;property id=&quot;20300&quot; value=&quot;Slide 32 - &amp;quot;The 5th Solvay Conference 1927&amp;quot;&quot;/&gt;&lt;property id=&quot;20307&quot; value=&quot;269&quot;/&gt;&lt;/object&gt;&lt;object type=&quot;3&quot; unique_id=&quot;10279&quot;&gt;&lt;property id=&quot;20148&quot; value=&quot;5&quot;/&gt;&lt;property id=&quot;20300&quot; value=&quot;Slide 8 - &amp;quot;里德堡常数的修正&amp;quot;&quot;/&gt;&lt;property id=&quot;20307&quot; value=&quot;276&quot;/&gt;&lt;/object&gt;&lt;object type=&quot;3&quot; unique_id=&quot;10350&quot;&gt;&lt;property id=&quot;20148&quot; value=&quot;5&quot;/&gt;&lt;property id=&quot;20300&quot; value=&quot;Slide 13 - &amp;quot;进一步验证：类氢离子光谱&amp;quot;&quot;/&gt;&lt;property id=&quot;20307&quot; value=&quot;278&quot;/&gt;&lt;/object&gt;&lt;object type=&quot;3&quot; unique_id=&quot;10351&quot;&gt;&lt;property id=&quot;20148&quot; value=&quot;5&quot;/&gt;&lt;property id=&quot;20300&quot; value=&quot;Slide 14 - &amp;quot;类氢离子的物理常数&amp;quot;&quot;/&gt;&lt;property id=&quot;20307&quot; value=&quot;279&quot;/&gt;&lt;/object&gt;&lt;object type=&quot;3&quot; unique_id=&quot;10352&quot;&gt;&lt;property id=&quot;20148&quot; value=&quot;5&quot;/&gt;&lt;property id=&quot;20300&quot; value=&quot;Slide 16 - &amp;quot;原子能级在碰撞过程的体现&amp;quot;&quot;/&gt;&lt;property id=&quot;20307&quot; value=&quot;277&quot;/&gt;&lt;/object&gt;&lt;object type=&quot;3&quot; unique_id=&quot;10438&quot;&gt;&lt;property id=&quot;20148&quot; value=&quot;5&quot;/&gt;&lt;property id=&quot;20300&quot; value=&quot;Slide 12 - &amp;quot;精细结构常数:  𝛼=  𝑒 2  ℏ𝑐 &amp;quot;&quot;/&gt;&lt;property id=&quot;20307&quot; value=&quot;280&quot;/&gt;&lt;/object&gt;&lt;object type=&quot;3&quot; unique_id=&quot;10923&quot;&gt;&lt;property id=&quot;20148&quot; value=&quot;5&quot;/&gt;&lt;property id=&quot;20300&quot; value=&quot;Slide 23 - &amp;quot;Stern-Gerlach 实验（1922）&amp;quot;&quot;/&gt;&lt;property id=&quot;20307&quot; value=&quot;283&quot;/&gt;&lt;/object&gt;&lt;object type=&quot;3&quot; unique_id=&quot;11076&quot;&gt;&lt;property id=&quot;20148&quot; value=&quot;5&quot;/&gt;&lt;property id=&quot;20300&quot; value=&quot;Slide 21 - &amp;quot;Bohr – Sommerfeld 的旧量子论&amp;quot;&quot;/&gt;&lt;property id=&quot;20307&quot; value=&quot;286&quot;/&gt;&lt;/object&gt;&lt;object type=&quot;3&quot; unique_id=&quot;11101&quot;&gt;&lt;property id=&quot;20148&quot; value=&quot;5&quot;/&gt;&lt;property id=&quot;20300&quot; value=&quot;Slide 18 - &amp;quot;塞曼效应（1896）&amp;quot;&quot;/&gt;&lt;property id=&quot;20307&quot; value=&quot;288&quot;/&gt;&lt;/object&gt;&lt;object type=&quot;3&quot; unique_id=&quot;11102&quot;&gt;&lt;property id=&quot;20148&quot; value=&quot;5&quot;/&gt;&lt;property id=&quot;20300&quot; value=&quot;Slide 26 - &amp;quot;泡利不相容原理和电子自旋（1925）&amp;quot;&quot;/&gt;&lt;property id=&quot;20307&quot; value=&quot;287&quot;/&gt;&lt;/object&gt;&lt;object type=&quot;3&quot; unique_id=&quot;11103&quot;&gt;&lt;property id=&quot;20148&quot; value=&quot;5&quot;/&gt;&lt;property id=&quot;20300&quot; value=&quot;Slide 30 - &amp;quot;量子力学&amp;quot;&quot;/&gt;&lt;property id=&quot;20307&quot; value=&quot;289&quot;/&gt;&lt;/object&gt;&lt;object type=&quot;3&quot; unique_id=&quot;11204&quot;&gt;&lt;property id=&quot;20148&quot; value=&quot;5&quot;/&gt;&lt;property id=&quot;20300&quot; value=&quot;Slide 17 - &amp;quot;改进后的Frank-Hertz实验(1920)&amp;quot;&quot;/&gt;&lt;property id=&quot;20307&quot; value=&quot;290&quot;/&gt;&lt;/object&gt;&lt;object type=&quot;3&quot; unique_id=&quot;11231&quot;&gt;&lt;property id=&quot;20148&quot; value=&quot;5&quot;/&gt;&lt;property id=&quot;20300&quot; value=&quot;Slide 24 - &amp;quot;幸运雪茄&amp;quot;&quot;/&gt;&lt;property id=&quot;20307&quot; value=&quot;291&quot;/&gt;&lt;/object&gt;&lt;object type=&quot;3&quot; unique_id=&quot;11260&quot;&gt;&lt;property id=&quot;20148&quot; value=&quot;5&quot;/&gt;&lt;property id=&quot;20300&quot; value=&quot;Slide 27 - &amp;quot;de Broglie物质波(1923)&amp;quot;&quot;/&gt;&lt;property id=&quot;20307&quot; value=&quot;294&quot;/&gt;&lt;/object&gt;&lt;object type=&quot;3&quot; unique_id=&quot;11261&quot;&gt;&lt;property id=&quot;20148&quot; value=&quot;5&quot;/&gt;&lt;property id=&quot;20300&quot; value=&quot;Slide 28 - &amp;quot;电子晶体衍射&amp;quot;&quot;/&gt;&lt;property id=&quot;20307&quot; value=&quot;295&quot;/&gt;&lt;/object&gt;&lt;object type=&quot;3&quot; unique_id=&quot;11262&quot;&gt;&lt;property id=&quot;20148&quot; value=&quot;5&quot;/&gt;&lt;property id=&quot;20300&quot; value=&quot;Slide 33&quot;/&gt;&lt;property id=&quot;20307&quot; value=&quot;292&quot;/&gt;&lt;/object&gt;&lt;object type=&quot;3&quot; unique_id=&quot;11437&quot;&gt;&lt;property id=&quot;20148&quot; value=&quot;5&quot;/&gt;&lt;property id=&quot;20300&quot; value=&quot;Slide 22 - &amp;quot;正常塞曼效应的Bohr理论解释&amp;quot;&quot;/&gt;&lt;property id=&quot;20307&quot; value=&quot;296&quot;/&gt;&lt;/object&gt;&lt;object type=&quot;3&quot; unique_id=&quot;11468&quot;&gt;&lt;property id=&quot;20148&quot; value=&quot;5&quot;/&gt;&lt;property id=&quot;20300&quot; value=&quot;Slide 34 - &amp;quot;作业&amp;quot;&quot;/&gt;&lt;property id=&quot;20307&quot; value=&quot;299&quot;/&gt;&lt;/object&gt;&lt;object type=&quot;3&quot; unique_id=&quot;12182&quot;&gt;&lt;property id=&quot;20148&quot; value=&quot;5&quot;/&gt;&lt;property id=&quot;20300&quot; value=&quot;Slide 11 - &amp;quot;精细结构常数  𝛼=  𝑒 2  ℏ𝑐 &amp;quot;&quot;/&gt;&lt;property id=&quot;20307&quot; value=&quot;300&quot;/&gt;&lt;/object&gt;&lt;object type=&quot;3&quot; unique_id=&quot;12183&quot;&gt;&lt;property id=&quot;20148&quot; value=&quot;5&quot;/&gt;&lt;property id=&quot;20300&quot; value=&quot;Slide 19 - &amp;quot;塞曼效应的经典解释&amp;quot;&quot;/&gt;&lt;property id=&quot;20307&quot; value=&quot;301&quot;/&gt;&lt;/object&gt;&lt;object type=&quot;3&quot; unique_id=&quot;12280&quot;&gt;&lt;property id=&quot;20148&quot; value=&quot;5&quot;/&gt;&lt;property id=&quot;20300&quot; value=&quot;Slide 10 - &amp;quot;备注&amp;quot;&quot;/&gt;&lt;property id=&quot;20307&quot; value=&quot;302&quot;/&gt;&lt;/object&gt;&lt;object type=&quot;3&quot; unique_id=&quot;12281&quot;&gt;&lt;property id=&quot;20148&quot; value=&quot;5&quot;/&gt;&lt;property id=&quot;20300&quot; value=&quot;Slide 7 - &amp;quot;玻尔模型和氢原子光谱&amp;quot;&quot;/&gt;&lt;property id=&quot;20307&quot; value=&quot;303&quot;/&gt;&lt;/object&gt;&lt;object type=&quot;3&quot; unique_id=&quot;12543&quot;&gt;&lt;property id=&quot;20148&quot; value=&quot;5&quot;/&gt;&lt;property id=&quot;20300&quot; value=&quot;Slide 6 - &amp;quot;Bohr模型（1913）&amp;quot;&quot;/&gt;&lt;property id=&quot;20307&quot; value=&quot;304&quot;/&gt;&lt;/object&gt;&lt;object type=&quot;3&quot; unique_id=&quot;12577&quot;&gt;&lt;property id=&quot;20148&quot; value=&quot;5&quot;/&gt;&lt;property id=&quot;20300&quot; value=&quot;Slide 15 - &amp;quot;透射（吸收）谱和荧光谱&amp;quot;&quot;/&gt;&lt;property id=&quot;20307&quot; value=&quot;305&quot;/&gt;&lt;/object&gt;&lt;object type=&quot;3&quot; unique_id=&quot;12578&quot;&gt;&lt;property id=&quot;20148&quot; value=&quot;5&quot;/&gt;&lt;property id=&quot;20300&quot; value=&quot;Slide 20 - &amp;quot;反常(anormlous)塞曼效应&amp;quot;&quot;/&gt;&lt;property id=&quot;20307&quot; value=&quot;306&quot;/&gt;&lt;/object&gt;&lt;object type=&quot;3&quot; unique_id=&quot;12579&quot;&gt;&lt;property id=&quot;20148&quot; value=&quot;5&quot;/&gt;&lt;property id=&quot;20300&quot; value=&quot;Slide 29&quot;/&gt;&lt;property id=&quot;20307&quot; value=&quot;307&quot;/&gt;&lt;/object&gt;&lt;object type=&quot;3&quot; unique_id=&quot;13072&quot;&gt;&lt;property id=&quot;20148&quot; value=&quot;5&quot;/&gt;&lt;property id=&quot;20300&quot; value=&quot;Slide 25 - &amp;quot;Stern-Gerlach 实验的解释&amp;quot;&quot;/&gt;&lt;property id=&quot;20307&quot; value=&quot;308&quot;/&gt;&lt;/object&gt;&lt;/object&gt;&lt;/object&gt;&lt;/database&gt;"/>
  <p:tag name="SECTOMILLISECCONVERTED"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a:solidFill>
            <a:srgbClr val="FFFF00"/>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8625</TotalTime>
  <Words>973</Words>
  <Application>Microsoft Office PowerPoint</Application>
  <PresentationFormat>Widescreen</PresentationFormat>
  <Paragraphs>56</Paragraphs>
  <Slides>6</Slides>
  <Notes>4</Notes>
  <HiddenSlides>0</HiddenSlides>
  <MMClips>0</MMClips>
  <ScaleCrop>false</ScaleCrop>
  <HeadingPairs>
    <vt:vector size="8" baseType="variant">
      <vt:variant>
        <vt:lpstr>Fonts Used</vt:lpstr>
      </vt:variant>
      <vt:variant>
        <vt:i4>5</vt:i4>
      </vt:variant>
      <vt:variant>
        <vt:lpstr>Theme</vt:lpstr>
      </vt:variant>
      <vt:variant>
        <vt:i4>1</vt:i4>
      </vt:variant>
      <vt:variant>
        <vt:lpstr>Embedded OLE Servers</vt:lpstr>
      </vt:variant>
      <vt:variant>
        <vt:i4>3</vt:i4>
      </vt:variant>
      <vt:variant>
        <vt:lpstr>Slide Titles</vt:lpstr>
      </vt:variant>
      <vt:variant>
        <vt:i4>6</vt:i4>
      </vt:variant>
    </vt:vector>
  </HeadingPairs>
  <TitlesOfParts>
    <vt:vector size="15" baseType="lpstr">
      <vt:lpstr>黑体</vt:lpstr>
      <vt:lpstr>宋体</vt:lpstr>
      <vt:lpstr>Arial</vt:lpstr>
      <vt:lpstr>Calibri</vt:lpstr>
      <vt:lpstr>Cambria Math</vt:lpstr>
      <vt:lpstr>Office Theme</vt:lpstr>
      <vt:lpstr>Equation</vt:lpstr>
      <vt:lpstr>Clip</vt:lpstr>
      <vt:lpstr>MathType 7.0 Equation</vt:lpstr>
      <vt:lpstr>塞曼效应（1896）及其经典（洛伦茨）解释</vt:lpstr>
      <vt:lpstr>塞曼效应（1896）及其经典（洛伦茨）解释</vt:lpstr>
      <vt:lpstr>PowerPoint Presentation</vt:lpstr>
      <vt:lpstr>PowerPoint Presentation</vt:lpstr>
      <vt:lpstr>*塞曼效应的经典解释</vt:lpstr>
      <vt:lpstr>*塞曼效应的经典解释</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Kai</dc:creator>
  <cp:lastModifiedBy>Zhao KF</cp:lastModifiedBy>
  <cp:revision>617</cp:revision>
  <dcterms:created xsi:type="dcterms:W3CDTF">2013-05-26T05:06:15Z</dcterms:created>
  <dcterms:modified xsi:type="dcterms:W3CDTF">2026-09-07T13:43:05Z</dcterms:modified>
</cp:coreProperties>
</file>