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"/>
  </p:notesMasterIdLst>
  <p:sldIdLst>
    <p:sldId id="289" r:id="rId2"/>
    <p:sldId id="315" r:id="rId3"/>
    <p:sldId id="318" r:id="rId4"/>
    <p:sldId id="327" r:id="rId5"/>
    <p:sldId id="316" r:id="rId6"/>
    <p:sldId id="328" r:id="rId7"/>
    <p:sldId id="317" r:id="rId8"/>
    <p:sldId id="282" r:id="rId9"/>
    <p:sldId id="270" r:id="rId10"/>
    <p:sldId id="314" r:id="rId11"/>
    <p:sldId id="269" r:id="rId12"/>
  </p:sldIdLst>
  <p:sldSz cx="12192000" cy="6858000"/>
  <p:notesSz cx="6797675" cy="9928225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量子力学" id="{9957FF47-F75C-448B-8E3B-C512B6925589}">
          <p14:sldIdLst>
            <p14:sldId id="289"/>
            <p14:sldId id="315"/>
            <p14:sldId id="318"/>
            <p14:sldId id="327"/>
            <p14:sldId id="316"/>
            <p14:sldId id="328"/>
            <p14:sldId id="317"/>
            <p14:sldId id="282"/>
            <p14:sldId id="270"/>
            <p14:sldId id="314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209" autoAdjust="0"/>
  </p:normalViewPr>
  <p:slideViewPr>
    <p:cSldViewPr snapToGrid="0">
      <p:cViewPr varScale="1">
        <p:scale>
          <a:sx n="59" d="100"/>
          <a:sy n="59" d="100"/>
        </p:scale>
        <p:origin x="60" y="84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47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-2914" y="-8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387D0-1216-4FA3-AF01-EA63AC44C2D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A642B-1D08-47C1-9385-1FDD33F8C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5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rpretations_of_quantum_mechanic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海森伯：量子力学不回答“如果不做观察，客观上将是怎样的”这类问题，而只回答“如果做某种观察，结果将是怎样的”</a:t>
            </a:r>
            <a:endParaRPr lang="en-US" altLang="zh-CN" dirty="0"/>
          </a:p>
          <a:p>
            <a:r>
              <a:rPr lang="zh-CN" altLang="en-US" dirty="0"/>
              <a:t>波恩：“爱因斯坦的观点又一次引导了我。他曾经把光波振幅平方解释为光子出现的几率密度</a:t>
            </a:r>
            <a:r>
              <a:rPr lang="en-US" altLang="zh-CN" dirty="0"/>
              <a:t>, </a:t>
            </a:r>
            <a:r>
              <a:rPr lang="zh-CN" altLang="en-US" dirty="0"/>
              <a:t>从而使粒子和波的二象性成为可以理解的。这个观念马上可以推广到</a:t>
            </a:r>
            <a:r>
              <a:rPr lang="en-US" altLang="zh-CN" dirty="0"/>
              <a:t>ψ</a:t>
            </a:r>
            <a:r>
              <a:rPr lang="zh-CN" altLang="en-US" dirty="0"/>
              <a:t>函数上</a:t>
            </a:r>
            <a:r>
              <a:rPr lang="en-US" altLang="zh-CN" dirty="0"/>
              <a:t>: ∣ψ∣2</a:t>
            </a:r>
            <a:r>
              <a:rPr lang="zh-CN" altLang="en-US" dirty="0"/>
              <a:t>应是被测到的电子</a:t>
            </a:r>
            <a:r>
              <a:rPr lang="en-US" altLang="zh-CN" dirty="0"/>
              <a:t>(</a:t>
            </a:r>
            <a:r>
              <a:rPr lang="zh-CN" altLang="en-US" dirty="0"/>
              <a:t>或其他粒子</a:t>
            </a:r>
            <a:r>
              <a:rPr lang="en-US" altLang="zh-CN" dirty="0"/>
              <a:t>)</a:t>
            </a:r>
            <a:r>
              <a:rPr lang="zh-CN" altLang="en-US" dirty="0"/>
              <a:t>的几率密度。”</a:t>
            </a:r>
            <a:endParaRPr lang="en-US" altLang="zh-CN" dirty="0"/>
          </a:p>
          <a:p>
            <a:r>
              <a:rPr lang="en-US" altLang="zh-CN" dirty="0"/>
              <a:t>Dirac </a:t>
            </a:r>
            <a:r>
              <a:rPr lang="zh-CN" altLang="en-US" dirty="0"/>
              <a:t>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‘What I wanted was statements which could be expressed in terms of equations,’ he said later, ‘and Bohr’s work very seldom provided such statements.</a:t>
            </a:r>
            <a:r>
              <a:rPr lang="zh-CN" altLang="en-US" dirty="0"/>
              <a:t>”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Max Born, after learning of the Dirac equation, said, "Physics as we know it will be over in six months."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34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海森伯：量子力学不回答“如果不做观察，客观上将是怎样的”这类问题，而只回答“如果做某种观察，结果将是怎样的”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65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09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德拜：德布罗意的想法似乎过于简单幼稚。既然是波就该有个波动方程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波恩：“爱因斯坦的观点又一次引导了我。他曾经把光波振幅平方解释为光子出现的几率密度</a:t>
            </a:r>
            <a:r>
              <a:rPr lang="en-US" altLang="zh-CN" dirty="0"/>
              <a:t>, </a:t>
            </a:r>
            <a:r>
              <a:rPr lang="zh-CN" altLang="en-US" dirty="0"/>
              <a:t>从而使粒子和波的二象性成为可以理解的。这个观念马上可以推广到</a:t>
            </a:r>
            <a:r>
              <a:rPr lang="en-US" altLang="zh-CN" dirty="0"/>
              <a:t>ψ</a:t>
            </a:r>
            <a:r>
              <a:rPr lang="zh-CN" altLang="en-US" dirty="0"/>
              <a:t>函数上</a:t>
            </a:r>
            <a:r>
              <a:rPr lang="en-US" altLang="zh-CN" dirty="0"/>
              <a:t>: ∣ψ∣2</a:t>
            </a:r>
            <a:r>
              <a:rPr lang="zh-CN" altLang="en-US" dirty="0"/>
              <a:t>应是被测到的电子</a:t>
            </a:r>
            <a:r>
              <a:rPr lang="en-US" altLang="zh-CN" dirty="0"/>
              <a:t>(</a:t>
            </a:r>
            <a:r>
              <a:rPr lang="zh-CN" altLang="en-US" dirty="0"/>
              <a:t>或其他粒子</a:t>
            </a:r>
            <a:r>
              <a:rPr lang="en-US" altLang="zh-CN" dirty="0"/>
              <a:t>)</a:t>
            </a:r>
            <a:r>
              <a:rPr lang="zh-CN" altLang="en-US" dirty="0"/>
              <a:t>的几率密度。”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73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Dirac was famously not bothered by 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Interpretations of quantum mechanics"/>
              </a:rPr>
              <a:t>issues of interpretation in quantum theory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fact, in a paper published in a book in his honor, he wrote: "</a:t>
            </a:r>
            <a:r>
              <a:rPr lang="en-US" altLang="zh-CN" dirty="0"/>
              <a:t>The interpretation of quantum mechanics has been dealt with by many authors, and I do not want to discuss it here. I want to deal with more fundamental things”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78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这个版本是经过玻尔修正过的版本，海森堡再次搞错了显微镜的原理。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43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86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0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A. Piccard, E. </a:t>
            </a:r>
            <a:r>
              <a:rPr lang="en-US" altLang="zh-CN" dirty="0" err="1"/>
              <a:t>Henriot</a:t>
            </a:r>
            <a:r>
              <a:rPr lang="en-US" altLang="zh-CN" dirty="0"/>
              <a:t>, P. </a:t>
            </a:r>
            <a:r>
              <a:rPr lang="en-US" altLang="zh-CN" dirty="0" err="1"/>
              <a:t>Ehrenfest</a:t>
            </a:r>
            <a:r>
              <a:rPr lang="en-US" altLang="zh-CN" dirty="0"/>
              <a:t>, E. </a:t>
            </a:r>
            <a:r>
              <a:rPr lang="en-US" altLang="zh-CN" dirty="0" err="1"/>
              <a:t>Herzen</a:t>
            </a:r>
            <a:r>
              <a:rPr lang="en-US" altLang="zh-CN" dirty="0"/>
              <a:t>, Th. de </a:t>
            </a:r>
            <a:r>
              <a:rPr lang="en-US" altLang="zh-CN" dirty="0" err="1"/>
              <a:t>Donder</a:t>
            </a:r>
            <a:r>
              <a:rPr lang="en-US" altLang="zh-CN" dirty="0"/>
              <a:t>, E. Schrödinger, J.E. </a:t>
            </a:r>
            <a:r>
              <a:rPr lang="en-US" altLang="zh-CN" dirty="0" err="1"/>
              <a:t>Verschaffelt</a:t>
            </a:r>
            <a:r>
              <a:rPr lang="en-US" altLang="zh-CN" dirty="0"/>
              <a:t>, W. Pauli, W. Heisenberg, R.H. Fowler, L. </a:t>
            </a:r>
            <a:r>
              <a:rPr lang="en-US" altLang="zh-CN" dirty="0" err="1"/>
              <a:t>Brillouin</a:t>
            </a:r>
            <a:r>
              <a:rPr lang="en-US" altLang="zh-CN" dirty="0"/>
              <a:t>;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P. Debye, M. Knudsen, W.L. Bragg, H.A. </a:t>
            </a:r>
            <a:r>
              <a:rPr lang="en-US" altLang="zh-CN" dirty="0" err="1"/>
              <a:t>Kramers</a:t>
            </a:r>
            <a:r>
              <a:rPr lang="en-US" altLang="zh-CN" dirty="0"/>
              <a:t>, P.A.M. Dirac, A.H. Compton, L. de Broglie, M. Born, N. Bohr;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I. Langmuir, M. Planck, M. </a:t>
            </a:r>
            <a:r>
              <a:rPr lang="en-US" altLang="zh-CN" dirty="0" err="1"/>
              <a:t>Skłodowska</a:t>
            </a:r>
            <a:r>
              <a:rPr lang="en-US" altLang="zh-CN" dirty="0"/>
              <a:t>-Curie, H.A. Lorentz, A. Einstein, P. </a:t>
            </a:r>
            <a:r>
              <a:rPr lang="en-US" altLang="zh-CN" dirty="0" err="1"/>
              <a:t>Langevin</a:t>
            </a:r>
            <a:r>
              <a:rPr lang="en-US" altLang="zh-CN" dirty="0"/>
              <a:t>, Ch.-E. </a:t>
            </a:r>
            <a:r>
              <a:rPr lang="en-US" altLang="zh-CN" dirty="0" err="1"/>
              <a:t>Guye</a:t>
            </a:r>
            <a:r>
              <a:rPr lang="en-US" altLang="zh-CN" dirty="0"/>
              <a:t>, C.T.R. Wilson, O.W. Richardson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42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5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5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4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8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01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5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0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5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8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08720"/>
            <a:ext cx="109728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602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oogle.com.hk/url?sa=i&amp;rct=j&amp;q=pascual%20jordan&amp;source=images&amp;cd=&amp;cad=rja&amp;docid=Cpjs246ber0TZM&amp;tbnid=f7GgmdkU8Yr2tM:&amp;ved=0CAUQjRw&amp;url=http://famousscientist.net/page/3/&amp;ei=BYFHUoXnEeKriAf49IGQAQ&amp;psig=AFQjCNHKDRCOogXYKT5B6oAvcikBkEzAug&amp;ust=1380503781760127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list/88461692/?sid=1528927&amp;spm_id_from=333.1387.0.0&amp;oid=6731067&amp;bvid=BV1ys411472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faculty.wcas.northwestern.edu/~infocom/Ideas/quantum_timeline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birth of quantum mechanics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1408" y="971667"/>
            <a:ext cx="7084500" cy="5619824"/>
          </a:xfrm>
        </p:spPr>
        <p:txBody>
          <a:bodyPr>
            <a:normAutofit/>
          </a:bodyPr>
          <a:lstStyle/>
          <a:p>
            <a:pPr marL="457189" lvl="1" indent="0">
              <a:buNone/>
            </a:pPr>
            <a:endParaRPr lang="en-US" altLang="zh-CN" sz="2400" dirty="0"/>
          </a:p>
          <a:p>
            <a:pPr marL="446077" indent="0">
              <a:buNone/>
            </a:pPr>
            <a:endParaRPr lang="en-US" altLang="zh-CN" sz="2400" dirty="0"/>
          </a:p>
        </p:txBody>
      </p:sp>
      <p:sp>
        <p:nvSpPr>
          <p:cNvPr id="4" name="AutoShape 10" descr="https://encrypted-tbn3.gstatic.com/images?q=tbn:ANd9GcTYK41EKLufWQl5ahd27XSjBexgT06FGNoifcqNuMpflAIKrMzlyg"/>
          <p:cNvSpPr>
            <a:spLocks noChangeAspect="1" noChangeArrowheads="1"/>
          </p:cNvSpPr>
          <p:nvPr/>
        </p:nvSpPr>
        <p:spPr bwMode="auto">
          <a:xfrm>
            <a:off x="167957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12" descr="https://encrypted-tbn3.gstatic.com/images?q=tbn:ANd9GcTYK41EKLufWQl5ahd27XSjBexgT06FGNoifcqNuMpflAIKrMzlyg"/>
          <p:cNvSpPr>
            <a:spLocks noChangeAspect="1" noChangeArrowheads="1"/>
          </p:cNvSpPr>
          <p:nvPr/>
        </p:nvSpPr>
        <p:spPr bwMode="auto">
          <a:xfrm>
            <a:off x="1831975" y="794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 descr="\{f,g\}=\sum _{i=1}^{N}\left({\frac {\partial f}{\partial q_{i}}}{\frac {\partial g}{\partial p_{i}}}-{\frac {\partial f}{\partial p_{i}}}{\frac {\partial g}{\partial q_{i}}}\right).">
            <a:extLst>
              <a:ext uri="{FF2B5EF4-FFF2-40B4-BE49-F238E27FC236}">
                <a16:creationId xmlns:a16="http://schemas.microsoft.com/office/drawing/2014/main" id="{7F07E57A-CE80-48C7-B32D-0D5D052A3E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2539" y="31167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B6E64B9-3A6D-4248-BE83-900504F41362}"/>
              </a:ext>
            </a:extLst>
          </p:cNvPr>
          <p:cNvGrpSpPr/>
          <p:nvPr/>
        </p:nvGrpSpPr>
        <p:grpSpPr>
          <a:xfrm>
            <a:off x="2060584" y="3224985"/>
            <a:ext cx="7487012" cy="1452657"/>
            <a:chOff x="99322" y="3055378"/>
            <a:chExt cx="7487012" cy="1452657"/>
          </a:xfrm>
        </p:grpSpPr>
        <p:pic>
          <p:nvPicPr>
            <p:cNvPr id="1030" name="Picture 6" descr="http://file.100xuexi.com/XXSub/templates/Image/200801281953127055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22" y="3055378"/>
              <a:ext cx="1048140" cy="13998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7353C3-9B80-4D76-A290-6597ED3AE352}"/>
                </a:ext>
              </a:extLst>
            </p:cNvPr>
            <p:cNvSpPr/>
            <p:nvPr/>
          </p:nvSpPr>
          <p:spPr>
            <a:xfrm>
              <a:off x="1247743" y="3246151"/>
              <a:ext cx="6338591" cy="12618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dirty="0"/>
                <a:t>Schrödinger</a:t>
              </a:r>
            </a:p>
            <a:p>
              <a:r>
                <a:rPr lang="en-US" altLang="zh-CN" sz="2400" dirty="0">
                  <a:solidFill>
                    <a:srgbClr val="C00000"/>
                  </a:solidFill>
                </a:rPr>
                <a:t>Wave mechanics </a:t>
              </a:r>
              <a:r>
                <a:rPr lang="en-US" altLang="zh-CN" sz="2400" dirty="0"/>
                <a:t>1926.1.27</a:t>
              </a:r>
            </a:p>
            <a:p>
              <a:r>
                <a:rPr lang="en-US" altLang="zh-CN" sz="2400" dirty="0"/>
                <a:t>The meaning of wave function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(Born 1926.7.20)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AA56EA-CB48-47E3-959C-E7F872C76B68}"/>
              </a:ext>
            </a:extLst>
          </p:cNvPr>
          <p:cNvGrpSpPr/>
          <p:nvPr/>
        </p:nvGrpSpPr>
        <p:grpSpPr>
          <a:xfrm>
            <a:off x="9268718" y="1140204"/>
            <a:ext cx="2327474" cy="2792075"/>
            <a:chOff x="9272613" y="1935341"/>
            <a:chExt cx="2327474" cy="279207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ABE5C31-9A38-4A1C-BAB9-FA334A8A6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31026" y="1935341"/>
              <a:ext cx="1149656" cy="1607911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D11C073-6843-4D28-AD9E-01C8DE16803B}"/>
                </a:ext>
              </a:extLst>
            </p:cNvPr>
            <p:cNvSpPr/>
            <p:nvPr/>
          </p:nvSpPr>
          <p:spPr>
            <a:xfrm>
              <a:off x="9272613" y="3527087"/>
              <a:ext cx="232747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/>
                <a:t>Pauli</a:t>
              </a:r>
            </a:p>
            <a:p>
              <a:pPr algn="ctr"/>
              <a:r>
                <a:rPr lang="en-US" altLang="zh-CN" dirty="0"/>
                <a:t>Solved the Hydrogen levels using Matrix mechanics (1926.1.17)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36E3A41-3310-46B6-83F6-44ED90DC1370}"/>
              </a:ext>
            </a:extLst>
          </p:cNvPr>
          <p:cNvGrpSpPr/>
          <p:nvPr/>
        </p:nvGrpSpPr>
        <p:grpSpPr>
          <a:xfrm>
            <a:off x="509045" y="1038959"/>
            <a:ext cx="9242288" cy="2011310"/>
            <a:chOff x="517392" y="1038986"/>
            <a:chExt cx="9242288" cy="201131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C432C1E-14AD-4CEC-A407-38F179E461BE}"/>
                </a:ext>
              </a:extLst>
            </p:cNvPr>
            <p:cNvGrpSpPr/>
            <p:nvPr/>
          </p:nvGrpSpPr>
          <p:grpSpPr>
            <a:xfrm>
              <a:off x="821914" y="1038986"/>
              <a:ext cx="8937766" cy="1611879"/>
              <a:chOff x="737431" y="949408"/>
              <a:chExt cx="8937766" cy="1611879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3587733-C6B7-4FA4-9398-E3D42A752406}"/>
                  </a:ext>
                </a:extLst>
              </p:cNvPr>
              <p:cNvGrpSpPr/>
              <p:nvPr/>
            </p:nvGrpSpPr>
            <p:grpSpPr>
              <a:xfrm>
                <a:off x="737431" y="1050653"/>
                <a:ext cx="3619430" cy="1510634"/>
                <a:chOff x="6227569" y="1116873"/>
                <a:chExt cx="3619430" cy="1510634"/>
              </a:xfrm>
            </p:grpSpPr>
            <p:pic>
              <p:nvPicPr>
                <p:cNvPr id="1037" name="Picture 13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373941" y="1122514"/>
                  <a:ext cx="1168583" cy="15049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039" name="Picture 15" descr="http://famousscientist.net/wp-content/uploads/2013/04/werner-haisenberg.jpg">
                  <a:hlinkClick r:id="rId6"/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27569" y="1122514"/>
                  <a:ext cx="1116175" cy="150499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1B7A5061-F52F-4145-A6C8-F8CA94EE9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72260" y="1116873"/>
                  <a:ext cx="1274739" cy="1504993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4AFC6CC4-E795-4222-8BFC-F589C63955D2}"/>
                      </a:ext>
                    </a:extLst>
                  </p:cNvPr>
                  <p:cNvSpPr/>
                  <p:nvPr/>
                </p:nvSpPr>
                <p:spPr>
                  <a:xfrm>
                    <a:off x="4438649" y="949408"/>
                    <a:ext cx="5236548" cy="156966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CN" sz="2400" dirty="0">
                        <a:solidFill>
                          <a:srgbClr val="C00000"/>
                        </a:solidFill>
                      </a:rPr>
                      <a:t>Heisenberg observables</a:t>
                    </a:r>
                    <a:r>
                      <a:rPr lang="zh-CN" altLang="en-US" sz="2400" dirty="0">
                        <a:solidFill>
                          <a:srgbClr val="C00000"/>
                        </a:solidFill>
                      </a:rPr>
                      <a:t> </a:t>
                    </a:r>
                    <a:r>
                      <a:rPr lang="en-US" altLang="zh-CN" sz="2400" dirty="0"/>
                      <a:t>(H 1925.7.29)</a:t>
                    </a:r>
                  </a:p>
                  <a:p>
                    <a14:m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oMath>
                    </a14:m>
                    <a:r>
                      <a:rPr lang="en-US" altLang="zh-CN" sz="2400" dirty="0"/>
                      <a:t> (BJ</a:t>
                    </a:r>
                    <a:r>
                      <a:rPr lang="zh-CN" altLang="en-US" sz="2400" dirty="0"/>
                      <a:t> </a:t>
                    </a:r>
                    <a:r>
                      <a:rPr lang="en-US" altLang="zh-CN" sz="2400" dirty="0"/>
                      <a:t>1925.9.27)</a:t>
                    </a:r>
                  </a:p>
                  <a:p>
                    <a:r>
                      <a:rPr lang="en-US" altLang="zh-CN" sz="2400" dirty="0">
                        <a:solidFill>
                          <a:srgbClr val="C00000"/>
                        </a:solidFill>
                      </a:rPr>
                      <a:t>Matrix mechanics</a:t>
                    </a:r>
                    <a:r>
                      <a:rPr lang="zh-CN" altLang="en-US" sz="2400" dirty="0"/>
                      <a:t> </a:t>
                    </a:r>
                    <a:r>
                      <a:rPr lang="en-US" altLang="zh-CN" sz="2400" dirty="0"/>
                      <a:t>(HBJ</a:t>
                    </a:r>
                    <a:r>
                      <a:rPr lang="zh-CN" altLang="en-US" sz="2400" dirty="0"/>
                      <a:t> </a:t>
                    </a:r>
                    <a:r>
                      <a:rPr lang="en-US" altLang="zh-CN" sz="2400" dirty="0"/>
                      <a:t>1925.11.16)</a:t>
                    </a:r>
                  </a:p>
                  <a:p>
                    <a:r>
                      <a:rPr lang="en-US" altLang="zh-CN" sz="2400" dirty="0">
                        <a:solidFill>
                          <a:srgbClr val="C00000"/>
                        </a:solidFill>
                      </a:rPr>
                      <a:t>Uncertainty principle </a:t>
                    </a:r>
                    <a:r>
                      <a:rPr lang="en-US" altLang="zh-CN" sz="2400" dirty="0"/>
                      <a:t>(H 1927.3.23)</a:t>
                    </a: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4AFC6CC4-E795-4222-8BFC-F589C63955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38649" y="949408"/>
                    <a:ext cx="5236548" cy="156966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863" t="-3101" b="-77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771E037-EAE4-4724-B3AE-42CC437F4E33}"/>
                </a:ext>
              </a:extLst>
            </p:cNvPr>
            <p:cNvSpPr/>
            <p:nvPr/>
          </p:nvSpPr>
          <p:spPr>
            <a:xfrm>
              <a:off x="517392" y="2588631"/>
              <a:ext cx="38897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/>
                <a:t>Heisenberg    Born        Jordan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6D614B2-BAA5-4608-8F60-41A2F49EF5BD}"/>
              </a:ext>
            </a:extLst>
          </p:cNvPr>
          <p:cNvGrpSpPr/>
          <p:nvPr/>
        </p:nvGrpSpPr>
        <p:grpSpPr>
          <a:xfrm>
            <a:off x="2050644" y="4869628"/>
            <a:ext cx="7948283" cy="1938992"/>
            <a:chOff x="2050644" y="4869628"/>
            <a:chExt cx="7700689" cy="193899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C34880A-7173-4B48-8262-E90486DE3E29}"/>
                </a:ext>
              </a:extLst>
            </p:cNvPr>
            <p:cNvSpPr/>
            <p:nvPr/>
          </p:nvSpPr>
          <p:spPr>
            <a:xfrm>
              <a:off x="2780677" y="4869628"/>
              <a:ext cx="6970656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46077" indent="0">
                <a:buNone/>
              </a:pPr>
              <a:r>
                <a:rPr lang="en-US" altLang="zh-CN" sz="2400" dirty="0"/>
                <a:t>Dirac</a:t>
              </a:r>
            </a:p>
            <a:p>
              <a:pPr marL="457189" lvl="1" indent="0">
                <a:buNone/>
              </a:pPr>
              <a:r>
                <a:rPr lang="en-US" altLang="zh-CN" sz="2400" dirty="0"/>
                <a:t>Classical-Quantum relation 1925.11.7</a:t>
              </a:r>
            </a:p>
            <a:p>
              <a:pPr marL="457189" lvl="1" indent="0">
                <a:buNone/>
              </a:pPr>
              <a:r>
                <a:rPr lang="en-US" altLang="zh-CN" sz="2400" dirty="0">
                  <a:solidFill>
                    <a:srgbClr val="C00000"/>
                  </a:solidFill>
                </a:rPr>
                <a:t>Relativistic quantum mechanics (Dirac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>
                  <a:solidFill>
                    <a:srgbClr val="C00000"/>
                  </a:solidFill>
                </a:rPr>
                <a:t>EQ)</a:t>
              </a:r>
              <a:r>
                <a:rPr lang="zh-CN" altLang="en-US" sz="2400" dirty="0">
                  <a:solidFill>
                    <a:srgbClr val="C00000"/>
                  </a:solidFill>
                </a:rPr>
                <a:t> </a:t>
              </a:r>
              <a:r>
                <a:rPr lang="en-US" altLang="zh-CN" sz="2400" dirty="0"/>
                <a:t>1928.1.2</a:t>
              </a:r>
              <a:endParaRPr lang="zh-CN" altLang="en-US" sz="2400" dirty="0"/>
            </a:p>
            <a:p>
              <a:pPr marL="457189" lvl="1" indent="0">
                <a:buNone/>
              </a:pPr>
              <a:r>
                <a:rPr lang="en-US" altLang="zh-CN" sz="2400" dirty="0"/>
                <a:t>《The principle of quantum machanics》1930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DE06AD9-6560-4C2E-BBE8-04CCC239C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50644" y="4892853"/>
              <a:ext cx="1148422" cy="15097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675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2CAE-C722-4E82-B6BC-C5C85204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</a:t>
            </a:r>
            <a:r>
              <a:rPr lang="en-US" altLang="zh-CN" dirty="0"/>
              <a:t>Heisenberg’s magic (1925.7.29)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DAC2B-704C-46EC-B167-E7B201F6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68965"/>
            <a:ext cx="10972800" cy="870384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Do not assume the non-observable variables have values, such as an electron’s position and velocity.</a:t>
            </a:r>
          </a:p>
          <a:p>
            <a:r>
              <a:rPr lang="en-US" altLang="zh-CN" sz="2000" dirty="0"/>
              <a:t>Describe a physical system only by the observable quantities.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FCD519-9A5E-4088-83D4-A1209F686252}"/>
                  </a:ext>
                </a:extLst>
              </p:cNvPr>
              <p:cNvSpPr txBox="1"/>
              <p:nvPr/>
            </p:nvSpPr>
            <p:spPr>
              <a:xfrm>
                <a:off x="699052" y="3254945"/>
                <a:ext cx="10897140" cy="7438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000" dirty="0">
                    <a:latin typeface="Cambria Math" panose="02040503050406030204" pitchFamily="18" charset="0"/>
                  </a:rPr>
                  <a:t>Quantum:</a:t>
                </a:r>
              </a:p>
              <a:p>
                <a:pPr algn="ctr"/>
                <a:r>
                  <a:rPr lang="en-US" altLang="zh-CN" sz="2000" dirty="0"/>
                  <a:t>Observables: Frequency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dirty="0"/>
                  <a:t>,  transition intensity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∝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altLang="zh-CN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FCD519-9A5E-4088-83D4-A1209F686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2" y="3254945"/>
                <a:ext cx="10897140" cy="743858"/>
              </a:xfrm>
              <a:prstGeom prst="rect">
                <a:avLst/>
              </a:prstGeom>
              <a:blipFill>
                <a:blip r:embed="rId3"/>
                <a:stretch>
                  <a:fillRect l="-1455" t="-10656"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E6638D-1BAF-42A8-AD3C-B112BB22C80F}"/>
                  </a:ext>
                </a:extLst>
              </p:cNvPr>
              <p:cNvSpPr txBox="1"/>
              <p:nvPr/>
            </p:nvSpPr>
            <p:spPr>
              <a:xfrm>
                <a:off x="739348" y="1946304"/>
                <a:ext cx="10740887" cy="11981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000" dirty="0"/>
                  <a:t>Classic: For large orbits, energy intervals are approximately equal.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lectron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orbit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𝑖𝑢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radiation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frequency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2000" b="0" i="0" dirty="0" smtClean="0">
                          <a:latin typeface="Cambria Math" panose="02040503050406030204" pitchFamily="18" charset="0"/>
                        </a:rPr>
                        <m:t>radiation</m:t>
                      </m:r>
                      <m:r>
                        <a:rPr lang="en-US" altLang="zh-CN" sz="20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dirty="0" smtClean="0">
                          <a:latin typeface="Cambria Math" panose="02040503050406030204" pitchFamily="18" charset="0"/>
                        </a:rPr>
                        <m:t>intensity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E6638D-1BAF-42A8-AD3C-B112BB22C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48" y="1946304"/>
                <a:ext cx="10740887" cy="1198149"/>
              </a:xfrm>
              <a:prstGeom prst="rect">
                <a:avLst/>
              </a:prstGeom>
              <a:blipFill>
                <a:blip r:embed="rId4"/>
                <a:stretch>
                  <a:fillRect l="-1419" t="-6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358D754-1264-47FB-8B98-A1061207FCD8}"/>
                  </a:ext>
                </a:extLst>
              </p:cNvPr>
              <p:cNvSpPr/>
              <p:nvPr/>
            </p:nvSpPr>
            <p:spPr>
              <a:xfrm>
                <a:off x="699052" y="4388607"/>
                <a:ext cx="10883348" cy="87476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noAutofit/>
              </a:bodyPr>
              <a:lstStyle/>
              <a:p>
                <a:r>
                  <a:rPr lang="en-US" altLang="zh-CN" sz="2000" dirty="0"/>
                  <a:t>The quantum form of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000" dirty="0"/>
                  <a:t> should be expressed by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2000" dirty="0"/>
                  <a:t>. But its hard to obtain the expression of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000" dirty="0"/>
                  <a:t>  that is </a:t>
                </a:r>
                <a:r>
                  <a:rPr lang="en-US" altLang="zh-CN" sz="2000"/>
                  <a:t>symmetrical for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/>
                  <a:t>.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358D754-1264-47FB-8B98-A1061207FC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52" y="4388607"/>
                <a:ext cx="10883348" cy="874767"/>
              </a:xfrm>
              <a:prstGeom prst="rect">
                <a:avLst/>
              </a:prstGeom>
              <a:blipFill>
                <a:blip r:embed="rId5"/>
                <a:stretch>
                  <a:fillRect l="-616" t="-41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0C540E-1670-4A89-A5CD-F792877E4296}"/>
                  </a:ext>
                </a:extLst>
              </p:cNvPr>
              <p:cNvSpPr txBox="1"/>
              <p:nvPr/>
            </p:nvSpPr>
            <p:spPr>
              <a:xfrm>
                <a:off x="4047479" y="5480805"/>
                <a:ext cx="30240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sz="2000" dirty="0"/>
                  <a:t>Heisenberg tried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first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0C540E-1670-4A89-A5CD-F792877E4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479" y="5480805"/>
                <a:ext cx="3024033" cy="307777"/>
              </a:xfrm>
              <a:prstGeom prst="rect">
                <a:avLst/>
              </a:prstGeom>
              <a:blipFill>
                <a:blip r:embed="rId6"/>
                <a:stretch>
                  <a:fillRect l="-5242" t="-25490" r="-4435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06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5F31692-132E-46CE-82E3-273CC6293FD0}"/>
                  </a:ext>
                </a:extLst>
              </p:cNvPr>
              <p:cNvSpPr/>
              <p:nvPr/>
            </p:nvSpPr>
            <p:spPr>
              <a:xfrm>
                <a:off x="617152" y="230191"/>
                <a:ext cx="10097230" cy="2493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Classical: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Let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brk m:alnAt="2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𝑖𝑝</m:t>
                                  </m:r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Under Fourier transformation, the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very similar.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5F31692-132E-46CE-82E3-273CC6293F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52" y="230191"/>
                <a:ext cx="10097230" cy="2493568"/>
              </a:xfrm>
              <a:prstGeom prst="rect">
                <a:avLst/>
              </a:prstGeom>
              <a:blipFill>
                <a:blip r:embed="rId3"/>
                <a:stretch>
                  <a:fillRect l="-483" t="-1467" b="-2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C5A7AC-BEF2-4412-9C25-096E7D71F51B}"/>
                  </a:ext>
                </a:extLst>
              </p:cNvPr>
              <p:cNvSpPr txBox="1"/>
              <p:nvPr/>
            </p:nvSpPr>
            <p:spPr>
              <a:xfrm>
                <a:off x="446494" y="2706368"/>
                <a:ext cx="11128354" cy="8789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Quantum:  What is the quantum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?</a:t>
                </a:r>
              </a:p>
              <a:p>
                <a:pPr defTabSz="460375">
                  <a:lnSpc>
                    <a:spcPct val="150000"/>
                  </a:lnSpc>
                </a:pPr>
                <a:r>
                  <a:rPr lang="en-US" altLang="zh-CN" dirty="0"/>
                  <a:t>	Using Ritz combination principle: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Heisenberg guess the quantum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𝑖𝑝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C5A7AC-BEF2-4412-9C25-096E7D71F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94" y="2706368"/>
                <a:ext cx="11128354" cy="878959"/>
              </a:xfrm>
              <a:prstGeom prst="rect">
                <a:avLst/>
              </a:prstGeom>
              <a:blipFill>
                <a:blip r:embed="rId4"/>
                <a:stretch>
                  <a:fillRect l="-1260" b="-13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478AF01-1099-481E-8317-4E9259013FC7}"/>
                  </a:ext>
                </a:extLst>
              </p:cNvPr>
              <p:cNvSpPr/>
              <p:nvPr/>
            </p:nvSpPr>
            <p:spPr>
              <a:xfrm>
                <a:off x="977516" y="3585327"/>
                <a:ext cx="10066310" cy="8935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thus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478AF01-1099-481E-8317-4E9259013F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516" y="3585327"/>
                <a:ext cx="10066310" cy="8935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85165DE-C029-4780-85F8-0B3887C6942C}"/>
                  </a:ext>
                </a:extLst>
              </p:cNvPr>
              <p:cNvSpPr/>
              <p:nvPr/>
            </p:nvSpPr>
            <p:spPr>
              <a:xfrm>
                <a:off x="8051179" y="4544838"/>
                <a:ext cx="3731704" cy="140839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⋰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+1,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+1,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⋰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85165DE-C029-4780-85F8-0B3887C694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179" y="4544838"/>
                <a:ext cx="3731704" cy="1408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4EDD868-92CE-41B3-B9FA-1DF0BAFA46B0}"/>
              </a:ext>
            </a:extLst>
          </p:cNvPr>
          <p:cNvSpPr/>
          <p:nvPr/>
        </p:nvSpPr>
        <p:spPr>
          <a:xfrm>
            <a:off x="617152" y="3982551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60375"/>
            <a:r>
              <a:rPr lang="en-US" altLang="zh-CN" dirty="0"/>
              <a:t>	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641AE5-4F76-44B9-88F2-DE22C753EC2F}"/>
                  </a:ext>
                </a:extLst>
              </p:cNvPr>
              <p:cNvSpPr txBox="1"/>
              <p:nvPr/>
            </p:nvSpPr>
            <p:spPr>
              <a:xfrm>
                <a:off x="828073" y="4380307"/>
                <a:ext cx="6799361" cy="1737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But when he tried this technique to two quantities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he found that the quantum form of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might not equal to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 Born recognized this behavior as matrix multiplication, if we regard </a:t>
                </a:r>
                <a:r>
                  <a:rPr lang="zh-CN" altLang="en-US" dirty="0"/>
                  <a:t>𝑎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𝑚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𝑛</a:t>
                </a:r>
                <a:r>
                  <a:rPr lang="en-US" altLang="zh-CN" dirty="0"/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dirty="0"/>
                  <a:t> as a matrix element of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respectively.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641AE5-4F76-44B9-88F2-DE22C753E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73" y="4380307"/>
                <a:ext cx="6799361" cy="1737463"/>
              </a:xfrm>
              <a:prstGeom prst="rect">
                <a:avLst/>
              </a:prstGeom>
              <a:blipFill>
                <a:blip r:embed="rId7"/>
                <a:stretch>
                  <a:fillRect l="-807" r="-1256" b="-4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43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1C50-FD0E-4DA7-992B-2420FD5D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mechanics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D50C6-1A6B-4587-BA87-FAE5259652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The dynamic quantities are not represented by values, but by matrices.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Shortly after reading Heisenberg’s paper, Jordan and Born discovered the fundamental commutation relation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𝑥𝑝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acc>
                            <m:accPr>
                              <m:chr m:val="̇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̇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Pauli applied matrix mechanics to the Hydrogen atom and got the Bohr’s energy level.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7D50C6-1A6B-4587-BA87-FAE5259652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98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C8663-FE4B-44AB-9707-92B8E3FE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2259"/>
            <a:ext cx="10972800" cy="428395"/>
          </a:xfrm>
        </p:spPr>
        <p:txBody>
          <a:bodyPr/>
          <a:lstStyle/>
          <a:p>
            <a:r>
              <a:rPr lang="zh-CN" altLang="en-US" sz="2800" dirty="0"/>
              <a:t>*</a:t>
            </a:r>
            <a:r>
              <a:rPr lang="en-US" altLang="zh-CN" sz="2800" dirty="0"/>
              <a:t>Schrodinger's wave mechanics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7BEDB9-AF45-4F15-99ED-EAFA1C5568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0653" y="549114"/>
                <a:ext cx="11522927" cy="6246627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1. He described a 1D free particle as a plane wave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𝑘𝑥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b="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write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/ℏ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/ℏ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 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𝐸𝑡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)/ℏ</m:t>
                        </m:r>
                      </m:sup>
                    </m:sSup>
                  </m:oMath>
                </a14:m>
                <a:endParaRPr lang="en-US" altLang="zh-CN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Ψ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−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for a free particle</a:t>
                </a:r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400" b="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we have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2. For a particle with a potential energy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he assume the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equation above can be modified as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This</m:t>
                      </m:r>
                      <m: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Schrodinger</m:t>
                      </m:r>
                      <m: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Equation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To solve the Schrodinger equation: 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lang="en-US" altLang="zh-CN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then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	</m:t>
                          </m:r>
                          <m: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24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are independent variables, the LHS and RHS must both equal to a constant, let us call it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400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(it has the dimension of energy)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CN" sz="2400" dirty="0"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	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groupCh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𝑖𝐸𝑡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0" i="1" dirty="0">
                  <a:solidFill>
                    <a:srgbClr val="C0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</m:e>
                      </m:groupCh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zh-CN" altLang="en-US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400" b="0" i="0" dirty="0" smtClean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en-US" altLang="zh-CN" sz="2400" b="0" i="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Stationary</m:t>
                      </m:r>
                      <m:r>
                        <m:rPr>
                          <m:nor/>
                        </m:rPr>
                        <a:rPr lang="en-US" altLang="zh-CN" sz="2400" b="0" i="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400" b="0" i="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Schrodinger</m:t>
                      </m:r>
                      <m:r>
                        <a:rPr lang="en-US" altLang="zh-CN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Equation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400" b="0" dirty="0">
                  <a:solidFill>
                    <a:srgbClr val="C0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3. Once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is given, we can solve the stationary Schrodinger EQ and find the possible values of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 which is the energy levels of the system.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For a particle in 3D: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   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	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400" b="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altLang="zh-C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When he used Coulomb potential for</a:t>
                </a:r>
                <a:r>
                  <a:rPr lang="en-US" altLang="zh-CN" sz="2400" b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𝑉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the solution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𝐸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 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=1,2,⋯</m:t>
                    </m:r>
                  </m:oMath>
                </a14:m>
                <a:r>
                  <a:rPr lang="en-US" altLang="zh-C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gives exactly the Bohr’s energy level.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7BEDB9-AF45-4F15-99ED-EAFA1C5568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0653" y="549114"/>
                <a:ext cx="11522927" cy="6246627"/>
              </a:xfrm>
              <a:blipFill>
                <a:blip r:embed="rId3"/>
                <a:stretch>
                  <a:fillRect l="-212" t="-585" b="-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57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7A3AAD-4E44-4E42-AE5F-BC69F336804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does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𝝍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really mean?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7A3AAD-4E44-4E42-AE5F-BC69F33680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2766" b="-37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75B81-5B28-4FE4-8ECF-631C0EE97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428" y="1354586"/>
            <a:ext cx="5362378" cy="207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Erwin with his psi can do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Calculations quite a few.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But one thing has not been seen: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Just what does psi really mean</a:t>
            </a:r>
            <a:endParaRPr lang="en-US" altLang="zh-CN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7E43D8-7409-4868-92C0-651D2A46097F}"/>
                  </a:ext>
                </a:extLst>
              </p:cNvPr>
              <p:cNvSpPr/>
              <p:nvPr/>
            </p:nvSpPr>
            <p:spPr>
              <a:xfrm>
                <a:off x="813088" y="3739530"/>
                <a:ext cx="10391434" cy="16961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Born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probability density of the particle at position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time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called  probability density amplitude.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7E43D8-7409-4868-92C0-651D2A4609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88" y="3739530"/>
                <a:ext cx="10391434" cy="1696105"/>
              </a:xfrm>
              <a:prstGeom prst="rect">
                <a:avLst/>
              </a:prstGeom>
              <a:blipFill>
                <a:blip r:embed="rId3"/>
                <a:stretch>
                  <a:fillRect l="-880" b="-6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675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BF04-9EB5-4C98-9278-4BC53BF8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competition of two mechanics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D5E05-F1ED-48F9-A453-737AA358F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Matrix mechanics is abstract and difficult to use.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Wave mechanics is relatively intuitive and easier to use.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Schrodinger later proved that these two theories are mathematically equivalent.</a:t>
            </a:r>
          </a:p>
          <a:p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Heisenberg disliked wave mechanics. He considered the fact that wave function is a function of position as a violation of his fundamental belief that the trajectory of a particle should be abandoned at all.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As more and more people were turning to wave mechanics,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Heisenberg fought back with a new enormous weapon: the uncertainty principle</a:t>
            </a:r>
          </a:p>
        </p:txBody>
      </p:sp>
    </p:spTree>
    <p:extLst>
      <p:ext uri="{BB962C8B-B14F-4D97-AF65-F5344CB8AC3E}">
        <p14:creationId xmlns:p14="http://schemas.microsoft.com/office/powerpoint/2010/main" val="308299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25578"/>
            <a:ext cx="10972800" cy="512472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Heisenberg’s Uncertainty principle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40017" y="6300028"/>
            <a:ext cx="445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*参考：赵凯华 </a:t>
            </a:r>
            <a:r>
              <a:rPr lang="en-US" altLang="zh-CN" dirty="0"/>
              <a:t>– 2004 – 《</a:t>
            </a:r>
            <a:r>
              <a:rPr lang="zh-CN" altLang="en-US" dirty="0"/>
              <a:t>光学</a:t>
            </a:r>
            <a:r>
              <a:rPr lang="en-US" altLang="zh-CN" dirty="0"/>
              <a:t>》</a:t>
            </a:r>
            <a:r>
              <a:rPr lang="zh-CN" altLang="en-US" dirty="0"/>
              <a:t>，</a:t>
            </a:r>
            <a:r>
              <a:rPr lang="en-US" altLang="zh-CN" dirty="0"/>
              <a:t>4.4</a:t>
            </a:r>
            <a:r>
              <a:rPr lang="zh-CN" altLang="en-US" dirty="0"/>
              <a:t>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908685" y="1637226"/>
                <a:ext cx="5985138" cy="984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Cambria Math"/>
                  </a:rPr>
                  <a:t>The resolution of an microscope (Rayleigh criterion)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/>
                        </a:rPr>
                        <m:t>∆</m:t>
                      </m:r>
                      <m:r>
                        <a:rPr lang="en-US" altLang="zh-CN" sz="2000" i="1">
                          <a:latin typeface="Cambria Math"/>
                        </a:rPr>
                        <m:t>𝑥</m:t>
                      </m:r>
                      <m:r>
                        <a:rPr lang="en-US" altLang="zh-CN" sz="2000" i="1">
                          <a:latin typeface="Cambria Math"/>
                          <a:ea typeface="Cambria Math"/>
                        </a:rPr>
                        <m:t>≥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/>
                              <a:ea typeface="Cambria Math"/>
                            </a:rPr>
                            <m:t>0.61</m:t>
                          </m:r>
                          <m:r>
                            <a:rPr lang="en-US" altLang="zh-CN" sz="2000" i="1">
                              <a:latin typeface="Cambria Math"/>
                              <a:ea typeface="Cambria Math"/>
                            </a:rPr>
                            <m:t>𝜆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/>
                                  <a:ea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i="1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e>
                          </m:func>
                        </m:den>
                      </m:f>
                      <m:r>
                        <a:rPr lang="en-US" altLang="zh-CN" sz="2000" i="1">
                          <a:latin typeface="Cambria Math"/>
                          <a:ea typeface="Cambria Math"/>
                        </a:rPr>
                        <m:t>≈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/>
                              <a:ea typeface="Cambria Math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/>
                              <a:ea typeface="Cambria Math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/>
                                  <a:ea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000" i="1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685" y="1637226"/>
                <a:ext cx="5985138" cy="984629"/>
              </a:xfrm>
              <a:prstGeom prst="rect">
                <a:avLst/>
              </a:prstGeom>
              <a:blipFill>
                <a:blip r:embed="rId3"/>
                <a:stretch>
                  <a:fillRect l="-1018" t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908684" y="2741325"/>
                <a:ext cx="6392038" cy="159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Cambria Math"/>
                  </a:rPr>
                  <a:t>Since it is impossible to know which route the scattered photon took to enter the lens. The recoil momentum of the electron is uncertain,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i="1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US" altLang="zh-CN" sz="2000" i="1">
                          <a:latin typeface="Cambria Math"/>
                          <a:ea typeface="Cambria Math"/>
                        </a:rPr>
                        <m:t>≈2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/>
                              <a:ea typeface="Cambria Math"/>
                            </a:rPr>
                            <m:t>h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/>
                              <a:ea typeface="Cambria Math"/>
                            </a:rPr>
                            <m:t>𝜆</m:t>
                          </m:r>
                        </m:den>
                      </m:f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/>
                              <a:ea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000" i="1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684" y="2741325"/>
                <a:ext cx="6392038" cy="1599990"/>
              </a:xfrm>
              <a:prstGeom prst="rect">
                <a:avLst/>
              </a:prstGeom>
              <a:blipFill>
                <a:blip r:embed="rId4"/>
                <a:stretch>
                  <a:fillRect l="-953" t="-2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BFEAAE8-9FF1-4D51-AE63-0240EDB6413C}"/>
              </a:ext>
            </a:extLst>
          </p:cNvPr>
          <p:cNvGrpSpPr/>
          <p:nvPr/>
        </p:nvGrpSpPr>
        <p:grpSpPr>
          <a:xfrm>
            <a:off x="487722" y="1697391"/>
            <a:ext cx="4041895" cy="3286531"/>
            <a:chOff x="2258284" y="1114129"/>
            <a:chExt cx="3981733" cy="3971056"/>
          </a:xfrm>
        </p:grpSpPr>
        <p:sp>
          <p:nvSpPr>
            <p:cNvPr id="4" name="Rectangle 3"/>
            <p:cNvSpPr/>
            <p:nvPr/>
          </p:nvSpPr>
          <p:spPr>
            <a:xfrm>
              <a:off x="3718010" y="1114129"/>
              <a:ext cx="1224136" cy="165618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2258284" y="3634409"/>
              <a:ext cx="3981733" cy="290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4258070" y="3490393"/>
              <a:ext cx="144016" cy="144016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Straight Connector 10"/>
            <p:cNvCxnSpPr>
              <a:stCxn id="7" idx="1"/>
            </p:cNvCxnSpPr>
            <p:nvPr/>
          </p:nvCxnSpPr>
          <p:spPr>
            <a:xfrm flipH="1" flipV="1">
              <a:off x="3718011" y="2770314"/>
              <a:ext cx="561151" cy="741171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7" idx="7"/>
            </p:cNvCxnSpPr>
            <p:nvPr/>
          </p:nvCxnSpPr>
          <p:spPr>
            <a:xfrm flipV="1">
              <a:off x="4380996" y="2770314"/>
              <a:ext cx="561151" cy="741171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c 17"/>
            <p:cNvSpPr/>
            <p:nvPr/>
          </p:nvSpPr>
          <p:spPr>
            <a:xfrm rot="21288138">
              <a:off x="4223558" y="3277457"/>
              <a:ext cx="242736" cy="276748"/>
            </a:xfrm>
            <a:prstGeom prst="arc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265824" y="2880450"/>
                  <a:ext cx="447237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/>
                          </a:rPr>
                          <m:t>𝛼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5824" y="2880450"/>
                  <a:ext cx="447237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6349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/>
            <p:cNvCxnSpPr/>
            <p:nvPr/>
          </p:nvCxnSpPr>
          <p:spPr>
            <a:xfrm flipV="1">
              <a:off x="3851481" y="3770337"/>
              <a:ext cx="0" cy="129837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4102864" y="3786810"/>
              <a:ext cx="0" cy="129837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4339747" y="3770336"/>
              <a:ext cx="0" cy="129837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4859593" y="3770335"/>
              <a:ext cx="0" cy="129837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4607564" y="3786810"/>
              <a:ext cx="0" cy="129837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5790129" y="3611594"/>
                  <a:ext cx="42639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0129" y="3611594"/>
                  <a:ext cx="426399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80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30"/>
            <p:cNvCxnSpPr>
              <a:endCxn id="4" idx="2"/>
            </p:cNvCxnSpPr>
            <p:nvPr/>
          </p:nvCxnSpPr>
          <p:spPr>
            <a:xfrm flipV="1">
              <a:off x="4330078" y="2770314"/>
              <a:ext cx="0" cy="79208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4949441" y="3948046"/>
                  <a:ext cx="41755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𝜆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9441" y="3948046"/>
                  <a:ext cx="417550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58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7200921" y="4547687"/>
                <a:ext cx="140066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∆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/>
                        </a:rPr>
                        <m:t>𝑥</m:t>
                      </m:r>
                      <m:r>
                        <a:rPr lang="zh-CN" altLang="en-US" sz="2000" i="1">
                          <a:solidFill>
                            <a:srgbClr val="C00000"/>
                          </a:solidFill>
                          <a:latin typeface="Cambria Math"/>
                        </a:rPr>
                        <m:t>∆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/>
                          <a:ea typeface="Cambria Math"/>
                        </a:rPr>
                        <m:t>h</m:t>
                      </m:r>
                    </m:oMath>
                  </m:oMathPara>
                </a14:m>
                <a:endParaRPr lang="zh-CN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921" y="4547687"/>
                <a:ext cx="1400665" cy="400110"/>
              </a:xfrm>
              <a:prstGeom prst="rect">
                <a:avLst/>
              </a:prstGeom>
              <a:blipFill>
                <a:blip r:embed="rId8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802291" y="5079773"/>
            <a:ext cx="10197126" cy="114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light of smaller wavelength decreases the uncertainty of x, but increases the uncertainty of p. Since it’s impossible to simultaneously determine a particle’s position and momentum, Heisenberg believed we cannot assume that a particle has a precise position and momentum at any time.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FAC61-B130-4064-9567-591F1E891C43}"/>
              </a:ext>
            </a:extLst>
          </p:cNvPr>
          <p:cNvSpPr txBox="1"/>
          <p:nvPr/>
        </p:nvSpPr>
        <p:spPr>
          <a:xfrm>
            <a:off x="802291" y="704118"/>
            <a:ext cx="10435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Einstein: Aren’t we seeing the trajectories of electron in the cloud chamber?</a:t>
            </a:r>
          </a:p>
          <a:p>
            <a:r>
              <a:rPr lang="en-US" altLang="zh-CN" sz="2000" dirty="0"/>
              <a:t>To answer this question, Heisenberg proposed the following gedanken (thought) experiment</a:t>
            </a:r>
            <a:r>
              <a:rPr lang="zh-CN" alt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9414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496" y="372693"/>
            <a:ext cx="11288111" cy="561662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turns out that the viewpoints of Heisenberg and Schrodinger captured  two central concepts of quantum mechanics: observable and quantum state (wave function), which respectively correspond to operator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算符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vector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linear algebra.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quick review of liner algebra check out the following videos by 3B1B </a:t>
            </a:r>
            <a:r>
              <a:rPr lang="en-US" altLang="zh-CN" sz="1600" dirty="0">
                <a:hlinkClick r:id="rId3"/>
              </a:rPr>
              <a:t>【</a:t>
            </a:r>
            <a:r>
              <a:rPr lang="zh-CN" altLang="en-US" sz="1600" dirty="0">
                <a:hlinkClick r:id="rId3"/>
              </a:rPr>
              <a:t>官方双语</a:t>
            </a:r>
            <a:r>
              <a:rPr lang="en-US" altLang="zh-CN" sz="1600" dirty="0">
                <a:hlinkClick r:id="rId3"/>
              </a:rPr>
              <a:t>/</a:t>
            </a:r>
            <a:r>
              <a:rPr lang="zh-CN" altLang="en-US" sz="1600" dirty="0">
                <a:hlinkClick r:id="rId3"/>
              </a:rPr>
              <a:t>合集</a:t>
            </a:r>
            <a:r>
              <a:rPr lang="en-US" altLang="zh-CN" sz="1600" dirty="0">
                <a:hlinkClick r:id="rId3"/>
              </a:rPr>
              <a:t>】</a:t>
            </a:r>
            <a:r>
              <a:rPr lang="zh-CN" altLang="en-US" sz="1600" dirty="0">
                <a:hlinkClick r:id="rId3"/>
              </a:rPr>
              <a:t>线性代数的本质 </a:t>
            </a:r>
            <a:r>
              <a:rPr lang="en-US" altLang="zh-CN" sz="1600" dirty="0">
                <a:hlinkClick r:id="rId3"/>
              </a:rPr>
              <a:t>- </a:t>
            </a:r>
            <a:r>
              <a:rPr lang="zh-CN" altLang="en-US" sz="1600" dirty="0">
                <a:hlinkClick r:id="rId3"/>
              </a:rPr>
              <a:t>系列合集</a:t>
            </a:r>
            <a:r>
              <a:rPr lang="en-US" altLang="zh-CN" sz="1600" dirty="0">
                <a:hlinkClick r:id="rId3"/>
              </a:rPr>
              <a:t>-3Blue1Brown-</a:t>
            </a:r>
            <a:r>
              <a:rPr lang="zh-CN" altLang="en-US" sz="1600" dirty="0">
                <a:hlinkClick r:id="rId3"/>
              </a:rPr>
              <a:t>线性代数</a:t>
            </a:r>
            <a:r>
              <a:rPr lang="en-US" altLang="zh-CN" sz="1600" dirty="0">
                <a:hlinkClick r:id="rId3"/>
              </a:rPr>
              <a:t>-</a:t>
            </a:r>
            <a:r>
              <a:rPr lang="zh-CN" altLang="en-US" sz="1600" dirty="0">
                <a:hlinkClick r:id="rId3"/>
              </a:rPr>
              <a:t>哔哩哔哩视频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establishment of quantum mechanics (QM)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the time span of only one year, a burst of breakthroughs by Heisenberg, Born, Jordan, Schrodinger, and Dirac laid the foundation of quantum mechanics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Revolutionized how we perceive the world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QM born out of atomic physics, became the overarching principle of modern physics</a:t>
            </a:r>
          </a:p>
        </p:txBody>
      </p:sp>
    </p:spTree>
    <p:extLst>
      <p:ext uri="{BB962C8B-B14F-4D97-AF65-F5344CB8AC3E}">
        <p14:creationId xmlns:p14="http://schemas.microsoft.com/office/powerpoint/2010/main" val="518776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42869" y="6262648"/>
            <a:ext cx="7731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http://faculty.wcas.northwestern.edu/~infocom/Ideas/quantum_timeline.html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F97EC1-ADB2-43F7-B740-FFA6F97A9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74" y="396161"/>
            <a:ext cx="11668041" cy="578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5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5</a:t>
            </a:r>
            <a:r>
              <a:rPr lang="en-US" altLang="zh-CN" baseline="30000" dirty="0"/>
              <a:t>th</a:t>
            </a:r>
            <a:r>
              <a:rPr lang="en-US" altLang="zh-CN" dirty="0"/>
              <a:t> Solvay Conference 1927: electron and photon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054" y="836717"/>
            <a:ext cx="8028055" cy="5807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5199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原子物理学和量子力学的诞生&amp;quot;&quot;/&gt;&lt;property id=&quot;20307&quot; value=&quot;256&quot;/&gt;&lt;/object&gt;&lt;object type=&quot;3&quot; unique_id=&quot;10013&quot;&gt;&lt;property id=&quot;20148&quot; value=&quot;5&quot;/&gt;&lt;property id=&quot;20300&quot; value=&quot;Slide 9 - &amp;quot;几个重要的物理量&amp;quot;&quot;/&gt;&lt;property id=&quot;20307&quot; value=&quot;262&quot;/&gt;&lt;/object&gt;&lt;object type=&quot;3&quot; unique_id=&quot;10058&quot;&gt;&lt;property id=&quot;20148&quot; value=&quot;5&quot;/&gt;&lt;property id=&quot;20300&quot; value=&quot;Slide 2 - &amp;quot;第一届索尔维物理会议&amp;quot;&quot;/&gt;&lt;property id=&quot;20307&quot; value=&quot;265&quot;/&gt;&lt;/object&gt;&lt;object type=&quot;3&quot; unique_id=&quot;10072&quot;&gt;&lt;property id=&quot;20148&quot; value=&quot;5&quot;/&gt;&lt;property id=&quot;20300&quot; value=&quot;Slide 3 - &amp;quot;The 1st Solvay Conference 1911&amp;quot;&quot;/&gt;&lt;property id=&quot;20307&quot; value=&quot;267&quot;/&gt;&lt;/object&gt;&lt;object type=&quot;3&quot; unique_id=&quot;10112&quot;&gt;&lt;property id=&quot;20148&quot; value=&quot;5&quot;/&gt;&lt;property id=&quot;20300&quot; value=&quot;Slide 4 - &amp;quot;氢原子光谱&amp;quot;&quot;/&gt;&lt;property id=&quot;20307&quot; value=&quot;273&quot;/&gt;&lt;/object&gt;&lt;object type=&quot;3&quot; unique_id=&quot;10113&quot;&gt;&lt;property id=&quot;20148&quot; value=&quot;5&quot;/&gt;&lt;property id=&quot;20300&quot; value=&quot;Slide 5 - &amp;quot;氢原子光谱&amp;quot;&quot;/&gt;&lt;property id=&quot;20307&quot; value=&quot;274&quot;/&gt;&lt;/object&gt;&lt;object type=&quot;3&quot; unique_id=&quot;10116&quot;&gt;&lt;property id=&quot;20148&quot; value=&quot;5&quot;/&gt;&lt;property id=&quot;20300&quot; value=&quot;Slide 31 - &amp;quot;第五届索尔维会议（1927）&amp;quot;&quot;/&gt;&lt;property id=&quot;20307&quot; value=&quot;270&quot;/&gt;&lt;/object&gt;&lt;object type=&quot;3&quot; unique_id=&quot;10117&quot;&gt;&lt;property id=&quot;20148&quot; value=&quot;5&quot;/&gt;&lt;property id=&quot;20300&quot; value=&quot;Slide 32 - &amp;quot;The 5th Solvay Conference 1927&amp;quot;&quot;/&gt;&lt;property id=&quot;20307&quot; value=&quot;269&quot;/&gt;&lt;/object&gt;&lt;object type=&quot;3&quot; unique_id=&quot;10279&quot;&gt;&lt;property id=&quot;20148&quot; value=&quot;5&quot;/&gt;&lt;property id=&quot;20300&quot; value=&quot;Slide 8 - &amp;quot;里德堡常数的修正&amp;quot;&quot;/&gt;&lt;property id=&quot;20307&quot; value=&quot;276&quot;/&gt;&lt;/object&gt;&lt;object type=&quot;3&quot; unique_id=&quot;10350&quot;&gt;&lt;property id=&quot;20148&quot; value=&quot;5&quot;/&gt;&lt;property id=&quot;20300&quot; value=&quot;Slide 13 - &amp;quot;进一步验证：类氢离子光谱&amp;quot;&quot;/&gt;&lt;property id=&quot;20307&quot; value=&quot;278&quot;/&gt;&lt;/object&gt;&lt;object type=&quot;3&quot; unique_id=&quot;10351&quot;&gt;&lt;property id=&quot;20148&quot; value=&quot;5&quot;/&gt;&lt;property id=&quot;20300&quot; value=&quot;Slide 14 - &amp;quot;类氢离子的物理常数&amp;quot;&quot;/&gt;&lt;property id=&quot;20307&quot; value=&quot;279&quot;/&gt;&lt;/object&gt;&lt;object type=&quot;3&quot; unique_id=&quot;10352&quot;&gt;&lt;property id=&quot;20148&quot; value=&quot;5&quot;/&gt;&lt;property id=&quot;20300&quot; value=&quot;Slide 16 - &amp;quot;原子能级在碰撞过程的体现&amp;quot;&quot;/&gt;&lt;property id=&quot;20307&quot; value=&quot;277&quot;/&gt;&lt;/object&gt;&lt;object type=&quot;3&quot; unique_id=&quot;10438&quot;&gt;&lt;property id=&quot;20148&quot; value=&quot;5&quot;/&gt;&lt;property id=&quot;20300&quot; value=&quot;Slide 12 - &amp;quot;精细结构常数:  𝛼=  𝑒 2  ℏ𝑐 &amp;quot;&quot;/&gt;&lt;property id=&quot;20307&quot; value=&quot;280&quot;/&gt;&lt;/object&gt;&lt;object type=&quot;3&quot; unique_id=&quot;10923&quot;&gt;&lt;property id=&quot;20148&quot; value=&quot;5&quot;/&gt;&lt;property id=&quot;20300&quot; value=&quot;Slide 23 - &amp;quot;Stern-Gerlach 实验（1922）&amp;quot;&quot;/&gt;&lt;property id=&quot;20307&quot; value=&quot;283&quot;/&gt;&lt;/object&gt;&lt;object type=&quot;3&quot; unique_id=&quot;11076&quot;&gt;&lt;property id=&quot;20148&quot; value=&quot;5&quot;/&gt;&lt;property id=&quot;20300&quot; value=&quot;Slide 21 - &amp;quot;Bohr – Sommerfeld 的旧量子论&amp;quot;&quot;/&gt;&lt;property id=&quot;20307&quot; value=&quot;286&quot;/&gt;&lt;/object&gt;&lt;object type=&quot;3&quot; unique_id=&quot;11101&quot;&gt;&lt;property id=&quot;20148&quot; value=&quot;5&quot;/&gt;&lt;property id=&quot;20300&quot; value=&quot;Slide 18 - &amp;quot;塞曼效应（1896）&amp;quot;&quot;/&gt;&lt;property id=&quot;20307&quot; value=&quot;288&quot;/&gt;&lt;/object&gt;&lt;object type=&quot;3&quot; unique_id=&quot;11102&quot;&gt;&lt;property id=&quot;20148&quot; value=&quot;5&quot;/&gt;&lt;property id=&quot;20300&quot; value=&quot;Slide 26 - &amp;quot;泡利不相容原理和电子自旋（1925）&amp;quot;&quot;/&gt;&lt;property id=&quot;20307&quot; value=&quot;287&quot;/&gt;&lt;/object&gt;&lt;object type=&quot;3&quot; unique_id=&quot;11103&quot;&gt;&lt;property id=&quot;20148&quot; value=&quot;5&quot;/&gt;&lt;property id=&quot;20300&quot; value=&quot;Slide 30 - &amp;quot;量子力学&amp;quot;&quot;/&gt;&lt;property id=&quot;20307&quot; value=&quot;289&quot;/&gt;&lt;/object&gt;&lt;object type=&quot;3&quot; unique_id=&quot;11204&quot;&gt;&lt;property id=&quot;20148&quot; value=&quot;5&quot;/&gt;&lt;property id=&quot;20300&quot; value=&quot;Slide 17 - &amp;quot;改进后的Frank-Hertz实验(1920)&amp;quot;&quot;/&gt;&lt;property id=&quot;20307&quot; value=&quot;290&quot;/&gt;&lt;/object&gt;&lt;object type=&quot;3&quot; unique_id=&quot;11231&quot;&gt;&lt;property id=&quot;20148&quot; value=&quot;5&quot;/&gt;&lt;property id=&quot;20300&quot; value=&quot;Slide 24 - &amp;quot;幸运雪茄&amp;quot;&quot;/&gt;&lt;property id=&quot;20307&quot; value=&quot;291&quot;/&gt;&lt;/object&gt;&lt;object type=&quot;3&quot; unique_id=&quot;11260&quot;&gt;&lt;property id=&quot;20148&quot; value=&quot;5&quot;/&gt;&lt;property id=&quot;20300&quot; value=&quot;Slide 27 - &amp;quot;de Broglie物质波(1923)&amp;quot;&quot;/&gt;&lt;property id=&quot;20307&quot; value=&quot;294&quot;/&gt;&lt;/object&gt;&lt;object type=&quot;3&quot; unique_id=&quot;11261&quot;&gt;&lt;property id=&quot;20148&quot; value=&quot;5&quot;/&gt;&lt;property id=&quot;20300&quot; value=&quot;Slide 28 - &amp;quot;电子晶体衍射&amp;quot;&quot;/&gt;&lt;property id=&quot;20307&quot; value=&quot;295&quot;/&gt;&lt;/object&gt;&lt;object type=&quot;3&quot; unique_id=&quot;11262&quot;&gt;&lt;property id=&quot;20148&quot; value=&quot;5&quot;/&gt;&lt;property id=&quot;20300&quot; value=&quot;Slide 33&quot;/&gt;&lt;property id=&quot;20307&quot; value=&quot;292&quot;/&gt;&lt;/object&gt;&lt;object type=&quot;3&quot; unique_id=&quot;11437&quot;&gt;&lt;property id=&quot;20148&quot; value=&quot;5&quot;/&gt;&lt;property id=&quot;20300&quot; value=&quot;Slide 22 - &amp;quot;正常塞曼效应的Bohr理论解释&amp;quot;&quot;/&gt;&lt;property id=&quot;20307&quot; value=&quot;296&quot;/&gt;&lt;/object&gt;&lt;object type=&quot;3&quot; unique_id=&quot;11468&quot;&gt;&lt;property id=&quot;20148&quot; value=&quot;5&quot;/&gt;&lt;property id=&quot;20300&quot; value=&quot;Slide 34 - &amp;quot;作业&amp;quot;&quot;/&gt;&lt;property id=&quot;20307&quot; value=&quot;299&quot;/&gt;&lt;/object&gt;&lt;object type=&quot;3&quot; unique_id=&quot;12182&quot;&gt;&lt;property id=&quot;20148&quot; value=&quot;5&quot;/&gt;&lt;property id=&quot;20300&quot; value=&quot;Slide 11 - &amp;quot;精细结构常数  𝛼=  𝑒 2  ℏ𝑐 &amp;quot;&quot;/&gt;&lt;property id=&quot;20307&quot; value=&quot;300&quot;/&gt;&lt;/object&gt;&lt;object type=&quot;3&quot; unique_id=&quot;12183&quot;&gt;&lt;property id=&quot;20148&quot; value=&quot;5&quot;/&gt;&lt;property id=&quot;20300&quot; value=&quot;Slide 19 - &amp;quot;塞曼效应的经典解释&amp;quot;&quot;/&gt;&lt;property id=&quot;20307&quot; value=&quot;301&quot;/&gt;&lt;/object&gt;&lt;object type=&quot;3&quot; unique_id=&quot;12280&quot;&gt;&lt;property id=&quot;20148&quot; value=&quot;5&quot;/&gt;&lt;property id=&quot;20300&quot; value=&quot;Slide 10 - &amp;quot;备注&amp;quot;&quot;/&gt;&lt;property id=&quot;20307&quot; value=&quot;302&quot;/&gt;&lt;/object&gt;&lt;object type=&quot;3&quot; unique_id=&quot;12281&quot;&gt;&lt;property id=&quot;20148&quot; value=&quot;5&quot;/&gt;&lt;property id=&quot;20300&quot; value=&quot;Slide 7 - &amp;quot;玻尔模型和氢原子光谱&amp;quot;&quot;/&gt;&lt;property id=&quot;20307&quot; value=&quot;303&quot;/&gt;&lt;/object&gt;&lt;object type=&quot;3&quot; unique_id=&quot;12543&quot;&gt;&lt;property id=&quot;20148&quot; value=&quot;5&quot;/&gt;&lt;property id=&quot;20300&quot; value=&quot;Slide 6 - &amp;quot;Bohr模型（1913）&amp;quot;&quot;/&gt;&lt;property id=&quot;20307&quot; value=&quot;304&quot;/&gt;&lt;/object&gt;&lt;object type=&quot;3&quot; unique_id=&quot;12577&quot;&gt;&lt;property id=&quot;20148&quot; value=&quot;5&quot;/&gt;&lt;property id=&quot;20300&quot; value=&quot;Slide 15 - &amp;quot;透射（吸收）谱和荧光谱&amp;quot;&quot;/&gt;&lt;property id=&quot;20307&quot; value=&quot;305&quot;/&gt;&lt;/object&gt;&lt;object type=&quot;3&quot; unique_id=&quot;12578&quot;&gt;&lt;property id=&quot;20148&quot; value=&quot;5&quot;/&gt;&lt;property id=&quot;20300&quot; value=&quot;Slide 20 - &amp;quot;反常(anormlous)塞曼效应&amp;quot;&quot;/&gt;&lt;property id=&quot;20307&quot; value=&quot;306&quot;/&gt;&lt;/object&gt;&lt;object type=&quot;3&quot; unique_id=&quot;12579&quot;&gt;&lt;property id=&quot;20148&quot; value=&quot;5&quot;/&gt;&lt;property id=&quot;20300&quot; value=&quot;Slide 29&quot;/&gt;&lt;property id=&quot;20307&quot; value=&quot;307&quot;/&gt;&lt;/object&gt;&lt;object type=&quot;3&quot; unique_id=&quot;13072&quot;&gt;&lt;property id=&quot;20148&quot; value=&quot;5&quot;/&gt;&lt;property id=&quot;20300&quot; value=&quot;Slide 25 - &amp;quot;Stern-Gerlach 实验的解释&amp;quot;&quot;/&gt;&lt;property id=&quot;20307&quot; value=&quot;308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FF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10055</TotalTime>
  <Words>1837</Words>
  <Application>Microsoft Office PowerPoint</Application>
  <PresentationFormat>Widescreen</PresentationFormat>
  <Paragraphs>116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Times New Roman</vt:lpstr>
      <vt:lpstr>Office Theme</vt:lpstr>
      <vt:lpstr>The birth of quantum mechanics</vt:lpstr>
      <vt:lpstr>*Heisenberg’s magic (1925.7.29)</vt:lpstr>
      <vt:lpstr>PowerPoint Presentation</vt:lpstr>
      <vt:lpstr>Matrix mechanics</vt:lpstr>
      <vt:lpstr>*Schrodinger's wave mechanics</vt:lpstr>
      <vt:lpstr>What does ψ(x,t) really mean?</vt:lpstr>
      <vt:lpstr>The competition of two mechanics</vt:lpstr>
      <vt:lpstr>Heisenberg’s Uncertainty principle</vt:lpstr>
      <vt:lpstr>PowerPoint Presentation</vt:lpstr>
      <vt:lpstr>PowerPoint Presentation</vt:lpstr>
      <vt:lpstr>The 5th Solvay Conference 1927: electron and photon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</dc:creator>
  <cp:lastModifiedBy>kevin zhao</cp:lastModifiedBy>
  <cp:revision>666</cp:revision>
  <cp:lastPrinted>2025-03-19T01:37:27Z</cp:lastPrinted>
  <dcterms:created xsi:type="dcterms:W3CDTF">2013-05-26T05:06:15Z</dcterms:created>
  <dcterms:modified xsi:type="dcterms:W3CDTF">2025-07-13T09:34:23Z</dcterms:modified>
</cp:coreProperties>
</file>