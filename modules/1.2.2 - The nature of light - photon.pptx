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8"/>
  </p:notesMasterIdLst>
  <p:sldIdLst>
    <p:sldId id="303" r:id="rId2"/>
    <p:sldId id="343" r:id="rId3"/>
    <p:sldId id="363" r:id="rId4"/>
    <p:sldId id="360" r:id="rId5"/>
    <p:sldId id="301" r:id="rId6"/>
    <p:sldId id="304" r:id="rId7"/>
    <p:sldId id="306" r:id="rId8"/>
    <p:sldId id="305" r:id="rId9"/>
    <p:sldId id="308" r:id="rId10"/>
    <p:sldId id="317" r:id="rId11"/>
    <p:sldId id="309" r:id="rId12"/>
    <p:sldId id="362" r:id="rId13"/>
    <p:sldId id="310" r:id="rId14"/>
    <p:sldId id="311" r:id="rId15"/>
    <p:sldId id="361" r:id="rId16"/>
    <p:sldId id="314" r:id="rId17"/>
  </p:sldIdLst>
  <p:sldSz cx="12192000" cy="6858000"/>
  <p:notesSz cx="7104063" cy="10234613"/>
  <p:custDataLst>
    <p:tags r:id="rId19"/>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光量子的诞生" id="{FD9C7F90-3621-4535-9888-4E96E33AD197}">
          <p14:sldIdLst>
            <p14:sldId id="303"/>
            <p14:sldId id="343"/>
            <p14:sldId id="363"/>
            <p14:sldId id="360"/>
            <p14:sldId id="301"/>
            <p14:sldId id="304"/>
            <p14:sldId id="306"/>
            <p14:sldId id="305"/>
            <p14:sldId id="308"/>
            <p14:sldId id="317"/>
            <p14:sldId id="309"/>
            <p14:sldId id="362"/>
            <p14:sldId id="310"/>
            <p14:sldId id="311"/>
            <p14:sldId id="361"/>
            <p14:sldId id="31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EFE"/>
    <a:srgbClr val="15C597"/>
    <a:srgbClr val="0EE4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99" autoAdjust="0"/>
    <p:restoredTop sz="66765" autoAdjust="0"/>
  </p:normalViewPr>
  <p:slideViewPr>
    <p:cSldViewPr snapToGrid="0">
      <p:cViewPr varScale="1">
        <p:scale>
          <a:sx n="79" d="100"/>
          <a:sy n="79" d="100"/>
        </p:scale>
        <p:origin x="1589" y="72"/>
      </p:cViewPr>
      <p:guideLst>
        <p:guide orient="horz" pos="2160"/>
        <p:guide pos="3840"/>
      </p:guideLst>
    </p:cSldViewPr>
  </p:slideViewPr>
  <p:notesTextViewPr>
    <p:cViewPr>
      <p:scale>
        <a:sx n="1" d="1"/>
        <a:sy n="1" d="1"/>
      </p:scale>
      <p:origin x="0" y="0"/>
    </p:cViewPr>
  </p:notesTextViewPr>
  <p:notesViewPr>
    <p:cSldViewPr snapToGrid="0">
      <p:cViewPr varScale="1">
        <p:scale>
          <a:sx n="75" d="100"/>
          <a:sy n="75" d="100"/>
        </p:scale>
        <p:origin x="-2914" y="-8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C06387D0-1216-4FA3-AF01-EA63AC44C2D4}" type="datetimeFigureOut">
              <a:rPr lang="en-US" smtClean="0"/>
              <a:t>9/20/2026</a:t>
            </a:fld>
            <a:endParaRPr lang="en-US"/>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C08A642B-1D08-47C1-9385-1FDD33F8CE06}" type="slidenum">
              <a:rPr lang="en-US" smtClean="0"/>
              <a:t>‹#›</a:t>
            </a:fld>
            <a:endParaRPr lang="en-US"/>
          </a:p>
        </p:txBody>
      </p:sp>
    </p:spTree>
    <p:extLst>
      <p:ext uri="{BB962C8B-B14F-4D97-AF65-F5344CB8AC3E}">
        <p14:creationId xmlns:p14="http://schemas.microsoft.com/office/powerpoint/2010/main" val="3212350310"/>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000000"/>
                </a:solidFill>
                <a:effectLst/>
                <a:latin typeface="Helvetica" panose="020B0604020202020204" pitchFamily="34" charset="0"/>
              </a:rPr>
              <a:t>Amigram</a:t>
            </a:r>
            <a:r>
              <a:rPr lang="en-US" b="0" i="0" dirty="0">
                <a:solidFill>
                  <a:srgbClr val="000000"/>
                </a:solidFill>
                <a:effectLst/>
                <a:latin typeface="Helvetica" panose="020B0604020202020204" pitchFamily="34" charset="0"/>
              </a:rPr>
              <a:t> by Douglas Hofstadter</a:t>
            </a:r>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1</a:t>
            </a:fld>
            <a:endParaRPr lang="en-US"/>
          </a:p>
        </p:txBody>
      </p:sp>
    </p:spTree>
    <p:extLst>
      <p:ext uri="{BB962C8B-B14F-4D97-AF65-F5344CB8AC3E}">
        <p14:creationId xmlns:p14="http://schemas.microsoft.com/office/powerpoint/2010/main" val="2464143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2</a:t>
            </a:fld>
            <a:endParaRPr lang="en-US"/>
          </a:p>
        </p:txBody>
      </p:sp>
    </p:spTree>
    <p:extLst>
      <p:ext uri="{BB962C8B-B14F-4D97-AF65-F5344CB8AC3E}">
        <p14:creationId xmlns:p14="http://schemas.microsoft.com/office/powerpoint/2010/main" val="2906292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3</a:t>
            </a:fld>
            <a:endParaRPr lang="en-US"/>
          </a:p>
        </p:txBody>
      </p:sp>
    </p:spTree>
    <p:extLst>
      <p:ext uri="{BB962C8B-B14F-4D97-AF65-F5344CB8AC3E}">
        <p14:creationId xmlns:p14="http://schemas.microsoft.com/office/powerpoint/2010/main" val="2454574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300" dirty="0"/>
          </a:p>
          <a:p>
            <a:r>
              <a:rPr lang="en-US" altLang="zh-CN" sz="1300" dirty="0"/>
              <a:t>Einstein's miraculous year: five papers that changed the face of physics</a:t>
            </a:r>
          </a:p>
          <a:p>
            <a:endParaRPr lang="en-US" altLang="zh-CN" dirty="0"/>
          </a:p>
        </p:txBody>
      </p:sp>
      <p:sp>
        <p:nvSpPr>
          <p:cNvPr id="4" name="Slide Number Placeholder 3"/>
          <p:cNvSpPr>
            <a:spLocks noGrp="1"/>
          </p:cNvSpPr>
          <p:nvPr>
            <p:ph type="sldNum" sz="quarter" idx="10"/>
          </p:nvPr>
        </p:nvSpPr>
        <p:spPr/>
        <p:txBody>
          <a:bodyPr/>
          <a:lstStyle/>
          <a:p>
            <a:fld id="{C08A642B-1D08-47C1-9385-1FDD33F8CE06}" type="slidenum">
              <a:rPr lang="en-US" smtClean="0"/>
              <a:t>4</a:t>
            </a:fld>
            <a:endParaRPr lang="en-US"/>
          </a:p>
        </p:txBody>
      </p:sp>
    </p:spTree>
    <p:extLst>
      <p:ext uri="{BB962C8B-B14F-4D97-AF65-F5344CB8AC3E}">
        <p14:creationId xmlns:p14="http://schemas.microsoft.com/office/powerpoint/2010/main" val="1776471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pPr defTabSz="990752">
              <a:defRPr/>
            </a:pPr>
            <a:r>
              <a:rPr lang="zh-CN" altLang="en-US" sz="1300" dirty="0"/>
              <a:t>光量子论文实际是上这</a:t>
            </a:r>
            <a:r>
              <a:rPr lang="en-US" altLang="zh-CN" sz="1300" dirty="0"/>
              <a:t>5</a:t>
            </a:r>
          </a:p>
          <a:p>
            <a:pPr defTabSz="990752">
              <a:defRPr/>
            </a:pPr>
            <a:r>
              <a:rPr lang="zh-CN" altLang="en-US" sz="1300" dirty="0"/>
              <a:t>一个如此重大的假设如果只能用来解释一种现象是令人怀疑的。</a:t>
            </a:r>
            <a:endParaRPr lang="en-US" altLang="zh-CN" sz="1300" dirty="0"/>
          </a:p>
          <a:p>
            <a:pPr defTabSz="990752">
              <a:defRPr/>
            </a:pPr>
            <a:endParaRPr lang="en-US" altLang="zh-CN" dirty="0"/>
          </a:p>
          <a:p>
            <a:pPr defTabSz="990752">
              <a:defRPr/>
            </a:pPr>
            <a:r>
              <a:rPr lang="en-US" altLang="zh-CN" dirty="0"/>
              <a:t>1900</a:t>
            </a:r>
            <a:r>
              <a:rPr lang="zh-CN" altLang="en-US" dirty="0"/>
              <a:t>从苏黎世联邦理工学院毕业后的爱因斯坦没有能够找到教职，只好在朋友父亲的帮助下在瑞士专利局找到份工作。但他并没有放弃对物理的热爱，不仅私下和好友成立了个业余组织讨论科学和哲学问题，同时自己还在苏黎世大学攻读博士。他的博士论文就是运用分子动力学解释布朗运动。</a:t>
            </a:r>
            <a:endParaRPr lang="en-US" altLang="zh-CN" dirty="0"/>
          </a:p>
          <a:p>
            <a:pPr defTabSz="990752">
              <a:defRPr/>
            </a:pPr>
            <a:r>
              <a:rPr lang="en-US" altLang="zh-CN" dirty="0"/>
              <a:t>1905</a:t>
            </a:r>
            <a:r>
              <a:rPr lang="zh-CN" altLang="en-US" dirty="0"/>
              <a:t>年博士毕业前就已近在当时顶级的德国物理学杂志发表了</a:t>
            </a:r>
            <a:r>
              <a:rPr lang="en-US" altLang="zh-CN" dirty="0"/>
              <a:t>4,5</a:t>
            </a:r>
            <a:r>
              <a:rPr lang="zh-CN" altLang="en-US" dirty="0"/>
              <a:t>篇论文。</a:t>
            </a:r>
            <a:endParaRPr lang="en-US" altLang="zh-CN" dirty="0"/>
          </a:p>
          <a:p>
            <a:pPr defTabSz="990752">
              <a:defRPr/>
            </a:pPr>
            <a:r>
              <a:rPr lang="zh-CN" altLang="en-US" dirty="0"/>
              <a:t>他也是个热力学的专家。和普朗克不同是，他认同玻尔兹曼的分子观点，他确信热力学第二定律就是大量分子机械运动的必然结果。基于这个思想，他得出和环境处于热平衡下的系统必然会有一定得能量涨落。当能量密度特别低的时候则更明显。尽管这个结果是通过分析分子机械运动导出的，但最后的结果中只含有宏观的热力学量。因此爱因斯坦大胆把这个公式推广到另一个热平衡体系，黑体上。得出黑体辐射的能量（光强）会有涨落。这暗示，爱因斯坦很可能早已开始酝酿辐射场的量子论了。</a:t>
            </a:r>
            <a:endParaRPr lang="en-US" altLang="zh-CN" dirty="0"/>
          </a:p>
          <a:p>
            <a:pPr defTabSz="990752">
              <a:defRPr/>
            </a:pPr>
            <a:endParaRPr lang="en-US" altLang="zh-CN" dirty="0"/>
          </a:p>
          <a:p>
            <a:pPr defTabSz="990752">
              <a:defRPr/>
            </a:pPr>
            <a:r>
              <a:rPr lang="en-US" altLang="zh-CN" dirty="0"/>
              <a:t>Planck was careful not to infer anything concerning the structure of the radiation field; he restricted quantization to the behavior of the material resonators. </a:t>
            </a:r>
          </a:p>
          <a:p>
            <a:pPr defTabSz="990752">
              <a:defRPr/>
            </a:pPr>
            <a:r>
              <a:rPr lang="en-US" altLang="zh-CN" dirty="0"/>
              <a:t>Einstein, in his 1905 paper, and in several subsequent papers, took up the thesis that real quanta of energy exist and that these are to be found, at least in certain experiments, in the radiation field. </a:t>
            </a:r>
          </a:p>
          <a:p>
            <a:endParaRPr lang="en-US" altLang="zh-CN" dirty="0"/>
          </a:p>
          <a:p>
            <a:r>
              <a:rPr lang="en-US" altLang="zh-CN" dirty="0"/>
              <a:t>Einstein's theory was developed by reasoning from fundamental assumptions with very little  experimental support. </a:t>
            </a:r>
          </a:p>
          <a:p>
            <a:r>
              <a:rPr lang="en-US" altLang="zh-CN" dirty="0"/>
              <a:t>Such theories are frequently regarded with profound suspicion (or neglect) until the experimental support finally appears, and then there is likely to be enthusiastic acceptance.</a:t>
            </a:r>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5</a:t>
            </a:fld>
            <a:endParaRPr lang="en-US"/>
          </a:p>
        </p:txBody>
      </p:sp>
    </p:spTree>
    <p:extLst>
      <p:ext uri="{BB962C8B-B14F-4D97-AF65-F5344CB8AC3E}">
        <p14:creationId xmlns:p14="http://schemas.microsoft.com/office/powerpoint/2010/main" val="2693832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6</a:t>
            </a:fld>
            <a:endParaRPr lang="en-US"/>
          </a:p>
        </p:txBody>
      </p:sp>
    </p:spTree>
    <p:extLst>
      <p:ext uri="{BB962C8B-B14F-4D97-AF65-F5344CB8AC3E}">
        <p14:creationId xmlns:p14="http://schemas.microsoft.com/office/powerpoint/2010/main" val="1815397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7</a:t>
            </a:fld>
            <a:endParaRPr lang="en-US"/>
          </a:p>
        </p:txBody>
      </p:sp>
    </p:spTree>
    <p:extLst>
      <p:ext uri="{BB962C8B-B14F-4D97-AF65-F5344CB8AC3E}">
        <p14:creationId xmlns:p14="http://schemas.microsoft.com/office/powerpoint/2010/main" val="2218541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r>
              <a:rPr lang="zh-CN" altLang="en-US" dirty="0"/>
              <a:t>密立根便是其中之一。他决定非常仔细的开展光电效应的实验，从而否定爱因斯坦的理论。</a:t>
            </a:r>
          </a:p>
        </p:txBody>
      </p:sp>
      <p:sp>
        <p:nvSpPr>
          <p:cNvPr id="4" name="Slide Number Placeholder 3"/>
          <p:cNvSpPr>
            <a:spLocks noGrp="1"/>
          </p:cNvSpPr>
          <p:nvPr>
            <p:ph type="sldNum" sz="quarter" idx="10"/>
          </p:nvPr>
        </p:nvSpPr>
        <p:spPr/>
        <p:txBody>
          <a:bodyPr/>
          <a:lstStyle/>
          <a:p>
            <a:fld id="{C08A642B-1D08-47C1-9385-1FDD33F8CE06}" type="slidenum">
              <a:rPr lang="en-US" smtClean="0"/>
              <a:t>8</a:t>
            </a:fld>
            <a:endParaRPr lang="en-US"/>
          </a:p>
        </p:txBody>
      </p:sp>
    </p:spTree>
    <p:extLst>
      <p:ext uri="{BB962C8B-B14F-4D97-AF65-F5344CB8AC3E}">
        <p14:creationId xmlns:p14="http://schemas.microsoft.com/office/powerpoint/2010/main" val="1520249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pPr defTabSz="990752">
              <a:defRPr/>
            </a:pPr>
            <a:r>
              <a:rPr lang="en-US" sz="1300" dirty="0"/>
              <a:t>“A new scientific truth does not triumph by convincing its opponents and making them see the light, but rather because its opponents eventually die, and a new generation grows up that is familiar with it.” </a:t>
            </a:r>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9</a:t>
            </a:fld>
            <a:endParaRPr lang="en-US"/>
          </a:p>
        </p:txBody>
      </p:sp>
    </p:spTree>
    <p:extLst>
      <p:ext uri="{BB962C8B-B14F-4D97-AF65-F5344CB8AC3E}">
        <p14:creationId xmlns:p14="http://schemas.microsoft.com/office/powerpoint/2010/main" val="159764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8313" cy="3836988"/>
          </a:xfrm>
        </p:spPr>
      </p:sp>
      <p:sp>
        <p:nvSpPr>
          <p:cNvPr id="3" name="Notes Placeholder 2"/>
          <p:cNvSpPr>
            <a:spLocks noGrp="1"/>
          </p:cNvSpPr>
          <p:nvPr>
            <p:ph type="body" idx="1"/>
          </p:nvPr>
        </p:nvSpPr>
        <p:spPr/>
        <p:txBody>
          <a:bodyPr/>
          <a:lstStyle/>
          <a:p>
            <a:pPr defTabSz="990727">
              <a:defRPr/>
            </a:pPr>
            <a:r>
              <a:rPr lang="en-US" altLang="zh-CN" dirty="0"/>
              <a:t>1911</a:t>
            </a:r>
            <a:r>
              <a:rPr lang="zh-CN" altLang="en-US" dirty="0"/>
              <a:t>年召开了第一件索尔维物理会议。资助者：</a:t>
            </a:r>
            <a:r>
              <a:rPr lang="en-US" altLang="zh-CN" dirty="0"/>
              <a:t>Ernest Solvay</a:t>
            </a:r>
            <a:r>
              <a:rPr lang="zh-CN" altLang="en-US" dirty="0"/>
              <a:t>（化工企业家）。这是人类历史上第一次国际物理学术会议，</a:t>
            </a:r>
            <a:endParaRPr lang="en-US" altLang="zh-CN" dirty="0"/>
          </a:p>
          <a:p>
            <a:pPr defTabSz="990727">
              <a:defRPr/>
            </a:pPr>
            <a:r>
              <a:rPr lang="zh-CN" altLang="en-US" dirty="0"/>
              <a:t>主题为辐射和量子，它是量子论在物理圈的首次正式登场</a:t>
            </a:r>
            <a:endParaRPr lang="en-US" altLang="zh-CN" dirty="0"/>
          </a:p>
          <a:p>
            <a:pPr defTabSz="990727">
              <a:defRPr/>
            </a:pPr>
            <a:r>
              <a:rPr lang="en-US" altLang="zh-CN" dirty="0"/>
              <a:t>Sitting(L-R):</a:t>
            </a:r>
            <a:endParaRPr lang="en-US" dirty="0"/>
          </a:p>
          <a:p>
            <a:r>
              <a:rPr lang="en-US" dirty="0"/>
              <a:t>W. Nernst, M. </a:t>
            </a:r>
            <a:r>
              <a:rPr lang="en-US" dirty="0" err="1"/>
              <a:t>Brillouin</a:t>
            </a:r>
            <a:r>
              <a:rPr lang="en-US" dirty="0"/>
              <a:t>, E. Solvay, H. Lorentz, E. Warburg, J. Perrin, W. Wien, M. Curie, and H. </a:t>
            </a:r>
            <a:r>
              <a:rPr lang="en-US" dirty="0" err="1"/>
              <a:t>Poincaré</a:t>
            </a:r>
            <a:r>
              <a:rPr lang="en-US" dirty="0"/>
              <a:t>. </a:t>
            </a:r>
          </a:p>
          <a:p>
            <a:r>
              <a:rPr lang="en-US" dirty="0"/>
              <a:t>Standing (L-R):</a:t>
            </a:r>
          </a:p>
          <a:p>
            <a:r>
              <a:rPr lang="en-US" dirty="0"/>
              <a:t>R. Goldschmidt, M. Planck, H. Rubens, A. </a:t>
            </a:r>
            <a:r>
              <a:rPr lang="en-US" dirty="0" err="1"/>
              <a:t>Sommerfeld</a:t>
            </a:r>
            <a:r>
              <a:rPr lang="en-US" dirty="0"/>
              <a:t>, F. </a:t>
            </a:r>
            <a:r>
              <a:rPr lang="en-US" dirty="0" err="1"/>
              <a:t>Lindemann</a:t>
            </a:r>
            <a:r>
              <a:rPr lang="en-US" dirty="0"/>
              <a:t>, M. de Broglie, M. Knudsen, F. </a:t>
            </a:r>
            <a:r>
              <a:rPr lang="en-US" dirty="0" err="1"/>
              <a:t>Hasenöhrl</a:t>
            </a:r>
            <a:r>
              <a:rPr lang="en-US" dirty="0"/>
              <a:t>, G. </a:t>
            </a:r>
            <a:r>
              <a:rPr lang="en-US" dirty="0" err="1"/>
              <a:t>Hostelet</a:t>
            </a:r>
            <a:r>
              <a:rPr lang="en-US" dirty="0"/>
              <a:t>, E. Herzen, J.H. Jeans, E. Rutherford, H. </a:t>
            </a:r>
            <a:r>
              <a:rPr lang="en-US" dirty="0" err="1"/>
              <a:t>Kamerlingh</a:t>
            </a:r>
            <a:r>
              <a:rPr lang="en-US" dirty="0"/>
              <a:t> </a:t>
            </a:r>
            <a:r>
              <a:rPr lang="en-US" dirty="0" err="1"/>
              <a:t>Onnes</a:t>
            </a:r>
            <a:r>
              <a:rPr lang="en-US" dirty="0"/>
              <a:t>, A. Einstein and P. </a:t>
            </a:r>
            <a:r>
              <a:rPr lang="en-US" dirty="0" err="1"/>
              <a:t>Langevin</a:t>
            </a:r>
            <a:r>
              <a:rPr lang="en-US" dirty="0"/>
              <a:t>.</a:t>
            </a:r>
          </a:p>
          <a:p>
            <a:pPr defTabSz="990727">
              <a:defRPr/>
            </a:pPr>
            <a:r>
              <a:rPr lang="zh-CN" altLang="en-US" dirty="0"/>
              <a:t>这个会议的召开表示，量子论已被公认为物理界所面临的最重要的有待解决问题。</a:t>
            </a:r>
            <a:endParaRPr lang="en-US" altLang="zh-CN" dirty="0"/>
          </a:p>
          <a:p>
            <a:r>
              <a:rPr lang="zh-CN" altLang="en-US" sz="1300" dirty="0"/>
              <a:t>会议参与者都以认识到量子论的出现，物理学的发展道路将发生重大的改变。但没有人可以预测物理学会被量子论引向何方。比如，没人想到量子论和原子结构搭上什么关系，包括笑眯眯的卢瑟福。而仅仅两年之后，年轻的玻尔提出的原子的量子模型把量子论带入了新的轨道，直至量子力学和一个全新的世界观的建立。</a:t>
            </a:r>
            <a:endParaRPr lang="en-US" altLang="zh-CN" sz="1300" dirty="0"/>
          </a:p>
          <a:p>
            <a:endParaRPr lang="en-US" altLang="zh-CN" sz="1300" dirty="0"/>
          </a:p>
          <a:p>
            <a:r>
              <a:rPr lang="en-US" altLang="zh-CN" sz="1300" dirty="0"/>
              <a:t>The participants in Brussels realized that with quantum theory the course of physics was about to change. Where the development</a:t>
            </a:r>
          </a:p>
          <a:p>
            <a:r>
              <a:rPr lang="en-US" altLang="zh-CN" sz="1300" dirty="0"/>
              <a:t>would lead, nobody could tell. For example, it was not believed that quantum theory had anything to do with atomic structure. </a:t>
            </a:r>
          </a:p>
          <a:p>
            <a:endParaRPr lang="en-US" altLang="zh-CN" sz="1300" dirty="0"/>
          </a:p>
          <a:p>
            <a:r>
              <a:rPr lang="en-US" altLang="zh-CN" sz="1300" dirty="0"/>
              <a:t>Two years later, with the advent of Niels Bohr‘s atomic theory, quantum theory took a new turn that eventually would lead to quantum mechanics and a new foundation of the physicists’ world picture</a:t>
            </a:r>
            <a:r>
              <a:rPr lang="zh-CN" altLang="en-US" sz="1300" dirty="0"/>
              <a:t>。</a:t>
            </a:r>
            <a:endParaRPr lang="zh-CN" altLang="en-US" dirty="0"/>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10</a:t>
            </a:fld>
            <a:endParaRPr lang="en-US"/>
          </a:p>
        </p:txBody>
      </p:sp>
    </p:spTree>
    <p:extLst>
      <p:ext uri="{BB962C8B-B14F-4D97-AF65-F5344CB8AC3E}">
        <p14:creationId xmlns:p14="http://schemas.microsoft.com/office/powerpoint/2010/main" val="1070027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这一讲，我们讨论</a:t>
            </a:r>
            <a:r>
              <a:rPr lang="en-US" altLang="zh-CN" dirty="0"/>
              <a:t>Compton</a:t>
            </a:r>
            <a:r>
              <a:rPr lang="zh-CN" altLang="en-US" dirty="0"/>
              <a:t>散射实验。之前我们碰到的，能够体现光的量子性的实验，它们所联系的都是光量子的能量。而这个实验则从动量的角度，进一步证实了光子的存在。</a:t>
            </a:r>
          </a:p>
        </p:txBody>
      </p:sp>
      <p:sp>
        <p:nvSpPr>
          <p:cNvPr id="4" name="Slide Number Placeholder 3"/>
          <p:cNvSpPr>
            <a:spLocks noGrp="1"/>
          </p:cNvSpPr>
          <p:nvPr>
            <p:ph type="sldNum" sz="quarter" idx="10"/>
          </p:nvPr>
        </p:nvSpPr>
        <p:spPr/>
        <p:txBody>
          <a:bodyPr/>
          <a:lstStyle/>
          <a:p>
            <a:fld id="{C08A642B-1D08-47C1-9385-1FDD33F8CE06}" type="slidenum">
              <a:rPr lang="en-US" smtClean="0"/>
              <a:t>11</a:t>
            </a:fld>
            <a:endParaRPr lang="en-US"/>
          </a:p>
        </p:txBody>
      </p:sp>
    </p:spTree>
    <p:extLst>
      <p:ext uri="{BB962C8B-B14F-4D97-AF65-F5344CB8AC3E}">
        <p14:creationId xmlns:p14="http://schemas.microsoft.com/office/powerpoint/2010/main" val="2170193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类似于卢瑟福散射，入射粒子为</a:t>
            </a:r>
            <a:r>
              <a:rPr lang="en-US" altLang="zh-CN" dirty="0"/>
              <a:t>X</a:t>
            </a:r>
            <a:r>
              <a:rPr lang="zh-CN" altLang="en-US" dirty="0"/>
              <a:t>光，靶为某种材料，比如这个图中的石墨（也就是碳）。测量的对象则是在不同方向上被散射的的</a:t>
            </a:r>
            <a:r>
              <a:rPr lang="en-US" altLang="zh-CN" dirty="0"/>
              <a:t>x</a:t>
            </a:r>
            <a:r>
              <a:rPr lang="zh-CN" altLang="en-US" dirty="0"/>
              <a:t>光的光谱。</a:t>
            </a:r>
            <a:endParaRPr lang="en-US" altLang="zh-CN" dirty="0"/>
          </a:p>
          <a:p>
            <a:r>
              <a:rPr lang="zh-CN" altLang="en-US" dirty="0"/>
              <a:t>实验发现，散射光谱里存在着两个主要峰，一个峰对应的波长就是原来的入射</a:t>
            </a:r>
            <a:r>
              <a:rPr lang="en-US" altLang="zh-CN" dirty="0"/>
              <a:t>x</a:t>
            </a:r>
            <a:r>
              <a:rPr lang="zh-CN" altLang="en-US" dirty="0"/>
              <a:t>光的波长，而另一个峰的波长则发生了红移，也就是说比原波长要长。</a:t>
            </a:r>
            <a:endParaRPr lang="en-US" altLang="zh-CN" dirty="0"/>
          </a:p>
          <a:p>
            <a:r>
              <a:rPr lang="zh-CN" altLang="en-US" dirty="0"/>
              <a:t>而两个峰的间隔则正比于</a:t>
            </a:r>
            <a:r>
              <a:rPr lang="en-US" altLang="zh-CN" dirty="0"/>
              <a:t>1-cos</a:t>
            </a:r>
            <a:r>
              <a:rPr lang="zh-CN" altLang="en-US" dirty="0"/>
              <a:t>（</a:t>
            </a:r>
            <a:r>
              <a:rPr lang="en-US" altLang="zh-CN" dirty="0"/>
              <a:t>theta</a:t>
            </a:r>
            <a:r>
              <a:rPr lang="zh-CN" altLang="en-US" dirty="0"/>
              <a:t>）</a:t>
            </a:r>
          </a:p>
        </p:txBody>
      </p:sp>
      <p:sp>
        <p:nvSpPr>
          <p:cNvPr id="4" name="Slide Number Placeholder 3"/>
          <p:cNvSpPr>
            <a:spLocks noGrp="1"/>
          </p:cNvSpPr>
          <p:nvPr>
            <p:ph type="sldNum" sz="quarter" idx="10"/>
          </p:nvPr>
        </p:nvSpPr>
        <p:spPr/>
        <p:txBody>
          <a:bodyPr/>
          <a:lstStyle/>
          <a:p>
            <a:fld id="{C08A642B-1D08-47C1-9385-1FDD33F8CE06}" type="slidenum">
              <a:rPr lang="en-US" smtClean="0"/>
              <a:t>13</a:t>
            </a:fld>
            <a:endParaRPr lang="en-US"/>
          </a:p>
        </p:txBody>
      </p:sp>
    </p:spTree>
    <p:extLst>
      <p:ext uri="{BB962C8B-B14F-4D97-AF65-F5344CB8AC3E}">
        <p14:creationId xmlns:p14="http://schemas.microsoft.com/office/powerpoint/2010/main" val="1708365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这样一个现象可以用光子和电子碰撞的模型来很好的解释。</a:t>
            </a:r>
            <a:endParaRPr lang="en-US" altLang="zh-CN" dirty="0"/>
          </a:p>
          <a:p>
            <a:r>
              <a:rPr lang="zh-CN" altLang="en-US" dirty="0"/>
              <a:t>首先经典电动力学也认为电磁波具有动量，其动量值为</a:t>
            </a:r>
            <a:r>
              <a:rPr lang="en-US" altLang="zh-CN" dirty="0"/>
              <a:t>E/c.  </a:t>
            </a:r>
            <a:r>
              <a:rPr lang="zh-CN" altLang="en-US" dirty="0"/>
              <a:t>。。。。。，因此光子的动量也和频率成正比，或者和它的波长成反比。</a:t>
            </a:r>
            <a:endParaRPr lang="en-US" altLang="zh-CN" dirty="0"/>
          </a:p>
          <a:p>
            <a:r>
              <a:rPr lang="zh-CN" altLang="en-US" dirty="0"/>
              <a:t>一开始，假设电子是静止的，而入射光的波长为</a:t>
            </a:r>
            <a:r>
              <a:rPr lang="en-US" altLang="zh-CN" dirty="0"/>
              <a:t>lambda</a:t>
            </a:r>
            <a:r>
              <a:rPr lang="zh-CN" altLang="en-US" dirty="0"/>
              <a:t>，动量为。。，碰撞后双方的动量都发生了改变，对于光子来说，它的波长也就发生了改变。</a:t>
            </a:r>
            <a:endParaRPr lang="en-US" altLang="zh-CN" dirty="0"/>
          </a:p>
          <a:p>
            <a:endParaRPr lang="en-US" altLang="zh-CN" dirty="0"/>
          </a:p>
          <a:p>
            <a:r>
              <a:rPr lang="zh-CN" altLang="en-US" dirty="0"/>
              <a:t>第二个方程，是动量守恒，这些动量的大小满足余弦定理。而第一个等式代表能量守恒。这是一个满足相对论的能量公式。</a:t>
            </a:r>
            <a:endParaRPr lang="en-US" altLang="zh-CN" dirty="0"/>
          </a:p>
          <a:p>
            <a:r>
              <a:rPr lang="zh-CN" altLang="en-US" dirty="0"/>
              <a:t>因此康普顿散射的发现是光量子论的决定性胜利，自此之后没有人再怀疑光子的存在了。</a:t>
            </a:r>
          </a:p>
        </p:txBody>
      </p:sp>
      <p:sp>
        <p:nvSpPr>
          <p:cNvPr id="4" name="Slide Number Placeholder 3"/>
          <p:cNvSpPr>
            <a:spLocks noGrp="1"/>
          </p:cNvSpPr>
          <p:nvPr>
            <p:ph type="sldNum" sz="quarter" idx="10"/>
          </p:nvPr>
        </p:nvSpPr>
        <p:spPr/>
        <p:txBody>
          <a:bodyPr/>
          <a:lstStyle/>
          <a:p>
            <a:fld id="{C08A642B-1D08-47C1-9385-1FDD33F8CE06}" type="slidenum">
              <a:rPr lang="en-US" smtClean="0"/>
              <a:t>14</a:t>
            </a:fld>
            <a:endParaRPr lang="en-US"/>
          </a:p>
        </p:txBody>
      </p:sp>
    </p:spTree>
    <p:extLst>
      <p:ext uri="{BB962C8B-B14F-4D97-AF65-F5344CB8AC3E}">
        <p14:creationId xmlns:p14="http://schemas.microsoft.com/office/powerpoint/2010/main" val="2135475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300" dirty="0"/>
              <a:t>Although the photoelectric effect and the Compton effect were historically regarded as direct evidence of the quantum nature of light, strictly speaking, these phenomena could still be explained by quantizing the matter that interacts with the light, while treating the light as a classical wave. </a:t>
            </a:r>
          </a:p>
          <a:p>
            <a:r>
              <a:rPr lang="en-US" altLang="zh-CN" sz="1300" dirty="0"/>
              <a:t>From a modern perspective, the complete confirmation of the quantum nature of light had to wait until the discovery of the non-classical light antibunching effect after 1960.</a:t>
            </a:r>
          </a:p>
          <a:p>
            <a:endParaRPr lang="en-US" altLang="zh-CN" sz="1300" dirty="0"/>
          </a:p>
          <a:p>
            <a:endParaRPr lang="en-US" altLang="zh-CN" sz="1300" dirty="0"/>
          </a:p>
        </p:txBody>
      </p:sp>
      <p:sp>
        <p:nvSpPr>
          <p:cNvPr id="4" name="Slide Number Placeholder 3"/>
          <p:cNvSpPr>
            <a:spLocks noGrp="1"/>
          </p:cNvSpPr>
          <p:nvPr>
            <p:ph type="sldNum" sz="quarter" idx="10"/>
          </p:nvPr>
        </p:nvSpPr>
        <p:spPr/>
        <p:txBody>
          <a:bodyPr/>
          <a:lstStyle/>
          <a:p>
            <a:fld id="{C08A642B-1D08-47C1-9385-1FDD33F8CE06}" type="slidenum">
              <a:rPr lang="en-US" smtClean="0"/>
              <a:t>16</a:t>
            </a:fld>
            <a:endParaRPr lang="en-US"/>
          </a:p>
        </p:txBody>
      </p:sp>
    </p:spTree>
    <p:extLst>
      <p:ext uri="{BB962C8B-B14F-4D97-AF65-F5344CB8AC3E}">
        <p14:creationId xmlns:p14="http://schemas.microsoft.com/office/powerpoint/2010/main" val="2556835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3"/>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041158720"/>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3" y="188641"/>
            <a:ext cx="8070980" cy="551589"/>
          </a:xfrm>
        </p:spPr>
        <p:txBody>
          <a:bodyPr>
            <a:noAutofit/>
          </a:bodyPr>
          <a:lstStyle>
            <a:lvl1pPr>
              <a:defRPr sz="2800" b="1">
                <a:latin typeface="+mj-lt"/>
                <a:ea typeface="黑体" panose="02010609060101010101" pitchFamily="49" charset="-122"/>
              </a:defRPr>
            </a:lvl1pPr>
          </a:lstStyle>
          <a:p>
            <a:r>
              <a:rPr lang="en-US" dirty="0"/>
              <a:t>Click to edit Master title style</a:t>
            </a:r>
          </a:p>
        </p:txBody>
      </p:sp>
      <p:sp>
        <p:nvSpPr>
          <p:cNvPr id="3" name="Content Placeholder 2"/>
          <p:cNvSpPr>
            <a:spLocks noGrp="1"/>
          </p:cNvSpPr>
          <p:nvPr>
            <p:ph idx="1"/>
          </p:nvPr>
        </p:nvSpPr>
        <p:spPr>
          <a:xfrm>
            <a:off x="457203" y="862155"/>
            <a:ext cx="8070980" cy="5663195"/>
          </a:xfrm>
        </p:spPr>
        <p:txBody>
          <a:bodyPr>
            <a:normAutofit/>
          </a:bodyPr>
          <a:lstStyle>
            <a:lvl1pPr>
              <a:spcBef>
                <a:spcPts val="1200"/>
              </a:spcBef>
              <a:defRPr sz="2800">
                <a:latin typeface="+mn-lt"/>
                <a:ea typeface="黑体" panose="02010609060101010101" pitchFamily="49" charset="-122"/>
              </a:defRPr>
            </a:lvl1pPr>
            <a:lvl2pPr>
              <a:spcBef>
                <a:spcPts val="1200"/>
              </a:spcBef>
              <a:defRPr sz="2400">
                <a:latin typeface="+mn-lt"/>
                <a:ea typeface="黑体" panose="02010609060101010101" pitchFamily="49" charset="-122"/>
              </a:defRPr>
            </a:lvl2pPr>
            <a:lvl3pPr>
              <a:spcBef>
                <a:spcPts val="1200"/>
              </a:spcBef>
              <a:defRPr sz="2000">
                <a:latin typeface="+mn-lt"/>
                <a:ea typeface="黑体" panose="02010609060101010101" pitchFamily="49" charset="-122"/>
              </a:defRPr>
            </a:lvl3pPr>
            <a:lvl4pPr>
              <a:spcBef>
                <a:spcPts val="1200"/>
              </a:spcBef>
              <a:defRPr sz="1800">
                <a:latin typeface="+mn-lt"/>
                <a:ea typeface="黑体" panose="02010609060101010101" pitchFamily="49" charset="-122"/>
              </a:defRPr>
            </a:lvl4pPr>
            <a:lvl5pPr>
              <a:spcBef>
                <a:spcPts val="1200"/>
              </a:spcBef>
              <a:defRPr sz="1800">
                <a:latin typeface="+mn-lt"/>
                <a:ea typeface="黑体" panose="02010609060101010101" pitchFamily="49"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954113"/>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8"/>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78" indent="0">
              <a:buNone/>
              <a:defRPr sz="1800">
                <a:solidFill>
                  <a:schemeClr val="tx1">
                    <a:tint val="75000"/>
                  </a:schemeClr>
                </a:solidFill>
              </a:defRPr>
            </a:lvl2pPr>
            <a:lvl3pPr marL="914354" indent="0">
              <a:buNone/>
              <a:defRPr sz="1600">
                <a:solidFill>
                  <a:schemeClr val="tx1">
                    <a:tint val="75000"/>
                  </a:schemeClr>
                </a:solidFill>
              </a:defRPr>
            </a:lvl3pPr>
            <a:lvl4pPr marL="1371532" indent="0">
              <a:buNone/>
              <a:defRPr sz="1400">
                <a:solidFill>
                  <a:schemeClr val="tx1">
                    <a:tint val="75000"/>
                  </a:schemeClr>
                </a:solidFill>
              </a:defRPr>
            </a:lvl4pPr>
            <a:lvl5pPr marL="1828709" indent="0">
              <a:buNone/>
              <a:defRPr sz="1400">
                <a:solidFill>
                  <a:schemeClr val="tx1">
                    <a:tint val="75000"/>
                  </a:schemeClr>
                </a:solidFill>
              </a:defRPr>
            </a:lvl5pPr>
            <a:lvl6pPr marL="2285886" indent="0">
              <a:buNone/>
              <a:defRPr sz="1400">
                <a:solidFill>
                  <a:schemeClr val="tx1">
                    <a:tint val="75000"/>
                  </a:schemeClr>
                </a:solidFill>
              </a:defRPr>
            </a:lvl6pPr>
            <a:lvl7pPr marL="2743062" indent="0">
              <a:buNone/>
              <a:defRPr sz="1400">
                <a:solidFill>
                  <a:schemeClr val="tx1">
                    <a:tint val="75000"/>
                  </a:schemeClr>
                </a:solidFill>
              </a:defRPr>
            </a:lvl7pPr>
            <a:lvl8pPr marL="3200240" indent="0">
              <a:buNone/>
              <a:defRPr sz="1400">
                <a:solidFill>
                  <a:schemeClr val="tx1">
                    <a:tint val="75000"/>
                  </a:schemeClr>
                </a:solidFill>
              </a:defRPr>
            </a:lvl8pPr>
            <a:lvl9pPr marL="3657418"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80184282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395284077"/>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7"/>
            <a:ext cx="5386917" cy="639763"/>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3" y="1535117"/>
            <a:ext cx="5389033" cy="639763"/>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8" name="Footer Placeholder 7"/>
          <p:cNvSpPr>
            <a:spLocks noGrp="1"/>
          </p:cNvSpPr>
          <p:nvPr>
            <p:ph type="ftr" sz="quarter" idx="11"/>
          </p:nvPr>
        </p:nvSpPr>
        <p:spPr>
          <a:xfrm>
            <a:off x="4165600" y="6356358"/>
            <a:ext cx="3860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87001902"/>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4" name="Footer Placeholder 3"/>
          <p:cNvSpPr>
            <a:spLocks noGrp="1"/>
          </p:cNvSpPr>
          <p:nvPr>
            <p:ph type="ftr" sz="quarter" idx="11"/>
          </p:nvPr>
        </p:nvSpPr>
        <p:spPr>
          <a:xfrm>
            <a:off x="4165600" y="6356358"/>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72301976"/>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3" name="Footer Placeholder 2"/>
          <p:cNvSpPr>
            <a:spLocks noGrp="1"/>
          </p:cNvSpPr>
          <p:nvPr>
            <p:ph type="ftr" sz="quarter" idx="11"/>
          </p:nvPr>
        </p:nvSpPr>
        <p:spPr>
          <a:xfrm>
            <a:off x="4165600" y="6356358"/>
            <a:ext cx="3860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94952059"/>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3"/>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8"/>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4"/>
            <a:ext cx="4011084" cy="4691063"/>
          </a:xfrm>
        </p:spPr>
        <p:txBody>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02820032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4"/>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4" name="Text Placeholder 3"/>
          <p:cNvSpPr>
            <a:spLocks noGrp="1"/>
          </p:cNvSpPr>
          <p:nvPr>
            <p:ph type="body" sz="half" idx="2"/>
          </p:nvPr>
        </p:nvSpPr>
        <p:spPr>
          <a:xfrm>
            <a:off x="2389717" y="5367342"/>
            <a:ext cx="7315200" cy="804863"/>
          </a:xfrm>
        </p:spPr>
        <p:txBody>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04654389"/>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104889632"/>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6"/>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6"/>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FBD3D0E2-FFB6-45FA-A865-B24E917AD09C}" type="datetimeFigureOut">
              <a:rPr lang="en-US" smtClean="0"/>
              <a:t>9/20/2026</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114542566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2" y="188640"/>
            <a:ext cx="10972800" cy="57606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08720"/>
            <a:ext cx="10972800" cy="56166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6028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slow">
    <p:push dir="u"/>
  </p:transition>
  <p:txStyles>
    <p:titleStyle>
      <a:lvl1pPr algn="ctr" defTabSz="914354" rtl="0" eaLnBrk="1" latinLnBrk="0" hangingPunct="1">
        <a:spcBef>
          <a:spcPct val="0"/>
        </a:spcBef>
        <a:buNone/>
        <a:defRPr sz="4400" kern="1200">
          <a:solidFill>
            <a:schemeClr val="tx1"/>
          </a:solidFill>
          <a:latin typeface="+mj-lt"/>
          <a:ea typeface="+mj-ea"/>
          <a:cs typeface="+mj-cs"/>
        </a:defRPr>
      </a:lvl1pPr>
    </p:titleStyle>
    <p:bodyStyle>
      <a:lvl1pPr marL="342882" indent="-342882" algn="l" defTabSz="914354"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13" indent="-285737" algn="l" defTabSz="914354"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42" indent="-228589" algn="l" defTabSz="914354"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20"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298"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474"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hyperlink" Target="http://www.google.com.hk/url?sa=i&amp;rct=j&amp;q=&amp;esrc=s&amp;frm=1&amp;source=images&amp;cd=&amp;cad=rja&amp;docid=HJHxqqHqz0aClM&amp;tbnid=DSIX-U-C1ySDfM:&amp;ved=0CAUQjRw&amp;url=http://jp.hjenglish.com/new/p385752/&amp;ei=fwI3UpO1C-X-iAfxyYGADg&amp;psig=AFQjCNEEvFevw3FqHP8kOpSdmr-QnCKuLQ&amp;ust=1379423211901445"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80.png"/><Relationship Id="rId7" Type="http://schemas.openxmlformats.org/officeDocument/2006/relationships/image" Target="../media/image201.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4.wmf"/><Relationship Id="rId5" Type="http://schemas.openxmlformats.org/officeDocument/2006/relationships/oleObject" Target="../embeddings/oleObject1.bin"/><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110.png"/><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2.bin"/><Relationship Id="rId18" Type="http://schemas.openxmlformats.org/officeDocument/2006/relationships/image" Target="../media/image121.png"/><Relationship Id="rId3" Type="http://schemas.openxmlformats.org/officeDocument/2006/relationships/notesSlide" Target="../notesSlides/notesSlide13.xml"/><Relationship Id="rId7" Type="http://schemas.openxmlformats.org/officeDocument/2006/relationships/image" Target="../media/image23.png"/><Relationship Id="rId12" Type="http://schemas.openxmlformats.org/officeDocument/2006/relationships/image" Target="../media/image29.png"/><Relationship Id="rId17" Type="http://schemas.openxmlformats.org/officeDocument/2006/relationships/image" Target="../media/image120.png"/><Relationship Id="rId2" Type="http://schemas.openxmlformats.org/officeDocument/2006/relationships/slideLayout" Target="../slideLayouts/slideLayout2.xml"/><Relationship Id="rId16" Type="http://schemas.openxmlformats.org/officeDocument/2006/relationships/image" Target="../media/image119.png"/><Relationship Id="rId1" Type="http://schemas.openxmlformats.org/officeDocument/2006/relationships/vmlDrawing" Target="../drawings/vmlDrawing2.vml"/><Relationship Id="rId6" Type="http://schemas.openxmlformats.org/officeDocument/2006/relationships/image" Target="../media/image26.png"/><Relationship Id="rId11" Type="http://schemas.openxmlformats.org/officeDocument/2006/relationships/image" Target="../media/image28.png"/><Relationship Id="rId5" Type="http://schemas.openxmlformats.org/officeDocument/2006/relationships/image" Target="../media/image250.png"/><Relationship Id="rId15" Type="http://schemas.openxmlformats.org/officeDocument/2006/relationships/image" Target="../media/image118.png"/><Relationship Id="rId10" Type="http://schemas.openxmlformats.org/officeDocument/2006/relationships/image" Target="../media/image960.png"/><Relationship Id="rId4" Type="http://schemas.openxmlformats.org/officeDocument/2006/relationships/image" Target="../media/image24.png"/><Relationship Id="rId9" Type="http://schemas.openxmlformats.org/officeDocument/2006/relationships/image" Target="../media/image950.png"/><Relationship Id="rId14" Type="http://schemas.openxmlformats.org/officeDocument/2006/relationships/image" Target="../media/image27.wmf"/></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000.png"/><Relationship Id="rId4" Type="http://schemas.openxmlformats.org/officeDocument/2006/relationships/image" Target="../media/image99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A55C057-0D04-4511-8916-1D9500AAA7BD}"/>
              </a:ext>
            </a:extLst>
          </p:cNvPr>
          <p:cNvSpPr>
            <a:spLocks noGrp="1"/>
          </p:cNvSpPr>
          <p:nvPr>
            <p:ph type="ctrTitle"/>
          </p:nvPr>
        </p:nvSpPr>
        <p:spPr/>
        <p:txBody>
          <a:bodyPr/>
          <a:lstStyle/>
          <a:p>
            <a:endParaRPr lang="en-US"/>
          </a:p>
        </p:txBody>
      </p:sp>
      <p:pic>
        <p:nvPicPr>
          <p:cNvPr id="6" name="Picture 5">
            <a:extLst>
              <a:ext uri="{FF2B5EF4-FFF2-40B4-BE49-F238E27FC236}">
                <a16:creationId xmlns:a16="http://schemas.microsoft.com/office/drawing/2014/main" id="{441D2172-06A1-489D-9A3A-E17A0991EB1A}"/>
              </a:ext>
            </a:extLst>
          </p:cNvPr>
          <p:cNvPicPr>
            <a:picLocks noChangeAspect="1"/>
          </p:cNvPicPr>
          <p:nvPr/>
        </p:nvPicPr>
        <p:blipFill>
          <a:blip r:embed="rId3"/>
          <a:stretch>
            <a:fillRect/>
          </a:stretch>
        </p:blipFill>
        <p:spPr>
          <a:xfrm>
            <a:off x="2248445" y="780737"/>
            <a:ext cx="8003176" cy="4528929"/>
          </a:xfrm>
          <a:prstGeom prst="rect">
            <a:avLst/>
          </a:prstGeom>
        </p:spPr>
      </p:pic>
      <p:sp>
        <p:nvSpPr>
          <p:cNvPr id="8" name="Subtitle 7">
            <a:extLst>
              <a:ext uri="{FF2B5EF4-FFF2-40B4-BE49-F238E27FC236}">
                <a16:creationId xmlns:a16="http://schemas.microsoft.com/office/drawing/2014/main" id="{4FB75AF6-F260-40D1-A71D-53F6ADEA1FC2}"/>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90340080"/>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The nature of light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3392" y="933887"/>
                <a:ext cx="7979432" cy="5616624"/>
              </a:xfrm>
            </p:spPr>
            <p:txBody>
              <a:bodyPr>
                <a:normAutofit fontScale="92500" lnSpcReduction="10000"/>
              </a:bodyPr>
              <a:lstStyle/>
              <a:p>
                <a:r>
                  <a:rPr lang="en-US" altLang="zh-CN" dirty="0"/>
                  <a:t>The Triumph of Wave</a:t>
                </a:r>
              </a:p>
              <a:p>
                <a:pPr lvl="1"/>
                <a:r>
                  <a:rPr lang="en-US" altLang="zh-CN" dirty="0"/>
                  <a:t>1801 Young’s double slit interference</a:t>
                </a:r>
              </a:p>
              <a:p>
                <a:pPr lvl="1"/>
                <a:r>
                  <a:rPr lang="en-US" altLang="zh-CN" dirty="0"/>
                  <a:t>1860s Maxwell’s electromagnetic wave theory of light</a:t>
                </a:r>
              </a:p>
              <a:p>
                <a:r>
                  <a:rPr lang="en-US" altLang="zh-CN" dirty="0"/>
                  <a:t>Spectra of matter</a:t>
                </a:r>
              </a:p>
              <a:p>
                <a:pPr lvl="1"/>
                <a:r>
                  <a:rPr lang="en-US" altLang="zh-CN" dirty="0"/>
                  <a:t>he study of emission and absorption spectra of matter revealed characteristic spectral lines</a:t>
                </a:r>
              </a:p>
              <a:p>
                <a:pPr lvl="1"/>
                <a:r>
                  <a:rPr lang="en-US" altLang="zh-CN" dirty="0"/>
                  <a:t>Kirchhoff's Laws of thermal radiation</a:t>
                </a:r>
              </a:p>
              <a:p>
                <a:r>
                  <a:rPr lang="en-US" altLang="zh-CN" dirty="0"/>
                  <a:t>Blackbody Radiation</a:t>
                </a:r>
              </a:p>
              <a:p>
                <a:pPr lvl="1"/>
                <a:r>
                  <a:rPr lang="en-US" altLang="zh-CN" dirty="0"/>
                  <a:t>Planck’s formula and energy quantization</a:t>
                </a:r>
              </a:p>
              <a:p>
                <a:r>
                  <a:rPr lang="en-US" altLang="zh-CN" dirty="0">
                    <a:solidFill>
                      <a:srgbClr val="C00000"/>
                    </a:solidFill>
                  </a:rPr>
                  <a:t>The Return of Particle</a:t>
                </a:r>
              </a:p>
              <a:p>
                <a:pPr lvl="1"/>
                <a:r>
                  <a:rPr lang="en-US" altLang="zh-CN" dirty="0">
                    <a:solidFill>
                      <a:srgbClr val="C00000"/>
                    </a:solidFill>
                  </a:rPr>
                  <a:t>1905 Einstein’s theory of the Photoelectric Effect</a:t>
                </a:r>
                <a:r>
                  <a:rPr lang="zh-CN" altLang="en-US" dirty="0">
                    <a:solidFill>
                      <a:srgbClr val="C00000"/>
                    </a:solidFill>
                  </a:rPr>
                  <a:t>，</a:t>
                </a:r>
                <a14:m>
                  <m:oMath xmlns:m="http://schemas.openxmlformats.org/officeDocument/2006/math">
                    <m:r>
                      <a:rPr lang="en-US" altLang="zh-CN" b="0" i="1" smtClean="0">
                        <a:solidFill>
                          <a:srgbClr val="C00000"/>
                        </a:solidFill>
                        <a:latin typeface="Cambria Math" panose="02040503050406030204" pitchFamily="18" charset="0"/>
                      </a:rPr>
                      <m:t>𝐸</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h</m:t>
                    </m:r>
                    <m:r>
                      <a:rPr lang="en-US" altLang="zh-CN" b="0" i="1" smtClean="0">
                        <a:solidFill>
                          <a:srgbClr val="C00000"/>
                        </a:solidFill>
                        <a:latin typeface="Cambria Math" panose="02040503050406030204" pitchFamily="18" charset="0"/>
                      </a:rPr>
                      <m:t>𝜈</m:t>
                    </m:r>
                  </m:oMath>
                </a14:m>
                <a:endParaRPr lang="en-US" altLang="zh-CN" dirty="0">
                  <a:solidFill>
                    <a:srgbClr val="C00000"/>
                  </a:solidFill>
                </a:endParaRPr>
              </a:p>
              <a:p>
                <a:pPr lvl="1"/>
                <a:r>
                  <a:rPr lang="en-US" altLang="zh-CN" dirty="0">
                    <a:solidFill>
                      <a:srgbClr val="C00000"/>
                    </a:solidFill>
                  </a:rPr>
                  <a:t>1923 Compton Scattering</a:t>
                </a:r>
                <a:r>
                  <a:rPr lang="zh-CN" altLang="en-US" dirty="0">
                    <a:solidFill>
                      <a:srgbClr val="C00000"/>
                    </a:solidFill>
                  </a:rPr>
                  <a:t>，</a:t>
                </a:r>
                <a14:m>
                  <m:oMath xmlns:m="http://schemas.openxmlformats.org/officeDocument/2006/math">
                    <m:r>
                      <a:rPr lang="en-US" altLang="zh-CN" b="0" i="1" smtClean="0">
                        <a:solidFill>
                          <a:srgbClr val="C00000"/>
                        </a:solidFill>
                        <a:latin typeface="Cambria Math" panose="02040503050406030204" pitchFamily="18" charset="0"/>
                      </a:rPr>
                      <m:t>𝑝</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h</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𝜆</m:t>
                    </m:r>
                  </m:oMath>
                </a14:m>
                <a:endParaRPr lang="en-US" altLang="zh-CN" b="0" dirty="0">
                  <a:solidFill>
                    <a:srgbClr val="C00000"/>
                  </a:solidFill>
                </a:endParaRPr>
              </a:p>
              <a:p>
                <a:endParaRPr lang="en-US" altLang="zh-CN" dirty="0">
                  <a:solidFill>
                    <a:srgbClr val="C00000"/>
                  </a:solidFill>
                </a:endParaRPr>
              </a:p>
              <a:p>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3392" y="933887"/>
                <a:ext cx="7979432" cy="5616624"/>
              </a:xfrm>
              <a:blipFill>
                <a:blip r:embed="rId3"/>
                <a:stretch>
                  <a:fillRect l="-1146" t="-1627"/>
                </a:stretch>
              </a:blipFill>
            </p:spPr>
            <p:txBody>
              <a:bodyPr/>
              <a:lstStyle/>
              <a:p>
                <a:r>
                  <a:rPr lang="en-US">
                    <a:noFill/>
                  </a:rPr>
                  <a:t> </a:t>
                </a:r>
              </a:p>
            </p:txBody>
          </p:sp>
        </mc:Fallback>
      </mc:AlternateContent>
    </p:spTree>
    <p:extLst>
      <p:ext uri="{BB962C8B-B14F-4D97-AF65-F5344CB8AC3E}">
        <p14:creationId xmlns:p14="http://schemas.microsoft.com/office/powerpoint/2010/main" val="348901290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803DE1-2FD4-4D93-8F17-F8563BA4A66C}"/>
              </a:ext>
            </a:extLst>
          </p:cNvPr>
          <p:cNvSpPr>
            <a:spLocks noGrp="1"/>
          </p:cNvSpPr>
          <p:nvPr>
            <p:ph idx="1"/>
          </p:nvPr>
        </p:nvSpPr>
        <p:spPr>
          <a:xfrm>
            <a:off x="1004555" y="1642056"/>
            <a:ext cx="9820138" cy="4735187"/>
          </a:xfrm>
        </p:spPr>
        <p:txBody>
          <a:bodyPr/>
          <a:lstStyle/>
          <a:p>
            <a:pPr marL="0" indent="0">
              <a:buNone/>
            </a:pPr>
            <a:r>
              <a:rPr lang="en-US" dirty="0"/>
              <a:t>“I promise you four papers . . . , the first of which I could send you soon . . . The paper deals with radiation and the energetic properties of light and is very revolutionary, as you will see. . . .“</a:t>
            </a:r>
          </a:p>
          <a:p>
            <a:pPr marL="0" indent="0">
              <a:buNone/>
            </a:pPr>
            <a:endParaRPr lang="en-US" dirty="0"/>
          </a:p>
          <a:p>
            <a:pPr marL="0" indent="0">
              <a:buNone/>
            </a:pPr>
            <a:r>
              <a:rPr lang="en-US" dirty="0"/>
              <a:t>							Albert	 Einstein 1905	</a:t>
            </a:r>
          </a:p>
          <a:p>
            <a:pPr marL="0" indent="0">
              <a:buNone/>
            </a:pPr>
            <a:endParaRPr lang="en-US" dirty="0"/>
          </a:p>
          <a:p>
            <a:endParaRPr lang="en-US" dirty="0"/>
          </a:p>
        </p:txBody>
      </p:sp>
    </p:spTree>
    <p:extLst>
      <p:ext uri="{BB962C8B-B14F-4D97-AF65-F5344CB8AC3E}">
        <p14:creationId xmlns:p14="http://schemas.microsoft.com/office/powerpoint/2010/main" val="28715021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iterate type="wd">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3000"/>
                                        <p:tgtEl>
                                          <p:spTgt spid="3">
                                            <p:txEl>
                                              <p:pRg st="0" end="0"/>
                                            </p:txEl>
                                          </p:spTgt>
                                        </p:tgtEl>
                                      </p:cBhvr>
                                    </p:animEffect>
                                  </p:childTnLst>
                                </p:cTn>
                              </p:par>
                            </p:childTnLst>
                          </p:cTn>
                        </p:par>
                        <p:par>
                          <p:cTn id="8" fill="hold">
                            <p:stCondLst>
                              <p:cond delay="16500"/>
                            </p:stCondLst>
                            <p:childTnLst>
                              <p:par>
                                <p:cTn id="9" presetID="22" presetClass="entr" presetSubtype="4"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down)">
                                      <p:cBhvr>
                                        <p:cTn id="1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872" y="201520"/>
            <a:ext cx="11668256" cy="551589"/>
          </a:xfrm>
        </p:spPr>
        <p:txBody>
          <a:bodyPr/>
          <a:lstStyle/>
          <a:p>
            <a:r>
              <a:rPr lang="en-US" altLang="zh-CN" dirty="0">
                <a:latin typeface="Times New Roman" panose="02020603050405020304" pitchFamily="18" charset="0"/>
                <a:cs typeface="Times New Roman" panose="02020603050405020304" pitchFamily="18" charset="0"/>
              </a:rPr>
              <a:t>1905 Einstein’s miraculous year: five papers that change the face of physics</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76752" y="950771"/>
                <a:ext cx="9178734" cy="5498973"/>
              </a:xfrm>
            </p:spPr>
            <p:txBody>
              <a:bodyPr>
                <a:normAutofit/>
              </a:bodyPr>
              <a:lstStyle/>
              <a:p>
                <a:r>
                  <a:rPr lang="en-US" altLang="zh-CN" dirty="0">
                    <a:latin typeface="Times New Roman" panose="02020603050405020304" pitchFamily="18" charset="0"/>
                    <a:cs typeface="Times New Roman" panose="02020603050405020304" pitchFamily="18" charset="0"/>
                  </a:rPr>
                  <a:t>Apply Newtonian mechanics to the microscopic world</a:t>
                </a:r>
              </a:p>
              <a:p>
                <a:pPr lvl="1"/>
                <a:r>
                  <a:rPr lang="zh-CN" altLang="en-US" dirty="0">
                    <a:latin typeface="Times New Roman" panose="02020603050405020304" pitchFamily="18" charset="0"/>
                    <a:cs typeface="Times New Roman" panose="02020603050405020304" pitchFamily="18" charset="0"/>
                  </a:rPr>
                  <a:t>② </a:t>
                </a:r>
                <a:r>
                  <a:rPr lang="en-US" altLang="zh-CN" dirty="0">
                    <a:latin typeface="Times New Roman" panose="02020603050405020304" pitchFamily="18" charset="0"/>
                    <a:cs typeface="Times New Roman" panose="02020603050405020304" pitchFamily="18" charset="0"/>
                  </a:rPr>
                  <a:t>Estimated Avogadro's number and the size of molecules</a:t>
                </a:r>
              </a:p>
              <a:p>
                <a:pPr lvl="1"/>
                <a:r>
                  <a:rPr lang="zh-CN" altLang="en-US" dirty="0">
                    <a:latin typeface="Times New Roman" panose="02020603050405020304" pitchFamily="18" charset="0"/>
                    <a:cs typeface="Times New Roman" panose="02020603050405020304" pitchFamily="18" charset="0"/>
                  </a:rPr>
                  <a:t>③ </a:t>
                </a:r>
                <a:r>
                  <a:rPr lang="en-US" altLang="zh-CN" dirty="0">
                    <a:latin typeface="Times New Roman" panose="02020603050405020304" pitchFamily="18" charset="0"/>
                    <a:cs typeface="Times New Roman" panose="02020603050405020304" pitchFamily="18" charset="0"/>
                  </a:rPr>
                  <a:t>Quantitatively explained Brownian motion</a:t>
                </a:r>
              </a:p>
              <a:p>
                <a:r>
                  <a:rPr lang="en-US" altLang="zh-CN" dirty="0">
                    <a:latin typeface="Times New Roman" panose="02020603050405020304" pitchFamily="18" charset="0"/>
                    <a:cs typeface="Times New Roman" panose="02020603050405020304" pitchFamily="18" charset="0"/>
                  </a:rPr>
                  <a:t>Modify Newtonian mechanics to make it compatible with  Maxwell’s theory</a:t>
                </a:r>
              </a:p>
              <a:p>
                <a:pPr lvl="1"/>
                <a:r>
                  <a:rPr lang="zh-CN" altLang="en-US" dirty="0">
                    <a:latin typeface="Times New Roman" panose="02020603050405020304" pitchFamily="18" charset="0"/>
                    <a:cs typeface="Times New Roman" panose="02020603050405020304" pitchFamily="18" charset="0"/>
                  </a:rPr>
                  <a:t>④ </a:t>
                </a:r>
                <a:r>
                  <a:rPr lang="en-US" altLang="zh-CN" dirty="0">
                    <a:latin typeface="Times New Roman" panose="02020603050405020304" pitchFamily="18" charset="0"/>
                    <a:cs typeface="Times New Roman" panose="02020603050405020304" pitchFamily="18" charset="0"/>
                  </a:rPr>
                  <a:t>The special theory of relativity</a:t>
                </a:r>
              </a:p>
              <a:p>
                <a:pPr lvl="1"/>
                <a:r>
                  <a:rPr lang="zh-CN" altLang="en-US" dirty="0">
                    <a:latin typeface="Times New Roman" panose="02020603050405020304" pitchFamily="18" charset="0"/>
                    <a:cs typeface="Times New Roman" panose="02020603050405020304" pitchFamily="18" charset="0"/>
                  </a:rPr>
                  <a:t>⑤ </a:t>
                </a:r>
                <a14:m>
                  <m:oMath xmlns:m="http://schemas.openxmlformats.org/officeDocument/2006/math">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2</m:t>
                        </m:r>
                      </m:sup>
                    </m:sSup>
                  </m:oMath>
                </a14:m>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Break free from Maxwell’s theory</a:t>
                </a:r>
              </a:p>
              <a:p>
                <a:pPr lvl="1"/>
                <a:r>
                  <a:rPr lang="zh-CN" altLang="en-US" dirty="0">
                    <a:latin typeface="Times New Roman" panose="02020603050405020304" pitchFamily="18" charset="0"/>
                    <a:cs typeface="Times New Roman" panose="02020603050405020304" pitchFamily="18" charset="0"/>
                  </a:rPr>
                  <a:t>① </a:t>
                </a:r>
                <a:r>
                  <a:rPr lang="en-US" altLang="zh-CN" dirty="0">
                    <a:latin typeface="Times New Roman" panose="02020603050405020304" pitchFamily="18" charset="0"/>
                    <a:cs typeface="Times New Roman" panose="02020603050405020304" pitchFamily="18" charset="0"/>
                  </a:rPr>
                  <a:t>The quantum theory of light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76752" y="950771"/>
                <a:ext cx="9178734" cy="5498973"/>
              </a:xfrm>
              <a:blipFill>
                <a:blip r:embed="rId3"/>
                <a:stretch>
                  <a:fillRect l="-1195" t="-1220"/>
                </a:stretch>
              </a:blipFill>
            </p:spPr>
            <p:txBody>
              <a:bodyPr/>
              <a:lstStyle/>
              <a:p>
                <a:r>
                  <a:rPr lang="zh-CN" altLang="en-US">
                    <a:noFill/>
                  </a:rPr>
                  <a:t> </a:t>
                </a:r>
              </a:p>
            </p:txBody>
          </p:sp>
        </mc:Fallback>
      </mc:AlternateContent>
      <p:pic>
        <p:nvPicPr>
          <p:cNvPr id="2050" name="Picture 2" descr="Head and shoulders shot of a young, moustached man with dark, curly hair wearing a plaid suit and vest, striped shirt, and a dark ti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3" y="803966"/>
            <a:ext cx="1619250" cy="2114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0249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65"/>
          <p:cNvGrpSpPr/>
          <p:nvPr/>
        </p:nvGrpSpPr>
        <p:grpSpPr>
          <a:xfrm>
            <a:off x="4818036" y="3593448"/>
            <a:ext cx="2400995" cy="2874537"/>
            <a:chOff x="4818036" y="3593448"/>
            <a:chExt cx="2400995" cy="2874537"/>
          </a:xfrm>
        </p:grpSpPr>
        <p:grpSp>
          <p:nvGrpSpPr>
            <p:cNvPr id="11" name="Group 10"/>
            <p:cNvGrpSpPr/>
            <p:nvPr/>
          </p:nvGrpSpPr>
          <p:grpSpPr>
            <a:xfrm>
              <a:off x="4818036" y="4020650"/>
              <a:ext cx="2400995" cy="2447335"/>
              <a:chOff x="7006356" y="3873842"/>
              <a:chExt cx="2400995" cy="2447335"/>
            </a:xfrm>
          </p:grpSpPr>
          <p:sp>
            <p:nvSpPr>
              <p:cNvPr id="9" name="Oval 8"/>
              <p:cNvSpPr/>
              <p:nvPr/>
            </p:nvSpPr>
            <p:spPr>
              <a:xfrm>
                <a:off x="7006356" y="3873842"/>
                <a:ext cx="2400995" cy="2447335"/>
              </a:xfrm>
              <a:prstGeom prst="ellipse">
                <a:avLst/>
              </a:prstGeom>
              <a:pattFill prst="wdUpDiag">
                <a:fgClr>
                  <a:schemeClr val="accent1">
                    <a:lumMod val="60000"/>
                    <a:lumOff val="40000"/>
                  </a:schemeClr>
                </a:fgClr>
                <a:bgClr>
                  <a:schemeClr val="bg1"/>
                </a:bgClr>
              </a:pattFill>
              <a:ln w="25400"/>
            </p:spPr>
            <p:style>
              <a:lnRef idx="2">
                <a:schemeClr val="accent6"/>
              </a:lnRef>
              <a:fillRef idx="1">
                <a:schemeClr val="lt1"/>
              </a:fillRef>
              <a:effectRef idx="0">
                <a:schemeClr val="accent6"/>
              </a:effectRef>
              <a:fontRef idx="minor">
                <a:schemeClr val="dk1"/>
              </a:fontRef>
            </p:style>
            <p:txBody>
              <a:bodyPr lIns="0" rIns="0" rtlCol="0" anchor="ctr"/>
              <a:lstStyle/>
              <a:p>
                <a:pPr algn="r"/>
                <a:endParaRPr lang="zh-CN" altLang="en-US" dirty="0"/>
              </a:p>
            </p:txBody>
          </p:sp>
          <p:sp>
            <p:nvSpPr>
              <p:cNvPr id="8" name="Oval 7"/>
              <p:cNvSpPr/>
              <p:nvPr/>
            </p:nvSpPr>
            <p:spPr>
              <a:xfrm>
                <a:off x="7391042" y="4290683"/>
                <a:ext cx="1631625" cy="1613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A</a:t>
                </a:r>
                <a:endParaRPr lang="zh-CN" altLang="en-US" dirty="0"/>
              </a:p>
            </p:txBody>
          </p:sp>
          <p:sp>
            <p:nvSpPr>
              <p:cNvPr id="10" name="TextBox 9"/>
              <p:cNvSpPr txBox="1"/>
              <p:nvPr/>
            </p:nvSpPr>
            <p:spPr>
              <a:xfrm>
                <a:off x="8793186" y="4197350"/>
                <a:ext cx="415498" cy="584775"/>
              </a:xfrm>
              <a:prstGeom prst="rect">
                <a:avLst/>
              </a:prstGeom>
              <a:noFill/>
            </p:spPr>
            <p:txBody>
              <a:bodyPr wrap="none" rtlCol="0">
                <a:spAutoFit/>
              </a:bodyPr>
              <a:lstStyle/>
              <a:p>
                <a:r>
                  <a:rPr lang="en-US" altLang="zh-CN" sz="3200" b="1" dirty="0">
                    <a:ea typeface="黑体" panose="02010609060101010101" pitchFamily="49" charset="-122"/>
                  </a:rPr>
                  <a:t>B</a:t>
                </a:r>
                <a:endParaRPr lang="zh-CN" altLang="en-US" sz="2000" b="1" dirty="0">
                  <a:ea typeface="黑体" panose="02010609060101010101" pitchFamily="49" charset="-122"/>
                </a:endParaRPr>
              </a:p>
            </p:txBody>
          </p:sp>
        </p:grpSp>
        <p:sp>
          <p:nvSpPr>
            <p:cNvPr id="65" name="TextBox 64"/>
            <p:cNvSpPr txBox="1"/>
            <p:nvPr/>
          </p:nvSpPr>
          <p:spPr>
            <a:xfrm>
              <a:off x="5423855" y="3593448"/>
              <a:ext cx="1252266" cy="400110"/>
            </a:xfrm>
            <a:prstGeom prst="rect">
              <a:avLst/>
            </a:prstGeom>
            <a:noFill/>
          </p:spPr>
          <p:txBody>
            <a:bodyPr wrap="none" rtlCol="0">
              <a:spAutoFit/>
            </a:bodyPr>
            <a:lstStyle/>
            <a:p>
              <a:r>
                <a:rPr lang="en-US" altLang="zh-CN" sz="2000" dirty="0">
                  <a:ea typeface="黑体" panose="02010609060101010101" pitchFamily="49" charset="-122"/>
                </a:rPr>
                <a:t>Blackbody</a:t>
              </a:r>
              <a:endParaRPr lang="zh-CN" altLang="en-US" sz="2000" dirty="0">
                <a:ea typeface="黑体" panose="02010609060101010101" pitchFamily="49" charset="-122"/>
              </a:endParaRPr>
            </a:p>
          </p:txBody>
        </p:sp>
      </p:grpSp>
      <p:grpSp>
        <p:nvGrpSpPr>
          <p:cNvPr id="64" name="Group 63"/>
          <p:cNvGrpSpPr/>
          <p:nvPr/>
        </p:nvGrpSpPr>
        <p:grpSpPr>
          <a:xfrm>
            <a:off x="1016808" y="3994575"/>
            <a:ext cx="3018971" cy="1865542"/>
            <a:chOff x="1016808" y="3994575"/>
            <a:chExt cx="3018971" cy="1865542"/>
          </a:xfrm>
        </p:grpSpPr>
        <p:grpSp>
          <p:nvGrpSpPr>
            <p:cNvPr id="62" name="Group 61"/>
            <p:cNvGrpSpPr/>
            <p:nvPr/>
          </p:nvGrpSpPr>
          <p:grpSpPr>
            <a:xfrm>
              <a:off x="1016808" y="4437009"/>
              <a:ext cx="3018971" cy="1423108"/>
              <a:chOff x="1016808" y="4437009"/>
              <a:chExt cx="3018971" cy="1423108"/>
            </a:xfrm>
          </p:grpSpPr>
          <p:grpSp>
            <p:nvGrpSpPr>
              <p:cNvPr id="12" name="Group 11"/>
              <p:cNvGrpSpPr/>
              <p:nvPr/>
            </p:nvGrpSpPr>
            <p:grpSpPr>
              <a:xfrm>
                <a:off x="1016808" y="4437009"/>
                <a:ext cx="3018971" cy="1423108"/>
                <a:chOff x="1473722" y="4574289"/>
                <a:chExt cx="3018971" cy="1423108"/>
              </a:xfrm>
            </p:grpSpPr>
            <p:sp>
              <p:nvSpPr>
                <p:cNvPr id="5" name="Rectangle: Rounded Corners 4"/>
                <p:cNvSpPr/>
                <p:nvPr/>
              </p:nvSpPr>
              <p:spPr>
                <a:xfrm>
                  <a:off x="1473722" y="4574289"/>
                  <a:ext cx="3018971" cy="142310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r"/>
                  <a:r>
                    <a:rPr lang="en-US" altLang="zh-CN" sz="3600" dirty="0"/>
                    <a:t>B</a:t>
                  </a:r>
                  <a:endParaRPr lang="zh-CN" altLang="en-US" sz="3600" dirty="0"/>
                </a:p>
              </p:txBody>
            </p:sp>
            <mc:AlternateContent xmlns:mc="http://schemas.openxmlformats.org/markup-compatibility/2006" xmlns:a14="http://schemas.microsoft.com/office/drawing/2010/main">
              <mc:Choice Requires="a14">
                <p:sp>
                  <p:nvSpPr>
                    <p:cNvPr id="7" name="TextBox 6"/>
                    <p:cNvSpPr txBox="1"/>
                    <p:nvPr/>
                  </p:nvSpPr>
                  <p:spPr>
                    <a:xfrm>
                      <a:off x="1517816" y="4574289"/>
                      <a:ext cx="48750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ea typeface="黑体" panose="02010609060101010101" pitchFamily="49" charset="-122"/>
                              </a:rPr>
                              <m:t>𝑇</m:t>
                            </m:r>
                          </m:oMath>
                        </m:oMathPara>
                      </a14:m>
                      <a:endParaRPr lang="zh-CN" altLang="en-US" sz="2000" dirty="0">
                        <a:ea typeface="黑体" panose="02010609060101010101" pitchFamily="49" charset="-122"/>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517816" y="4574289"/>
                      <a:ext cx="487505" cy="523220"/>
                    </a:xfrm>
                    <a:prstGeom prst="rect">
                      <a:avLst/>
                    </a:prstGeom>
                    <a:blipFill>
                      <a:blip r:embed="rId3"/>
                      <a:stretch>
                        <a:fillRect/>
                      </a:stretch>
                    </a:blipFill>
                  </p:spPr>
                  <p:txBody>
                    <a:bodyPr/>
                    <a:lstStyle/>
                    <a:p>
                      <a:r>
                        <a:rPr lang="zh-CN" altLang="en-US">
                          <a:noFill/>
                        </a:rPr>
                        <a:t> </a:t>
                      </a:r>
                    </a:p>
                  </p:txBody>
                </p:sp>
              </mc:Fallback>
            </mc:AlternateContent>
          </p:grpSp>
          <p:sp>
            <p:nvSpPr>
              <p:cNvPr id="16" name="Rectangle: Rounded Corners 15"/>
              <p:cNvSpPr/>
              <p:nvPr/>
            </p:nvSpPr>
            <p:spPr>
              <a:xfrm>
                <a:off x="1923949" y="4773540"/>
                <a:ext cx="1204688" cy="739945"/>
              </a:xfrm>
              <a:prstGeom prst="roundRect">
                <a:avLst/>
              </a:prstGeom>
              <a:ln>
                <a:prstDash val="dash"/>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377" rtl="0" eaLnBrk="1" latinLnBrk="0" hangingPunct="1">
                  <a:defRPr sz="1800" kern="1200">
                    <a:solidFill>
                      <a:schemeClr val="dk1"/>
                    </a:solidFill>
                    <a:latin typeface="+mn-lt"/>
                    <a:ea typeface="+mn-ea"/>
                    <a:cs typeface="+mn-cs"/>
                  </a:defRPr>
                </a:lvl1pPr>
                <a:lvl2pPr marL="457189" algn="l" defTabSz="914377" rtl="0" eaLnBrk="1" latinLnBrk="0" hangingPunct="1">
                  <a:defRPr sz="1800" kern="1200">
                    <a:solidFill>
                      <a:schemeClr val="dk1"/>
                    </a:solidFill>
                    <a:latin typeface="+mn-lt"/>
                    <a:ea typeface="+mn-ea"/>
                    <a:cs typeface="+mn-cs"/>
                  </a:defRPr>
                </a:lvl2pPr>
                <a:lvl3pPr marL="914377" algn="l" defTabSz="914377" rtl="0" eaLnBrk="1" latinLnBrk="0" hangingPunct="1">
                  <a:defRPr sz="1800" kern="1200">
                    <a:solidFill>
                      <a:schemeClr val="dk1"/>
                    </a:solidFill>
                    <a:latin typeface="+mn-lt"/>
                    <a:ea typeface="+mn-ea"/>
                    <a:cs typeface="+mn-cs"/>
                  </a:defRPr>
                </a:lvl3pPr>
                <a:lvl4pPr marL="1371566" algn="l" defTabSz="914377" rtl="0" eaLnBrk="1" latinLnBrk="0" hangingPunct="1">
                  <a:defRPr sz="1800" kern="1200">
                    <a:solidFill>
                      <a:schemeClr val="dk1"/>
                    </a:solidFill>
                    <a:latin typeface="+mn-lt"/>
                    <a:ea typeface="+mn-ea"/>
                    <a:cs typeface="+mn-cs"/>
                  </a:defRPr>
                </a:lvl4pPr>
                <a:lvl5pPr marL="1828754" algn="l" defTabSz="914377" rtl="0" eaLnBrk="1" latinLnBrk="0" hangingPunct="1">
                  <a:defRPr sz="1800" kern="1200">
                    <a:solidFill>
                      <a:schemeClr val="dk1"/>
                    </a:solidFill>
                    <a:latin typeface="+mn-lt"/>
                    <a:ea typeface="+mn-ea"/>
                    <a:cs typeface="+mn-cs"/>
                  </a:defRPr>
                </a:lvl5pPr>
                <a:lvl6pPr marL="2285943" algn="l" defTabSz="914377" rtl="0" eaLnBrk="1" latinLnBrk="0" hangingPunct="1">
                  <a:defRPr sz="1800" kern="1200">
                    <a:solidFill>
                      <a:schemeClr val="dk1"/>
                    </a:solidFill>
                    <a:latin typeface="+mn-lt"/>
                    <a:ea typeface="+mn-ea"/>
                    <a:cs typeface="+mn-cs"/>
                  </a:defRPr>
                </a:lvl6pPr>
                <a:lvl7pPr marL="2743131" algn="l" defTabSz="914377" rtl="0" eaLnBrk="1" latinLnBrk="0" hangingPunct="1">
                  <a:defRPr sz="1800" kern="1200">
                    <a:solidFill>
                      <a:schemeClr val="dk1"/>
                    </a:solidFill>
                    <a:latin typeface="+mn-lt"/>
                    <a:ea typeface="+mn-ea"/>
                    <a:cs typeface="+mn-cs"/>
                  </a:defRPr>
                </a:lvl7pPr>
                <a:lvl8pPr marL="3200320" algn="l" defTabSz="914377" rtl="0" eaLnBrk="1" latinLnBrk="0" hangingPunct="1">
                  <a:defRPr sz="1800" kern="1200">
                    <a:solidFill>
                      <a:schemeClr val="dk1"/>
                    </a:solidFill>
                    <a:latin typeface="+mn-lt"/>
                    <a:ea typeface="+mn-ea"/>
                    <a:cs typeface="+mn-cs"/>
                  </a:defRPr>
                </a:lvl8pPr>
                <a:lvl9pPr marL="3657509" algn="l" defTabSz="914377" rtl="0" eaLnBrk="1" latinLnBrk="0" hangingPunct="1">
                  <a:defRPr sz="1800" kern="1200">
                    <a:solidFill>
                      <a:schemeClr val="dk1"/>
                    </a:solidFill>
                    <a:latin typeface="+mn-lt"/>
                    <a:ea typeface="+mn-ea"/>
                    <a:cs typeface="+mn-cs"/>
                  </a:defRPr>
                </a:lvl9pPr>
              </a:lstStyle>
              <a:p>
                <a:pPr algn="ctr"/>
                <a:r>
                  <a:rPr lang="en-US" altLang="zh-CN" sz="3200" dirty="0">
                    <a:solidFill>
                      <a:schemeClr val="tx1"/>
                    </a:solidFill>
                  </a:rPr>
                  <a:t>A</a:t>
                </a:r>
                <a:endParaRPr lang="zh-CN" altLang="en-US" dirty="0">
                  <a:solidFill>
                    <a:schemeClr val="tx1"/>
                  </a:solidFill>
                </a:endParaRPr>
              </a:p>
            </p:txBody>
          </p:sp>
        </p:grpSp>
        <p:sp>
          <p:nvSpPr>
            <p:cNvPr id="63" name="TextBox 62"/>
            <p:cNvSpPr txBox="1"/>
            <p:nvPr/>
          </p:nvSpPr>
          <p:spPr>
            <a:xfrm>
              <a:off x="1839868" y="3994575"/>
              <a:ext cx="1688283" cy="400110"/>
            </a:xfrm>
            <a:prstGeom prst="rect">
              <a:avLst/>
            </a:prstGeom>
            <a:noFill/>
          </p:spPr>
          <p:txBody>
            <a:bodyPr wrap="none" rtlCol="0">
              <a:spAutoFit/>
            </a:bodyPr>
            <a:lstStyle/>
            <a:p>
              <a:r>
                <a:rPr lang="en-US" altLang="zh-CN" sz="2000" dirty="0">
                  <a:ea typeface="黑体" panose="02010609060101010101" pitchFamily="49" charset="-122"/>
                </a:rPr>
                <a:t>Gas</a:t>
              </a:r>
              <a:r>
                <a:rPr lang="zh-CN" altLang="en-US" sz="2000" dirty="0">
                  <a:ea typeface="黑体" panose="02010609060101010101" pitchFamily="49" charset="-122"/>
                </a:rPr>
                <a:t> </a:t>
              </a:r>
              <a:r>
                <a:rPr lang="en-US" altLang="zh-CN" sz="2000" dirty="0">
                  <a:ea typeface="黑体" panose="02010609060101010101" pitchFamily="49" charset="-122"/>
                </a:rPr>
                <a:t>molecules</a:t>
              </a:r>
              <a:endParaRPr lang="zh-CN" altLang="en-US" sz="2000" dirty="0">
                <a:ea typeface="黑体" panose="02010609060101010101" pitchFamily="49" charset="-122"/>
              </a:endParaRPr>
            </a:p>
          </p:txBody>
        </p:sp>
      </p:grpSp>
      <p:sp>
        <p:nvSpPr>
          <p:cNvPr id="2" name="Title 1"/>
          <p:cNvSpPr>
            <a:spLocks noGrp="1"/>
          </p:cNvSpPr>
          <p:nvPr>
            <p:ph type="title"/>
          </p:nvPr>
        </p:nvSpPr>
        <p:spPr>
          <a:xfrm>
            <a:off x="476521" y="176283"/>
            <a:ext cx="8070980" cy="551589"/>
          </a:xfrm>
        </p:spPr>
        <p:txBody>
          <a:bodyPr/>
          <a:lstStyle/>
          <a:p>
            <a:r>
              <a:rPr lang="en-US" altLang="zh-CN" dirty="0">
                <a:latin typeface="Times New Roman" panose="02020603050405020304" pitchFamily="18" charset="0"/>
                <a:cs typeface="Times New Roman" panose="02020603050405020304" pitchFamily="18" charset="0"/>
              </a:rPr>
              <a:t>Einstein’s light quanta</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27278" y="1918952"/>
                <a:ext cx="10251583" cy="1685042"/>
              </a:xfrm>
            </p:spPr>
            <p:txBody>
              <a:bodyPr>
                <a:normAutofit/>
              </a:bodyPr>
              <a:lstStyle/>
              <a:p>
                <a:pPr marL="0" indent="0">
                  <a:buNone/>
                </a:pPr>
                <a:r>
                  <a:rPr lang="en-US" altLang="zh-CN" sz="2000" dirty="0">
                    <a:solidFill>
                      <a:schemeClr val="tx1"/>
                    </a:solidFill>
                    <a:latin typeface="Times New Roman" panose="02020603050405020304" pitchFamily="18" charset="0"/>
                    <a:cs typeface="Times New Roman" panose="02020603050405020304" pitchFamily="18" charset="0"/>
                  </a:rPr>
                  <a:t>Einstein (1905): monochromatic radiation  is composed of independent quanta of energy </a:t>
                </a:r>
                <a14:m>
                  <m:oMath xmlns:m="http://schemas.openxmlformats.org/officeDocument/2006/math">
                    <m:r>
                      <a:rPr lang="en-US" altLang="zh-CN" sz="2000" i="1">
                        <a:solidFill>
                          <a:schemeClr val="tx1"/>
                        </a:solidFill>
                        <a:latin typeface="Cambria Math" panose="02040503050406030204" pitchFamily="18" charset="0"/>
                      </a:rPr>
                      <m:t>h</m:t>
                    </m:r>
                    <m:r>
                      <a:rPr lang="en-US" altLang="zh-CN" sz="2000" i="1">
                        <a:solidFill>
                          <a:schemeClr val="tx1"/>
                        </a:solidFill>
                        <a:latin typeface="Cambria Math" panose="02040503050406030204" pitchFamily="18" charset="0"/>
                      </a:rPr>
                      <m:t>𝜈</m:t>
                    </m:r>
                  </m:oMath>
                </a14:m>
                <a:r>
                  <a:rPr lang="en-US" altLang="zh-CN" sz="2000" dirty="0">
                    <a:solidFill>
                      <a:schemeClr val="tx1"/>
                    </a:solidFill>
                    <a:latin typeface="Times New Roman" panose="02020603050405020304" pitchFamily="18" charset="0"/>
                    <a:cs typeface="Times New Roman" panose="02020603050405020304" pitchFamily="18" charset="0"/>
                  </a:rPr>
                  <a:t>, which can only be emitted or absorbed as a whole by matter</a:t>
                </a:r>
                <a:r>
                  <a:rPr lang="en-US" altLang="zh-CN" sz="2000" dirty="0">
                    <a:latin typeface="Times New Roman" panose="02020603050405020304" pitchFamily="18" charset="0"/>
                    <a:cs typeface="Times New Roman" panose="02020603050405020304" pitchFamily="18" charset="0"/>
                  </a:rPr>
                  <a:t>. </a:t>
                </a:r>
              </a:p>
              <a:p>
                <a:pPr marL="0" indent="0">
                  <a:buNone/>
                </a:pPr>
                <a:r>
                  <a:rPr lang="en-US" altLang="zh-CN" sz="2000" dirty="0">
                    <a:solidFill>
                      <a:srgbClr val="0070C0"/>
                    </a:solidFill>
                    <a:latin typeface="Times New Roman" panose="02020603050405020304" pitchFamily="18" charset="0"/>
                    <a:cs typeface="Times New Roman" panose="02020603050405020304" pitchFamily="18" charset="0"/>
                  </a:rPr>
                  <a:t>This theory not only gave a natural explanation of the Blackbody radiation, but also successfully explained the photo-electric effect.</a:t>
                </a:r>
              </a:p>
              <a:p>
                <a:pPr marL="0" indent="0">
                  <a:buNone/>
                </a:pPr>
                <a:endParaRPr lang="en-US" altLang="zh-CN"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27278" y="1918952"/>
                <a:ext cx="10251583" cy="1685042"/>
              </a:xfrm>
              <a:blipFill>
                <a:blip r:embed="rId4"/>
                <a:stretch>
                  <a:fillRect l="-595" t="-2174"/>
                </a:stretch>
              </a:blipFill>
            </p:spPr>
            <p:txBody>
              <a:bodyPr/>
              <a:lstStyle/>
              <a:p>
                <a:r>
                  <a:rPr lang="en-US">
                    <a:noFill/>
                  </a:rPr>
                  <a:t> </a:t>
                </a:r>
              </a:p>
            </p:txBody>
          </p:sp>
        </mc:Fallback>
      </mc:AlternateContent>
      <p:sp>
        <p:nvSpPr>
          <p:cNvPr id="4" name="Rectangle 3"/>
          <p:cNvSpPr/>
          <p:nvPr/>
        </p:nvSpPr>
        <p:spPr>
          <a:xfrm>
            <a:off x="927279" y="801986"/>
            <a:ext cx="10555945" cy="1323439"/>
          </a:xfrm>
          <a:prstGeom prst="rect">
            <a:avLst/>
          </a:prstGeom>
        </p:spPr>
        <p:txBody>
          <a:bodyPr wrap="square">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Planck proposed the quantization of energy first, but he restricted his quantization to the behavior of the material oscillators and even regarded it as a mathematical trick. </a:t>
            </a:r>
            <a:r>
              <a:rPr lang="en-US" altLang="zh-CN" sz="2000" dirty="0">
                <a:solidFill>
                  <a:schemeClr val="tx1"/>
                </a:solidFill>
                <a:latin typeface="Times New Roman" panose="02020603050405020304" pitchFamily="18" charset="0"/>
                <a:cs typeface="Times New Roman" panose="02020603050405020304" pitchFamily="18" charset="0"/>
              </a:rPr>
              <a:t>His quantum theory did not get much attention, and was not pursued even by himself</a:t>
            </a:r>
            <a:r>
              <a:rPr lang="zh-CN" altLang="en-US" sz="2000" dirty="0">
                <a:solidFill>
                  <a:schemeClr val="tx1"/>
                </a:solidFill>
                <a:latin typeface="Times New Roman" panose="02020603050405020304" pitchFamily="18" charset="0"/>
                <a:cs typeface="Times New Roman" panose="02020603050405020304" pitchFamily="18" charset="0"/>
              </a:rPr>
              <a:t>。</a:t>
            </a:r>
            <a:endParaRPr lang="en-US" altLang="zh-CN" sz="2000" dirty="0">
              <a:solidFill>
                <a:schemeClr val="tx1"/>
              </a:solidFill>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Rectangle 12"/>
          <p:cNvSpPr/>
          <p:nvPr/>
        </p:nvSpPr>
        <p:spPr>
          <a:xfrm>
            <a:off x="1625090" y="2610105"/>
            <a:ext cx="184731" cy="498663"/>
          </a:xfrm>
          <a:prstGeom prst="rect">
            <a:avLst/>
          </a:prstGeom>
        </p:spPr>
        <p:txBody>
          <a:bodyPr wrap="none">
            <a:spAutoFit/>
          </a:bodyPr>
          <a:lstStyle/>
          <a:p>
            <a:pPr>
              <a:lnSpc>
                <a:spcPct val="150000"/>
              </a:lnSpc>
            </a:pPr>
            <a:endPar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61" name="Group 60"/>
          <p:cNvGrpSpPr/>
          <p:nvPr/>
        </p:nvGrpSpPr>
        <p:grpSpPr>
          <a:xfrm>
            <a:off x="1349926" y="4554786"/>
            <a:ext cx="2092516" cy="1140787"/>
            <a:chOff x="1260100" y="4584950"/>
            <a:chExt cx="2092516" cy="1140787"/>
          </a:xfrm>
        </p:grpSpPr>
        <p:grpSp>
          <p:nvGrpSpPr>
            <p:cNvPr id="32" name="Group 31"/>
            <p:cNvGrpSpPr/>
            <p:nvPr/>
          </p:nvGrpSpPr>
          <p:grpSpPr>
            <a:xfrm>
              <a:off x="2950553" y="4729798"/>
              <a:ext cx="402063" cy="271642"/>
              <a:chOff x="2950553" y="4729798"/>
              <a:chExt cx="402063" cy="271642"/>
            </a:xfrm>
          </p:grpSpPr>
          <p:sp>
            <p:nvSpPr>
              <p:cNvPr id="17" name="Oval 16"/>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Straight Arrow Connector 18"/>
              <p:cNvCxnSpPr>
                <a:stCxn id="17"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rot="15171852">
              <a:off x="2289814" y="5388885"/>
              <a:ext cx="402063" cy="271642"/>
              <a:chOff x="2950553" y="4729798"/>
              <a:chExt cx="402063" cy="271642"/>
            </a:xfrm>
          </p:grpSpPr>
          <p:sp>
            <p:nvSpPr>
              <p:cNvPr id="34" name="Oval 33"/>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Straight Arrow Connector 34"/>
              <p:cNvCxnSpPr>
                <a:stCxn id="34"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rot="16200000">
              <a:off x="1665126" y="4937629"/>
              <a:ext cx="402063" cy="271642"/>
              <a:chOff x="2950553" y="4729798"/>
              <a:chExt cx="402063" cy="271642"/>
            </a:xfrm>
          </p:grpSpPr>
          <p:sp>
            <p:nvSpPr>
              <p:cNvPr id="37" name="Oval 36"/>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Straight Arrow Connector 37"/>
              <p:cNvCxnSpPr>
                <a:stCxn id="37"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rot="10800000">
              <a:off x="1260100" y="5225616"/>
              <a:ext cx="402063" cy="271642"/>
              <a:chOff x="2950553" y="4729798"/>
              <a:chExt cx="402063" cy="271642"/>
            </a:xfrm>
          </p:grpSpPr>
          <p:sp>
            <p:nvSpPr>
              <p:cNvPr id="40" name="Oval 39"/>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Straight Arrow Connector 40"/>
              <p:cNvCxnSpPr>
                <a:stCxn id="40"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rot="7023186">
              <a:off x="2116378" y="4650161"/>
              <a:ext cx="402063" cy="271642"/>
              <a:chOff x="2950553" y="4729798"/>
              <a:chExt cx="402063" cy="271642"/>
            </a:xfrm>
          </p:grpSpPr>
          <p:sp>
            <p:nvSpPr>
              <p:cNvPr id="43" name="Oval 42"/>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Straight Arrow Connector 43"/>
              <p:cNvCxnSpPr>
                <a:stCxn id="43"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60" name="Group 59"/>
          <p:cNvGrpSpPr/>
          <p:nvPr/>
        </p:nvGrpSpPr>
        <p:grpSpPr>
          <a:xfrm>
            <a:off x="5351270" y="4604643"/>
            <a:ext cx="1378928" cy="1249442"/>
            <a:chOff x="5338373" y="4361766"/>
            <a:chExt cx="1378928" cy="1249442"/>
          </a:xfrm>
        </p:grpSpPr>
        <p:grpSp>
          <p:nvGrpSpPr>
            <p:cNvPr id="45" name="Group 44"/>
            <p:cNvGrpSpPr/>
            <p:nvPr/>
          </p:nvGrpSpPr>
          <p:grpSpPr>
            <a:xfrm>
              <a:off x="6315238" y="4871870"/>
              <a:ext cx="402063" cy="271642"/>
              <a:chOff x="2950553" y="4729798"/>
              <a:chExt cx="402063" cy="271642"/>
            </a:xfrm>
          </p:grpSpPr>
          <p:sp>
            <p:nvSpPr>
              <p:cNvPr id="46" name="Oval 45"/>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Straight Arrow Connector 46"/>
              <p:cNvCxnSpPr>
                <a:stCxn id="46"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rot="16200000">
              <a:off x="5273162" y="5138660"/>
              <a:ext cx="402063" cy="271642"/>
              <a:chOff x="2950553" y="4729798"/>
              <a:chExt cx="402063" cy="271642"/>
            </a:xfrm>
          </p:grpSpPr>
          <p:sp>
            <p:nvSpPr>
              <p:cNvPr id="49" name="Oval 48"/>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Straight Arrow Connector 49"/>
              <p:cNvCxnSpPr>
                <a:stCxn id="49"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1" name="Group 50"/>
            <p:cNvGrpSpPr/>
            <p:nvPr/>
          </p:nvGrpSpPr>
          <p:grpSpPr>
            <a:xfrm rot="6658363">
              <a:off x="6085952" y="4426977"/>
              <a:ext cx="402063" cy="271642"/>
              <a:chOff x="2950553" y="4729798"/>
              <a:chExt cx="402063" cy="271642"/>
            </a:xfrm>
          </p:grpSpPr>
          <p:sp>
            <p:nvSpPr>
              <p:cNvPr id="52" name="Oval 51"/>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Straight Arrow Connector 52"/>
              <p:cNvCxnSpPr>
                <a:stCxn id="52"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rot="15653452">
              <a:off x="5452214" y="4498656"/>
              <a:ext cx="402063" cy="271642"/>
              <a:chOff x="2950553" y="4729798"/>
              <a:chExt cx="402063" cy="271642"/>
            </a:xfrm>
          </p:grpSpPr>
          <p:sp>
            <p:nvSpPr>
              <p:cNvPr id="55" name="Oval 54"/>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Straight Arrow Connector 55"/>
              <p:cNvCxnSpPr>
                <a:stCxn id="55"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rot="10800000">
              <a:off x="5884919" y="5339566"/>
              <a:ext cx="402063" cy="271642"/>
              <a:chOff x="2950553" y="4729798"/>
              <a:chExt cx="402063" cy="271642"/>
            </a:xfrm>
          </p:grpSpPr>
          <p:sp>
            <p:nvSpPr>
              <p:cNvPr id="58" name="Oval 57"/>
              <p:cNvSpPr/>
              <p:nvPr/>
            </p:nvSpPr>
            <p:spPr>
              <a:xfrm>
                <a:off x="3273103" y="4729798"/>
                <a:ext cx="79513" cy="87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Straight Arrow Connector 58"/>
              <p:cNvCxnSpPr>
                <a:stCxn id="58" idx="2"/>
              </p:cNvCxnSpPr>
              <p:nvPr/>
            </p:nvCxnSpPr>
            <p:spPr>
              <a:xfrm flipH="1">
                <a:off x="2950553" y="4773540"/>
                <a:ext cx="322550" cy="22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pic>
        <p:nvPicPr>
          <p:cNvPr id="15" name="Picture 2" descr="http://ensinoadistancia.pro.br/EaD/QG/aula-3/fig18-2.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2774" y="3793503"/>
            <a:ext cx="4607768" cy="2731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279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fade">
                                      <p:cBhvr>
                                        <p:cTn id="17" dur="500"/>
                                        <p:tgtEl>
                                          <p:spTgt spid="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fade">
                                      <p:cBhvr>
                                        <p:cTn id="22" dur="500"/>
                                        <p:tgtEl>
                                          <p:spTgt spid="6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Photo electric effect</a:t>
            </a:r>
            <a:endParaRPr lang="en-US" dirty="0"/>
          </a:p>
        </p:txBody>
      </p:sp>
      <p:sp>
        <p:nvSpPr>
          <p:cNvPr id="3" name="TextBox 2"/>
          <p:cNvSpPr txBox="1"/>
          <p:nvPr/>
        </p:nvSpPr>
        <p:spPr>
          <a:xfrm>
            <a:off x="661483" y="890188"/>
            <a:ext cx="9471546" cy="707886"/>
          </a:xfrm>
          <a:prstGeom prst="rect">
            <a:avLst/>
          </a:prstGeom>
          <a:noFill/>
        </p:spPr>
        <p:txBody>
          <a:bodyPr wrap="squar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1887, Hertz, electrodes exposed to ultraviolet light were prone to discharge</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1900,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Lenard, Various metals emit electrons when exposed to ultraviolet light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9" name="Group 8">
            <a:extLst>
              <a:ext uri="{FF2B5EF4-FFF2-40B4-BE49-F238E27FC236}">
                <a16:creationId xmlns:a16="http://schemas.microsoft.com/office/drawing/2014/main" id="{2348850E-0664-469F-9BDC-5C691BDFB199}"/>
              </a:ext>
            </a:extLst>
          </p:cNvPr>
          <p:cNvGrpSpPr/>
          <p:nvPr/>
        </p:nvGrpSpPr>
        <p:grpSpPr>
          <a:xfrm>
            <a:off x="3986011" y="1919747"/>
            <a:ext cx="7884800" cy="4321828"/>
            <a:chOff x="3428754" y="1919746"/>
            <a:chExt cx="7889523" cy="4321828"/>
          </a:xfrm>
        </p:grpSpPr>
        <p:grpSp>
          <p:nvGrpSpPr>
            <p:cNvPr id="8" name="Group 7"/>
            <p:cNvGrpSpPr/>
            <p:nvPr/>
          </p:nvGrpSpPr>
          <p:grpSpPr>
            <a:xfrm>
              <a:off x="3828863" y="1919746"/>
              <a:ext cx="7489414" cy="4321828"/>
              <a:chOff x="467544" y="1862445"/>
              <a:chExt cx="8234637" cy="4621009"/>
            </a:xfrm>
          </p:grpSpPr>
          <p:pic>
            <p:nvPicPr>
              <p:cNvPr id="5" name="Picture 4"/>
              <p:cNvPicPr>
                <a:picLocks noChangeAspect="1"/>
              </p:cNvPicPr>
              <p:nvPr/>
            </p:nvPicPr>
            <p:blipFill>
              <a:blip r:embed="rId3"/>
              <a:stretch>
                <a:fillRect/>
              </a:stretch>
            </p:blipFill>
            <p:spPr>
              <a:xfrm>
                <a:off x="467544" y="1862445"/>
                <a:ext cx="8234637" cy="4621009"/>
              </a:xfrm>
              <a:prstGeom prst="rect">
                <a:avLst/>
              </a:prstGeom>
            </p:spPr>
          </p:pic>
          <p:pic>
            <p:nvPicPr>
              <p:cNvPr id="6" name="Picture 5"/>
              <p:cNvPicPr>
                <a:picLocks noChangeAspect="1"/>
              </p:cNvPicPr>
              <p:nvPr/>
            </p:nvPicPr>
            <p:blipFill>
              <a:blip r:embed="rId4"/>
              <a:stretch>
                <a:fillRect/>
              </a:stretch>
            </p:blipFill>
            <p:spPr>
              <a:xfrm>
                <a:off x="1489511" y="1887255"/>
                <a:ext cx="2732947" cy="2331199"/>
              </a:xfrm>
              <a:prstGeom prst="rect">
                <a:avLst/>
              </a:prstGeom>
            </p:spPr>
          </p:pic>
        </p:grpSp>
        <p:sp>
          <p:nvSpPr>
            <p:cNvPr id="4" name="TextBox 3"/>
            <p:cNvSpPr txBox="1"/>
            <p:nvPr/>
          </p:nvSpPr>
          <p:spPr>
            <a:xfrm rot="16200000">
              <a:off x="2491830" y="3923163"/>
              <a:ext cx="2273957" cy="400110"/>
            </a:xfrm>
            <a:prstGeom prst="rect">
              <a:avLst/>
            </a:prstGeom>
            <a:noFill/>
          </p:spPr>
          <p:txBody>
            <a:bodyPr wrap="square" rtlCol="0">
              <a:spAutoFit/>
            </a:bodyPr>
            <a:lstStyle/>
            <a:p>
              <a:pPr algn="ctr"/>
              <a:r>
                <a:rPr lang="en-US" altLang="zh-CN" sz="2000" dirty="0">
                  <a:ea typeface="黑体" panose="02010609060101010101" pitchFamily="49" charset="-122"/>
                </a:rPr>
                <a:t>Threshold voltage</a:t>
              </a:r>
              <a:endParaRPr lang="zh-CN" altLang="en-US" sz="2000" dirty="0">
                <a:ea typeface="黑体" panose="02010609060101010101" pitchFamily="49" charset="-122"/>
              </a:endParaRPr>
            </a:p>
          </p:txBody>
        </p:sp>
      </p:grpSp>
      <p:sp>
        <p:nvSpPr>
          <p:cNvPr id="7" name="Rectangle 6"/>
          <p:cNvSpPr/>
          <p:nvPr/>
        </p:nvSpPr>
        <p:spPr>
          <a:xfrm>
            <a:off x="312487" y="2049593"/>
            <a:ext cx="3673524" cy="373031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L="174625" indent="-174625">
              <a:lnSpc>
                <a:spcPct val="150000"/>
              </a:lnSpc>
              <a:buFont typeface="Arial" panose="020B0604020202020204" pitchFamily="34" charset="0"/>
              <a:buChar char="•"/>
            </a:pPr>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There is a threshold light frequency</a:t>
            </a:r>
          </a:p>
          <a:p>
            <a:pPr marL="174625" indent="-174625">
              <a:lnSpc>
                <a:spcPct val="150000"/>
              </a:lnSpc>
              <a:buFont typeface="Arial" panose="020B0604020202020204" pitchFamily="34" charset="0"/>
              <a:buChar char="•"/>
            </a:pPr>
            <a:endPar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marL="174625" indent="-174625">
              <a:lnSpc>
                <a:spcPct val="150000"/>
              </a:lnSpc>
              <a:buFont typeface="Arial" panose="020B0604020202020204" pitchFamily="34" charset="0"/>
              <a:buChar char="•"/>
            </a:pPr>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Electron velocity is proportional to the light frequency</a:t>
            </a:r>
          </a:p>
          <a:p>
            <a:pPr marL="174625" indent="-174625">
              <a:lnSpc>
                <a:spcPct val="150000"/>
              </a:lnSpc>
              <a:buFont typeface="Arial" panose="020B0604020202020204" pitchFamily="34" charset="0"/>
              <a:buChar char="•"/>
            </a:pPr>
            <a:endPar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marL="174625" indent="-174625">
              <a:lnSpc>
                <a:spcPct val="150000"/>
              </a:lnSpc>
              <a:buFont typeface="Arial" panose="020B0604020202020204" pitchFamily="34" charset="0"/>
              <a:buChar char="•"/>
            </a:pPr>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The current is proportional to the intensity of the light</a:t>
            </a:r>
            <a:endParaRPr lang="zh-CN" altLang="en-US"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1921562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3" y="188641"/>
            <a:ext cx="9562560" cy="551589"/>
          </a:xfrm>
        </p:spPr>
        <p:txBody>
          <a:bodyPr/>
          <a:lstStyle/>
          <a:p>
            <a:r>
              <a:rPr lang="en-US" altLang="zh-CN" dirty="0">
                <a:latin typeface="Times New Roman" panose="02020603050405020304" pitchFamily="18" charset="0"/>
                <a:cs typeface="Times New Roman" panose="02020603050405020304" pitchFamily="18" charset="0"/>
              </a:rPr>
              <a:t>Einstein’s explanation of the photo-electric effect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1905</a:t>
            </a:r>
            <a:r>
              <a:rPr lang="zh-CN" alt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52123" y="1571990"/>
                <a:ext cx="6526924" cy="4629186"/>
              </a:xfrm>
            </p:spPr>
            <p:txBody>
              <a:bodyPr>
                <a:noAutofit/>
              </a:bodyPr>
              <a:lstStyle/>
              <a:p>
                <a:pPr marL="0" indent="0">
                  <a:buNone/>
                </a:pPr>
                <a:r>
                  <a:rPr lang="en-US" altLang="zh-CN" sz="2400" dirty="0">
                    <a:solidFill>
                      <a:srgbClr val="C00000"/>
                    </a:solidFill>
                    <a:latin typeface="Times New Roman" panose="02020603050405020304" pitchFamily="18" charset="0"/>
                    <a:cs typeface="Times New Roman" panose="02020603050405020304" pitchFamily="18" charset="0"/>
                  </a:rPr>
                  <a:t>Hypothesis</a:t>
                </a:r>
              </a:p>
              <a:p>
                <a:r>
                  <a:rPr lang="en-US" altLang="zh-CN" sz="2400" dirty="0">
                    <a:latin typeface="Times New Roman" panose="02020603050405020304" pitchFamily="18" charset="0"/>
                    <a:cs typeface="Times New Roman" panose="02020603050405020304" pitchFamily="18" charset="0"/>
                  </a:rPr>
                  <a:t>Light is composed of light quanta (latter called photon). Each has an energy of ℎ</a:t>
                </a:r>
                <a:r>
                  <a:rPr lang="zh-CN" altLang="en-US" sz="2400" dirty="0">
                    <a:latin typeface="Times New Roman" panose="02020603050405020304" pitchFamily="18" charset="0"/>
                    <a:cs typeface="Times New Roman" panose="02020603050405020304" pitchFamily="18" charset="0"/>
                  </a:rPr>
                  <a:t>𝜈</a:t>
                </a:r>
                <a:r>
                  <a:rPr lang="en-US" altLang="zh-CN" sz="2400" dirty="0">
                    <a:latin typeface="Times New Roman" panose="02020603050405020304" pitchFamily="18" charset="0"/>
                    <a:cs typeface="Times New Roman" panose="02020603050405020304" pitchFamily="18" charset="0"/>
                  </a:rPr>
                  <a:t>. A photon can only be released or absorbed in its entirety</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Each</a:t>
                </a:r>
                <a:r>
                  <a:rPr lang="en-US" altLang="zh-CN" sz="2400" dirty="0">
                    <a:solidFill>
                      <a:schemeClr val="tx1"/>
                    </a:solidFill>
                    <a:latin typeface="Times New Roman" panose="02020603050405020304" pitchFamily="18" charset="0"/>
                    <a:cs typeface="Times New Roman" panose="02020603050405020304" pitchFamily="18" charset="0"/>
                  </a:rPr>
                  <a:t> type of metal has a specific electron binding potential </a:t>
                </a:r>
                <a14:m>
                  <m:oMath xmlns:m="http://schemas.openxmlformats.org/officeDocument/2006/math">
                    <m:r>
                      <a:rPr lang="en-US" altLang="zh-CN" sz="2400" i="1" smtClean="0">
                        <a:solidFill>
                          <a:srgbClr val="C00000"/>
                        </a:solidFill>
                        <a:latin typeface="Cambria Math" panose="02040503050406030204" pitchFamily="18" charset="0"/>
                      </a:rPr>
                      <m:t>𝑊</m:t>
                    </m:r>
                  </m:oMath>
                </a14:m>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When the incident photon’s energy </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h</m:t>
                    </m:r>
                    <m:r>
                      <a:rPr lang="en-US" altLang="zh-CN" sz="2400" b="0" i="1" smtClean="0">
                        <a:latin typeface="Cambria Math" panose="02040503050406030204" pitchFamily="18" charset="0"/>
                        <a:cs typeface="Times New Roman" panose="02020603050405020304" pitchFamily="18" charset="0"/>
                      </a:rPr>
                      <m:t>𝜈</m:t>
                    </m:r>
                    <m:r>
                      <a:rPr lang="en-US" altLang="zh-CN" sz="2400" b="0" i="1" smtClean="0">
                        <a:latin typeface="Cambria Math" panose="02040503050406030204" pitchFamily="18" charset="0"/>
                        <a:cs typeface="Times New Roman" panose="02020603050405020304" pitchFamily="18" charset="0"/>
                      </a:rPr>
                      <m:t>&gt;</m:t>
                    </m:r>
                    <m:r>
                      <a:rPr lang="en-US" altLang="zh-CN" sz="2400" b="0" i="1" smtClean="0">
                        <a:latin typeface="Cambria Math" panose="02040503050406030204" pitchFamily="18" charset="0"/>
                        <a:cs typeface="Times New Roman" panose="02020603050405020304" pitchFamily="18" charset="0"/>
                      </a:rPr>
                      <m:t>𝑊</m:t>
                    </m:r>
                  </m:oMath>
                </a14:m>
                <a:r>
                  <a:rPr lang="en-US" altLang="zh-CN" sz="2400" dirty="0">
                    <a:latin typeface="Times New Roman" panose="02020603050405020304" pitchFamily="18" charset="0"/>
                    <a:cs typeface="Times New Roman" panose="02020603050405020304" pitchFamily="18" charset="0"/>
                  </a:rPr>
                  <a:t>,  the metal can absorb the photon and release a electron with a K.E. of  </a:t>
                </a:r>
                <a14:m>
                  <m:oMath xmlns:m="http://schemas.openxmlformats.org/officeDocument/2006/math">
                    <m:f>
                      <m:fPr>
                        <m:ctrlPr>
                          <a:rPr lang="en-US" altLang="zh-CN" sz="2400" i="1">
                            <a:latin typeface="Cambria Math" panose="02040503050406030204" pitchFamily="18" charset="0"/>
                          </a:rPr>
                        </m:ctrlPr>
                      </m:fPr>
                      <m:num>
                        <m:r>
                          <a:rPr lang="en-US" altLang="zh-CN" sz="2400" i="1">
                            <a:latin typeface="Cambria Math"/>
                          </a:rPr>
                          <m:t>1</m:t>
                        </m:r>
                      </m:num>
                      <m:den>
                        <m:r>
                          <a:rPr lang="en-US" altLang="zh-CN" sz="2400" i="1">
                            <a:latin typeface="Cambria Math"/>
                          </a:rPr>
                          <m:t>2</m:t>
                        </m:r>
                      </m:den>
                    </m:f>
                    <m:r>
                      <a:rPr lang="en-US" altLang="zh-CN" sz="2400" i="1">
                        <a:latin typeface="Cambria Math"/>
                      </a:rPr>
                      <m:t>𝑚</m:t>
                    </m:r>
                    <m:sSubSup>
                      <m:sSubSupPr>
                        <m:ctrlPr>
                          <a:rPr lang="en-US" altLang="zh-CN" sz="2400" b="0" i="1" smtClean="0">
                            <a:latin typeface="Cambria Math" panose="02040503050406030204" pitchFamily="18" charset="0"/>
                          </a:rPr>
                        </m:ctrlPr>
                      </m:sSubSupPr>
                      <m:e>
                        <m:r>
                          <a:rPr lang="en-US" altLang="zh-CN" sz="2400" i="1">
                            <a:latin typeface="Cambria Math"/>
                          </a:rPr>
                          <m:t>𝑣</m:t>
                        </m:r>
                      </m:e>
                      <m:sub>
                        <m:r>
                          <a:rPr lang="en-US" altLang="zh-CN" sz="2400" b="0" i="1" smtClean="0">
                            <a:latin typeface="Cambria Math" panose="02040503050406030204" pitchFamily="18" charset="0"/>
                          </a:rPr>
                          <m:t>0</m:t>
                        </m:r>
                      </m:sub>
                      <m:sup>
                        <m:r>
                          <a:rPr lang="en-US" altLang="zh-CN" sz="2400" i="1">
                            <a:latin typeface="Cambria Math"/>
                          </a:rPr>
                          <m:t>2</m:t>
                        </m:r>
                      </m:sup>
                    </m:sSubSup>
                    <m:r>
                      <a:rPr lang="en-US" altLang="zh-CN" sz="2400" i="1">
                        <a:latin typeface="Cambria Math" panose="02040503050406030204" pitchFamily="18" charset="0"/>
                      </a:rPr>
                      <m:t>=</m:t>
                    </m:r>
                    <m:r>
                      <a:rPr lang="en-US" altLang="zh-CN" sz="2400" i="1">
                        <a:latin typeface="Cambria Math"/>
                      </a:rPr>
                      <m:t>h</m:t>
                    </m:r>
                    <m:r>
                      <a:rPr lang="en-US" altLang="zh-CN" sz="2400" i="1">
                        <a:latin typeface="Cambria Math"/>
                      </a:rPr>
                      <m:t>𝜈</m:t>
                    </m:r>
                    <m:r>
                      <a:rPr lang="en-US" altLang="zh-CN" sz="2400" i="1">
                        <a:latin typeface="Cambria Math"/>
                      </a:rPr>
                      <m:t>−</m:t>
                    </m:r>
                    <m:r>
                      <a:rPr lang="en-US" altLang="zh-CN" sz="2400" i="1">
                        <a:latin typeface="Cambria Math" panose="02040503050406030204" pitchFamily="18" charset="0"/>
                      </a:rPr>
                      <m:t>𝑊</m:t>
                    </m:r>
                  </m:oMath>
                </a14:m>
                <a:endParaRPr lang="en-US" altLang="zh-CN" sz="240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52123" y="1571990"/>
                <a:ext cx="6526924" cy="4629186"/>
              </a:xfrm>
              <a:blipFill>
                <a:blip r:embed="rId3"/>
                <a:stretch>
                  <a:fillRect l="-1495" t="-1054" r="-2056"/>
                </a:stretch>
              </a:blipFill>
            </p:spPr>
            <p:txBody>
              <a:bodyPr/>
              <a:lstStyle/>
              <a:p>
                <a:r>
                  <a:rPr lang="zh-CN" altLang="en-US">
                    <a:noFill/>
                  </a:rPr>
                  <a:t> </a:t>
                </a:r>
              </a:p>
            </p:txBody>
          </p:sp>
        </mc:Fallback>
      </mc:AlternateContent>
      <p:pic>
        <p:nvPicPr>
          <p:cNvPr id="5" name="Picture 4"/>
          <p:cNvPicPr>
            <a:picLocks noChangeAspect="1"/>
          </p:cNvPicPr>
          <p:nvPr/>
        </p:nvPicPr>
        <p:blipFill>
          <a:blip r:embed="rId4"/>
          <a:stretch>
            <a:fillRect/>
          </a:stretch>
        </p:blipFill>
        <p:spPr>
          <a:xfrm>
            <a:off x="6991498" y="1931885"/>
            <a:ext cx="4809179" cy="3909395"/>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7842254" y="3273831"/>
                <a:ext cx="59125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rgbClr val="7030A0"/>
                          </a:solidFill>
                          <a:latin typeface="Cambria Math"/>
                        </a:rPr>
                        <m:t>h</m:t>
                      </m:r>
                      <m:r>
                        <a:rPr lang="en-US" altLang="zh-CN" sz="2400" i="1" smtClean="0">
                          <a:solidFill>
                            <a:srgbClr val="7030A0"/>
                          </a:solidFill>
                          <a:latin typeface="Cambria Math"/>
                        </a:rPr>
                        <m:t>𝜈</m:t>
                      </m:r>
                    </m:oMath>
                  </m:oMathPara>
                </a14:m>
                <a:endParaRPr lang="zh-CN" altLang="en-US" sz="2400" dirty="0">
                  <a:solidFill>
                    <a:srgbClr val="7030A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7842254" y="3273831"/>
                <a:ext cx="591251" cy="4616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967140" y="3066980"/>
                <a:ext cx="921086"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a:latin typeface="Cambria Math" panose="02040503050406030204" pitchFamily="18" charset="0"/>
                            </a:rPr>
                          </m:ctrlPr>
                        </m:fPr>
                        <m:num>
                          <m:r>
                            <a:rPr lang="en-US" altLang="zh-CN" sz="2000" i="1">
                              <a:latin typeface="Cambria Math"/>
                            </a:rPr>
                            <m:t>1</m:t>
                          </m:r>
                        </m:num>
                        <m:den>
                          <m:r>
                            <a:rPr lang="en-US" altLang="zh-CN" sz="2000" i="1">
                              <a:latin typeface="Cambria Math"/>
                            </a:rPr>
                            <m:t>2</m:t>
                          </m:r>
                        </m:den>
                      </m:f>
                      <m:r>
                        <a:rPr lang="en-US" altLang="zh-CN" sz="2000" i="1">
                          <a:latin typeface="Cambria Math"/>
                        </a:rPr>
                        <m:t>𝑚</m:t>
                      </m:r>
                      <m:sSubSup>
                        <m:sSubSupPr>
                          <m:ctrlPr>
                            <a:rPr lang="en-US" altLang="zh-CN" sz="2000" i="1">
                              <a:latin typeface="Cambria Math" panose="02040503050406030204" pitchFamily="18" charset="0"/>
                            </a:rPr>
                          </m:ctrlPr>
                        </m:sSubSupPr>
                        <m:e>
                          <m:r>
                            <a:rPr lang="en-US" altLang="zh-CN" sz="2000" i="1">
                              <a:latin typeface="Cambria Math"/>
                            </a:rPr>
                            <m:t>𝑣</m:t>
                          </m:r>
                        </m:e>
                        <m:sub>
                          <m:r>
                            <a:rPr lang="en-US" altLang="zh-CN" sz="2000" i="1">
                              <a:latin typeface="Cambria Math" panose="02040503050406030204" pitchFamily="18" charset="0"/>
                            </a:rPr>
                            <m:t>0</m:t>
                          </m:r>
                        </m:sub>
                        <m:sup>
                          <m:r>
                            <a:rPr lang="en-US" altLang="zh-CN" sz="2000" i="1">
                              <a:latin typeface="Cambria Math"/>
                            </a:rPr>
                            <m:t>2</m:t>
                          </m:r>
                        </m:sup>
                      </m:sSubSup>
                    </m:oMath>
                  </m:oMathPara>
                </a14:m>
                <a:endParaRPr lang="zh-CN" altLang="en-US" sz="2000" dirty="0"/>
              </a:p>
            </p:txBody>
          </p:sp>
        </mc:Choice>
        <mc:Fallback xmlns="">
          <p:sp>
            <p:nvSpPr>
              <p:cNvPr id="6" name="Rectangle 5"/>
              <p:cNvSpPr>
                <a:spLocks noRot="1" noChangeAspect="1" noMove="1" noResize="1" noEditPoints="1" noAdjustHandles="1" noChangeArrowheads="1" noChangeShapeType="1" noTextEdit="1"/>
              </p:cNvSpPr>
              <p:nvPr/>
            </p:nvSpPr>
            <p:spPr>
              <a:xfrm>
                <a:off x="10967140" y="3066980"/>
                <a:ext cx="921086" cy="668516"/>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372797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3" y="188641"/>
            <a:ext cx="8024188" cy="551589"/>
          </a:xfrm>
        </p:spPr>
        <p:txBody>
          <a:bodyPr/>
          <a:lstStyle/>
          <a:p>
            <a:r>
              <a:rPr lang="en-US" altLang="zh-CN" dirty="0"/>
              <a:t>Millikan's photo electric experiment</a:t>
            </a:r>
            <a:r>
              <a:rPr lang="zh-CN" altLang="en-US" dirty="0"/>
              <a:t>（</a:t>
            </a:r>
            <a:r>
              <a:rPr lang="en-US" altLang="zh-CN" dirty="0"/>
              <a:t>1906-1916</a:t>
            </a:r>
            <a:r>
              <a:rPr lang="zh-CN" altLang="en-US" dirty="0"/>
              <a:t>）</a:t>
            </a:r>
            <a:endParaRPr lang="en-US" dirty="0"/>
          </a:p>
        </p:txBody>
      </p:sp>
      <p:grpSp>
        <p:nvGrpSpPr>
          <p:cNvPr id="27" name="Group 26"/>
          <p:cNvGrpSpPr/>
          <p:nvPr/>
        </p:nvGrpSpPr>
        <p:grpSpPr>
          <a:xfrm>
            <a:off x="5605100" y="2267975"/>
            <a:ext cx="3449070" cy="2803367"/>
            <a:chOff x="344740" y="4242929"/>
            <a:chExt cx="2872594" cy="2304049"/>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740" y="4265394"/>
              <a:ext cx="2872594" cy="2281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a14="http://schemas.microsoft.com/office/drawing/2010/main" Requires="a14">
            <p:sp>
              <p:nvSpPr>
                <p:cNvPr id="14" name="Rectangle 13"/>
                <p:cNvSpPr/>
                <p:nvPr/>
              </p:nvSpPr>
              <p:spPr>
                <a:xfrm>
                  <a:off x="1044620" y="4242929"/>
                  <a:ext cx="968249" cy="328845"/>
                </a:xfrm>
                <a:prstGeom prst="rect">
                  <a:avLst/>
                </a:prstGeom>
                <a:solidFill>
                  <a:schemeClr val="bg1"/>
                </a:solidFill>
              </p:spPr>
              <p:txBody>
                <a:bodyPr wrap="none">
                  <a:spAutoFit/>
                </a:bodyPr>
                <a:lstStyle/>
                <a:p>
                  <a14:m>
                    <m:oMath xmlns:m="http://schemas.openxmlformats.org/officeDocument/2006/math">
                      <m:r>
                        <a:rPr lang="en-US" altLang="zh-CN" sz="2000" i="1" smtClean="0">
                          <a:solidFill>
                            <a:schemeClr val="tx1"/>
                          </a:solidFill>
                          <a:latin typeface="Cambria Math"/>
                        </a:rPr>
                        <m:t>𝜈</m:t>
                      </m:r>
                      <m:r>
                        <a:rPr lang="en-US" altLang="zh-CN" sz="2000" i="1">
                          <a:solidFill>
                            <a:schemeClr val="tx1"/>
                          </a:solidFill>
                          <a:latin typeface="Cambria Math" panose="02040503050406030204" pitchFamily="18" charset="0"/>
                        </a:rPr>
                        <m:t> </m:t>
                      </m:r>
                      <m:r>
                        <a:rPr lang="en-US" altLang="zh-CN" sz="2000" b="0" i="1" smtClean="0">
                          <a:solidFill>
                            <a:schemeClr val="tx1"/>
                          </a:solidFill>
                          <a:latin typeface="Cambria Math" panose="02040503050406030204" pitchFamily="18" charset="0"/>
                        </a:rPr>
                        <m:t>,</m:t>
                      </m:r>
                    </m:oMath>
                  </a14:m>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2000" i="1">
                          <a:solidFill>
                            <a:schemeClr val="tx1"/>
                          </a:solidFill>
                          <a:latin typeface="Cambria Math"/>
                        </a:rPr>
                        <m:t>𝑉</m:t>
                      </m:r>
                    </m:oMath>
                  </a14:m>
                  <a:r>
                    <a:rPr lang="en-US" altLang="zh-CN" sz="20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fixed</a:t>
                  </a:r>
                </a:p>
              </p:txBody>
            </p:sp>
          </mc:Choice>
          <mc:Fallback>
            <p:sp>
              <p:nvSpPr>
                <p:cNvPr id="14" name="Rectangle 13"/>
                <p:cNvSpPr>
                  <a:spLocks noRot="1" noChangeAspect="1" noMove="1" noResize="1" noEditPoints="1" noAdjustHandles="1" noChangeArrowheads="1" noChangeShapeType="1" noTextEdit="1"/>
                </p:cNvSpPr>
                <p:nvPr/>
              </p:nvSpPr>
              <p:spPr>
                <a:xfrm>
                  <a:off x="1044620" y="4242929"/>
                  <a:ext cx="968249" cy="328845"/>
                </a:xfrm>
                <a:prstGeom prst="rect">
                  <a:avLst/>
                </a:prstGeom>
                <a:blipFill>
                  <a:blip r:embed="rId4"/>
                  <a:stretch>
                    <a:fillRect t="-7576" r="-12042" b="-25758"/>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5" name="TextBox 24"/>
              <p:cNvSpPr txBox="1"/>
              <p:nvPr/>
            </p:nvSpPr>
            <p:spPr>
              <a:xfrm>
                <a:off x="990365" y="887939"/>
                <a:ext cx="7929900" cy="957250"/>
              </a:xfrm>
              <a:prstGeom prst="rect">
                <a:avLst/>
              </a:prstGeom>
              <a:noFill/>
            </p:spPr>
            <p:txBody>
              <a:bodyPr wrap="square" rtlCol="0">
                <a:spAutoFit/>
              </a:bodyPr>
              <a:lstStyle/>
              <a:p>
                <a:pPr>
                  <a:lnSpc>
                    <a:spcPct val="15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Control parameter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voltage </a:t>
                </a:r>
                <a14:m>
                  <m:oMath xmlns:m="http://schemas.openxmlformats.org/officeDocument/2006/math">
                    <m:r>
                      <a:rPr lang="en-US" altLang="zh-CN" sz="2000" i="1">
                        <a:latin typeface="Cambria Math"/>
                      </a:rPr>
                      <m:t>𝑉</m:t>
                    </m:r>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Light power </a:t>
                </a:r>
                <a14:m>
                  <m:oMath xmlns:m="http://schemas.openxmlformats.org/officeDocument/2006/math">
                    <m:r>
                      <a:rPr lang="en-US" altLang="zh-CN" sz="2000" i="1">
                        <a:latin typeface="Cambria Math"/>
                      </a:rPr>
                      <m:t>𝑃</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frequency </a:t>
                </a:r>
                <a14:m>
                  <m:oMath xmlns:m="http://schemas.openxmlformats.org/officeDocument/2006/math">
                    <m:r>
                      <a:rPr lang="en-US" altLang="zh-CN" sz="2000" i="1" dirty="0">
                        <a:latin typeface="Cambria Math"/>
                      </a:rPr>
                      <m:t>𝜈</m:t>
                    </m:r>
                  </m:oMath>
                </a14:m>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Measured quantities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photo-electric current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i="1">
                            <a:latin typeface="Cambria Math"/>
                          </a:rPr>
                          <m:t>𝐼</m:t>
                        </m:r>
                      </m:e>
                      <m:sub>
                        <m:r>
                          <a:rPr lang="en-US" altLang="zh-CN" sz="2000" b="0" i="1" smtClean="0">
                            <a:latin typeface="Cambria Math" panose="02040503050406030204" pitchFamily="18" charset="0"/>
                          </a:rPr>
                          <m:t>𝑆</m:t>
                        </m:r>
                      </m:sub>
                    </m:sSub>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threshold voltage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i="1">
                            <a:latin typeface="Cambria Math"/>
                          </a:rPr>
                          <m:t>𝑉</m:t>
                        </m:r>
                      </m:e>
                      <m:sub>
                        <m:r>
                          <a:rPr lang="en-US" altLang="zh-CN" sz="2000" b="0" i="1" smtClean="0">
                            <a:latin typeface="Cambria Math" panose="02040503050406030204" pitchFamily="18" charset="0"/>
                          </a:rPr>
                          <m:t>0</m:t>
                        </m:r>
                      </m:sub>
                    </m:sSub>
                  </m:oMath>
                </a14:m>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25" name="TextBox 24"/>
              <p:cNvSpPr txBox="1">
                <a:spLocks noRot="1" noChangeAspect="1" noMove="1" noResize="1" noEditPoints="1" noAdjustHandles="1" noChangeArrowheads="1" noChangeShapeType="1" noTextEdit="1"/>
              </p:cNvSpPr>
              <p:nvPr/>
            </p:nvSpPr>
            <p:spPr>
              <a:xfrm>
                <a:off x="990365" y="887939"/>
                <a:ext cx="7929900" cy="957250"/>
              </a:xfrm>
              <a:prstGeom prst="rect">
                <a:avLst/>
              </a:prstGeom>
              <a:blipFill>
                <a:blip r:embed="rId5"/>
                <a:stretch>
                  <a:fillRect l="-769" b="-108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5797128" y="5405898"/>
                <a:ext cx="4037537" cy="92333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黑体" panose="02010609060101010101" pitchFamily="49" charset="-122"/>
                        </a:rPr>
                        <m:t>𝐼</m:t>
                      </m:r>
                      <m:r>
                        <a:rPr lang="zh-CN" altLang="en-US" i="1" dirty="0" smtClean="0">
                          <a:latin typeface="Cambria Math" panose="02040503050406030204" pitchFamily="18" charset="0"/>
                          <a:ea typeface="黑体" panose="02010609060101010101" pitchFamily="49" charset="-122"/>
                        </a:rPr>
                        <m:t>∝</m:t>
                      </m:r>
                      <m:r>
                        <a:rPr lang="en-US" altLang="zh-CN" i="1" dirty="0" smtClean="0">
                          <a:latin typeface="Cambria Math" panose="02040503050406030204" pitchFamily="18" charset="0"/>
                          <a:ea typeface="黑体" panose="02010609060101010101" pitchFamily="49" charset="-122"/>
                        </a:rPr>
                        <m:t>𝑃</m:t>
                      </m:r>
                    </m:oMath>
                  </m:oMathPara>
                </a14:m>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14:m>
                  <m:oMath xmlns:m="http://schemas.openxmlformats.org/officeDocument/2006/math">
                    <m:r>
                      <a:rPr lang="en-US" altLang="zh-CN" i="1" dirty="0" smtClean="0">
                        <a:latin typeface="Cambria Math" panose="02040503050406030204" pitchFamily="18" charset="0"/>
                        <a:ea typeface="黑体" panose="02010609060101010101" pitchFamily="49" charset="-122"/>
                        <a:cs typeface="Times New Roman" panose="02020603050405020304" pitchFamily="18" charset="0"/>
                      </a:rPr>
                      <m:t>𝐼</m:t>
                    </m:r>
                    <m:r>
                      <a:rPr lang="en-US" altLang="zh-CN" b="0" i="0" dirty="0" smtClean="0">
                        <a:latin typeface="Cambria Math" panose="02040503050406030204" pitchFamily="18" charset="0"/>
                        <a:ea typeface="黑体" panose="02010609060101010101" pitchFamily="49" charset="-122"/>
                        <a:cs typeface="Times New Roman" panose="02020603050405020304" pitchFamily="18" charset="0"/>
                      </a:rPr>
                      <m:t>=</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ejected electron per unit time</a:t>
                </a:r>
              </a:p>
              <a:p>
                <a14:m>
                  <m:oMath xmlns:m="http://schemas.openxmlformats.org/officeDocument/2006/math">
                    <m:r>
                      <a:rPr lang="en-US" altLang="zh-CN" i="1" dirty="0" smtClean="0">
                        <a:latin typeface="Cambria Math" panose="02040503050406030204" pitchFamily="18" charset="0"/>
                        <a:ea typeface="黑体" panose="02010609060101010101" pitchFamily="49" charset="-122"/>
                        <a:cs typeface="Times New Roman" panose="02020603050405020304" pitchFamily="18" charset="0"/>
                      </a:rPr>
                      <m:t>𝑃</m:t>
                    </m:r>
                    <m:r>
                      <a:rPr lang="en-US" altLang="zh-CN" b="0" i="0" dirty="0" smtClean="0">
                        <a:latin typeface="Cambria Math" panose="02040503050406030204" pitchFamily="18" charset="0"/>
                        <a:ea typeface="黑体" panose="02010609060101010101" pitchFamily="49" charset="-122"/>
                        <a:cs typeface="Times New Roman" panose="02020603050405020304" pitchFamily="18" charset="0"/>
                      </a:rPr>
                      <m:t>=</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photon flux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single photon energy</a:t>
                </a:r>
              </a:p>
            </p:txBody>
          </p:sp>
        </mc:Choice>
        <mc:Fallback>
          <p:sp>
            <p:nvSpPr>
              <p:cNvPr id="5" name="Rectangle 4"/>
              <p:cNvSpPr>
                <a:spLocks noRot="1" noChangeAspect="1" noMove="1" noResize="1" noEditPoints="1" noAdjustHandles="1" noChangeArrowheads="1" noChangeShapeType="1" noTextEdit="1"/>
              </p:cNvSpPr>
              <p:nvPr/>
            </p:nvSpPr>
            <p:spPr>
              <a:xfrm>
                <a:off x="5797128" y="5405898"/>
                <a:ext cx="4037537" cy="923330"/>
              </a:xfrm>
              <a:prstGeom prst="rect">
                <a:avLst/>
              </a:prstGeom>
              <a:blipFill>
                <a:blip r:embed="rId6"/>
                <a:stretch>
                  <a:fillRect b="-99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1233375" y="5302793"/>
                <a:ext cx="3824612" cy="112954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i="1">
                              <a:latin typeface="Cambria Math"/>
                            </a:rPr>
                            <m:t>1</m:t>
                          </m:r>
                        </m:num>
                        <m:den>
                          <m:r>
                            <a:rPr lang="en-US" altLang="zh-CN" i="1">
                              <a:latin typeface="Cambria Math"/>
                            </a:rPr>
                            <m:t>2</m:t>
                          </m:r>
                        </m:den>
                      </m:f>
                      <m:r>
                        <a:rPr lang="en-US" altLang="zh-CN" i="1">
                          <a:latin typeface="Cambria Math"/>
                        </a:rPr>
                        <m:t>𝑚</m:t>
                      </m:r>
                      <m:sSubSup>
                        <m:sSubSupPr>
                          <m:ctrlPr>
                            <a:rPr lang="en-US" altLang="zh-CN" i="1">
                              <a:latin typeface="Cambria Math" panose="02040503050406030204" pitchFamily="18" charset="0"/>
                            </a:rPr>
                          </m:ctrlPr>
                        </m:sSubSupPr>
                        <m:e>
                          <m:r>
                            <a:rPr lang="en-US" altLang="zh-CN" i="1">
                              <a:latin typeface="Cambria Math"/>
                            </a:rPr>
                            <m:t>𝑣</m:t>
                          </m:r>
                        </m:e>
                        <m:sub>
                          <m:r>
                            <a:rPr lang="en-US" altLang="zh-CN" i="1">
                              <a:latin typeface="Cambria Math" panose="02040503050406030204" pitchFamily="18" charset="0"/>
                            </a:rPr>
                            <m:t>0</m:t>
                          </m:r>
                        </m:sub>
                        <m:sup>
                          <m:r>
                            <a:rPr lang="en-US" altLang="zh-CN" i="1">
                              <a:latin typeface="Cambria Math"/>
                            </a:rPr>
                            <m:t>2</m:t>
                          </m:r>
                        </m:sup>
                      </m:sSubSup>
                      <m:r>
                        <a:rPr lang="en-US" altLang="zh-CN" i="1">
                          <a:latin typeface="Cambria Math"/>
                        </a:rPr>
                        <m:t>=</m:t>
                      </m:r>
                      <m:r>
                        <a:rPr lang="en-US" altLang="zh-CN" i="1">
                          <a:latin typeface="Cambria Math"/>
                        </a:rPr>
                        <m:t>h</m:t>
                      </m:r>
                      <m:r>
                        <a:rPr lang="zh-CN" altLang="en-US" i="1">
                          <a:latin typeface="Cambria Math"/>
                        </a:rPr>
                        <m:t>𝜈</m:t>
                      </m:r>
                      <m:r>
                        <a:rPr lang="en-US" altLang="zh-CN" i="1">
                          <a:latin typeface="Cambria Math"/>
                        </a:rPr>
                        <m:t>−</m:t>
                      </m:r>
                      <m:r>
                        <a:rPr lang="en-US" altLang="zh-CN" i="1">
                          <a:latin typeface="Cambria Math" panose="02040503050406030204" pitchFamily="18" charset="0"/>
                        </a:rPr>
                        <m:t>𝑊</m:t>
                      </m:r>
                    </m:oMath>
                  </m:oMathPara>
                </a14:m>
                <a:endParaRPr lang="en-US" altLang="zh-CN" dirty="0"/>
              </a:p>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a:rPr>
                            <m:t>eV</m:t>
                          </m:r>
                        </m:e>
                        <m:sub>
                          <m:r>
                            <a:rPr lang="en-US" altLang="zh-CN">
                              <a:latin typeface="Cambria Math" panose="02040503050406030204" pitchFamily="18" charset="0"/>
                            </a:rPr>
                            <m:t>0</m:t>
                          </m:r>
                        </m:sub>
                      </m:sSub>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r>
                        <a:rPr lang="en-US" altLang="zh-CN" i="1">
                          <a:latin typeface="Cambria Math"/>
                        </a:rPr>
                        <m:t>𝑚</m:t>
                      </m:r>
                      <m:sSubSup>
                        <m:sSubSupPr>
                          <m:ctrlPr>
                            <a:rPr lang="en-US" altLang="zh-CN" i="1">
                              <a:latin typeface="Cambria Math" panose="02040503050406030204" pitchFamily="18" charset="0"/>
                            </a:rPr>
                          </m:ctrlPr>
                        </m:sSubSupPr>
                        <m:e>
                          <m:r>
                            <a:rPr lang="en-US" altLang="zh-CN" i="1">
                              <a:latin typeface="Cambria Math"/>
                            </a:rPr>
                            <m:t>𝑣</m:t>
                          </m:r>
                        </m:e>
                        <m:sub>
                          <m:r>
                            <a:rPr lang="en-US" altLang="zh-CN" i="1">
                              <a:latin typeface="Cambria Math" panose="02040503050406030204" pitchFamily="18" charset="0"/>
                            </a:rPr>
                            <m:t>0</m:t>
                          </m:r>
                        </m:sub>
                        <m:sup>
                          <m:r>
                            <a:rPr lang="en-US" altLang="zh-CN" i="1">
                              <a:latin typeface="Cambria Math"/>
                            </a:rPr>
                            <m:t>2</m:t>
                          </m:r>
                        </m:sup>
                      </m:sSubSup>
                      <m:r>
                        <a:rPr lang="en-US" altLang="zh-CN" b="0" i="1" smtClean="0">
                          <a:latin typeface="Cambria Math" panose="02040503050406030204" pitchFamily="18" charset="0"/>
                        </a:rPr>
                        <m:t>=</m:t>
                      </m:r>
                      <m:r>
                        <a:rPr lang="en-US" altLang="zh-CN">
                          <a:latin typeface="Cambria Math"/>
                        </a:rPr>
                        <m:t>h</m:t>
                      </m:r>
                      <m:r>
                        <a:rPr lang="zh-CN" altLang="en-US">
                          <a:latin typeface="Cambria Math"/>
                        </a:rPr>
                        <m:t>𝜈</m:t>
                      </m:r>
                      <m:r>
                        <a:rPr lang="en-US" altLang="zh-CN">
                          <a:latin typeface="Cambria Math"/>
                        </a:rPr>
                        <m:t>−</m:t>
                      </m:r>
                      <m:r>
                        <a:rPr lang="en-US" altLang="zh-CN" i="1">
                          <a:latin typeface="Cambria Math" panose="02040503050406030204" pitchFamily="18" charset="0"/>
                        </a:rPr>
                        <m:t>𝑊</m:t>
                      </m:r>
                    </m:oMath>
                  </m:oMathPara>
                </a14:m>
                <a:endParaRPr lang="en-US" altLang="zh-CN" dirty="0"/>
              </a:p>
            </p:txBody>
          </p:sp>
        </mc:Choice>
        <mc:Fallback>
          <p:sp>
            <p:nvSpPr>
              <p:cNvPr id="9" name="Rectangle 8"/>
              <p:cNvSpPr>
                <a:spLocks noRot="1" noChangeAspect="1" noMove="1" noResize="1" noEditPoints="1" noAdjustHandles="1" noChangeArrowheads="1" noChangeShapeType="1" noTextEdit="1"/>
              </p:cNvSpPr>
              <p:nvPr/>
            </p:nvSpPr>
            <p:spPr>
              <a:xfrm>
                <a:off x="1233375" y="5302793"/>
                <a:ext cx="3824612" cy="1129540"/>
              </a:xfrm>
              <a:prstGeom prst="rect">
                <a:avLst/>
              </a:prstGeom>
              <a:blipFill>
                <a:blip r:embed="rId7"/>
                <a:stretch>
                  <a:fillRect/>
                </a:stretch>
              </a:blipFill>
            </p:spPr>
            <p:txBody>
              <a:bodyPr/>
              <a:lstStyle/>
              <a:p>
                <a:r>
                  <a:rPr lang="zh-CN" altLang="en-US">
                    <a:noFill/>
                  </a:rPr>
                  <a:t> </a:t>
                </a:r>
              </a:p>
            </p:txBody>
          </p:sp>
        </mc:Fallback>
      </mc:AlternateContent>
      <p:grpSp>
        <p:nvGrpSpPr>
          <p:cNvPr id="3" name="Group 2">
            <a:extLst>
              <a:ext uri="{FF2B5EF4-FFF2-40B4-BE49-F238E27FC236}">
                <a16:creationId xmlns:a16="http://schemas.microsoft.com/office/drawing/2014/main" id="{26559E06-ED32-4B19-853B-A71877DFC350}"/>
              </a:ext>
            </a:extLst>
          </p:cNvPr>
          <p:cNvGrpSpPr/>
          <p:nvPr/>
        </p:nvGrpSpPr>
        <p:grpSpPr>
          <a:xfrm>
            <a:off x="792583" y="2159769"/>
            <a:ext cx="4002732" cy="3143024"/>
            <a:chOff x="921653" y="2036642"/>
            <a:chExt cx="4002732" cy="3143024"/>
          </a:xfrm>
        </p:grpSpPr>
        <p:grpSp>
          <p:nvGrpSpPr>
            <p:cNvPr id="24" name="Group 23"/>
            <p:cNvGrpSpPr/>
            <p:nvPr/>
          </p:nvGrpSpPr>
          <p:grpSpPr>
            <a:xfrm>
              <a:off x="1205555" y="2036642"/>
              <a:ext cx="3718830" cy="3017391"/>
              <a:chOff x="3577395" y="4151487"/>
              <a:chExt cx="2796423" cy="2451906"/>
            </a:xfrm>
          </p:grpSpPr>
          <p:grpSp>
            <p:nvGrpSpPr>
              <p:cNvPr id="10" name="Group 9"/>
              <p:cNvGrpSpPr/>
              <p:nvPr/>
            </p:nvGrpSpPr>
            <p:grpSpPr>
              <a:xfrm>
                <a:off x="3577395" y="4153429"/>
                <a:ext cx="2796423" cy="2449964"/>
                <a:chOff x="769381" y="3392724"/>
                <a:chExt cx="3188530" cy="2886255"/>
              </a:xfrm>
            </p:grpSpPr>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9381" y="3392724"/>
                  <a:ext cx="3188530" cy="2886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a14="http://schemas.microsoft.com/office/drawing/2010/main" Requires="a14">
                <p:sp>
                  <p:nvSpPr>
                    <p:cNvPr id="16" name="TextBox 15"/>
                    <p:cNvSpPr txBox="1"/>
                    <p:nvPr/>
                  </p:nvSpPr>
                  <p:spPr>
                    <a:xfrm>
                      <a:off x="769381" y="3453162"/>
                      <a:ext cx="603149" cy="353561"/>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en-US" b="1">
                                    <a:latin typeface="Cambria Math"/>
                                  </a:rPr>
                                  <m:t>𝐕</m:t>
                                </m:r>
                              </m:e>
                              <m:sub>
                                <m:r>
                                  <a:rPr lang="en-US" b="1">
                                    <a:latin typeface="Cambria Math"/>
                                  </a:rPr>
                                  <m:t>𝟎</m:t>
                                </m:r>
                              </m:sub>
                            </m:sSub>
                          </m:oMath>
                        </m:oMathPara>
                      </a14:m>
                      <a:endParaRPr lang="en-US" b="1" dirty="0"/>
                    </a:p>
                  </p:txBody>
                </p:sp>
              </mc:Choice>
              <mc:Fallback>
                <p:sp>
                  <p:nvSpPr>
                    <p:cNvPr id="16" name="TextBox 15"/>
                    <p:cNvSpPr txBox="1">
                      <a:spLocks noRot="1" noChangeAspect="1" noMove="1" noResize="1" noEditPoints="1" noAdjustHandles="1" noChangeArrowheads="1" noChangeShapeType="1" noTextEdit="1"/>
                    </p:cNvSpPr>
                    <p:nvPr/>
                  </p:nvSpPr>
                  <p:spPr>
                    <a:xfrm>
                      <a:off x="769381" y="3453162"/>
                      <a:ext cx="603149" cy="353561"/>
                    </a:xfrm>
                    <a:prstGeom prst="rect">
                      <a:avLst/>
                    </a:prstGeom>
                    <a:blipFill>
                      <a:blip r:embed="rId9"/>
                      <a:stretch>
                        <a:fillRect/>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0" name="TextBox 19"/>
                  <p:cNvSpPr txBox="1"/>
                  <p:nvPr/>
                </p:nvSpPr>
                <p:spPr>
                  <a:xfrm>
                    <a:off x="4303519" y="4151487"/>
                    <a:ext cx="706509" cy="325126"/>
                  </a:xfrm>
                  <a:prstGeom prst="rect">
                    <a:avLst/>
                  </a:prstGeom>
                  <a:solidFill>
                    <a:schemeClr val="bg1"/>
                  </a:solidFill>
                </p:spPr>
                <p:txBody>
                  <a:bodyPr wrap="none" rtlCol="0">
                    <a:spAutoFit/>
                  </a:bodyPr>
                  <a:lstStyle/>
                  <a:p>
                    <a14:m>
                      <m:oMath xmlns:m="http://schemas.openxmlformats.org/officeDocument/2006/math">
                        <m:r>
                          <a:rPr lang="en-US" altLang="zh-CN" sz="2000" b="0" i="1" smtClean="0">
                            <a:solidFill>
                              <a:schemeClr val="tx1"/>
                            </a:solidFill>
                            <a:latin typeface="Cambria Math" panose="02040503050406030204" pitchFamily="18" charset="0"/>
                          </a:rPr>
                          <m:t>𝑃</m:t>
                        </m:r>
                      </m:oMath>
                    </a14:m>
                    <a:r>
                      <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fixed</a:t>
                    </a:r>
                    <a:endPar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20" name="TextBox 19"/>
                  <p:cNvSpPr txBox="1">
                    <a:spLocks noRot="1" noChangeAspect="1" noMove="1" noResize="1" noEditPoints="1" noAdjustHandles="1" noChangeArrowheads="1" noChangeShapeType="1" noTextEdit="1"/>
                  </p:cNvSpPr>
                  <p:nvPr/>
                </p:nvSpPr>
                <p:spPr>
                  <a:xfrm>
                    <a:off x="4303519" y="4151487"/>
                    <a:ext cx="706509" cy="325126"/>
                  </a:xfrm>
                  <a:prstGeom prst="rect">
                    <a:avLst/>
                  </a:prstGeom>
                  <a:blipFill>
                    <a:blip r:embed="rId10"/>
                    <a:stretch>
                      <a:fillRect t="-7576" r="-5195" b="-25758"/>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3" name="Rectangle 12"/>
                <p:cNvSpPr/>
                <p:nvPr/>
              </p:nvSpPr>
              <p:spPr>
                <a:xfrm>
                  <a:off x="921653" y="4568793"/>
                  <a:ext cx="703462" cy="6108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rPr>
                            </m:ctrlPr>
                          </m:fPr>
                          <m:num>
                            <m:r>
                              <a:rPr lang="en-US" altLang="zh-CN" i="1" smtClean="0">
                                <a:latin typeface="Cambria Math" panose="02040503050406030204" pitchFamily="18" charset="0"/>
                              </a:rPr>
                              <m:t>𝑊</m:t>
                            </m:r>
                          </m:num>
                          <m:den>
                            <m:r>
                              <a:rPr lang="en-US" altLang="zh-CN" b="0" i="1" smtClean="0">
                                <a:latin typeface="Cambria Math" panose="02040503050406030204" pitchFamily="18" charset="0"/>
                              </a:rPr>
                              <m:t>𝑒</m:t>
                            </m:r>
                          </m:den>
                        </m:f>
                        <m:r>
                          <a:rPr lang="en-US" altLang="zh-CN" b="0" i="1" smtClean="0">
                            <a:latin typeface="Cambria Math" panose="02040503050406030204" pitchFamily="18" charset="0"/>
                          </a:rPr>
                          <m:t>=</m:t>
                        </m:r>
                      </m:oMath>
                    </m:oMathPara>
                  </a14:m>
                  <a:endParaRPr lang="zh-CN" altLang="en-US" dirty="0"/>
                </a:p>
              </p:txBody>
            </p:sp>
          </mc:Choice>
          <mc:Fallback>
            <p:sp>
              <p:nvSpPr>
                <p:cNvPr id="13" name="Rectangle 12"/>
                <p:cNvSpPr>
                  <a:spLocks noRot="1" noChangeAspect="1" noMove="1" noResize="1" noEditPoints="1" noAdjustHandles="1" noChangeArrowheads="1" noChangeShapeType="1" noTextEdit="1"/>
                </p:cNvSpPr>
                <p:nvPr/>
              </p:nvSpPr>
              <p:spPr>
                <a:xfrm>
                  <a:off x="921653" y="4568793"/>
                  <a:ext cx="703462" cy="610873"/>
                </a:xfrm>
                <a:prstGeom prst="rect">
                  <a:avLst/>
                </a:prstGeom>
                <a:blipFill>
                  <a:blip r:embed="rId11"/>
                  <a:stretch>
                    <a:fillRect/>
                  </a:stretch>
                </a:blipFill>
              </p:spPr>
              <p:txBody>
                <a:bodyPr/>
                <a:lstStyle/>
                <a:p>
                  <a:r>
                    <a:rPr lang="zh-CN" altLang="en-US">
                      <a:noFill/>
                    </a:rPr>
                    <a:t> </a:t>
                  </a:r>
                </a:p>
              </p:txBody>
            </p:sp>
          </mc:Fallback>
        </mc:AlternateContent>
      </p:grpSp>
      <p:pic>
        <p:nvPicPr>
          <p:cNvPr id="17" name="Picture 16">
            <a:extLst>
              <a:ext uri="{FF2B5EF4-FFF2-40B4-BE49-F238E27FC236}">
                <a16:creationId xmlns:a16="http://schemas.microsoft.com/office/drawing/2014/main" id="{B04F2CAE-2657-45F7-8082-6E6E78DA6164}"/>
              </a:ext>
            </a:extLst>
          </p:cNvPr>
          <p:cNvPicPr>
            <a:picLocks noChangeAspect="1"/>
          </p:cNvPicPr>
          <p:nvPr/>
        </p:nvPicPr>
        <p:blipFill>
          <a:blip r:embed="rId12"/>
          <a:stretch>
            <a:fillRect/>
          </a:stretch>
        </p:blipFill>
        <p:spPr>
          <a:xfrm>
            <a:off x="9203908" y="200964"/>
            <a:ext cx="2732947" cy="2331199"/>
          </a:xfrm>
          <a:prstGeom prst="rect">
            <a:avLst/>
          </a:prstGeom>
        </p:spPr>
      </p:pic>
    </p:spTree>
    <p:extLst>
      <p:ext uri="{BB962C8B-B14F-4D97-AF65-F5344CB8AC3E}">
        <p14:creationId xmlns:p14="http://schemas.microsoft.com/office/powerpoint/2010/main" val="25367064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i1.w.hjfile.cn/slide/201204/1_3376.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911" y="3135364"/>
            <a:ext cx="1896531" cy="174527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5"/>
          <a:stretch>
            <a:fillRect/>
          </a:stretch>
        </p:blipFill>
        <p:spPr>
          <a:xfrm>
            <a:off x="4656911" y="3135364"/>
            <a:ext cx="1896531" cy="1745272"/>
          </a:xfrm>
          <a:prstGeom prst="rect">
            <a:avLst/>
          </a:prstGeom>
        </p:spPr>
      </p:pic>
      <p:sp>
        <p:nvSpPr>
          <p:cNvPr id="3" name="Content Placeholder 2"/>
          <p:cNvSpPr>
            <a:spLocks noGrp="1"/>
          </p:cNvSpPr>
          <p:nvPr>
            <p:ph idx="1"/>
          </p:nvPr>
        </p:nvSpPr>
        <p:spPr>
          <a:xfrm>
            <a:off x="597300" y="526543"/>
            <a:ext cx="10284037" cy="1745272"/>
          </a:xfrm>
        </p:spPr>
        <p:txBody>
          <a:bodyPr>
            <a:noAutofit/>
          </a:bodyPr>
          <a:lstStyle/>
          <a:p>
            <a:pPr marL="0" indent="0">
              <a:lnSpc>
                <a:spcPct val="120000"/>
              </a:lnSpc>
              <a:buNone/>
            </a:pPr>
            <a:r>
              <a:rPr lang="en-US" altLang="zh-CN" sz="2400" dirty="0"/>
              <a:t>Millikan: "Although Einstein's formula is successful, its physical theory is completely wrong.”</a:t>
            </a:r>
          </a:p>
          <a:p>
            <a:pPr marL="0" indent="0">
              <a:lnSpc>
                <a:spcPct val="120000"/>
              </a:lnSpc>
              <a:buNone/>
            </a:pPr>
            <a:r>
              <a:rPr lang="en-US" altLang="zh-CN" sz="2400" dirty="0"/>
              <a:t>Planck: "Einstein has made significant contributions to nearly all major fields of physics. Although he made an overreaching mistake in the theory of light quanta, such a flaw does not overshadow his overall brilliance."</a:t>
            </a:r>
            <a:endParaRPr lang="en-US" dirty="0"/>
          </a:p>
        </p:txBody>
      </p:sp>
      <p:sp>
        <p:nvSpPr>
          <p:cNvPr id="5" name="Content Placeholder 2"/>
          <p:cNvSpPr txBox="1">
            <a:spLocks/>
          </p:cNvSpPr>
          <p:nvPr/>
        </p:nvSpPr>
        <p:spPr>
          <a:xfrm>
            <a:off x="680935" y="5278029"/>
            <a:ext cx="10389142" cy="1278414"/>
          </a:xfrm>
          <a:prstGeom prst="rect">
            <a:avLst/>
          </a:prstGeom>
        </p:spPr>
        <p:txBody>
          <a:bodyPr vert="horz" lIns="91440" tIns="45720" rIns="91440" bIns="45720" rtlCol="0">
            <a:noAutofit/>
          </a:bodyPr>
          <a:lstStyle>
            <a:lvl1pPr marL="342900" indent="-342900" algn="l" defTabSz="914400" rtl="0" eaLnBrk="1" latinLnBrk="0" hangingPunct="1">
              <a:spcBef>
                <a:spcPts val="12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ts val="12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ts val="12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ts val="12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12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Planck: “A new scientific truth does not triumph by convincing its opponents and making them see the light, but rather because its opponents eventually die, and a new generation grows up that is familiar with it.” </a:t>
            </a:r>
          </a:p>
          <a:p>
            <a:pPr marL="0" indent="0">
              <a:buNone/>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84771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animEffect transition="in" filter="fade">
                                      <p:cBhvr>
                                        <p:cTn id="17" dur="500"/>
                                        <p:tgtEl>
                                          <p:spTgt spid="30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The 1st Solvay Conference 1911</a:t>
            </a:r>
            <a:endParaRPr lang="en-US"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025" y="1011189"/>
            <a:ext cx="7947307" cy="50962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8678341" y="1040370"/>
            <a:ext cx="2975395" cy="3170099"/>
          </a:xfrm>
          <a:prstGeom prst="rect">
            <a:avLst/>
          </a:prstGeom>
          <a:noFill/>
        </p:spPr>
        <p:txBody>
          <a:bodyPr wrap="square" rtlCol="0">
            <a:spAutoFit/>
          </a:bodyPr>
          <a:lstStyle/>
          <a:p>
            <a:r>
              <a:rPr lang="en-US" altLang="zh-CN" sz="2000" dirty="0">
                <a:ea typeface="黑体" panose="02010609060101010101" pitchFamily="49" charset="-122"/>
              </a:rPr>
              <a:t>The 1st Solvay conference</a:t>
            </a:r>
          </a:p>
          <a:p>
            <a:r>
              <a:rPr lang="en-US" altLang="zh-CN" sz="2000" dirty="0">
                <a:ea typeface="黑体" panose="02010609060101010101" pitchFamily="49" charset="-122"/>
              </a:rPr>
              <a:t>(Brussels)</a:t>
            </a:r>
            <a:endParaRPr lang="zh-CN" altLang="en-US" sz="2000" dirty="0">
              <a:ea typeface="黑体" panose="02010609060101010101" pitchFamily="49" charset="-122"/>
            </a:endParaRPr>
          </a:p>
          <a:p>
            <a:endParaRPr lang="en-US" altLang="zh-CN" sz="2000" dirty="0">
              <a:ea typeface="黑体" panose="02010609060101010101" pitchFamily="49" charset="-122"/>
            </a:endParaRPr>
          </a:p>
          <a:p>
            <a:r>
              <a:rPr lang="en-US" altLang="zh-CN" sz="2000" dirty="0">
                <a:ea typeface="黑体" panose="02010609060101010101" pitchFamily="49" charset="-122"/>
              </a:rPr>
              <a:t>First</a:t>
            </a:r>
            <a:r>
              <a:rPr lang="zh-CN" altLang="en-US" sz="2000" dirty="0">
                <a:ea typeface="黑体" panose="02010609060101010101" pitchFamily="49" charset="-122"/>
              </a:rPr>
              <a:t> </a:t>
            </a:r>
            <a:r>
              <a:rPr lang="en-US" altLang="zh-CN" sz="2000" dirty="0">
                <a:ea typeface="黑体" panose="02010609060101010101" pitchFamily="49" charset="-122"/>
              </a:rPr>
              <a:t>international physics conference</a:t>
            </a:r>
          </a:p>
          <a:p>
            <a:endParaRPr lang="en-US" altLang="zh-CN" sz="2000" dirty="0">
              <a:ea typeface="黑体" panose="02010609060101010101" pitchFamily="49" charset="-122"/>
            </a:endParaRPr>
          </a:p>
          <a:p>
            <a:r>
              <a:rPr lang="en-US" altLang="zh-CN" sz="2000" dirty="0">
                <a:ea typeface="黑体" panose="02010609060101010101" pitchFamily="49" charset="-122"/>
              </a:rPr>
              <a:t>Theme topic:</a:t>
            </a:r>
            <a:r>
              <a:rPr lang="zh-CN" altLang="en-US" sz="2000" dirty="0">
                <a:ea typeface="黑体" panose="02010609060101010101" pitchFamily="49" charset="-122"/>
              </a:rPr>
              <a:t> </a:t>
            </a:r>
            <a:endParaRPr lang="en-US" altLang="zh-CN" sz="2000" dirty="0">
              <a:ea typeface="黑体" panose="02010609060101010101" pitchFamily="49" charset="-122"/>
            </a:endParaRPr>
          </a:p>
          <a:p>
            <a:r>
              <a:rPr lang="en-US" altLang="zh-CN" sz="2000" dirty="0">
                <a:solidFill>
                  <a:srgbClr val="C00000"/>
                </a:solidFill>
                <a:ea typeface="黑体" panose="02010609060101010101" pitchFamily="49" charset="-122"/>
              </a:rPr>
              <a:t>Radiation and quanta</a:t>
            </a:r>
          </a:p>
          <a:p>
            <a:endParaRPr lang="en-US" altLang="zh-CN" sz="2000" dirty="0">
              <a:ea typeface="黑体" panose="02010609060101010101" pitchFamily="49" charset="-122"/>
            </a:endParaRPr>
          </a:p>
          <a:p>
            <a:endParaRPr lang="zh-CN" altLang="en-US" sz="2000" dirty="0">
              <a:ea typeface="黑体" panose="02010609060101010101" pitchFamily="49" charset="-122"/>
            </a:endParaRPr>
          </a:p>
        </p:txBody>
      </p:sp>
    </p:spTree>
    <p:extLst>
      <p:ext uri="{BB962C8B-B14F-4D97-AF65-F5344CB8AC3E}">
        <p14:creationId xmlns:p14="http://schemas.microsoft.com/office/powerpoint/2010/main" val="120321364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9264" y="820625"/>
            <a:ext cx="9253471" cy="2140010"/>
          </a:xfrm>
        </p:spPr>
        <p:txBody>
          <a:bodyPr>
            <a:noAutofit/>
          </a:bodyPr>
          <a:lstStyle/>
          <a:p>
            <a:r>
              <a:rPr lang="en-US" altLang="zh-CN" sz="4000" b="1" dirty="0">
                <a:latin typeface="Times New Roman" panose="02020603050405020304" pitchFamily="18" charset="0"/>
                <a:ea typeface="黑体" panose="02010609060101010101" pitchFamily="49" charset="-122"/>
                <a:cs typeface="Times New Roman" panose="02020603050405020304" pitchFamily="18" charset="0"/>
              </a:rPr>
              <a:t>Compton</a:t>
            </a:r>
            <a:r>
              <a:rPr lang="zh-CN" altLang="en-US" sz="40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4000" b="1" dirty="0">
                <a:latin typeface="Times New Roman" panose="02020603050405020304" pitchFamily="18" charset="0"/>
                <a:ea typeface="黑体" panose="02010609060101010101" pitchFamily="49" charset="-122"/>
                <a:cs typeface="Times New Roman" panose="02020603050405020304" pitchFamily="18" charset="0"/>
              </a:rPr>
              <a:t>scattering – photon momentum</a:t>
            </a:r>
            <a:br>
              <a:rPr lang="en-US" altLang="zh-CN" sz="4000" b="1" dirty="0">
                <a:latin typeface="Times New Roman" panose="02020603050405020304" pitchFamily="18" charset="0"/>
                <a:ea typeface="黑体" panose="02010609060101010101" pitchFamily="49" charset="-122"/>
                <a:cs typeface="Times New Roman" panose="02020603050405020304" pitchFamily="18" charset="0"/>
              </a:rPr>
            </a:br>
            <a:r>
              <a:rPr lang="zh-CN" altLang="en-US" sz="40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4000" b="1" dirty="0">
                <a:latin typeface="Times New Roman" panose="02020603050405020304" pitchFamily="18" charset="0"/>
                <a:ea typeface="黑体" panose="02010609060101010101" pitchFamily="49" charset="-122"/>
                <a:cs typeface="Times New Roman" panose="02020603050405020304" pitchFamily="18" charset="0"/>
              </a:rPr>
              <a:t>1923</a:t>
            </a:r>
            <a:r>
              <a:rPr lang="zh-CN" altLang="en-US" sz="4000" b="1" dirty="0">
                <a:latin typeface="Times New Roman" panose="02020603050405020304" pitchFamily="18" charset="0"/>
                <a:ea typeface="黑体" panose="02010609060101010101" pitchFamily="49" charset="-122"/>
                <a:cs typeface="Times New Roman" panose="02020603050405020304" pitchFamily="18" charset="0"/>
              </a:rPr>
              <a:t>）</a:t>
            </a:r>
            <a:endParaRPr lang="en-US" sz="40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Picture 2">
            <a:extLst>
              <a:ext uri="{FF2B5EF4-FFF2-40B4-BE49-F238E27FC236}">
                <a16:creationId xmlns:a16="http://schemas.microsoft.com/office/drawing/2014/main" id="{F79081E6-DBB1-43DC-8E9D-E38B574D4E76}"/>
              </a:ext>
            </a:extLst>
          </p:cNvPr>
          <p:cNvPicPr>
            <a:picLocks noChangeAspect="1"/>
          </p:cNvPicPr>
          <p:nvPr/>
        </p:nvPicPr>
        <p:blipFill>
          <a:blip r:embed="rId3"/>
          <a:stretch>
            <a:fillRect/>
          </a:stretch>
        </p:blipFill>
        <p:spPr>
          <a:xfrm>
            <a:off x="7963728" y="3494200"/>
            <a:ext cx="2000250" cy="2543175"/>
          </a:xfrm>
          <a:prstGeom prst="rect">
            <a:avLst/>
          </a:prstGeom>
        </p:spPr>
      </p:pic>
      <p:pic>
        <p:nvPicPr>
          <p:cNvPr id="4" name="Picture 2" descr="http://upload.wikimedia.org/wikipedia/commons/thumb/e/e3/Compton-scattering.svg/500px-Compton-scattering.svg.png">
            <a:extLst>
              <a:ext uri="{FF2B5EF4-FFF2-40B4-BE49-F238E27FC236}">
                <a16:creationId xmlns:a16="http://schemas.microsoft.com/office/drawing/2014/main" id="{E9DCDA84-081D-4C27-81A3-1D749F293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7595" y="3429000"/>
            <a:ext cx="3484603" cy="2481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18648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2894666" y="4999638"/>
                <a:ext cx="5496420" cy="10275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i="1" smtClean="0">
                          <a:latin typeface="Cambria Math"/>
                        </a:rPr>
                        <m:t>𝑝</m:t>
                      </m:r>
                      <m:r>
                        <a:rPr lang="en-US" altLang="zh-CN" sz="3200" i="1" smtClean="0">
                          <a:latin typeface="Cambria Math"/>
                        </a:rPr>
                        <m:t>=</m:t>
                      </m:r>
                      <m:f>
                        <m:fPr>
                          <m:ctrlPr>
                            <a:rPr lang="en-US" altLang="zh-CN" sz="3200" i="1">
                              <a:latin typeface="Cambria Math" panose="02040503050406030204" pitchFamily="18" charset="0"/>
                            </a:rPr>
                          </m:ctrlPr>
                        </m:fPr>
                        <m:num>
                          <m:r>
                            <a:rPr lang="en-US" altLang="zh-CN" sz="3200" i="1">
                              <a:latin typeface="Cambria Math"/>
                            </a:rPr>
                            <m:t>𝐸</m:t>
                          </m:r>
                        </m:num>
                        <m:den>
                          <m:r>
                            <a:rPr lang="en-US" altLang="zh-CN" sz="3200" i="1">
                              <a:latin typeface="Cambria Math"/>
                            </a:rPr>
                            <m:t>𝑐</m:t>
                          </m:r>
                        </m:den>
                      </m:f>
                      <m:r>
                        <a:rPr lang="en-US" altLang="zh-CN" sz="3200" i="1">
                          <a:latin typeface="Cambria Math"/>
                        </a:rPr>
                        <m:t>=</m:t>
                      </m:r>
                      <m:f>
                        <m:fPr>
                          <m:ctrlPr>
                            <a:rPr lang="en-US" altLang="zh-CN" sz="3200" i="1">
                              <a:latin typeface="Cambria Math" panose="02040503050406030204" pitchFamily="18" charset="0"/>
                            </a:rPr>
                          </m:ctrlPr>
                        </m:fPr>
                        <m:num>
                          <m:r>
                            <a:rPr lang="en-US" altLang="zh-CN" sz="3200" i="1">
                              <a:latin typeface="Cambria Math"/>
                            </a:rPr>
                            <m:t>h</m:t>
                          </m:r>
                          <m:r>
                            <a:rPr lang="en-US" altLang="zh-CN" sz="3200" i="1">
                              <a:latin typeface="Cambria Math"/>
                            </a:rPr>
                            <m:t>𝜈</m:t>
                          </m:r>
                        </m:num>
                        <m:den>
                          <m:r>
                            <a:rPr lang="en-US" altLang="zh-CN" sz="3200" i="1">
                              <a:latin typeface="Cambria Math"/>
                            </a:rPr>
                            <m:t>𝑐</m:t>
                          </m:r>
                        </m:den>
                      </m:f>
                      <m:r>
                        <a:rPr lang="en-US" altLang="zh-CN" sz="3200" i="1">
                          <a:latin typeface="Cambria Math"/>
                        </a:rPr>
                        <m:t>=</m:t>
                      </m:r>
                      <m:f>
                        <m:fPr>
                          <m:ctrlPr>
                            <a:rPr lang="en-US" altLang="zh-CN" sz="3200" i="1">
                              <a:latin typeface="Cambria Math" panose="02040503050406030204" pitchFamily="18" charset="0"/>
                            </a:rPr>
                          </m:ctrlPr>
                        </m:fPr>
                        <m:num>
                          <m:r>
                            <a:rPr lang="en-US" altLang="zh-CN" sz="3200" i="1">
                              <a:latin typeface="Cambria Math"/>
                            </a:rPr>
                            <m:t>h</m:t>
                          </m:r>
                        </m:num>
                        <m:den>
                          <m:r>
                            <a:rPr lang="en-US" altLang="zh-CN" sz="3200" i="1">
                              <a:latin typeface="Cambria Math"/>
                            </a:rPr>
                            <m:t>𝜆</m:t>
                          </m:r>
                        </m:den>
                      </m:f>
                    </m:oMath>
                  </m:oMathPara>
                </a14:m>
                <a:endParaRPr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894666" y="4999638"/>
                <a:ext cx="5496420" cy="102752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2548309" y="852213"/>
                <a:ext cx="4224426" cy="584775"/>
              </a:xfrm>
              <a:prstGeom prst="rect">
                <a:avLst/>
              </a:prstGeom>
            </p:spPr>
            <p:txBody>
              <a:bodyPr wrap="none">
                <a:spAutoFit/>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Photon energy</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3200" i="1" smtClean="0">
                        <a:latin typeface="Cambria Math"/>
                      </a:rPr>
                      <m:t>𝐸</m:t>
                    </m:r>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h</m:t>
                    </m:r>
                    <m:r>
                      <a:rPr lang="en-US" altLang="zh-CN" sz="3200" b="0" i="1" smtClean="0">
                        <a:latin typeface="Cambria Math" panose="02040503050406030204" pitchFamily="18" charset="0"/>
                      </a:rPr>
                      <m:t>𝜈</m:t>
                    </m:r>
                  </m:oMath>
                </a14:m>
                <a:endParaRPr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5" name="Rectangle 4"/>
              <p:cNvSpPr>
                <a:spLocks noRot="1" noChangeAspect="1" noMove="1" noResize="1" noEditPoints="1" noAdjustHandles="1" noChangeArrowheads="1" noChangeShapeType="1" noTextEdit="1"/>
              </p:cNvSpPr>
              <p:nvPr/>
            </p:nvSpPr>
            <p:spPr>
              <a:xfrm>
                <a:off x="2548309" y="852213"/>
                <a:ext cx="4224426" cy="584775"/>
              </a:xfrm>
              <a:prstGeom prst="rect">
                <a:avLst/>
              </a:prstGeom>
              <a:blipFill>
                <a:blip r:embed="rId4"/>
                <a:stretch>
                  <a:fillRect l="-3608" t="-17708" b="-33333"/>
                </a:stretch>
              </a:blipFill>
            </p:spPr>
            <p:txBody>
              <a:bodyPr/>
              <a:lstStyle/>
              <a:p>
                <a:r>
                  <a:rPr lang="zh-CN" altLang="en-US">
                    <a:noFill/>
                  </a:rPr>
                  <a:t> </a:t>
                </a:r>
              </a:p>
            </p:txBody>
          </p:sp>
        </mc:Fallback>
      </mc:AlternateContent>
      <p:graphicFrame>
        <p:nvGraphicFramePr>
          <p:cNvPr id="7" name="Object 6">
            <a:extLst>
              <a:ext uri="{FF2B5EF4-FFF2-40B4-BE49-F238E27FC236}">
                <a16:creationId xmlns:a16="http://schemas.microsoft.com/office/drawing/2014/main" id="{3AC9FA98-DD46-4599-A4C9-0F1A2C27B876}"/>
              </a:ext>
            </a:extLst>
          </p:cNvPr>
          <p:cNvGraphicFramePr>
            <a:graphicFrameLocks noChangeAspect="1"/>
          </p:cNvGraphicFramePr>
          <p:nvPr>
            <p:extLst>
              <p:ext uri="{D42A27DB-BD31-4B8C-83A1-F6EECF244321}">
                <p14:modId xmlns:p14="http://schemas.microsoft.com/office/powerpoint/2010/main" val="3242223206"/>
              </p:ext>
            </p:extLst>
          </p:nvPr>
        </p:nvGraphicFramePr>
        <p:xfrm>
          <a:off x="1596810" y="2476743"/>
          <a:ext cx="8526462" cy="1282700"/>
        </p:xfrm>
        <a:graphic>
          <a:graphicData uri="http://schemas.openxmlformats.org/presentationml/2006/ole">
            <mc:AlternateContent xmlns:mc="http://schemas.openxmlformats.org/markup-compatibility/2006">
              <mc:Choice xmlns:v="urn:schemas-microsoft-com:vml" Requires="v">
                <p:oleObj spid="_x0000_s1063" name="Equation" r:id="rId5" imgW="3708360" imgH="507960" progId="Equation.DSMT4">
                  <p:embed/>
                </p:oleObj>
              </mc:Choice>
              <mc:Fallback>
                <p:oleObj name="Equation" r:id="rId5" imgW="3708360" imgH="507960" progId="Equation.DSMT4">
                  <p:embed/>
                  <p:pic>
                    <p:nvPicPr>
                      <p:cNvPr id="7" name="Object 6">
                        <a:extLst>
                          <a:ext uri="{FF2B5EF4-FFF2-40B4-BE49-F238E27FC236}">
                            <a16:creationId xmlns:a16="http://schemas.microsoft.com/office/drawing/2014/main" id="{3AC9FA98-DD46-4599-A4C9-0F1A2C27B876}"/>
                          </a:ext>
                        </a:extLst>
                      </p:cNvPr>
                      <p:cNvPicPr/>
                      <p:nvPr/>
                    </p:nvPicPr>
                    <p:blipFill>
                      <a:blip r:embed="rId6"/>
                      <a:stretch>
                        <a:fillRect/>
                      </a:stretch>
                    </p:blipFill>
                    <p:spPr>
                      <a:xfrm>
                        <a:off x="1596810" y="2476743"/>
                        <a:ext cx="8526462" cy="1282700"/>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DE9E739F-F0CF-4832-B392-828FD35D3AF5}"/>
              </a:ext>
            </a:extLst>
          </p:cNvPr>
          <p:cNvSpPr txBox="1"/>
          <p:nvPr/>
        </p:nvSpPr>
        <p:spPr>
          <a:xfrm>
            <a:off x="813835" y="1656649"/>
            <a:ext cx="9730319" cy="584775"/>
          </a:xfrm>
          <a:prstGeom prst="rect">
            <a:avLst/>
          </a:prstGeom>
          <a:noFill/>
        </p:spPr>
        <p:txBody>
          <a:bodyPr wrap="square" rtlCol="0">
            <a:spAutoFit/>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Relativistic energy mass relation of a particle</a:t>
            </a:r>
            <a:endParaRPr 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3C02A4-1292-4E80-9450-ADFF12917675}"/>
                  </a:ext>
                </a:extLst>
              </p:cNvPr>
              <p:cNvSpPr txBox="1"/>
              <p:nvPr/>
            </p:nvSpPr>
            <p:spPr>
              <a:xfrm>
                <a:off x="813835" y="4014924"/>
                <a:ext cx="10379413" cy="1077218"/>
              </a:xfrm>
              <a:prstGeom prst="rect">
                <a:avLst/>
              </a:prstGeom>
              <a:noFill/>
            </p:spPr>
            <p:txBody>
              <a:bodyPr wrap="square" rtlCol="0">
                <a:spAutoFit/>
              </a:bodyPr>
              <a:lstStyle/>
              <a:p>
                <a14:m>
                  <m:oMath xmlns:m="http://schemas.openxmlformats.org/officeDocument/2006/math">
                    <m:r>
                      <a:rPr lang="en-US" altLang="zh-CN" sz="3200" b="0" i="1" smtClean="0">
                        <a:latin typeface="Cambria Math" panose="02040503050406030204" pitchFamily="18" charset="0"/>
                        <a:ea typeface="黑体" panose="02010609060101010101" pitchFamily="49" charset="-122"/>
                      </a:rPr>
                      <m:t>𝑝</m:t>
                    </m:r>
                  </m:oMath>
                </a14:m>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 momentum, </a:t>
                </a:r>
                <a14:m>
                  <m:oMath xmlns:m="http://schemas.openxmlformats.org/officeDocument/2006/math">
                    <m:r>
                      <a:rPr lang="en-US" altLang="zh-CN" sz="3200" b="0" i="1" smtClean="0">
                        <a:latin typeface="Cambria Math" panose="02040503050406030204" pitchFamily="18" charset="0"/>
                        <a:ea typeface="黑体" panose="02010609060101010101" pitchFamily="49" charset="-122"/>
                      </a:rPr>
                      <m:t>𝑚</m:t>
                    </m:r>
                    <m:r>
                      <a:rPr lang="en-US" altLang="zh-CN" sz="3200" b="0" i="1" smtClean="0">
                        <a:latin typeface="Cambria Math" panose="02040503050406030204" pitchFamily="18" charset="0"/>
                        <a:ea typeface="黑体" panose="02010609060101010101" pitchFamily="49" charset="-122"/>
                      </a:rPr>
                      <m:t>:</m:t>
                    </m:r>
                  </m:oMath>
                </a14:m>
                <a:r>
                  <a:rPr lang="en-US" sz="3200" dirty="0">
                    <a:latin typeface="Times New Roman" panose="02020603050405020304" pitchFamily="18" charset="0"/>
                    <a:ea typeface="黑体" panose="02010609060101010101" pitchFamily="49" charset="-122"/>
                    <a:cs typeface="Times New Roman" panose="02020603050405020304" pitchFamily="18" charset="0"/>
                  </a:rPr>
                  <a:t> rest mass.  For photon, </a:t>
                </a:r>
                <a14:m>
                  <m:oMath xmlns:m="http://schemas.openxmlformats.org/officeDocument/2006/math">
                    <m:r>
                      <a:rPr lang="en-US" sz="3200" b="0" i="1" smtClean="0">
                        <a:latin typeface="Cambria Math" panose="02040503050406030204" pitchFamily="18" charset="0"/>
                        <a:ea typeface="黑体" panose="02010609060101010101" pitchFamily="49" charset="-122"/>
                        <a:cs typeface="Times New Roman" panose="02020603050405020304" pitchFamily="18" charset="0"/>
                      </a:rPr>
                      <m:t>𝑚</m:t>
                    </m:r>
                    <m:r>
                      <a:rPr lang="en-US" sz="3200" b="0" i="1" smtClean="0">
                        <a:latin typeface="Cambria Math" panose="02040503050406030204" pitchFamily="18" charset="0"/>
                        <a:ea typeface="黑体" panose="02010609060101010101" pitchFamily="49" charset="-122"/>
                        <a:cs typeface="Times New Roman" panose="02020603050405020304" pitchFamily="18" charset="0"/>
                      </a:rPr>
                      <m:t>=0</m:t>
                    </m:r>
                  </m:oMath>
                </a14:m>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 then the momentum of a photon is </a:t>
                </a:r>
                <a:endParaRPr 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B73C02A4-1292-4E80-9450-ADFF12917675}"/>
                  </a:ext>
                </a:extLst>
              </p:cNvPr>
              <p:cNvSpPr txBox="1">
                <a:spLocks noRot="1" noChangeAspect="1" noMove="1" noResize="1" noEditPoints="1" noAdjustHandles="1" noChangeArrowheads="1" noChangeShapeType="1" noTextEdit="1"/>
              </p:cNvSpPr>
              <p:nvPr/>
            </p:nvSpPr>
            <p:spPr>
              <a:xfrm>
                <a:off x="813835" y="4014924"/>
                <a:ext cx="10379413" cy="1077218"/>
              </a:xfrm>
              <a:prstGeom prst="rect">
                <a:avLst/>
              </a:prstGeom>
              <a:blipFill>
                <a:blip r:embed="rId7"/>
                <a:stretch>
                  <a:fillRect l="-1528" t="-7955" b="-17614"/>
                </a:stretch>
              </a:blipFill>
            </p:spPr>
            <p:txBody>
              <a:bodyPr/>
              <a:lstStyle/>
              <a:p>
                <a:r>
                  <a:rPr lang="en-US">
                    <a:noFill/>
                  </a:rPr>
                  <a:t> </a:t>
                </a:r>
              </a:p>
            </p:txBody>
          </p:sp>
        </mc:Fallback>
      </mc:AlternateContent>
    </p:spTree>
    <p:extLst>
      <p:ext uri="{BB962C8B-B14F-4D97-AF65-F5344CB8AC3E}">
        <p14:creationId xmlns:p14="http://schemas.microsoft.com/office/powerpoint/2010/main" val="31048901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http://hyperphysics.phy-astr.gsu.edu/hbase/quantum/imgqua/compdat.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462" y="632341"/>
            <a:ext cx="5605201" cy="595034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6386562" y="4309739"/>
                <a:ext cx="428324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a:rPr>
                            <m:t>𝜆</m:t>
                          </m:r>
                        </m:e>
                        <m:sup>
                          <m:r>
                            <a:rPr lang="en-US" sz="2400" i="1">
                              <a:latin typeface="Cambria Math"/>
                            </a:rPr>
                            <m:t>′</m:t>
                          </m:r>
                        </m:sup>
                      </m:sSup>
                      <m:r>
                        <a:rPr lang="en-US" sz="2400" i="1">
                          <a:latin typeface="Cambria Math"/>
                        </a:rPr>
                        <m:t>−</m:t>
                      </m:r>
                      <m:r>
                        <a:rPr lang="en-US" sz="2400" i="1">
                          <a:latin typeface="Cambria Math"/>
                        </a:rPr>
                        <m:t>𝜆</m:t>
                      </m:r>
                      <m:r>
                        <a:rPr lang="en-US" sz="240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rPr>
                          </m:ctrlPr>
                        </m:dPr>
                        <m:e>
                          <m:r>
                            <a:rPr lang="en-US" sz="2400" i="1">
                              <a:latin typeface="Cambria Math"/>
                            </a:rPr>
                            <m:t>1−</m:t>
                          </m:r>
                          <m:func>
                            <m:funcPr>
                              <m:ctrlPr>
                                <a:rPr lang="en-US" sz="2400" i="1">
                                  <a:latin typeface="Cambria Math" panose="02040503050406030204" pitchFamily="18" charset="0"/>
                                </a:rPr>
                              </m:ctrlPr>
                            </m:funcPr>
                            <m:fName>
                              <m:r>
                                <m:rPr>
                                  <m:sty m:val="p"/>
                                </m:rPr>
                                <a:rPr lang="en-US" sz="2400">
                                  <a:latin typeface="Cambria Math"/>
                                </a:rPr>
                                <m:t>cos</m:t>
                              </m:r>
                            </m:fName>
                            <m:e>
                              <m:r>
                                <a:rPr lang="en-US" sz="2400" i="1">
                                  <a:latin typeface="Cambria Math"/>
                                </a:rPr>
                                <m:t>𝜃</m:t>
                              </m:r>
                            </m:e>
                          </m:func>
                        </m:e>
                      </m:d>
                    </m:oMath>
                  </m:oMathPara>
                </a14:m>
                <a:endParaRPr lang="en-US" sz="2400" dirty="0">
                  <a:latin typeface="黑体" panose="02010609060101010101" pitchFamily="49" charset="-122"/>
                  <a:ea typeface="黑体" panose="02010609060101010101" pitchFamily="49" charset="-12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386562" y="4309739"/>
                <a:ext cx="4283242" cy="461665"/>
              </a:xfrm>
              <a:prstGeom prst="rect">
                <a:avLst/>
              </a:prstGeom>
              <a:blipFill>
                <a:blip r:embed="rId4"/>
                <a:stretch>
                  <a:fillRect/>
                </a:stretch>
              </a:blipFill>
            </p:spPr>
            <p:txBody>
              <a:bodyPr/>
              <a:lstStyle/>
              <a:p>
                <a:r>
                  <a:rPr lang="zh-CN" altLang="en-US">
                    <a:noFill/>
                  </a:rPr>
                  <a:t> </a:t>
                </a:r>
              </a:p>
            </p:txBody>
          </p:sp>
        </mc:Fallback>
      </mc:AlternateContent>
      <p:sp>
        <p:nvSpPr>
          <p:cNvPr id="2" name="TextBox 1"/>
          <p:cNvSpPr txBox="1"/>
          <p:nvPr/>
        </p:nvSpPr>
        <p:spPr>
          <a:xfrm>
            <a:off x="5858063" y="1004602"/>
            <a:ext cx="5680794" cy="1200329"/>
          </a:xfrm>
          <a:prstGeom prst="rect">
            <a:avLst/>
          </a:prstGeom>
          <a:noFill/>
        </p:spPr>
        <p:txBody>
          <a:bodyPr wrap="square" rtlCol="0">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The Calcite crystal</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diffracts X-rays of different wavelengths to different directions, forming a spectrum of X-rays.</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Rectangle 2"/>
              <p:cNvSpPr/>
              <p:nvPr/>
            </p:nvSpPr>
            <p:spPr>
              <a:xfrm>
                <a:off x="3256138" y="3268961"/>
                <a:ext cx="34047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600" i="1">
                          <a:latin typeface="Cambria Math"/>
                        </a:rPr>
                        <m:t>𝜆</m:t>
                      </m:r>
                    </m:oMath>
                  </m:oMathPara>
                </a14:m>
                <a:endParaRPr lang="zh-CN" altLang="en-US" sz="1600" dirty="0"/>
              </a:p>
            </p:txBody>
          </p:sp>
        </mc:Choice>
        <mc:Fallback xmlns="">
          <p:sp>
            <p:nvSpPr>
              <p:cNvPr id="3" name="Rectangle 2"/>
              <p:cNvSpPr>
                <a:spLocks noRot="1" noChangeAspect="1" noMove="1" noResize="1" noEditPoints="1" noAdjustHandles="1" noChangeArrowheads="1" noChangeShapeType="1" noTextEdit="1"/>
              </p:cNvSpPr>
              <p:nvPr/>
            </p:nvSpPr>
            <p:spPr>
              <a:xfrm>
                <a:off x="3256138" y="3268961"/>
                <a:ext cx="340478" cy="338554"/>
              </a:xfrm>
              <a:prstGeom prst="rect">
                <a:avLst/>
              </a:prstGeom>
              <a:blipFill>
                <a:blip r:embed="rId5"/>
                <a:stretch>
                  <a:fillRect/>
                </a:stretch>
              </a:blipFill>
            </p:spPr>
            <p:txBody>
              <a:bodyPr/>
              <a:lstStyle/>
              <a:p>
                <a:r>
                  <a:rPr lang="zh-CN" altLang="en-US">
                    <a:noFill/>
                  </a:rPr>
                  <a:t> </a:t>
                </a:r>
              </a:p>
            </p:txBody>
          </p:sp>
        </mc:Fallback>
      </mc:AlternateContent>
      <p:sp>
        <p:nvSpPr>
          <p:cNvPr id="6" name="Title 1">
            <a:extLst>
              <a:ext uri="{FF2B5EF4-FFF2-40B4-BE49-F238E27FC236}">
                <a16:creationId xmlns:a16="http://schemas.microsoft.com/office/drawing/2014/main" id="{F7E46BB6-CF48-42F0-90B6-3AF9E646356E}"/>
              </a:ext>
            </a:extLst>
          </p:cNvPr>
          <p:cNvSpPr>
            <a:spLocks noGrp="1"/>
          </p:cNvSpPr>
          <p:nvPr>
            <p:ph type="title"/>
          </p:nvPr>
        </p:nvSpPr>
        <p:spPr>
          <a:xfrm>
            <a:off x="457203" y="188641"/>
            <a:ext cx="8070980" cy="551589"/>
          </a:xfrm>
        </p:spPr>
        <p:txBody>
          <a:bodyPr/>
          <a:lstStyle/>
          <a:p>
            <a:r>
              <a:rPr lang="en-US" altLang="zh-CN" dirty="0"/>
              <a:t>Compton’s experiment</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3BFEB90-7451-410A-8680-CE36D3A1F091}"/>
                  </a:ext>
                </a:extLst>
              </p:cNvPr>
              <p:cNvSpPr txBox="1"/>
              <p:nvPr/>
            </p:nvSpPr>
            <p:spPr>
              <a:xfrm>
                <a:off x="5858063" y="2284076"/>
                <a:ext cx="5680794" cy="1569660"/>
              </a:xfrm>
              <a:prstGeom prst="rect">
                <a:avLst/>
              </a:prstGeom>
              <a:noFill/>
            </p:spPr>
            <p:txBody>
              <a:bodyPr wrap="square" rtlCol="0">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It is found that besides the intensity peak at </a:t>
                </a:r>
                <a:r>
                  <a:rPr lang="en-US" altLang="zh-CN"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the wavelength of the incident beam (</a:t>
                </a:r>
                <a14:m>
                  <m:oMath xmlns:m="http://schemas.openxmlformats.org/officeDocument/2006/math">
                    <m:r>
                      <a:rPr lang="en-US" altLang="zh-CN" sz="2400" i="1">
                        <a:solidFill>
                          <a:srgbClr val="0070C0"/>
                        </a:solidFill>
                        <a:latin typeface="Cambria Math"/>
                      </a:rPr>
                      <m:t>𝜆</m:t>
                    </m:r>
                  </m:oMath>
                </a14:m>
                <a:r>
                  <a:rPr lang="en-US" altLang="zh-CN"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the spectrum contains another peak at </a:t>
                </a:r>
                <a:r>
                  <a:rPr lang="en-US" altLang="zh-CN"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 red shifted wavelength  (</a:t>
                </a:r>
                <a14:m>
                  <m:oMath xmlns:m="http://schemas.openxmlformats.org/officeDocument/2006/math">
                    <m:sSup>
                      <m:sSupPr>
                        <m:ctrlPr>
                          <a:rPr lang="en-US" altLang="zh-CN" sz="2400" i="1">
                            <a:solidFill>
                              <a:srgbClr val="0070C0"/>
                            </a:solidFill>
                            <a:latin typeface="Cambria Math" panose="02040503050406030204" pitchFamily="18" charset="0"/>
                          </a:rPr>
                        </m:ctrlPr>
                      </m:sSupPr>
                      <m:e>
                        <m:r>
                          <a:rPr lang="en-US" altLang="zh-CN" sz="2400" i="1">
                            <a:solidFill>
                              <a:srgbClr val="0070C0"/>
                            </a:solidFill>
                            <a:latin typeface="Cambria Math"/>
                          </a:rPr>
                          <m:t>𝜆</m:t>
                        </m:r>
                      </m:e>
                      <m:sup>
                        <m:r>
                          <a:rPr lang="en-US" altLang="zh-CN" sz="2400" i="1">
                            <a:solidFill>
                              <a:srgbClr val="0070C0"/>
                            </a:solidFill>
                            <a:latin typeface="Cambria Math"/>
                          </a:rPr>
                          <m:t>′</m:t>
                        </m:r>
                      </m:sup>
                    </m:sSup>
                  </m:oMath>
                </a14:m>
                <a:r>
                  <a:rPr lang="en-US" altLang="zh-CN"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D3BFEB90-7451-410A-8680-CE36D3A1F091}"/>
                  </a:ext>
                </a:extLst>
              </p:cNvPr>
              <p:cNvSpPr txBox="1">
                <a:spLocks noRot="1" noChangeAspect="1" noMove="1" noResize="1" noEditPoints="1" noAdjustHandles="1" noChangeArrowheads="1" noChangeShapeType="1" noTextEdit="1"/>
              </p:cNvSpPr>
              <p:nvPr/>
            </p:nvSpPr>
            <p:spPr>
              <a:xfrm>
                <a:off x="5858063" y="2284076"/>
                <a:ext cx="5680794" cy="1569660"/>
              </a:xfrm>
              <a:prstGeom prst="rect">
                <a:avLst/>
              </a:prstGeom>
              <a:blipFill>
                <a:blip r:embed="rId6"/>
                <a:stretch>
                  <a:fillRect l="-1717" t="-3113" r="-966" b="-8171"/>
                </a:stretch>
              </a:blipFill>
            </p:spPr>
            <p:txBody>
              <a:bodyPr/>
              <a:lstStyle/>
              <a:p>
                <a:r>
                  <a:rPr lang="zh-CN" altLang="en-US">
                    <a:noFill/>
                  </a:rPr>
                  <a:t> </a:t>
                </a:r>
              </a:p>
            </p:txBody>
          </p:sp>
        </mc:Fallback>
      </mc:AlternateContent>
      <p:sp>
        <p:nvSpPr>
          <p:cNvPr id="10" name="TextBox 9">
            <a:extLst>
              <a:ext uri="{FF2B5EF4-FFF2-40B4-BE49-F238E27FC236}">
                <a16:creationId xmlns:a16="http://schemas.microsoft.com/office/drawing/2014/main" id="{5B114323-62CB-49BD-8584-1CF0D3C8AC7B}"/>
              </a:ext>
            </a:extLst>
          </p:cNvPr>
          <p:cNvSpPr txBox="1"/>
          <p:nvPr/>
        </p:nvSpPr>
        <p:spPr>
          <a:xfrm>
            <a:off x="5756925" y="5667436"/>
            <a:ext cx="5992671" cy="707886"/>
          </a:xfrm>
          <a:prstGeom prst="rect">
            <a:avLst/>
          </a:prstGeom>
          <a:noFill/>
        </p:spPr>
        <p:txBody>
          <a:bodyPr wrap="square">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If the wavelength becomes longer than the original, it is red shift. The opposite case is called blue shift.</a:t>
            </a:r>
            <a:endParaRPr lang="zh-CN" altLang="en-US" sz="2000" dirty="0"/>
          </a:p>
        </p:txBody>
      </p:sp>
    </p:spTree>
    <p:extLst>
      <p:ext uri="{BB962C8B-B14F-4D97-AF65-F5344CB8AC3E}">
        <p14:creationId xmlns:p14="http://schemas.microsoft.com/office/powerpoint/2010/main" val="32872186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The quantum theory of Compton’s scattering</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2843" y="859686"/>
                <a:ext cx="11043625" cy="715888"/>
              </a:xfrm>
            </p:spPr>
            <p:txBody>
              <a:bodyPr>
                <a:normAutofit/>
              </a:bodyPr>
              <a:lstStyle/>
              <a:p>
                <a:pPr marL="0" indent="0" algn="ctr">
                  <a:buNone/>
                </a:pPr>
                <a:r>
                  <a:rPr lang="en-US" altLang="zh-CN" sz="2400" dirty="0">
                    <a:latin typeface="Times New Roman" panose="02020603050405020304" pitchFamily="18" charset="0"/>
                    <a:cs typeface="Times New Roman" panose="02020603050405020304" pitchFamily="18" charset="0"/>
                  </a:rPr>
                  <a:t>Collision between a photon and an electron. Photon momentum</a:t>
                </a:r>
                <a:r>
                  <a:rPr lang="zh-CN" altLang="en-US" sz="24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𝑝</m:t>
                        </m:r>
                      </m:e>
                      <m:sub>
                        <m:r>
                          <a:rPr lang="en-US" sz="2400" i="1">
                            <a:latin typeface="Cambria Math"/>
                          </a:rPr>
                          <m:t>𝜆</m:t>
                        </m:r>
                      </m:sub>
                    </m:sSub>
                    <m:r>
                      <a:rPr lang="en-US" sz="2400" i="1">
                        <a:latin typeface="Cambria Math"/>
                      </a:rPr>
                      <m:t>=</m:t>
                    </m:r>
                    <m:f>
                      <m:fPr>
                        <m:ctrlPr>
                          <a:rPr lang="en-US" sz="2400" i="1">
                            <a:latin typeface="Cambria Math" panose="02040503050406030204" pitchFamily="18" charset="0"/>
                          </a:rPr>
                        </m:ctrlPr>
                      </m:fPr>
                      <m:num>
                        <m:r>
                          <a:rPr lang="en-US" sz="2400" i="1">
                            <a:latin typeface="Cambria Math"/>
                          </a:rPr>
                          <m:t>h</m:t>
                        </m:r>
                      </m:num>
                      <m:den>
                        <m:r>
                          <a:rPr lang="en-US" sz="2400" i="1">
                            <a:latin typeface="Cambria Math"/>
                          </a:rPr>
                          <m:t>𝜆</m:t>
                        </m:r>
                      </m:den>
                    </m:f>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2843" y="859686"/>
                <a:ext cx="11043625" cy="715888"/>
              </a:xfr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8462951" y="2986545"/>
                <a:ext cx="3327661"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sSup>
                        <m:sSupPr>
                          <m:ctrlPr>
                            <a:rPr lang="en-US" sz="2400" i="1" smtClean="0">
                              <a:solidFill>
                                <a:srgbClr val="C00000"/>
                              </a:solidFill>
                              <a:latin typeface="Cambria Math" panose="02040503050406030204" pitchFamily="18" charset="0"/>
                            </a:rPr>
                          </m:ctrlPr>
                        </m:sSupPr>
                        <m:e>
                          <m:r>
                            <a:rPr lang="en-US" sz="2400" i="1">
                              <a:solidFill>
                                <a:srgbClr val="C00000"/>
                              </a:solidFill>
                              <a:latin typeface="Cambria Math"/>
                            </a:rPr>
                            <m:t>𝜆</m:t>
                          </m:r>
                        </m:e>
                        <m:sup>
                          <m:r>
                            <a:rPr lang="en-US" sz="2400" i="1">
                              <a:solidFill>
                                <a:srgbClr val="C00000"/>
                              </a:solidFill>
                              <a:latin typeface="Cambria Math"/>
                            </a:rPr>
                            <m:t>′</m:t>
                          </m:r>
                        </m:sup>
                      </m:sSup>
                      <m:r>
                        <a:rPr lang="en-US" sz="2400" i="1">
                          <a:solidFill>
                            <a:srgbClr val="C00000"/>
                          </a:solidFill>
                          <a:latin typeface="Cambria Math"/>
                        </a:rPr>
                        <m:t>−</m:t>
                      </m:r>
                      <m:r>
                        <a:rPr lang="en-US" sz="2400" i="1">
                          <a:solidFill>
                            <a:srgbClr val="C00000"/>
                          </a:solidFill>
                          <a:latin typeface="Cambria Math"/>
                        </a:rPr>
                        <m:t>𝜆</m:t>
                      </m:r>
                      <m:r>
                        <a:rPr lang="en-US" sz="2400" i="1">
                          <a:solidFill>
                            <a:srgbClr val="C00000"/>
                          </a:solidFill>
                          <a:latin typeface="Cambria Math"/>
                        </a:rPr>
                        <m:t>=</m:t>
                      </m:r>
                      <m:sSub>
                        <m:sSubPr>
                          <m:ctrlPr>
                            <a:rPr lang="en-US" altLang="zh-CN" sz="2400" i="1">
                              <a:solidFill>
                                <a:srgbClr val="C00000"/>
                              </a:solidFill>
                              <a:latin typeface="Cambria Math" panose="02040503050406030204" pitchFamily="18" charset="0"/>
                            </a:rPr>
                          </m:ctrlPr>
                        </m:sSubPr>
                        <m:e>
                          <m:r>
                            <a:rPr lang="en-US" altLang="zh-CN" sz="2400" i="1">
                              <a:solidFill>
                                <a:srgbClr val="C00000"/>
                              </a:solidFill>
                              <a:latin typeface="Cambria Math"/>
                            </a:rPr>
                            <m:t>𝜆</m:t>
                          </m:r>
                        </m:e>
                        <m:sub>
                          <m:r>
                            <a:rPr lang="en-US" altLang="zh-CN" sz="2400" i="1">
                              <a:solidFill>
                                <a:srgbClr val="C00000"/>
                              </a:solidFill>
                              <a:latin typeface="Cambria Math"/>
                            </a:rPr>
                            <m:t>𝑒</m:t>
                          </m:r>
                        </m:sub>
                      </m:sSub>
                      <m:d>
                        <m:dPr>
                          <m:ctrlPr>
                            <a:rPr lang="en-US" sz="2400" i="1">
                              <a:solidFill>
                                <a:srgbClr val="C00000"/>
                              </a:solidFill>
                              <a:latin typeface="Cambria Math" panose="02040503050406030204" pitchFamily="18" charset="0"/>
                            </a:rPr>
                          </m:ctrlPr>
                        </m:dPr>
                        <m:e>
                          <m:r>
                            <a:rPr lang="en-US" sz="2400" i="1">
                              <a:solidFill>
                                <a:srgbClr val="C00000"/>
                              </a:solidFill>
                              <a:latin typeface="Cambria Math"/>
                            </a:rPr>
                            <m:t>1−</m:t>
                          </m:r>
                          <m:func>
                            <m:funcPr>
                              <m:ctrlPr>
                                <a:rPr lang="en-US" sz="2400" i="1">
                                  <a:solidFill>
                                    <a:srgbClr val="C00000"/>
                                  </a:solidFill>
                                  <a:latin typeface="Cambria Math" panose="02040503050406030204" pitchFamily="18" charset="0"/>
                                </a:rPr>
                              </m:ctrlPr>
                            </m:funcPr>
                            <m:fName>
                              <m:r>
                                <m:rPr>
                                  <m:sty m:val="p"/>
                                </m:rPr>
                                <a:rPr lang="en-US" sz="2400">
                                  <a:solidFill>
                                    <a:srgbClr val="C00000"/>
                                  </a:solidFill>
                                  <a:latin typeface="Cambria Math"/>
                                </a:rPr>
                                <m:t>cos</m:t>
                              </m:r>
                            </m:fName>
                            <m:e>
                              <m:r>
                                <a:rPr lang="en-US" sz="2400" i="1">
                                  <a:solidFill>
                                    <a:srgbClr val="C00000"/>
                                  </a:solidFill>
                                  <a:latin typeface="Cambria Math"/>
                                </a:rPr>
                                <m:t>𝜃</m:t>
                              </m:r>
                            </m:e>
                          </m:func>
                        </m:e>
                      </m:d>
                    </m:oMath>
                  </m:oMathPara>
                </a14:m>
                <a:endParaRPr lang="en-US" sz="2400" dirty="0">
                  <a:solidFill>
                    <a:srgbClr val="C0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8462951" y="2986545"/>
                <a:ext cx="3327661" cy="64633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Content Placeholder 2"/>
              <p:cNvSpPr txBox="1">
                <a:spLocks/>
              </p:cNvSpPr>
              <p:nvPr/>
            </p:nvSpPr>
            <p:spPr>
              <a:xfrm>
                <a:off x="1402706" y="5697618"/>
                <a:ext cx="10044546" cy="490480"/>
              </a:xfrm>
              <a:prstGeom prst="rect">
                <a:avLst/>
              </a:prstGeom>
              <a:ln/>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342900" indent="-342900" algn="l" defTabSz="914400" rtl="0" eaLnBrk="1" latinLnBrk="0" hangingPunct="1">
                  <a:spcBef>
                    <a:spcPts val="12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ts val="12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ts val="12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ts val="12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12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By fitting the </a:t>
                </a:r>
                <a14:m>
                  <m:oMath xmlns:m="http://schemas.openxmlformats.org/officeDocument/2006/math">
                    <m:r>
                      <m:rPr>
                        <m:sty m:val="p"/>
                      </m:rPr>
                      <a:rPr lang="en-US" altLang="zh-CN" sz="2400" b="0" i="0" smtClean="0">
                        <a:latin typeface="Cambria Math" panose="02040503050406030204" pitchFamily="18" charset="0"/>
                        <a:ea typeface="黑体" panose="02010609060101010101" pitchFamily="49" charset="-122"/>
                        <a:cs typeface="Times New Roman" panose="02020603050405020304" pitchFamily="18" charset="0"/>
                      </a:rPr>
                      <m:t>cos</m:t>
                    </m:r>
                    <m:r>
                      <a:rPr lang="en-US" altLang="zh-CN" sz="2400" b="0" i="1" smtClean="0">
                        <a:latin typeface="Cambria Math" panose="02040503050406030204" pitchFamily="18" charset="0"/>
                        <a:ea typeface="黑体" panose="02010609060101010101" pitchFamily="49" charset="-122"/>
                        <a:cs typeface="Times New Roman" panose="02020603050405020304" pitchFamily="18" charset="0"/>
                      </a:rPr>
                      <m:t>𝜃</m:t>
                    </m:r>
                  </m:oMath>
                </a14:m>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dependence of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a:rPr>
                          <m:t>𝜆</m:t>
                        </m:r>
                      </m:e>
                      <m:sup>
                        <m:r>
                          <a:rPr lang="en-US" sz="2400" i="1">
                            <a:latin typeface="Cambria Math"/>
                          </a:rPr>
                          <m:t>′</m:t>
                        </m:r>
                      </m:sup>
                    </m:sSup>
                  </m:oMath>
                </a14:m>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we have another method of measuring </a:t>
                </a:r>
                <a14:m>
                  <m:oMath xmlns:m="http://schemas.openxmlformats.org/officeDocument/2006/math">
                    <m:r>
                      <a:rPr lang="en-US" altLang="zh-CN" sz="2400" i="1">
                        <a:latin typeface="Cambria Math"/>
                      </a:rPr>
                      <m:t>h</m:t>
                    </m:r>
                  </m:oMath>
                </a14:m>
                <a:endParaRPr 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9" name="Content Placeholder 2"/>
              <p:cNvSpPr txBox="1">
                <a:spLocks noRot="1" noChangeAspect="1" noMove="1" noResize="1" noEditPoints="1" noAdjustHandles="1" noChangeArrowheads="1" noChangeShapeType="1" noTextEdit="1"/>
              </p:cNvSpPr>
              <p:nvPr/>
            </p:nvSpPr>
            <p:spPr>
              <a:xfrm>
                <a:off x="1402706" y="5697618"/>
                <a:ext cx="10044546" cy="490480"/>
              </a:xfrm>
              <a:prstGeom prst="rect">
                <a:avLst/>
              </a:prstGeom>
              <a:blipFill>
                <a:blip r:embed="rId6"/>
                <a:stretch>
                  <a:fillRect l="-787" t="-7143" b="-19048"/>
                </a:stretch>
              </a:blipFill>
              <a:ln/>
            </p:spPr>
            <p:txBody>
              <a:bodyPr/>
              <a:lstStyle/>
              <a:p>
                <a:r>
                  <a:rPr lang="zh-CN" altLang="en-US">
                    <a:noFill/>
                  </a:rPr>
                  <a:t> </a:t>
                </a:r>
              </a:p>
            </p:txBody>
          </p:sp>
        </mc:Fallback>
      </mc:AlternateContent>
      <p:grpSp>
        <p:nvGrpSpPr>
          <p:cNvPr id="12" name="Group 11"/>
          <p:cNvGrpSpPr/>
          <p:nvPr/>
        </p:nvGrpSpPr>
        <p:grpSpPr>
          <a:xfrm>
            <a:off x="511595" y="1695030"/>
            <a:ext cx="3484603" cy="2747573"/>
            <a:chOff x="455465" y="2029534"/>
            <a:chExt cx="3960440" cy="3095094"/>
          </a:xfrm>
        </p:grpSpPr>
        <p:grpSp>
          <p:nvGrpSpPr>
            <p:cNvPr id="7" name="Group 6"/>
            <p:cNvGrpSpPr/>
            <p:nvPr/>
          </p:nvGrpSpPr>
          <p:grpSpPr>
            <a:xfrm>
              <a:off x="455465" y="2029534"/>
              <a:ext cx="3960440" cy="2795927"/>
              <a:chOff x="789571" y="2388615"/>
              <a:chExt cx="4248472" cy="2939943"/>
            </a:xfrm>
          </p:grpSpPr>
          <p:pic>
            <p:nvPicPr>
              <p:cNvPr id="4" name="Picture 2" descr="http://upload.wikimedia.org/wikipedia/commons/thumb/e/e3/Compton-scattering.svg/500px-Compton-scattering.sv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9571" y="2388615"/>
                <a:ext cx="4248472" cy="29399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3419873" y="4365103"/>
                    <a:ext cx="606755" cy="5896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𝜙</m:t>
                          </m:r>
                        </m:oMath>
                      </m:oMathPara>
                    </a14:m>
                    <a:endParaRPr lang="en-US" sz="1351" dirty="0"/>
                  </a:p>
                </p:txBody>
              </p:sp>
            </mc:Choice>
            <mc:Fallback xmlns="">
              <p:sp>
                <p:nvSpPr>
                  <p:cNvPr id="5" name="TextBox 4"/>
                  <p:cNvSpPr txBox="1">
                    <a:spLocks noRot="1" noChangeAspect="1" noMove="1" noResize="1" noEditPoints="1" noAdjustHandles="1" noChangeArrowheads="1" noChangeShapeType="1" noTextEdit="1"/>
                  </p:cNvSpPr>
                  <p:nvPr/>
                </p:nvSpPr>
                <p:spPr>
                  <a:xfrm>
                    <a:off x="3419873" y="4365103"/>
                    <a:ext cx="606755" cy="589661"/>
                  </a:xfrm>
                  <a:prstGeom prst="rect">
                    <a:avLst/>
                  </a:prstGeom>
                  <a:blipFill>
                    <a:blip r:embed="rId9"/>
                    <a:stretch>
                      <a:fillRect/>
                    </a:stretch>
                  </a:blipFill>
                </p:spPr>
                <p:txBody>
                  <a:bodyPr/>
                  <a:lstStyle/>
                  <a:p>
                    <a:r>
                      <a:rPr lang="en-US">
                        <a:noFill/>
                      </a:rPr>
                      <a:t> </a:t>
                    </a:r>
                  </a:p>
                </p:txBody>
              </p:sp>
            </mc:Fallback>
          </mc:AlternateContent>
          <p:sp>
            <p:nvSpPr>
              <p:cNvPr id="6" name="Arc 5"/>
              <p:cNvSpPr/>
              <p:nvPr/>
            </p:nvSpPr>
            <p:spPr>
              <a:xfrm rot="4598480">
                <a:off x="2598830" y="3765346"/>
                <a:ext cx="914400" cy="914400"/>
              </a:xfrm>
              <a:prstGeom prst="arc">
                <a:avLst>
                  <a:gd name="adj1" fmla="val 16509741"/>
                  <a:gd name="adj2" fmla="val 20859021"/>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1351"/>
              </a:p>
            </p:txBody>
          </p:sp>
        </p:grpSp>
        <mc:AlternateContent xmlns:mc="http://schemas.openxmlformats.org/markup-compatibility/2006" xmlns:a14="http://schemas.microsoft.com/office/drawing/2010/main">
          <mc:Choice Requires="a14">
            <p:sp>
              <p:nvSpPr>
                <p:cNvPr id="10" name="Rectangle 9"/>
                <p:cNvSpPr/>
                <p:nvPr/>
              </p:nvSpPr>
              <p:spPr>
                <a:xfrm>
                  <a:off x="3063077" y="4563852"/>
                  <a:ext cx="529307" cy="560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a:latin typeface="Cambria Math"/>
                          </a:rPr>
                          <m:t>𝐩</m:t>
                        </m:r>
                      </m:oMath>
                    </m:oMathPara>
                  </a14:m>
                  <a:endParaRPr lang="en-US" sz="2800" b="1" dirty="0"/>
                </a:p>
              </p:txBody>
            </p:sp>
          </mc:Choice>
          <mc:Fallback xmlns="">
            <p:sp>
              <p:nvSpPr>
                <p:cNvPr id="10" name="Rectangle 9"/>
                <p:cNvSpPr>
                  <a:spLocks noRot="1" noChangeAspect="1" noMove="1" noResize="1" noEditPoints="1" noAdjustHandles="1" noChangeArrowheads="1" noChangeShapeType="1" noTextEdit="1"/>
                </p:cNvSpPr>
                <p:nvPr/>
              </p:nvSpPr>
              <p:spPr>
                <a:xfrm>
                  <a:off x="3063077" y="4563852"/>
                  <a:ext cx="529307" cy="560776"/>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Rectangle 12"/>
              <p:cNvSpPr/>
              <p:nvPr/>
            </p:nvSpPr>
            <p:spPr>
              <a:xfrm>
                <a:off x="4167760" y="3705477"/>
                <a:ext cx="7754069" cy="159466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rgbClr val="0070C0"/>
                              </a:solidFill>
                              <a:latin typeface="Cambria Math" panose="02040503050406030204" pitchFamily="18" charset="0"/>
                            </a:rPr>
                          </m:ctrlPr>
                        </m:sSubPr>
                        <m:e>
                          <m:r>
                            <a:rPr lang="en-US" altLang="zh-CN" sz="2400" i="1">
                              <a:solidFill>
                                <a:srgbClr val="0070C0"/>
                              </a:solidFill>
                              <a:latin typeface="Cambria Math"/>
                            </a:rPr>
                            <m:t>𝜆</m:t>
                          </m:r>
                        </m:e>
                        <m:sub>
                          <m:r>
                            <a:rPr lang="en-US" altLang="zh-CN" sz="2400" i="1">
                              <a:solidFill>
                                <a:srgbClr val="0070C0"/>
                              </a:solidFill>
                              <a:latin typeface="Cambria Math"/>
                            </a:rPr>
                            <m:t>𝑒</m:t>
                          </m:r>
                        </m:sub>
                      </m:sSub>
                      <m:r>
                        <a:rPr lang="en-US" altLang="zh-CN" sz="2400" i="1">
                          <a:solidFill>
                            <a:srgbClr val="0070C0"/>
                          </a:solidFill>
                          <a:latin typeface="Cambria Math" panose="02040503050406030204" pitchFamily="18" charset="0"/>
                          <a:ea typeface="Cambria Math" panose="02040503050406030204" pitchFamily="18" charset="0"/>
                        </a:rPr>
                        <m:t>≡</m:t>
                      </m:r>
                      <m:f>
                        <m:fPr>
                          <m:ctrlPr>
                            <a:rPr lang="en-US" altLang="zh-CN" sz="2400" i="1">
                              <a:solidFill>
                                <a:srgbClr val="0070C0"/>
                              </a:solidFill>
                              <a:latin typeface="Cambria Math" panose="02040503050406030204" pitchFamily="18" charset="0"/>
                            </a:rPr>
                          </m:ctrlPr>
                        </m:fPr>
                        <m:num>
                          <m:r>
                            <a:rPr lang="en-US" altLang="zh-CN" sz="2400" i="1">
                              <a:solidFill>
                                <a:srgbClr val="0070C0"/>
                              </a:solidFill>
                              <a:latin typeface="Cambria Math"/>
                            </a:rPr>
                            <m:t>h</m:t>
                          </m:r>
                        </m:num>
                        <m:den>
                          <m:sSub>
                            <m:sSubPr>
                              <m:ctrlPr>
                                <a:rPr lang="en-US" altLang="zh-CN" sz="2400" i="1">
                                  <a:solidFill>
                                    <a:srgbClr val="0070C0"/>
                                  </a:solidFill>
                                  <a:latin typeface="Cambria Math" panose="02040503050406030204" pitchFamily="18" charset="0"/>
                                </a:rPr>
                              </m:ctrlPr>
                            </m:sSubPr>
                            <m:e>
                              <m:r>
                                <a:rPr lang="en-US" altLang="zh-CN" sz="2400" i="1">
                                  <a:solidFill>
                                    <a:srgbClr val="0070C0"/>
                                  </a:solidFill>
                                  <a:latin typeface="Cambria Math"/>
                                </a:rPr>
                                <m:t>𝑚</m:t>
                              </m:r>
                            </m:e>
                            <m:sub>
                              <m:r>
                                <a:rPr lang="en-US" altLang="zh-CN" sz="2400" i="1">
                                  <a:solidFill>
                                    <a:srgbClr val="0070C0"/>
                                  </a:solidFill>
                                  <a:latin typeface="Cambria Math"/>
                                </a:rPr>
                                <m:t>𝑒</m:t>
                              </m:r>
                            </m:sub>
                          </m:sSub>
                          <m:r>
                            <a:rPr lang="en-US" altLang="zh-CN" sz="2400" i="1">
                              <a:solidFill>
                                <a:srgbClr val="0070C0"/>
                              </a:solidFill>
                              <a:latin typeface="Cambria Math"/>
                            </a:rPr>
                            <m:t>𝑐</m:t>
                          </m:r>
                        </m:den>
                      </m:f>
                      <m:r>
                        <a:rPr lang="en-US" altLang="zh-CN" sz="2400" i="1">
                          <a:solidFill>
                            <a:srgbClr val="0070C0"/>
                          </a:solidFill>
                          <a:latin typeface="Cambria Math"/>
                          <a:ea typeface="Cambria Math"/>
                        </a:rPr>
                        <m:t>≈2.4 </m:t>
                      </m:r>
                      <m:r>
                        <a:rPr lang="en-US" altLang="zh-CN" sz="2400" i="1">
                          <a:solidFill>
                            <a:srgbClr val="0070C0"/>
                          </a:solidFill>
                          <a:latin typeface="Cambria Math"/>
                          <a:ea typeface="Cambria Math"/>
                        </a:rPr>
                        <m:t>𝑝</m:t>
                      </m:r>
                      <m:r>
                        <m:rPr>
                          <m:sty m:val="p"/>
                        </m:rPr>
                        <a:rPr lang="en-US" altLang="zh-CN" sz="2400" i="1">
                          <a:solidFill>
                            <a:srgbClr val="0070C0"/>
                          </a:solidFill>
                          <a:latin typeface="Cambria Math"/>
                          <a:ea typeface="Cambria Math"/>
                        </a:rPr>
                        <m:t>m</m:t>
                      </m:r>
                    </m:oMath>
                  </m:oMathPara>
                </a14:m>
                <a:endParaRPr lang="en-US" altLang="zh-CN" sz="2400" dirty="0">
                  <a:solidFill>
                    <a:srgbClr val="0070C0"/>
                  </a:solidFill>
                  <a:latin typeface="Times New Roman" panose="02020603050405020304" pitchFamily="18" charset="0"/>
                  <a:ea typeface="Cambria Math"/>
                  <a:cs typeface="Times New Roman" panose="02020603050405020304" pitchFamily="18" charset="0"/>
                </a:endParaRPr>
              </a:p>
              <a:p>
                <a:r>
                  <a:rPr lang="en-US" altLang="zh-CN"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Compton wavelength of electron: the wavelength of a photon whose energy is equal to the rest energy of an electron</a:t>
                </a:r>
              </a:p>
            </p:txBody>
          </p:sp>
        </mc:Choice>
        <mc:Fallback xmlns="">
          <p:sp>
            <p:nvSpPr>
              <p:cNvPr id="13" name="Rectangle 12"/>
              <p:cNvSpPr>
                <a:spLocks noRot="1" noChangeAspect="1" noMove="1" noResize="1" noEditPoints="1" noAdjustHandles="1" noChangeArrowheads="1" noChangeShapeType="1" noTextEdit="1"/>
              </p:cNvSpPr>
              <p:nvPr/>
            </p:nvSpPr>
            <p:spPr>
              <a:xfrm>
                <a:off x="4167760" y="3705477"/>
                <a:ext cx="7754069" cy="1594667"/>
              </a:xfrm>
              <a:prstGeom prst="rect">
                <a:avLst/>
              </a:prstGeom>
              <a:blipFill>
                <a:blip r:embed="rId11"/>
                <a:stretch>
                  <a:fillRect l="-1258" r="-943" b="-80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4190376" y="3078879"/>
                <a:ext cx="4406719" cy="461665"/>
              </a:xfrm>
              <a:prstGeom prst="rect">
                <a:avLst/>
              </a:prstGeom>
            </p:spPr>
            <p:txBody>
              <a:bodyPr wrap="none">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Cancel out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a:rPr>
                          <m:t>𝑝</m:t>
                        </m:r>
                      </m:e>
                      <m:sup>
                        <m:r>
                          <a:rPr lang="en-US" altLang="zh-CN" sz="2400" i="1">
                            <a:latin typeface="Cambria Math"/>
                          </a:rPr>
                          <m:t>2</m:t>
                        </m:r>
                      </m:sup>
                    </m:sSup>
                  </m:oMath>
                </a14:m>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and use </a:t>
                </a:r>
                <a14:m>
                  <m:oMath xmlns:m="http://schemas.openxmlformats.org/officeDocument/2006/math">
                    <m:r>
                      <a:rPr lang="en-US" altLang="zh-CN" sz="2400" b="0" i="1" smtClean="0">
                        <a:latin typeface="Cambria Math" panose="02040503050406030204" pitchFamily="18" charset="0"/>
                      </a:rPr>
                      <m:t>𝜈</m:t>
                    </m:r>
                    <m:r>
                      <a:rPr lang="en-US" altLang="zh-CN" sz="2400" i="1">
                        <a:latin typeface="Cambria Math"/>
                      </a:rPr>
                      <m:t>=</m:t>
                    </m:r>
                    <m:r>
                      <a:rPr lang="en-US" altLang="zh-CN" sz="2400" b="0" i="1" smtClean="0">
                        <a:latin typeface="Cambria Math" panose="02040503050406030204" pitchFamily="18" charset="0"/>
                      </a:rPr>
                      <m:t>𝑐</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𝜆</m:t>
                    </m:r>
                  </m:oMath>
                </a14:m>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p>
            </p:txBody>
          </p:sp>
        </mc:Choice>
        <mc:Fallback xmlns="">
          <p:sp>
            <p:nvSpPr>
              <p:cNvPr id="14" name="Rectangle 13"/>
              <p:cNvSpPr>
                <a:spLocks noRot="1" noChangeAspect="1" noMove="1" noResize="1" noEditPoints="1" noAdjustHandles="1" noChangeArrowheads="1" noChangeShapeType="1" noTextEdit="1"/>
              </p:cNvSpPr>
              <p:nvPr/>
            </p:nvSpPr>
            <p:spPr>
              <a:xfrm>
                <a:off x="4190376" y="3078879"/>
                <a:ext cx="4406719" cy="461665"/>
              </a:xfrm>
              <a:prstGeom prst="rect">
                <a:avLst/>
              </a:prstGeom>
              <a:blipFill>
                <a:blip r:embed="rId12"/>
                <a:stretch>
                  <a:fillRect l="-2075" t="-14474" r="-1245" b="-30263"/>
                </a:stretch>
              </a:blipFill>
            </p:spPr>
            <p:txBody>
              <a:bodyPr/>
              <a:lstStyle/>
              <a:p>
                <a:r>
                  <a:rPr lang="zh-CN" altLang="en-US">
                    <a:noFill/>
                  </a:rPr>
                  <a:t> </a:t>
                </a:r>
              </a:p>
            </p:txBody>
          </p:sp>
        </mc:Fallback>
      </mc:AlternateContent>
      <p:grpSp>
        <p:nvGrpSpPr>
          <p:cNvPr id="16" name="Group 15"/>
          <p:cNvGrpSpPr/>
          <p:nvPr/>
        </p:nvGrpSpPr>
        <p:grpSpPr>
          <a:xfrm>
            <a:off x="4237955" y="1677616"/>
            <a:ext cx="7217100" cy="1073903"/>
            <a:chOff x="4949348" y="2301221"/>
            <a:chExt cx="7217100" cy="1073903"/>
          </a:xfrm>
        </p:grpSpPr>
        <p:graphicFrame>
          <p:nvGraphicFramePr>
            <p:cNvPr id="11" name="Object 10"/>
            <p:cNvGraphicFramePr>
              <a:graphicFrameLocks noChangeAspect="1"/>
            </p:cNvGraphicFramePr>
            <p:nvPr/>
          </p:nvGraphicFramePr>
          <p:xfrm>
            <a:off x="4949348" y="2301221"/>
            <a:ext cx="3941564" cy="1073903"/>
          </p:xfrm>
          <a:graphic>
            <a:graphicData uri="http://schemas.openxmlformats.org/presentationml/2006/ole">
              <mc:AlternateContent xmlns:mc="http://schemas.openxmlformats.org/markup-compatibility/2006">
                <mc:Choice xmlns:v="urn:schemas-microsoft-com:vml" Requires="v">
                  <p:oleObj spid="_x0000_s2088" name="Equation" r:id="rId13" imgW="2247840" imgH="558720" progId="Equation.DSMT4">
                    <p:embed/>
                  </p:oleObj>
                </mc:Choice>
                <mc:Fallback>
                  <p:oleObj name="Equation" r:id="rId13" imgW="2247840" imgH="558720" progId="Equation.DSMT4">
                    <p:embed/>
                    <p:pic>
                      <p:nvPicPr>
                        <p:cNvPr id="11" name="Object 10"/>
                        <p:cNvPicPr/>
                        <p:nvPr/>
                      </p:nvPicPr>
                      <p:blipFill>
                        <a:blip r:embed="rId14"/>
                        <a:stretch>
                          <a:fillRect/>
                        </a:stretch>
                      </p:blipFill>
                      <p:spPr>
                        <a:xfrm>
                          <a:off x="4949348" y="2301221"/>
                          <a:ext cx="3941564" cy="1073903"/>
                        </a:xfrm>
                        <a:prstGeom prst="rect">
                          <a:avLst/>
                        </a:prstGeom>
                      </p:spPr>
                    </p:pic>
                  </p:oleObj>
                </mc:Fallback>
              </mc:AlternateContent>
            </a:graphicData>
          </a:graphic>
        </p:graphicFrame>
        <p:sp>
          <p:nvSpPr>
            <p:cNvPr id="15" name="TextBox 14"/>
            <p:cNvSpPr txBox="1"/>
            <p:nvPr/>
          </p:nvSpPr>
          <p:spPr>
            <a:xfrm>
              <a:off x="9073422" y="2315408"/>
              <a:ext cx="3093026" cy="1055545"/>
            </a:xfrm>
            <a:prstGeom prst="rect">
              <a:avLst/>
            </a:prstGeom>
            <a:noFill/>
          </p:spPr>
          <p:txBody>
            <a:bodyPr wrap="none" rtlCol="0">
              <a:spAutoFit/>
            </a:bodyPr>
            <a:lstStyle/>
            <a:p>
              <a:pPr>
                <a:lnSpc>
                  <a:spcPct val="150000"/>
                </a:lnSpc>
              </a:pP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Energy conservation</a:t>
              </a:r>
            </a:p>
            <a:p>
              <a:pPr>
                <a:lnSpc>
                  <a:spcPct val="150000"/>
                </a:lnSpc>
              </a:pP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Momentum</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conservation</a:t>
              </a:r>
              <a:endParaRPr lang="zh-CN" altLang="en-US" sz="2200" dirty="0">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38" name="Group 37"/>
          <p:cNvGrpSpPr/>
          <p:nvPr/>
        </p:nvGrpSpPr>
        <p:grpSpPr>
          <a:xfrm>
            <a:off x="700245" y="3602892"/>
            <a:ext cx="1535274" cy="1082927"/>
            <a:chOff x="696647" y="4204194"/>
            <a:chExt cx="1535274" cy="1082927"/>
          </a:xfrm>
        </p:grpSpPr>
        <p:grpSp>
          <p:nvGrpSpPr>
            <p:cNvPr id="29" name="Group 28"/>
            <p:cNvGrpSpPr/>
            <p:nvPr/>
          </p:nvGrpSpPr>
          <p:grpSpPr>
            <a:xfrm>
              <a:off x="696647" y="4204194"/>
              <a:ext cx="1535274" cy="1082927"/>
              <a:chOff x="457203" y="4518745"/>
              <a:chExt cx="1535274" cy="1082927"/>
            </a:xfrm>
          </p:grpSpPr>
          <p:cxnSp>
            <p:nvCxnSpPr>
              <p:cNvPr id="18" name="Straight Arrow Connector 17"/>
              <p:cNvCxnSpPr/>
              <p:nvPr/>
            </p:nvCxnSpPr>
            <p:spPr>
              <a:xfrm>
                <a:off x="457203" y="5293895"/>
                <a:ext cx="140492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p:cNvCxnSpPr/>
              <p:nvPr/>
            </p:nvCxnSpPr>
            <p:spPr>
              <a:xfrm flipV="1">
                <a:off x="457203" y="4591129"/>
                <a:ext cx="963950" cy="7027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a:off x="1384490" y="4591128"/>
                <a:ext cx="464909" cy="6860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6" name="TextBox 25"/>
                  <p:cNvSpPr txBox="1"/>
                  <p:nvPr/>
                </p:nvSpPr>
                <p:spPr>
                  <a:xfrm>
                    <a:off x="1159664" y="5293895"/>
                    <a:ext cx="33926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1" i="1" smtClean="0">
                                  <a:latin typeface="Cambria Math" panose="02040503050406030204" pitchFamily="18" charset="0"/>
                                  <a:ea typeface="黑体" panose="02010609060101010101" pitchFamily="49" charset="-122"/>
                                </a:rPr>
                                <m:t>𝒑</m:t>
                              </m:r>
                            </m:e>
                            <m:sub>
                              <m:r>
                                <a:rPr lang="en-US" altLang="zh-CN" sz="2000" b="0" i="1" smtClean="0">
                                  <a:latin typeface="Cambria Math" panose="02040503050406030204" pitchFamily="18" charset="0"/>
                                  <a:ea typeface="黑体" panose="02010609060101010101" pitchFamily="49" charset="-122"/>
                                </a:rPr>
                                <m:t>𝜆</m:t>
                              </m:r>
                            </m:sub>
                          </m:sSub>
                        </m:oMath>
                      </m:oMathPara>
                    </a14:m>
                    <a:endParaRPr lang="zh-CN" altLang="en-US" sz="2000" dirty="0">
                      <a:ea typeface="黑体" panose="02010609060101010101" pitchFamily="49" charset="-122"/>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1159664" y="5293895"/>
                    <a:ext cx="339260" cy="307777"/>
                  </a:xfrm>
                  <a:prstGeom prst="rect">
                    <a:avLst/>
                  </a:prstGeom>
                  <a:blipFill>
                    <a:blip r:embed="rId15"/>
                    <a:stretch>
                      <a:fillRect l="-17857" r="-8929" b="-254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86493" y="4518745"/>
                    <a:ext cx="409086" cy="311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1" i="1" smtClean="0">
                                  <a:latin typeface="Cambria Math" panose="02040503050406030204" pitchFamily="18" charset="0"/>
                                  <a:ea typeface="黑体" panose="02010609060101010101" pitchFamily="49" charset="-122"/>
                                </a:rPr>
                                <m:t>𝒑</m:t>
                              </m:r>
                            </m:e>
                            <m:sub>
                              <m:sSup>
                                <m:sSupPr>
                                  <m:ctrlPr>
                                    <a:rPr lang="en-US" altLang="zh-CN" sz="2000" b="0" i="1" smtClean="0">
                                      <a:latin typeface="Cambria Math" panose="02040503050406030204" pitchFamily="18" charset="0"/>
                                      <a:ea typeface="黑体" panose="02010609060101010101" pitchFamily="49" charset="-122"/>
                                    </a:rPr>
                                  </m:ctrlPr>
                                </m:sSupPr>
                                <m:e>
                                  <m:r>
                                    <a:rPr lang="en-US" altLang="zh-CN" sz="2000" b="0" i="1" smtClean="0">
                                      <a:latin typeface="Cambria Math" panose="02040503050406030204" pitchFamily="18" charset="0"/>
                                      <a:ea typeface="黑体" panose="02010609060101010101" pitchFamily="49" charset="-122"/>
                                    </a:rPr>
                                    <m:t>𝜆</m:t>
                                  </m:r>
                                </m:e>
                                <m:sup>
                                  <m:r>
                                    <a:rPr lang="en-US" altLang="zh-CN" sz="2000" b="0" i="1" smtClean="0">
                                      <a:latin typeface="Cambria Math" panose="02040503050406030204" pitchFamily="18" charset="0"/>
                                      <a:ea typeface="黑体" panose="02010609060101010101" pitchFamily="49" charset="-122"/>
                                    </a:rPr>
                                    <m:t>′</m:t>
                                  </m:r>
                                </m:sup>
                              </m:sSup>
                            </m:sub>
                          </m:sSub>
                        </m:oMath>
                      </m:oMathPara>
                    </a14:m>
                    <a:endParaRPr lang="zh-CN" altLang="en-US" sz="2000" dirty="0">
                      <a:ea typeface="黑体" panose="02010609060101010101" pitchFamily="49" charset="-122"/>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686493" y="4518745"/>
                    <a:ext cx="409086" cy="311496"/>
                  </a:xfrm>
                  <a:prstGeom prst="rect">
                    <a:avLst/>
                  </a:prstGeom>
                  <a:blipFill>
                    <a:blip r:embed="rId16"/>
                    <a:stretch>
                      <a:fillRect l="-14706" b="-274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5"/>
                  <p:cNvSpPr txBox="1"/>
                  <p:nvPr/>
                </p:nvSpPr>
                <p:spPr>
                  <a:xfrm>
                    <a:off x="1776072" y="4779126"/>
                    <a:ext cx="216405" cy="307777"/>
                  </a:xfrm>
                  <a:prstGeom prst="rect">
                    <a:avLst/>
                  </a:prstGeom>
                  <a:noFill/>
                </p:spPr>
                <p:txBody>
                  <a:bodyPr wrap="none" lIns="0" tIns="0" rIns="0" bIns="0"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ea typeface="黑体" panose="02010609060101010101" pitchFamily="49" charset="-122"/>
                            </a:rPr>
                            <m:t>𝒑</m:t>
                          </m:r>
                        </m:oMath>
                      </m:oMathPara>
                    </a14:m>
                    <a:endParaRPr lang="zh-CN" altLang="en-US" sz="2000" dirty="0">
                      <a:ea typeface="黑体" panose="02010609060101010101" pitchFamily="49" charset="-122"/>
                    </a:endParaRPr>
                  </a:p>
                </p:txBody>
              </p:sp>
            </mc:Choice>
            <mc:Fallback xmlns="">
              <p:sp>
                <p:nvSpPr>
                  <p:cNvPr id="28" name="TextBox 25"/>
                  <p:cNvSpPr txBox="1">
                    <a:spLocks noRot="1" noChangeAspect="1" noMove="1" noResize="1" noEditPoints="1" noAdjustHandles="1" noChangeArrowheads="1" noChangeShapeType="1" noTextEdit="1"/>
                  </p:cNvSpPr>
                  <p:nvPr/>
                </p:nvSpPr>
                <p:spPr>
                  <a:xfrm>
                    <a:off x="1776072" y="4779126"/>
                    <a:ext cx="216405" cy="307777"/>
                  </a:xfrm>
                  <a:prstGeom prst="rect">
                    <a:avLst/>
                  </a:prstGeom>
                  <a:blipFill>
                    <a:blip r:embed="rId17"/>
                    <a:stretch>
                      <a:fillRect l="-27778" r="-30556" b="-26000"/>
                    </a:stretch>
                  </a:blipFill>
                </p:spPr>
                <p:txBody>
                  <a:bodyPr/>
                  <a:lstStyle/>
                  <a:p>
                    <a:r>
                      <a:rPr lang="zh-CN" altLang="en-US">
                        <a:noFill/>
                      </a:rPr>
                      <a:t> </a:t>
                    </a:r>
                  </a:p>
                </p:txBody>
              </p:sp>
            </mc:Fallback>
          </mc:AlternateContent>
        </p:grpSp>
        <p:sp>
          <p:nvSpPr>
            <p:cNvPr id="36" name="Arc 35"/>
            <p:cNvSpPr/>
            <p:nvPr/>
          </p:nvSpPr>
          <p:spPr>
            <a:xfrm rot="1144234">
              <a:off x="721445" y="4745334"/>
              <a:ext cx="385061" cy="321072"/>
            </a:xfrm>
            <a:prstGeom prst="arc">
              <a:avLst>
                <a:gd name="adj1" fmla="val 16588095"/>
                <a:gd name="adj2" fmla="val 718988"/>
              </a:avLst>
            </a:prstGeom>
            <a:ln>
              <a:prstDash val="sysDash"/>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Rectangle 36"/>
                <p:cNvSpPr/>
                <p:nvPr/>
              </p:nvSpPr>
              <p:spPr>
                <a:xfrm>
                  <a:off x="1012023" y="4643226"/>
                  <a:ext cx="374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a:rPr>
                          <m:t>𝜃</m:t>
                        </m:r>
                      </m:oMath>
                    </m:oMathPara>
                  </a14:m>
                  <a:endParaRPr lang="zh-CN" altLang="en-US" dirty="0">
                    <a:solidFill>
                      <a:schemeClr val="tx1"/>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1012023" y="4643226"/>
                  <a:ext cx="374140" cy="369332"/>
                </a:xfrm>
                <a:prstGeom prst="rect">
                  <a:avLst/>
                </a:prstGeom>
                <a:blipFill>
                  <a:blip r:embed="rId18"/>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866575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503711" y="1005982"/>
            <a:ext cx="1810231" cy="4993084"/>
            <a:chOff x="611561" y="1174351"/>
            <a:chExt cx="1754271" cy="5160327"/>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1" y="1174351"/>
              <a:ext cx="1754271" cy="4824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887187" y="5984784"/>
              <a:ext cx="1180932" cy="349894"/>
            </a:xfrm>
            <a:prstGeom prst="rect">
              <a:avLst/>
            </a:prstGeom>
            <a:noFill/>
          </p:spPr>
          <p:txBody>
            <a:bodyPr wrap="none" rtlCol="0">
              <a:spAutoFit/>
            </a:bodyPr>
            <a:lstStyle/>
            <a:p>
              <a:r>
                <a:rPr lang="zh-CN" altLang="en-US" sz="1600" b="1" dirty="0"/>
                <a:t>散射光波长</a:t>
              </a:r>
              <a:endParaRPr lang="en-US" altLang="zh-CN" sz="1600" b="1" dirty="0"/>
            </a:p>
          </p:txBody>
        </p:sp>
      </p:grpSp>
      <p:grpSp>
        <p:nvGrpSpPr>
          <p:cNvPr id="7" name="Group 6"/>
          <p:cNvGrpSpPr/>
          <p:nvPr/>
        </p:nvGrpSpPr>
        <p:grpSpPr>
          <a:xfrm>
            <a:off x="5873009" y="1171326"/>
            <a:ext cx="4691227" cy="4749919"/>
            <a:chOff x="3216630" y="1130991"/>
            <a:chExt cx="4979856" cy="5194820"/>
          </a:xfrm>
        </p:grpSpPr>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630" y="1130991"/>
              <a:ext cx="4979856" cy="51588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9" name="TextBox 8"/>
                <p:cNvSpPr txBox="1"/>
                <p:nvPr/>
              </p:nvSpPr>
              <p:spPr>
                <a:xfrm>
                  <a:off x="3923928" y="6011997"/>
                  <a:ext cx="338702" cy="313814"/>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1" b="1" i="1">
                            <a:latin typeface="Cambria Math"/>
                          </a:rPr>
                          <m:t>𝝀</m:t>
                        </m:r>
                      </m:oMath>
                    </m:oMathPara>
                  </a14:m>
                  <a:endParaRPr lang="en-US" sz="1351" b="1" dirty="0"/>
                </a:p>
              </p:txBody>
            </p:sp>
          </mc:Choice>
          <mc:Fallback xmlns="">
            <p:sp>
              <p:nvSpPr>
                <p:cNvPr id="9" name="TextBox 8"/>
                <p:cNvSpPr txBox="1">
                  <a:spLocks noRot="1" noChangeAspect="1" noMove="1" noResize="1" noEditPoints="1" noAdjustHandles="1" noChangeArrowheads="1" noChangeShapeType="1" noTextEdit="1"/>
                </p:cNvSpPr>
                <p:nvPr/>
              </p:nvSpPr>
              <p:spPr>
                <a:xfrm>
                  <a:off x="3923928" y="6011997"/>
                  <a:ext cx="338702" cy="31381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649336" y="6011996"/>
                  <a:ext cx="386072" cy="313814"/>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1" b="1" i="1">
                            <a:latin typeface="Cambria Math"/>
                          </a:rPr>
                          <m:t>𝝀</m:t>
                        </m:r>
                        <m:r>
                          <a:rPr lang="en-US" sz="1351" b="1" i="1">
                            <a:latin typeface="Cambria Math"/>
                          </a:rPr>
                          <m:t>′</m:t>
                        </m:r>
                      </m:oMath>
                    </m:oMathPara>
                  </a14:m>
                  <a:endParaRPr lang="en-US" sz="1351" b="1" dirty="0"/>
                </a:p>
              </p:txBody>
            </p:sp>
          </mc:Choice>
          <mc:Fallback xmlns="">
            <p:sp>
              <p:nvSpPr>
                <p:cNvPr id="10" name="TextBox 9"/>
                <p:cNvSpPr txBox="1">
                  <a:spLocks noRot="1" noChangeAspect="1" noMove="1" noResize="1" noEditPoints="1" noAdjustHandles="1" noChangeArrowheads="1" noChangeShapeType="1" noTextEdit="1"/>
                </p:cNvSpPr>
                <p:nvPr/>
              </p:nvSpPr>
              <p:spPr>
                <a:xfrm>
                  <a:off x="4649336" y="6011996"/>
                  <a:ext cx="386072" cy="31381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273198" y="6011996"/>
                  <a:ext cx="338702" cy="313814"/>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1" b="1" i="1">
                            <a:latin typeface="Cambria Math"/>
                          </a:rPr>
                          <m:t>𝝀</m:t>
                        </m:r>
                      </m:oMath>
                    </m:oMathPara>
                  </a14:m>
                  <a:endParaRPr lang="en-US" sz="1351"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6273198" y="6011996"/>
                  <a:ext cx="338702" cy="31381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036965" y="6011996"/>
                  <a:ext cx="386072" cy="313814"/>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1" b="1" i="1">
                            <a:latin typeface="Cambria Math"/>
                          </a:rPr>
                          <m:t>𝝀</m:t>
                        </m:r>
                        <m:r>
                          <a:rPr lang="en-US" sz="1351" b="1" i="1">
                            <a:latin typeface="Cambria Math"/>
                          </a:rPr>
                          <m:t>′</m:t>
                        </m:r>
                      </m:oMath>
                    </m:oMathPara>
                  </a14:m>
                  <a:endParaRPr lang="en-US" sz="1351"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7036965" y="6011996"/>
                  <a:ext cx="386072" cy="313814"/>
                </a:xfrm>
                <a:prstGeom prst="rect">
                  <a:avLst/>
                </a:prstGeom>
                <a:blipFill>
                  <a:blip r:embed="rId5"/>
                  <a:stretch>
                    <a:fillRect/>
                  </a:stretch>
                </a:blipFill>
              </p:spPr>
              <p:txBody>
                <a:bodyPr/>
                <a:lstStyle/>
                <a:p>
                  <a:r>
                    <a:rPr lang="en-US">
                      <a:noFill/>
                    </a:rPr>
                    <a:t> </a:t>
                  </a:r>
                </a:p>
              </p:txBody>
            </p:sp>
          </mc:Fallback>
        </mc:AlternateContent>
      </p:grpSp>
      <p:sp>
        <p:nvSpPr>
          <p:cNvPr id="13" name="TextBox 12"/>
          <p:cNvSpPr txBox="1"/>
          <p:nvPr/>
        </p:nvSpPr>
        <p:spPr>
          <a:xfrm>
            <a:off x="2125463" y="6007660"/>
            <a:ext cx="2566728" cy="584775"/>
          </a:xfrm>
          <a:prstGeom prst="rect">
            <a:avLst/>
          </a:prstGeom>
          <a:noFill/>
        </p:spPr>
        <p:txBody>
          <a:bodyPr wrap="none" rtlCol="0">
            <a:spAutoFit/>
          </a:bodyPr>
          <a:lstStyle/>
          <a:p>
            <a:pPr algn="ctr"/>
            <a:r>
              <a:rPr lang="en-US" altLang="zh-CN" sz="1600" dirty="0">
                <a:latin typeface="Times New Roman" panose="02020603050405020304" pitchFamily="18" charset="0"/>
                <a:cs typeface="Times New Roman" panose="02020603050405020304" pitchFamily="18" charset="0"/>
              </a:rPr>
              <a:t>Graphite X-ray spectra taken</a:t>
            </a:r>
          </a:p>
          <a:p>
            <a:pPr algn="ctr"/>
            <a:r>
              <a:rPr lang="en-US" sz="1600" dirty="0">
                <a:latin typeface="Times New Roman" panose="02020603050405020304" pitchFamily="18" charset="0"/>
                <a:cs typeface="Times New Roman" panose="02020603050405020304" pitchFamily="18" charset="0"/>
              </a:rPr>
              <a:t>at different scattering angles</a:t>
            </a:r>
          </a:p>
        </p:txBody>
      </p:sp>
      <p:sp>
        <p:nvSpPr>
          <p:cNvPr id="14" name="Rectangle 13"/>
          <p:cNvSpPr/>
          <p:nvPr/>
        </p:nvSpPr>
        <p:spPr>
          <a:xfrm>
            <a:off x="5999096" y="5921245"/>
            <a:ext cx="4439055" cy="584775"/>
          </a:xfrm>
          <a:prstGeom prst="rect">
            <a:avLst/>
          </a:prstGeom>
        </p:spPr>
        <p:txBody>
          <a:bodyPr wrap="square">
            <a:spAutoFit/>
          </a:bodyPr>
          <a:lstStyle/>
          <a:p>
            <a:pPr marL="0" lvl="1"/>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The spectral component of the original wavelength increases with increasing atomic number</a:t>
            </a:r>
          </a:p>
        </p:txBody>
      </p:sp>
      <p:sp>
        <p:nvSpPr>
          <p:cNvPr id="15" name="Rectangle 14"/>
          <p:cNvSpPr/>
          <p:nvPr/>
        </p:nvSpPr>
        <p:spPr>
          <a:xfrm rot="16200000">
            <a:off x="1674248" y="3170653"/>
            <a:ext cx="1218603" cy="338554"/>
          </a:xfrm>
          <a:prstGeom prst="rect">
            <a:avLst/>
          </a:prstGeom>
        </p:spPr>
        <p:txBody>
          <a:bodyPr wrap="none">
            <a:spAutoFit/>
          </a:bodyPr>
          <a:lstStyle/>
          <a:p>
            <a:r>
              <a:rPr lang="zh-CN" altLang="en-US" sz="1600" b="1" dirty="0"/>
              <a:t>散射光强度</a:t>
            </a:r>
            <a:endParaRPr lang="zh-CN" altLang="en-US" sz="1600" dirty="0"/>
          </a:p>
        </p:txBody>
      </p:sp>
      <p:sp>
        <p:nvSpPr>
          <p:cNvPr id="16" name="Title 15">
            <a:extLst>
              <a:ext uri="{FF2B5EF4-FFF2-40B4-BE49-F238E27FC236}">
                <a16:creationId xmlns:a16="http://schemas.microsoft.com/office/drawing/2014/main" id="{DCC85B6A-C16C-4FA7-9445-94ECF9295ABA}"/>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0E373A8-CA1A-4E61-B68F-55803198C0CA}"/>
                  </a:ext>
                </a:extLst>
              </p:cNvPr>
              <p:cNvSpPr txBox="1"/>
              <p:nvPr/>
            </p:nvSpPr>
            <p:spPr>
              <a:xfrm>
                <a:off x="5171435" y="854336"/>
                <a:ext cx="6094378"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i="1" dirty="0" smtClean="0">
                          <a:solidFill>
                            <a:schemeClr val="tx1"/>
                          </a:solidFill>
                          <a:latin typeface="Cambria Math" panose="02040503050406030204" pitchFamily="18" charset="0"/>
                          <a:ea typeface="黑体" panose="02010609060101010101" pitchFamily="49" charset="-122"/>
                        </a:rPr>
                        <m:t>𝜃</m:t>
                      </m:r>
                      <m:r>
                        <a:rPr lang="en-US" altLang="zh-CN" sz="1800" b="0" i="1" dirty="0" smtClean="0">
                          <a:solidFill>
                            <a:schemeClr val="tx1"/>
                          </a:solidFill>
                          <a:latin typeface="Cambria Math" panose="02040503050406030204" pitchFamily="18" charset="0"/>
                          <a:ea typeface="黑体" panose="02010609060101010101" pitchFamily="49" charset="-122"/>
                        </a:rPr>
                        <m:t>=</m:t>
                      </m:r>
                      <m:sSup>
                        <m:sSupPr>
                          <m:ctrlPr>
                            <a:rPr lang="en-US" altLang="zh-CN" sz="1800" i="1">
                              <a:solidFill>
                                <a:schemeClr val="tx1"/>
                              </a:solidFill>
                              <a:latin typeface="Cambria Math" panose="02040503050406030204" pitchFamily="18" charset="0"/>
                              <a:ea typeface="黑体" panose="02010609060101010101" pitchFamily="49" charset="-122"/>
                            </a:rPr>
                          </m:ctrlPr>
                        </m:sSupPr>
                        <m:e>
                          <m:r>
                            <a:rPr lang="en-US" altLang="zh-CN" sz="1800" i="1">
                              <a:solidFill>
                                <a:schemeClr val="tx1"/>
                              </a:solidFill>
                              <a:latin typeface="Cambria Math" panose="02040503050406030204" pitchFamily="18" charset="0"/>
                              <a:ea typeface="黑体" panose="02010609060101010101" pitchFamily="49" charset="-122"/>
                            </a:rPr>
                            <m:t>145</m:t>
                          </m:r>
                        </m:e>
                        <m:sup>
                          <m:r>
                            <a:rPr lang="en-US" altLang="zh-CN" sz="1800" i="1">
                              <a:solidFill>
                                <a:schemeClr val="tx1"/>
                              </a:solidFill>
                              <a:latin typeface="Cambria Math" panose="02040503050406030204" pitchFamily="18" charset="0"/>
                              <a:ea typeface="Cambria Math" panose="02040503050406030204" pitchFamily="18" charset="0"/>
                            </a:rPr>
                            <m:t>°</m:t>
                          </m:r>
                        </m:sup>
                      </m:sSup>
                    </m:oMath>
                  </m:oMathPara>
                </a14:m>
                <a:endParaRPr lang="zh-CN" altLang="en-US" dirty="0">
                  <a:solidFill>
                    <a:schemeClr val="tx1"/>
                  </a:solidFill>
                </a:endParaRPr>
              </a:p>
            </p:txBody>
          </p:sp>
        </mc:Choice>
        <mc:Fallback xmlns="">
          <p:sp>
            <p:nvSpPr>
              <p:cNvPr id="17" name="TextBox 16">
                <a:extLst>
                  <a:ext uri="{FF2B5EF4-FFF2-40B4-BE49-F238E27FC236}">
                    <a16:creationId xmlns:a16="http://schemas.microsoft.com/office/drawing/2014/main" id="{10E373A8-CA1A-4E61-B68F-55803198C0CA}"/>
                  </a:ext>
                </a:extLst>
              </p:cNvPr>
              <p:cNvSpPr txBox="1">
                <a:spLocks noRot="1" noChangeAspect="1" noMove="1" noResize="1" noEditPoints="1" noAdjustHandles="1" noChangeArrowheads="1" noChangeShapeType="1" noTextEdit="1"/>
              </p:cNvSpPr>
              <p:nvPr/>
            </p:nvSpPr>
            <p:spPr>
              <a:xfrm>
                <a:off x="5171435" y="854336"/>
                <a:ext cx="6094378" cy="37555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300111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433" y="159456"/>
            <a:ext cx="9577134" cy="551589"/>
          </a:xfrm>
        </p:spPr>
        <p:txBody>
          <a:bodyPr/>
          <a:lstStyle/>
          <a:p>
            <a:r>
              <a:rPr lang="en-US" altLang="zh-CN" sz="3600" dirty="0">
                <a:latin typeface="Times New Roman" panose="02020603050405020304" pitchFamily="18" charset="0"/>
                <a:cs typeface="Times New Roman" panose="02020603050405020304" pitchFamily="18" charset="0"/>
              </a:rPr>
              <a:t>The nature of</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light</a:t>
            </a:r>
            <a:endParaRPr lang="zh-CN" alt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238104" y="1102551"/>
            <a:ext cx="5715792" cy="5103695"/>
          </a:xfrm>
        </p:spPr>
        <p:txBody>
          <a:bodyPr>
            <a:noAutofit/>
          </a:bodyPr>
          <a:lstStyle/>
          <a:p>
            <a:pPr marL="0" indent="0" algn="ctr">
              <a:buNone/>
            </a:pPr>
            <a:r>
              <a:rPr lang="en-US" altLang="zh-CN" sz="3200" dirty="0">
                <a:latin typeface="Times New Roman" panose="02020603050405020304" pitchFamily="18" charset="0"/>
                <a:cs typeface="Times New Roman" panose="02020603050405020304" pitchFamily="18" charset="0"/>
              </a:rPr>
              <a:t>Particle or Wave?</a:t>
            </a:r>
          </a:p>
          <a:p>
            <a:pPr marL="0" indent="0" algn="ctr">
              <a:buNone/>
            </a:pP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solidFill>
                  <a:srgbClr val="C00000"/>
                </a:solidFill>
                <a:latin typeface="Times New Roman" panose="02020603050405020304" pitchFamily="18" charset="0"/>
                <a:cs typeface="Times New Roman" panose="02020603050405020304" pitchFamily="18" charset="0"/>
              </a:rPr>
              <a:t>There are ... now two theories of light, </a:t>
            </a:r>
          </a:p>
          <a:p>
            <a:pPr marL="0" indent="0">
              <a:buNone/>
            </a:pPr>
            <a:r>
              <a:rPr lang="en-US" altLang="zh-CN" dirty="0">
                <a:solidFill>
                  <a:srgbClr val="C00000"/>
                </a:solidFill>
                <a:latin typeface="Times New Roman" panose="02020603050405020304" pitchFamily="18" charset="0"/>
                <a:cs typeface="Times New Roman" panose="02020603050405020304" pitchFamily="18" charset="0"/>
              </a:rPr>
              <a:t>both indispensable ... </a:t>
            </a:r>
          </a:p>
          <a:p>
            <a:pPr marL="0" indent="0">
              <a:buNone/>
            </a:pPr>
            <a:r>
              <a:rPr lang="en-US" altLang="zh-CN" dirty="0">
                <a:solidFill>
                  <a:srgbClr val="C00000"/>
                </a:solidFill>
                <a:latin typeface="Times New Roman" panose="02020603050405020304" pitchFamily="18" charset="0"/>
                <a:cs typeface="Times New Roman" panose="02020603050405020304" pitchFamily="18" charset="0"/>
              </a:rPr>
              <a:t>with no logical connection.</a:t>
            </a:r>
          </a:p>
          <a:p>
            <a:pPr marL="0" indent="0">
              <a:buNone/>
            </a:pPr>
            <a:r>
              <a:rPr lang="zh-CN" altLang="en-US" dirty="0">
                <a:solidFill>
                  <a:srgbClr val="C00000"/>
                </a:solidFill>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		</a:t>
            </a:r>
          </a:p>
          <a:p>
            <a:pPr marL="0" indent="0" algn="r">
              <a:buNone/>
            </a:pPr>
            <a:r>
              <a:rPr lang="en-US" altLang="zh-CN" dirty="0">
                <a:solidFill>
                  <a:srgbClr val="C00000"/>
                </a:solidFill>
                <a:latin typeface="Times New Roman" panose="02020603050405020304" pitchFamily="18" charset="0"/>
                <a:cs typeface="Times New Roman" panose="02020603050405020304" pitchFamily="18" charset="0"/>
              </a:rPr>
              <a:t>— Einstein, 1924</a:t>
            </a:r>
            <a:endParaRPr lang="zh-CN" alt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90275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原子物理学&amp;#x0D;&amp;#x0A;和量子力学的建立&amp;quot;&quot;/&gt;&lt;property id=&quot;20307&quot; value=&quot;256&quot;/&gt;&lt;/object&gt;&lt;object type=&quot;3&quot; unique_id=&quot;10014&quot;&gt;&lt;property id=&quot;20148&quot; value=&quot;5&quot;/&gt;&lt;property id=&quot;20300&quot; value=&quot;Slide 8 - &amp;quot;黑体辐射光谱&amp;quot;&quot;/&gt;&lt;property id=&quot;20307&quot; value=&quot;263&quot;/&gt;&lt;/object&gt;&lt;object type=&quot;3&quot; unique_id=&quot;10058&quot;&gt;&lt;property id=&quot;20148&quot; value=&quot;5&quot;/&gt;&lt;property id=&quot;20300&quot; value=&quot;Slide 2 - &amp;quot;量子力学的建立过程&amp;quot;&quot;/&gt;&lt;property id=&quot;20307&quot; value=&quot;265&quot;/&gt;&lt;/object&gt;&lt;object type=&quot;3&quot; unique_id=&quot;10086&quot;&gt;&lt;property id=&quot;20148&quot; value=&quot;5&quot;/&gt;&lt;property id=&quot;20300&quot; value=&quot;Slide 4 - &amp;quot;辐射(emission)和吸收(absorption)&amp;quot;&quot;/&gt;&lt;property id=&quot;20307&quot; value=&quot;269&quot;/&gt;&lt;/object&gt;&lt;object type=&quot;3&quot; unique_id=&quot;10087&quot;&gt;&lt;property id=&quot;20148&quot; value=&quot;5&quot;/&gt;&lt;property id=&quot;20300&quot; value=&quot;Slide 6 - &amp;quot;黑体辐射&amp;quot;&quot;/&gt;&lt;property id=&quot;20307&quot; value=&quot;270&quot;/&gt;&lt;/object&gt;&lt;object type=&quot;3&quot; unique_id=&quot;10148&quot;&gt;&lt;property id=&quot;20148&quot; value=&quot;5&quot;/&gt;&lt;property id=&quot;20300&quot; value=&quot;Slide 10 - &amp;quot;黑体辐射谱的经典公式&amp;quot;&quot;/&gt;&lt;property id=&quot;20307&quot; value=&quot;271&quot;/&gt;&lt;/object&gt;&lt;object type=&quot;3&quot; unique_id=&quot;10265&quot;&gt;&lt;property id=&quot;20148&quot; value=&quot;5&quot;/&gt;&lt;property id=&quot;20300&quot; value=&quot;Slide 3 - &amp;quot;黑体辐射&amp;quot;&quot;/&gt;&lt;property id=&quot;20307&quot; value=&quot;273&quot;/&gt;&lt;/object&gt;&lt;object type=&quot;3&quot; unique_id=&quot;10266&quot;&gt;&lt;property id=&quot;20148&quot; value=&quot;5&quot;/&gt;&lt;property id=&quot;20300&quot; value=&quot;Slide 7 - &amp;quot;辐射场的能量密度谱&amp;quot;&quot;/&gt;&lt;property id=&quot;20307&quot; value=&quot;275&quot;/&gt;&lt;/object&gt;&lt;object type=&quot;3&quot; unique_id=&quot;10267&quot;&gt;&lt;property id=&quot;20148&quot; value=&quot;5&quot;/&gt;&lt;property id=&quot;20300&quot; value=&quot;Slide 9 - &amp;quot;能量密度谱的两种表示方式&amp;quot;&quot;/&gt;&lt;property id=&quot;20307&quot; value=&quot;274&quot;/&gt;&lt;/object&gt;&lt;object type=&quot;3&quot; unique_id=&quot;10269&quot;&gt;&lt;property id=&quot;20148&quot; value=&quot;5&quot;/&gt;&lt;property id=&quot;20300&quot; value=&quot;Slide 16 - &amp;quot;著名的黑体辐射现象&amp;quot;&quot;/&gt;&lt;property id=&quot;20307&quot; value=&quot;276&quot;/&gt;&lt;/object&gt;&lt;object type=&quot;3&quot; unique_id=&quot;10270&quot;&gt;&lt;property id=&quot;20148&quot; value=&quot;5&quot;/&gt;&lt;property id=&quot;20300&quot; value=&quot;Slide 17 - &amp;quot;著名的黑体辐射现象&amp;quot;&quot;/&gt;&lt;property id=&quot;20307&quot; value=&quot;278&quot;/&gt;&lt;/object&gt;&lt;object type=&quot;3&quot; unique_id=&quot;10436&quot;&gt;&lt;property id=&quot;20148&quot; value=&quot;5&quot;/&gt;&lt;property id=&quot;20300&quot; value=&quot;Slide 18 - &amp;quot;光电效应的解释&amp;#x0D;&amp;#x0A;(1905 爱因斯坦)&amp;quot;&quot;/&gt;&lt;property id=&quot;20307&quot; value=&quot;281&quot;/&gt;&lt;/object&gt;&lt;object type=&quot;3&quot; unique_id=&quot;10437&quot;&gt;&lt;property id=&quot;20148&quot; value=&quot;5&quot;/&gt;&lt;property id=&quot;20300&quot; value=&quot;Slide 19 - &amp;quot;光电效应&amp;quot;&quot;/&gt;&lt;property id=&quot;20307&quot; value=&quot;282&quot;/&gt;&lt;/object&gt;&lt;object type=&quot;3&quot; unique_id=&quot;10438&quot;&gt;&lt;property id=&quot;20148&quot; value=&quot;5&quot;/&gt;&lt;property id=&quot;20300&quot; value=&quot;Slide 20 - &amp;quot;光电效应实验&amp;quot;&quot;/&gt;&lt;property id=&quot;20307&quot; value=&quot;283&quot;/&gt;&lt;/object&gt;&lt;object type=&quot;3&quot; unique_id=&quot;10439&quot;&gt;&lt;property id=&quot;20148&quot; value=&quot;5&quot;/&gt;&lt;property id=&quot;20300&quot; value=&quot;Slide 21 - &amp;quot;爱因斯坦光电效应解释（1905）&amp;quot;&quot;/&gt;&lt;property id=&quot;20307&quot; value=&quot;284&quot;/&gt;&lt;/object&gt;&lt;object type=&quot;3&quot; unique_id=&quot;10440&quot;&gt;&lt;property id=&quot;20148&quot; value=&quot;5&quot;/&gt;&lt;property id=&quot;20300&quot; value=&quot;Slide 22 - &amp;quot;光量子论的应用&amp;quot;&quot;/&gt;&lt;property id=&quot;20307&quot; value=&quot;285&quot;/&gt;&lt;/object&gt;&lt;object type=&quot;3&quot; unique_id=&quot;10441&quot;&gt;&lt;property id=&quot;20148&quot; value=&quot;5&quot;/&gt;&lt;property id=&quot;20300&quot; value=&quot;Slide 23&quot;/&gt;&lt;property id=&quot;20307&quot; value=&quot;286&quot;/&gt;&lt;/object&gt;&lt;object type=&quot;3&quot; unique_id=&quot;10442&quot;&gt;&lt;property id=&quot;20148&quot; value=&quot;5&quot;/&gt;&lt;property id=&quot;20300&quot; value=&quot;Slide 24 - &amp;quot;最后一击，Compton散射&amp;#x0D;&amp;#x0A;（1923）&amp;quot;&quot;/&gt;&lt;property id=&quot;20307&quot; value=&quot;287&quot;/&gt;&lt;/object&gt;&lt;object type=&quot;3&quot; unique_id=&quot;10443&quot;&gt;&lt;property id=&quot;20148&quot; value=&quot;5&quot;/&gt;&lt;property id=&quot;20300&quot; value=&quot;Slide 25&quot;/&gt;&lt;property id=&quot;20307&quot; value=&quot;288&quot;/&gt;&lt;/object&gt;&lt;object type=&quot;3&quot; unique_id=&quot;10444&quot;&gt;&lt;property id=&quot;20148&quot; value=&quot;5&quot;/&gt;&lt;property id=&quot;20300&quot; value=&quot;Slide 27&quot;/&gt;&lt;property id=&quot;20307&quot; value=&quot;289&quot;/&gt;&lt;/object&gt;&lt;object type=&quot;3&quot; unique_id=&quot;10445&quot;&gt;&lt;property id=&quot;20148&quot; value=&quot;5&quot;/&gt;&lt;property id=&quot;20300&quot; value=&quot;Slide 26 - &amp;quot;康普顿散射的推导&amp;quot;&quot;/&gt;&lt;property id=&quot;20307&quot; value=&quot;290&quot;/&gt;&lt;/object&gt;&lt;object type=&quot;3&quot; unique_id=&quot;10446&quot;&gt;&lt;property id=&quot;20148&quot; value=&quot;5&quot;/&gt;&lt;property id=&quot;20300&quot; value=&quot;Slide 29 - &amp;quot;作业&amp;quot;&quot;/&gt;&lt;property id=&quot;20307&quot; value=&quot;291&quot;/&gt;&lt;/object&gt;&lt;object type=&quot;3&quot; unique_id=&quot;10525&quot;&gt;&lt;property id=&quot;20148&quot; value=&quot;5&quot;/&gt;&lt;property id=&quot;20300&quot; value=&quot;Slide 11 - &amp;quot;Planck公式 （1900）&amp;quot;&quot;/&gt;&lt;property id=&quot;20307&quot; value=&quot;292&quot;/&gt;&lt;/object&gt;&lt;object type=&quot;3&quot; unique_id=&quot;10526&quot;&gt;&lt;property id=&quot;20148&quot; value=&quot;5&quot;/&gt;&lt;property id=&quot;20300&quot; value=&quot;Slide 13 - &amp;quot;Planck的解释&amp;quot;&quot;/&gt;&lt;property id=&quot;20307&quot; value=&quot;293&quot;/&gt;&lt;/object&gt;&lt;object type=&quot;3&quot; unique_id=&quot;11475&quot;&gt;&lt;property id=&quot;20148&quot; value=&quot;5&quot;/&gt;&lt;property id=&quot;20300&quot; value=&quot;Slide 14 - &amp;quot;从瑞利-金斯公式到普朗克公式&amp;quot;&quot;/&gt;&lt;property id=&quot;20307&quot; value=&quot;295&quot;/&gt;&lt;/object&gt;&lt;object type=&quot;3&quot; unique_id=&quot;12039&quot;&gt;&lt;property id=&quot;20148&quot; value=&quot;5&quot;/&gt;&lt;property id=&quot;20300&quot; value=&quot;Slide 12 - &amp;quot;光场的模密度𝑔 𝜈 &amp;quot;&quot;/&gt;&lt;property id=&quot;20307&quot; value=&quot;296&quot;/&gt;&lt;/object&gt;&lt;object type=&quot;3&quot; unique_id=&quot;12156&quot;&gt;&lt;property id=&quot;20148&quot; value=&quot;5&quot;/&gt;&lt;property id=&quot;20300&quot; value=&quot;Slide 5 - &amp;quot;热辐射&amp;quot;&quot;/&gt;&lt;property id=&quot;20307&quot; value=&quot;297&quot;/&gt;&lt;/object&gt;&lt;object type=&quot;3&quot; unique_id=&quot;12608&quot;&gt;&lt;property id=&quot;20148&quot; value=&quot;5&quot;/&gt;&lt;property id=&quot;20300&quot; value=&quot;Slide 15 - &amp;quot;普朗克的谐振子到底是什么，它为何如此行为？&amp;quot;&quot;/&gt;&lt;property id=&quot;20307&quot; value=&quot;300&quot;/&gt;&lt;/object&gt;&lt;object type=&quot;3&quot; unique_id=&quot;13059&quot;&gt;&lt;property id=&quot;20148&quot; value=&quot;5&quot;/&gt;&lt;property id=&quot;20300&quot; value=&quot;Slide 28 - &amp;quot;备注&amp;quot;&quot;/&gt;&lt;property id=&quot;20307&quot; value=&quot;301&quot;/&gt;&lt;/object&gt;&lt;/object&gt;&lt;/object&gt;&lt;/database&gt;"/>
  <p:tag name="SECTOMILLISECCONVERTED" val="1"/>
</p:tagLst>
</file>

<file path=ppt/theme/theme1.xml><?xml version="1.0" encoding="utf-8"?>
<a:theme xmlns:a="http://schemas.openxmlformats.org/drawingml/2006/main" name="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dirty="0" smtClean="0">
            <a:ea typeface="黑体" panose="02010609060101010101" pitchFamily="49" charset="-122"/>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23616</TotalTime>
  <Words>2564</Words>
  <Application>Microsoft Office PowerPoint</Application>
  <PresentationFormat>Widescreen</PresentationFormat>
  <Paragraphs>175</Paragraphs>
  <Slides>16</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4" baseType="lpstr">
      <vt:lpstr>黑体</vt:lpstr>
      <vt:lpstr>Arial</vt:lpstr>
      <vt:lpstr>Calibri</vt:lpstr>
      <vt:lpstr>Cambria Math</vt:lpstr>
      <vt:lpstr>Helvetica</vt:lpstr>
      <vt:lpstr>Times New Roman</vt:lpstr>
      <vt:lpstr>Office Theme</vt:lpstr>
      <vt:lpstr>Equation</vt:lpstr>
      <vt:lpstr>PowerPoint Presentation</vt:lpstr>
      <vt:lpstr>The nature of light</vt:lpstr>
      <vt:lpstr>PowerPoint Presentation</vt:lpstr>
      <vt:lpstr>1905 Einstein’s miraculous year: five papers that change the face of physics</vt:lpstr>
      <vt:lpstr>Einstein’s light quanta</vt:lpstr>
      <vt:lpstr>Photo electric effect</vt:lpstr>
      <vt:lpstr>Einstein’s explanation of the photo-electric effect（1905）</vt:lpstr>
      <vt:lpstr>Millikan's photo electric experiment（1906-1916）</vt:lpstr>
      <vt:lpstr>PowerPoint Presentation</vt:lpstr>
      <vt:lpstr>The 1st Solvay Conference 1911</vt:lpstr>
      <vt:lpstr>Compton scattering – photon momentum （1923）</vt:lpstr>
      <vt:lpstr>PowerPoint Presentation</vt:lpstr>
      <vt:lpstr>Compton’s experiment</vt:lpstr>
      <vt:lpstr>The quantum theory of Compton’s scattering</vt:lpstr>
      <vt:lpstr>PowerPoint Presentation</vt:lpstr>
      <vt:lpstr>The nature of light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dc:creator>
  <cp:lastModifiedBy>zhao kevin</cp:lastModifiedBy>
  <cp:revision>1253</cp:revision>
  <cp:lastPrinted>2022-01-15T07:54:37Z</cp:lastPrinted>
  <dcterms:created xsi:type="dcterms:W3CDTF">2013-05-26T05:06:15Z</dcterms:created>
  <dcterms:modified xsi:type="dcterms:W3CDTF">2026-09-20T10:57:39Z</dcterms:modified>
</cp:coreProperties>
</file>