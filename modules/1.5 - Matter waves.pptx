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6"/>
  </p:notesMasterIdLst>
  <p:sldIdLst>
    <p:sldId id="313" r:id="rId2"/>
    <p:sldId id="326" r:id="rId3"/>
    <p:sldId id="294" r:id="rId4"/>
    <p:sldId id="295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ground review" id="{FE9D11A7-D1C0-4626-AEF4-73B9E2A5041F}">
          <p14:sldIdLst>
            <p14:sldId id="313"/>
            <p14:sldId id="326"/>
          </p14:sldIdLst>
        </p14:section>
        <p14:section name="Matter wave" id="{A3F580BD-FBDD-4612-9A9B-CA0D448D9239}">
          <p14:sldIdLst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209" autoAdjust="0"/>
  </p:normalViewPr>
  <p:slideViewPr>
    <p:cSldViewPr snapToGrid="0">
      <p:cViewPr varScale="1">
        <p:scale>
          <a:sx n="70" d="100"/>
          <a:sy n="70" d="100"/>
        </p:scale>
        <p:origin x="57" y="62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47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-2914" y="-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387D0-1216-4FA3-AF01-EA63AC44C2D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A642B-1D08-47C1-9385-1FDD33F8C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50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这个和</a:t>
            </a:r>
            <a:r>
              <a:rPr lang="en-US" altLang="zh-CN" dirty="0"/>
              <a:t>α</a:t>
            </a:r>
            <a:r>
              <a:rPr lang="zh-CN" altLang="en-US"/>
              <a:t>粒子打金箔有何区别？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48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5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5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4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8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01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5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0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5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8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08720"/>
            <a:ext cx="109728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602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4A09-F4C2-47FB-A27E-F872BB94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DC9AC-B1AB-4326-9BB7-D71126F20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1900-1905 Planck – Einstein quantization </a:t>
            </a:r>
          </a:p>
          <a:p>
            <a:r>
              <a:rPr lang="en-US" altLang="zh-CN" dirty="0"/>
              <a:t>1911 Rutherford atomic model</a:t>
            </a:r>
          </a:p>
          <a:p>
            <a:r>
              <a:rPr lang="en-US" altLang="zh-CN" dirty="0"/>
              <a:t>1913 Bohr model apply quantization to the Rutherford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2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A5F1-2959-4912-86F5-E12DF5990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Limitation of Bohr’s model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3EE95-594C-4EEE-B74A-DF014DE6B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Spectra of multi-electron atoms</a:t>
            </a:r>
          </a:p>
          <a:p>
            <a:r>
              <a:rPr lang="en-US" altLang="zh-CN" dirty="0"/>
              <a:t>The relative intensity of the spectral lines</a:t>
            </a:r>
          </a:p>
          <a:p>
            <a:r>
              <a:rPr lang="en-US" altLang="zh-CN" dirty="0"/>
              <a:t>Fine structure of the spectral lines</a:t>
            </a:r>
          </a:p>
          <a:p>
            <a:r>
              <a:rPr lang="en-US" altLang="zh-CN" dirty="0"/>
              <a:t>Anomalous Zeeman effect</a:t>
            </a:r>
          </a:p>
          <a:p>
            <a:r>
              <a:rPr lang="zh-CN" altLang="en-US" dirty="0"/>
              <a:t>“</a:t>
            </a:r>
            <a:r>
              <a:rPr lang="en-US" altLang="zh-CN" dirty="0"/>
              <a:t>Monday, Wednesday, Friday use Classical rule</a:t>
            </a:r>
            <a:r>
              <a:rPr lang="zh-CN" altLang="en-US" dirty="0"/>
              <a:t>，</a:t>
            </a:r>
            <a:r>
              <a:rPr lang="en-US" altLang="zh-CN" dirty="0"/>
              <a:t>Tuesday, Thursday, Saturday use Quantum rule</a:t>
            </a:r>
            <a:r>
              <a:rPr lang="zh-CN" altLang="en-US" dirty="0"/>
              <a:t>”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449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wave particle duality (1923)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90502" y="880281"/>
                <a:ext cx="8262077" cy="1321975"/>
              </a:xfrm>
            </p:spPr>
            <p:txBody>
              <a:bodyPr>
                <a:noAutofit/>
              </a:bodyPr>
              <a:lstStyle/>
              <a:p>
                <a:r>
                  <a:rPr lang="en-US" altLang="zh-CN" sz="2000" dirty="0"/>
                  <a:t>Light behaves like particles</a:t>
                </a:r>
                <a:r>
                  <a:rPr lang="zh-CN" altLang="en-US" sz="20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</a:rPr>
                      <m:t>𝐸</m:t>
                    </m:r>
                    <m:r>
                      <a:rPr lang="en-US" altLang="zh-CN" sz="2000" b="0" i="1" smtClean="0">
                        <a:latin typeface="Cambria Math"/>
                      </a:rPr>
                      <m:t>=</m:t>
                    </m:r>
                    <m:r>
                      <a:rPr lang="en-US" altLang="zh-CN" sz="2000" b="0" i="1" smtClean="0">
                        <a:latin typeface="Cambria Math"/>
                      </a:rPr>
                      <m:t>h</m:t>
                    </m:r>
                    <m:r>
                      <a:rPr lang="en-US" altLang="zh-CN" sz="2000" b="0" i="1" smtClean="0">
                        <a:latin typeface="Cambria Math"/>
                      </a:rPr>
                      <m:t>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=ℏ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sz="2000" b="0" i="1" dirty="0">
                    <a:latin typeface="Cambria Math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</a:rPr>
                      <m:t>𝑝</m:t>
                    </m:r>
                    <m:r>
                      <a:rPr lang="en-US" altLang="zh-CN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/>
                          </a:rPr>
                          <m:t>h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/>
                          </a:rPr>
                          <m:t>𝜆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ℏ</m:t>
                    </m:r>
                    <m:r>
                      <a:rPr lang="en-US" altLang="zh-CN" sz="2000" b="0" i="1" smtClean="0">
                        <a:latin typeface="Cambria Math"/>
                      </a:rPr>
                      <m:t>𝑘</m:t>
                    </m:r>
                  </m:oMath>
                </a14:m>
                <a:endParaRPr lang="en-US" altLang="zh-CN" sz="2000" dirty="0"/>
              </a:p>
              <a:p>
                <a:r>
                  <a:rPr lang="en-US" altLang="zh-CN" sz="2000" dirty="0"/>
                  <a:t>Matter also behaves like waves:  matter wave with wavelength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</a:rPr>
                      <m:t>𝜆</m:t>
                    </m:r>
                    <m:r>
                      <a:rPr lang="en-US" altLang="zh-CN" sz="20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/>
                          </a:rPr>
                          <m:t>h</m:t>
                        </m:r>
                      </m:num>
                      <m:den>
                        <m:r>
                          <a:rPr lang="en-US" altLang="zh-CN" sz="2000" i="1">
                            <a:latin typeface="Cambria Math"/>
                          </a:rPr>
                          <m:t>𝑝</m:t>
                        </m:r>
                      </m:den>
                    </m:f>
                  </m:oMath>
                </a14:m>
                <a:endParaRPr lang="en-US" altLang="zh-CN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90502" y="880281"/>
                <a:ext cx="8262077" cy="1321975"/>
              </a:xfrm>
              <a:blipFill>
                <a:blip r:embed="rId2"/>
                <a:stretch>
                  <a:fillRect l="-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0EFD4E81-8400-4500-885F-9E74EDF626AD}"/>
              </a:ext>
            </a:extLst>
          </p:cNvPr>
          <p:cNvGrpSpPr/>
          <p:nvPr/>
        </p:nvGrpSpPr>
        <p:grpSpPr>
          <a:xfrm>
            <a:off x="4427249" y="2202256"/>
            <a:ext cx="7168943" cy="4323996"/>
            <a:chOff x="999210" y="2585279"/>
            <a:chExt cx="6873552" cy="40888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D35A346-E041-4533-8797-E26DAADD5F59}"/>
                </a:ext>
              </a:extLst>
            </p:cNvPr>
            <p:cNvGrpSpPr/>
            <p:nvPr/>
          </p:nvGrpSpPr>
          <p:grpSpPr>
            <a:xfrm>
              <a:off x="999210" y="2864244"/>
              <a:ext cx="6873552" cy="3809912"/>
              <a:chOff x="999210" y="2864244"/>
              <a:chExt cx="6873552" cy="3809912"/>
            </a:xfrm>
          </p:grpSpPr>
          <p:pic>
            <p:nvPicPr>
              <p:cNvPr id="2050" name="Picture 2" descr="Related image">
                <a:extLst>
                  <a:ext uri="{FF2B5EF4-FFF2-40B4-BE49-F238E27FC236}">
                    <a16:creationId xmlns:a16="http://schemas.microsoft.com/office/drawing/2014/main" id="{718A2C4D-A50F-4204-AA0C-08F088CD42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9210" y="2864244"/>
                <a:ext cx="6873552" cy="38099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370178DB-0824-4231-A564-681148EF8ECD}"/>
                  </a:ext>
                </a:extLst>
              </p:cNvPr>
              <p:cNvCxnSpPr/>
              <p:nvPr/>
            </p:nvCxnSpPr>
            <p:spPr>
              <a:xfrm>
                <a:off x="1226634" y="2914424"/>
                <a:ext cx="4475356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2B60D5F-7ADB-40BF-A24D-72D1872A0FC2}"/>
                    </a:ext>
                  </a:extLst>
                </p:cNvPr>
                <p:cNvSpPr txBox="1"/>
                <p:nvPr/>
              </p:nvSpPr>
              <p:spPr>
                <a:xfrm>
                  <a:off x="2998486" y="2585279"/>
                  <a:ext cx="931652" cy="55835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2B60D5F-7ADB-40BF-A24D-72D1872A0F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8486" y="2585279"/>
                  <a:ext cx="931652" cy="55835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31A369-9FCD-439A-820D-1522098C5213}"/>
                  </a:ext>
                </a:extLst>
              </p:cNvPr>
              <p:cNvSpPr txBox="1"/>
              <p:nvPr/>
            </p:nvSpPr>
            <p:spPr>
              <a:xfrm>
                <a:off x="354375" y="3324072"/>
                <a:ext cx="3761927" cy="25234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stationary state of the Bohr model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standing wave of the electron. </a:t>
                </a:r>
              </a:p>
              <a:p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</a:t>
                </a:r>
                <a:r>
                  <a:rPr 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leads to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quantization of angular momentum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ℏ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31A369-9FCD-439A-820D-1522098C5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75" y="3324072"/>
                <a:ext cx="3761927" cy="2523448"/>
              </a:xfrm>
              <a:prstGeom prst="rect">
                <a:avLst/>
              </a:prstGeom>
              <a:blipFill>
                <a:blip r:embed="rId7"/>
                <a:stretch>
                  <a:fillRect l="-1621" t="-1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515357BB-EC94-4847-AACB-866182162BE9}"/>
              </a:ext>
            </a:extLst>
          </p:cNvPr>
          <p:cNvGrpSpPr/>
          <p:nvPr/>
        </p:nvGrpSpPr>
        <p:grpSpPr>
          <a:xfrm>
            <a:off x="831028" y="572989"/>
            <a:ext cx="1404311" cy="2404398"/>
            <a:chOff x="831028" y="572989"/>
            <a:chExt cx="1404311" cy="2404398"/>
          </a:xfrm>
        </p:grpSpPr>
        <p:pic>
          <p:nvPicPr>
            <p:cNvPr id="2052" name="Picture 4" descr="Image result for de broglie">
              <a:extLst>
                <a:ext uri="{FF2B5EF4-FFF2-40B4-BE49-F238E27FC236}">
                  <a16:creationId xmlns:a16="http://schemas.microsoft.com/office/drawing/2014/main" id="{69E7A57D-4695-491F-809B-9F425581FA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028" y="572989"/>
              <a:ext cx="1404311" cy="2006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77075D-3C3D-43E0-86CF-691574A76462}"/>
                </a:ext>
              </a:extLst>
            </p:cNvPr>
            <p:cNvSpPr txBox="1"/>
            <p:nvPr/>
          </p:nvSpPr>
          <p:spPr>
            <a:xfrm>
              <a:off x="925004" y="2608055"/>
              <a:ext cx="12163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de Broglie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5458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电子晶体衍射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09166" y="927611"/>
                <a:ext cx="4686846" cy="130843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C00000"/>
                    </a:solidFill>
                  </a:rPr>
                  <a:t>Davisson and </a:t>
                </a:r>
                <a:r>
                  <a:rPr lang="en-US" altLang="zh-CN" sz="2400" dirty="0" err="1">
                    <a:solidFill>
                      <a:srgbClr val="C00000"/>
                    </a:solidFill>
                  </a:rPr>
                  <a:t>Germer</a:t>
                </a:r>
                <a:r>
                  <a:rPr lang="en-US" altLang="zh-CN" sz="2400" dirty="0">
                    <a:solidFill>
                      <a:srgbClr val="C00000"/>
                    </a:solidFill>
                  </a:rPr>
                  <a:t> (1923-27)</a:t>
                </a:r>
              </a:p>
              <a:p>
                <a:pPr marL="457189" lvl="1" indent="0">
                  <a:buNone/>
                </a:pPr>
                <a:r>
                  <a:rPr lang="en-US" altLang="zh-CN" sz="2000" dirty="0"/>
                  <a:t>Electrons with K.E.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bombard on Nickle crystal whose lattice distance </a:t>
                </a:r>
                <a14:m>
                  <m:oMath xmlns:m="http://schemas.openxmlformats.org/officeDocument/2006/math">
                    <m:r>
                      <a:rPr lang="pt-BR" altLang="zh-CN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pt-BR" altLang="zh-CN" sz="2000" i="1">
                        <a:latin typeface="Cambria Math" panose="02040503050406030204" pitchFamily="18" charset="0"/>
                      </a:rPr>
                      <m:t> 0.09 </m:t>
                    </m:r>
                    <m:r>
                      <m:rPr>
                        <m:sty m:val="p"/>
                      </m:rPr>
                      <a:rPr lang="pt-BR" altLang="zh-CN" sz="2000">
                        <a:latin typeface="Cambria Math" panose="02040503050406030204" pitchFamily="18" charset="0"/>
                      </a:rPr>
                      <m:t>nm</m:t>
                    </m:r>
                    <m:r>
                      <a:rPr lang="pt-BR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0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altLang="zh-CN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09166" y="927611"/>
                <a:ext cx="4686846" cy="1308439"/>
              </a:xfrm>
              <a:blipFill>
                <a:blip r:embed="rId3"/>
                <a:stretch>
                  <a:fillRect l="-1691" t="-6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Thompson's Gold Foil Experiment"/>
          <p:cNvSpPr>
            <a:spLocks noChangeAspect="1" noChangeArrowheads="1"/>
          </p:cNvSpPr>
          <p:nvPr/>
        </p:nvSpPr>
        <p:spPr bwMode="auto">
          <a:xfrm>
            <a:off x="1679579" y="-479424"/>
            <a:ext cx="90487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Thompson's Gold Foil Experiment"/>
          <p:cNvSpPr>
            <a:spLocks noChangeAspect="1" noChangeArrowheads="1"/>
          </p:cNvSpPr>
          <p:nvPr/>
        </p:nvSpPr>
        <p:spPr bwMode="auto">
          <a:xfrm>
            <a:off x="1831979" y="-327024"/>
            <a:ext cx="90487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7" descr="File:Davisson-Germer experiment.svg"/>
          <p:cNvSpPr>
            <a:spLocks noChangeAspect="1" noChangeArrowheads="1"/>
          </p:cNvSpPr>
          <p:nvPr/>
        </p:nvSpPr>
        <p:spPr bwMode="auto">
          <a:xfrm>
            <a:off x="1679578" y="-1347788"/>
            <a:ext cx="4010025" cy="28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10" descr="File:Davisson-Germer experiment.svg"/>
          <p:cNvSpPr>
            <a:spLocks noChangeAspect="1" noChangeArrowheads="1"/>
          </p:cNvSpPr>
          <p:nvPr/>
        </p:nvSpPr>
        <p:spPr bwMode="auto">
          <a:xfrm>
            <a:off x="1831978" y="-1195388"/>
            <a:ext cx="4010025" cy="28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1" name="Group 10"/>
          <p:cNvGrpSpPr/>
          <p:nvPr/>
        </p:nvGrpSpPr>
        <p:grpSpPr>
          <a:xfrm>
            <a:off x="879721" y="985139"/>
            <a:ext cx="1225967" cy="1959185"/>
            <a:chOff x="302693" y="965806"/>
            <a:chExt cx="1225966" cy="1959183"/>
          </a:xfrm>
        </p:grpSpPr>
        <p:pic>
          <p:nvPicPr>
            <p:cNvPr id="1028" name="Picture 4" descr="http://kczx.hnu.cn/G2S/eWebEditor/uploadfile/20110512184038_188326659142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693" y="965806"/>
              <a:ext cx="1225966" cy="1647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374797" y="2555657"/>
              <a:ext cx="1014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Davisson</a:t>
              </a:r>
              <a:endParaRPr lang="zh-CN" alt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AFC30BD-5927-4EF3-8B46-3F74EFA10430}"/>
              </a:ext>
            </a:extLst>
          </p:cNvPr>
          <p:cNvGrpSpPr/>
          <p:nvPr/>
        </p:nvGrpSpPr>
        <p:grpSpPr>
          <a:xfrm>
            <a:off x="6960049" y="946202"/>
            <a:ext cx="2042665" cy="2423331"/>
            <a:chOff x="6510542" y="990531"/>
            <a:chExt cx="2042665" cy="2423331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9637" y="990531"/>
              <a:ext cx="1667125" cy="1852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16"/>
            <p:cNvSpPr/>
            <p:nvPr/>
          </p:nvSpPr>
          <p:spPr>
            <a:xfrm>
              <a:off x="6510542" y="2829087"/>
              <a:ext cx="204266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/>
                <a:t>Electron diffraction of a Nickel monocrystal</a:t>
              </a:r>
              <a:endParaRPr lang="en-US" sz="16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9002715" y="1280368"/>
                <a:ext cx="2233304" cy="1653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</a:rPr>
                        <m:t>𝜆</m:t>
                      </m:r>
                      <m:r>
                        <a:rPr lang="en-US" altLang="zh-CN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</a:rPr>
                            <m:t>𝑝</m:t>
                          </m:r>
                        </m:den>
                      </m:f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/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𝑛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715" y="1280368"/>
                <a:ext cx="2233304" cy="16537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97E846D1-438E-4B9C-B622-C0F4B1FAA430}"/>
              </a:ext>
            </a:extLst>
          </p:cNvPr>
          <p:cNvGrpSpPr/>
          <p:nvPr/>
        </p:nvGrpSpPr>
        <p:grpSpPr>
          <a:xfrm>
            <a:off x="839419" y="4642320"/>
            <a:ext cx="7565581" cy="1854253"/>
            <a:chOff x="926397" y="4750551"/>
            <a:chExt cx="7565581" cy="1854253"/>
          </a:xfrm>
        </p:grpSpPr>
        <p:pic>
          <p:nvPicPr>
            <p:cNvPr id="1026" name="Picture 2" descr="http://h.hiphotos.baidu.com/baike/s%3D220/sign=2c0b50d48c5494ee8322081b1df4e0e1/3ac79f3df8dcd1006574294a728b4710b8122ff5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397" y="4774304"/>
              <a:ext cx="1220684" cy="1698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Group 12"/>
            <p:cNvGrpSpPr/>
            <p:nvPr/>
          </p:nvGrpSpPr>
          <p:grpSpPr>
            <a:xfrm>
              <a:off x="6594940" y="4750551"/>
              <a:ext cx="1897038" cy="1854253"/>
              <a:chOff x="6917399" y="4598346"/>
              <a:chExt cx="1897038" cy="1854252"/>
            </a:xfrm>
          </p:grpSpPr>
          <p:pic>
            <p:nvPicPr>
              <p:cNvPr id="1029" name="Picture 5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7218186" y="4373066"/>
                <a:ext cx="1247992" cy="16985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6917399" y="5867823"/>
                <a:ext cx="189703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/>
                  <a:t>Electron diffraction</a:t>
                </a:r>
                <a:r>
                  <a:rPr lang="zh-CN" altLang="en-US" sz="1600" dirty="0"/>
                  <a:t>  </a:t>
                </a:r>
                <a:r>
                  <a:rPr lang="en-US" altLang="zh-CN" sz="1600" dirty="0"/>
                  <a:t>of a gold polycrystal</a:t>
                </a:r>
                <a:endParaRPr lang="en-US" sz="1600" dirty="0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8327C5-C9A2-4EA2-913B-5F3A6F62F4B3}"/>
                </a:ext>
              </a:extLst>
            </p:cNvPr>
            <p:cNvSpPr/>
            <p:nvPr/>
          </p:nvSpPr>
          <p:spPr>
            <a:xfrm>
              <a:off x="2310018" y="4774304"/>
              <a:ext cx="4284922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rgbClr val="C00000"/>
                  </a:solidFill>
                </a:rPr>
                <a:t>G. P. Thomson (1926-27)</a:t>
              </a:r>
            </a:p>
            <a:p>
              <a:r>
                <a:rPr lang="en-US" altLang="zh-CN" sz="2000" dirty="0"/>
                <a:t>Shoot</a:t>
              </a:r>
              <a:r>
                <a:rPr lang="en-US" altLang="zh-CN" sz="2000" dirty="0">
                  <a:solidFill>
                    <a:srgbClr val="C00000"/>
                  </a:solidFill>
                </a:rPr>
                <a:t> </a:t>
              </a:r>
              <a:r>
                <a:rPr lang="en-US" altLang="zh-CN" sz="2000" dirty="0"/>
                <a:t>10 KeV electron on a 0.1 micron thick gold foil (polycrystal of gold)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50613A33-D773-41FC-9CCB-B94B5A465F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1416" y="2122180"/>
            <a:ext cx="4619658" cy="222046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1D40F9B-2F52-4488-B49E-900072F0218B}"/>
              </a:ext>
            </a:extLst>
          </p:cNvPr>
          <p:cNvGrpSpPr/>
          <p:nvPr/>
        </p:nvGrpSpPr>
        <p:grpSpPr>
          <a:xfrm>
            <a:off x="8488199" y="3683164"/>
            <a:ext cx="3107993" cy="2774823"/>
            <a:chOff x="8488199" y="3683164"/>
            <a:chExt cx="3107993" cy="277482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5C8BF-5A83-40FC-84A0-3AC4E056780D}"/>
                </a:ext>
              </a:extLst>
            </p:cNvPr>
            <p:cNvGrpSpPr/>
            <p:nvPr/>
          </p:nvGrpSpPr>
          <p:grpSpPr>
            <a:xfrm>
              <a:off x="8488199" y="4111416"/>
              <a:ext cx="3107993" cy="2346571"/>
              <a:chOff x="3119928" y="1596766"/>
              <a:chExt cx="5828135" cy="4677289"/>
            </a:xfrm>
          </p:grpSpPr>
          <p:pic>
            <p:nvPicPr>
              <p:cNvPr id="27" name="Picture 2">
                <a:extLst>
                  <a:ext uri="{FF2B5EF4-FFF2-40B4-BE49-F238E27FC236}">
                    <a16:creationId xmlns:a16="http://schemas.microsoft.com/office/drawing/2014/main" id="{DADBC1B1-B658-4E8E-9475-FFBA2127F5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19928" y="1596766"/>
                <a:ext cx="5828135" cy="4677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CB72F9-6C9A-43D3-ADD7-07FAE9E1F53F}"/>
                  </a:ext>
                </a:extLst>
              </p:cNvPr>
              <p:cNvSpPr txBox="1"/>
              <p:nvPr/>
            </p:nvSpPr>
            <p:spPr>
              <a:xfrm>
                <a:off x="3781593" y="1753423"/>
                <a:ext cx="11190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rgbClr val="FFFF00"/>
                    </a:solidFill>
                  </a:rPr>
                  <a:t>Particle</a:t>
                </a:r>
                <a:endParaRPr lang="en-US" sz="24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9FDAB8-53D6-4A3F-8EE8-87EB36ABB605}"/>
                  </a:ext>
                </a:extLst>
              </p:cNvPr>
              <p:cNvSpPr txBox="1"/>
              <p:nvPr/>
            </p:nvSpPr>
            <p:spPr>
              <a:xfrm>
                <a:off x="6855270" y="1746991"/>
                <a:ext cx="8808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rgbClr val="FFFF00"/>
                    </a:solidFill>
                  </a:rPr>
                  <a:t>Wave</a:t>
                </a:r>
                <a:endParaRPr lang="en-US" sz="2400" dirty="0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9A668E9-538C-40B8-A7C9-3A7CB9975476}"/>
                </a:ext>
              </a:extLst>
            </p:cNvPr>
            <p:cNvSpPr/>
            <p:nvPr/>
          </p:nvSpPr>
          <p:spPr>
            <a:xfrm>
              <a:off x="9353898" y="3683164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/>
                <a:t>汤姆森父子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5725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原子物理学和量子力学的诞生&amp;quot;&quot;/&gt;&lt;property id=&quot;20307&quot; value=&quot;256&quot;/&gt;&lt;/object&gt;&lt;object type=&quot;3&quot; unique_id=&quot;10013&quot;&gt;&lt;property id=&quot;20148&quot; value=&quot;5&quot;/&gt;&lt;property id=&quot;20300&quot; value=&quot;Slide 9 - &amp;quot;几个重要的物理量&amp;quot;&quot;/&gt;&lt;property id=&quot;20307&quot; value=&quot;262&quot;/&gt;&lt;/object&gt;&lt;object type=&quot;3&quot; unique_id=&quot;10058&quot;&gt;&lt;property id=&quot;20148&quot; value=&quot;5&quot;/&gt;&lt;property id=&quot;20300&quot; value=&quot;Slide 2 - &amp;quot;第一届索尔维物理会议&amp;quot;&quot;/&gt;&lt;property id=&quot;20307&quot; value=&quot;265&quot;/&gt;&lt;/object&gt;&lt;object type=&quot;3&quot; unique_id=&quot;10072&quot;&gt;&lt;property id=&quot;20148&quot; value=&quot;5&quot;/&gt;&lt;property id=&quot;20300&quot; value=&quot;Slide 3 - &amp;quot;The 1st Solvay Conference 1911&amp;quot;&quot;/&gt;&lt;property id=&quot;20307&quot; value=&quot;267&quot;/&gt;&lt;/object&gt;&lt;object type=&quot;3&quot; unique_id=&quot;10112&quot;&gt;&lt;property id=&quot;20148&quot; value=&quot;5&quot;/&gt;&lt;property id=&quot;20300&quot; value=&quot;Slide 4 - &amp;quot;氢原子光谱&amp;quot;&quot;/&gt;&lt;property id=&quot;20307&quot; value=&quot;273&quot;/&gt;&lt;/object&gt;&lt;object type=&quot;3&quot; unique_id=&quot;10113&quot;&gt;&lt;property id=&quot;20148&quot; value=&quot;5&quot;/&gt;&lt;property id=&quot;20300&quot; value=&quot;Slide 5 - &amp;quot;氢原子光谱&amp;quot;&quot;/&gt;&lt;property id=&quot;20307&quot; value=&quot;274&quot;/&gt;&lt;/object&gt;&lt;object type=&quot;3&quot; unique_id=&quot;10116&quot;&gt;&lt;property id=&quot;20148&quot; value=&quot;5&quot;/&gt;&lt;property id=&quot;20300&quot; value=&quot;Slide 31 - &amp;quot;第五届索尔维会议（1927）&amp;quot;&quot;/&gt;&lt;property id=&quot;20307&quot; value=&quot;270&quot;/&gt;&lt;/object&gt;&lt;object type=&quot;3&quot; unique_id=&quot;10117&quot;&gt;&lt;property id=&quot;20148&quot; value=&quot;5&quot;/&gt;&lt;property id=&quot;20300&quot; value=&quot;Slide 32 - &amp;quot;The 5th Solvay Conference 1927&amp;quot;&quot;/&gt;&lt;property id=&quot;20307&quot; value=&quot;269&quot;/&gt;&lt;/object&gt;&lt;object type=&quot;3&quot; unique_id=&quot;10279&quot;&gt;&lt;property id=&quot;20148&quot; value=&quot;5&quot;/&gt;&lt;property id=&quot;20300&quot; value=&quot;Slide 8 - &amp;quot;里德堡常数的修正&amp;quot;&quot;/&gt;&lt;property id=&quot;20307&quot; value=&quot;276&quot;/&gt;&lt;/object&gt;&lt;object type=&quot;3&quot; unique_id=&quot;10350&quot;&gt;&lt;property id=&quot;20148&quot; value=&quot;5&quot;/&gt;&lt;property id=&quot;20300&quot; value=&quot;Slide 13 - &amp;quot;进一步验证：类氢离子光谱&amp;quot;&quot;/&gt;&lt;property id=&quot;20307&quot; value=&quot;278&quot;/&gt;&lt;/object&gt;&lt;object type=&quot;3&quot; unique_id=&quot;10351&quot;&gt;&lt;property id=&quot;20148&quot; value=&quot;5&quot;/&gt;&lt;property id=&quot;20300&quot; value=&quot;Slide 14 - &amp;quot;类氢离子的物理常数&amp;quot;&quot;/&gt;&lt;property id=&quot;20307&quot; value=&quot;279&quot;/&gt;&lt;/object&gt;&lt;object type=&quot;3&quot; unique_id=&quot;10352&quot;&gt;&lt;property id=&quot;20148&quot; value=&quot;5&quot;/&gt;&lt;property id=&quot;20300&quot; value=&quot;Slide 16 - &amp;quot;原子能级在碰撞过程的体现&amp;quot;&quot;/&gt;&lt;property id=&quot;20307&quot; value=&quot;277&quot;/&gt;&lt;/object&gt;&lt;object type=&quot;3&quot; unique_id=&quot;10438&quot;&gt;&lt;property id=&quot;20148&quot; value=&quot;5&quot;/&gt;&lt;property id=&quot;20300&quot; value=&quot;Slide 12 - &amp;quot;精细结构常数:  𝛼=  𝑒 2  ℏ𝑐 &amp;quot;&quot;/&gt;&lt;property id=&quot;20307&quot; value=&quot;280&quot;/&gt;&lt;/object&gt;&lt;object type=&quot;3&quot; unique_id=&quot;10923&quot;&gt;&lt;property id=&quot;20148&quot; value=&quot;5&quot;/&gt;&lt;property id=&quot;20300&quot; value=&quot;Slide 23 - &amp;quot;Stern-Gerlach 实验（1922）&amp;quot;&quot;/&gt;&lt;property id=&quot;20307&quot; value=&quot;283&quot;/&gt;&lt;/object&gt;&lt;object type=&quot;3&quot; unique_id=&quot;11076&quot;&gt;&lt;property id=&quot;20148&quot; value=&quot;5&quot;/&gt;&lt;property id=&quot;20300&quot; value=&quot;Slide 21 - &amp;quot;Bohr – Sommerfeld 的旧量子论&amp;quot;&quot;/&gt;&lt;property id=&quot;20307&quot; value=&quot;286&quot;/&gt;&lt;/object&gt;&lt;object type=&quot;3&quot; unique_id=&quot;11101&quot;&gt;&lt;property id=&quot;20148&quot; value=&quot;5&quot;/&gt;&lt;property id=&quot;20300&quot; value=&quot;Slide 18 - &amp;quot;塞曼效应（1896）&amp;quot;&quot;/&gt;&lt;property id=&quot;20307&quot; value=&quot;288&quot;/&gt;&lt;/object&gt;&lt;object type=&quot;3&quot; unique_id=&quot;11102&quot;&gt;&lt;property id=&quot;20148&quot; value=&quot;5&quot;/&gt;&lt;property id=&quot;20300&quot; value=&quot;Slide 26 - &amp;quot;泡利不相容原理和电子自旋（1925）&amp;quot;&quot;/&gt;&lt;property id=&quot;20307&quot; value=&quot;287&quot;/&gt;&lt;/object&gt;&lt;object type=&quot;3&quot; unique_id=&quot;11103&quot;&gt;&lt;property id=&quot;20148&quot; value=&quot;5&quot;/&gt;&lt;property id=&quot;20300&quot; value=&quot;Slide 30 - &amp;quot;量子力学&amp;quot;&quot;/&gt;&lt;property id=&quot;20307&quot; value=&quot;289&quot;/&gt;&lt;/object&gt;&lt;object type=&quot;3&quot; unique_id=&quot;11204&quot;&gt;&lt;property id=&quot;20148&quot; value=&quot;5&quot;/&gt;&lt;property id=&quot;20300&quot; value=&quot;Slide 17 - &amp;quot;改进后的Frank-Hertz实验(1920)&amp;quot;&quot;/&gt;&lt;property id=&quot;20307&quot; value=&quot;290&quot;/&gt;&lt;/object&gt;&lt;object type=&quot;3&quot; unique_id=&quot;11231&quot;&gt;&lt;property id=&quot;20148&quot; value=&quot;5&quot;/&gt;&lt;property id=&quot;20300&quot; value=&quot;Slide 24 - &amp;quot;幸运雪茄&amp;quot;&quot;/&gt;&lt;property id=&quot;20307&quot; value=&quot;291&quot;/&gt;&lt;/object&gt;&lt;object type=&quot;3&quot; unique_id=&quot;11260&quot;&gt;&lt;property id=&quot;20148&quot; value=&quot;5&quot;/&gt;&lt;property id=&quot;20300&quot; value=&quot;Slide 27 - &amp;quot;de Broglie物质波(1923)&amp;quot;&quot;/&gt;&lt;property id=&quot;20307&quot; value=&quot;294&quot;/&gt;&lt;/object&gt;&lt;object type=&quot;3&quot; unique_id=&quot;11261&quot;&gt;&lt;property id=&quot;20148&quot; value=&quot;5&quot;/&gt;&lt;property id=&quot;20300&quot; value=&quot;Slide 28 - &amp;quot;电子晶体衍射&amp;quot;&quot;/&gt;&lt;property id=&quot;20307&quot; value=&quot;295&quot;/&gt;&lt;/object&gt;&lt;object type=&quot;3&quot; unique_id=&quot;11262&quot;&gt;&lt;property id=&quot;20148&quot; value=&quot;5&quot;/&gt;&lt;property id=&quot;20300&quot; value=&quot;Slide 33&quot;/&gt;&lt;property id=&quot;20307&quot; value=&quot;292&quot;/&gt;&lt;/object&gt;&lt;object type=&quot;3&quot; unique_id=&quot;11437&quot;&gt;&lt;property id=&quot;20148&quot; value=&quot;5&quot;/&gt;&lt;property id=&quot;20300&quot; value=&quot;Slide 22 - &amp;quot;正常塞曼效应的Bohr理论解释&amp;quot;&quot;/&gt;&lt;property id=&quot;20307&quot; value=&quot;296&quot;/&gt;&lt;/object&gt;&lt;object type=&quot;3&quot; unique_id=&quot;11468&quot;&gt;&lt;property id=&quot;20148&quot; value=&quot;5&quot;/&gt;&lt;property id=&quot;20300&quot; value=&quot;Slide 34 - &amp;quot;作业&amp;quot;&quot;/&gt;&lt;property id=&quot;20307&quot; value=&quot;299&quot;/&gt;&lt;/object&gt;&lt;object type=&quot;3&quot; unique_id=&quot;12182&quot;&gt;&lt;property id=&quot;20148&quot; value=&quot;5&quot;/&gt;&lt;property id=&quot;20300&quot; value=&quot;Slide 11 - &amp;quot;精细结构常数  𝛼=  𝑒 2  ℏ𝑐 &amp;quot;&quot;/&gt;&lt;property id=&quot;20307&quot; value=&quot;300&quot;/&gt;&lt;/object&gt;&lt;object type=&quot;3&quot; unique_id=&quot;12183&quot;&gt;&lt;property id=&quot;20148&quot; value=&quot;5&quot;/&gt;&lt;property id=&quot;20300&quot; value=&quot;Slide 19 - &amp;quot;塞曼效应的经典解释&amp;quot;&quot;/&gt;&lt;property id=&quot;20307&quot; value=&quot;301&quot;/&gt;&lt;/object&gt;&lt;object type=&quot;3&quot; unique_id=&quot;12280&quot;&gt;&lt;property id=&quot;20148&quot; value=&quot;5&quot;/&gt;&lt;property id=&quot;20300&quot; value=&quot;Slide 10 - &amp;quot;备注&amp;quot;&quot;/&gt;&lt;property id=&quot;20307&quot; value=&quot;302&quot;/&gt;&lt;/object&gt;&lt;object type=&quot;3&quot; unique_id=&quot;12281&quot;&gt;&lt;property id=&quot;20148&quot; value=&quot;5&quot;/&gt;&lt;property id=&quot;20300&quot; value=&quot;Slide 7 - &amp;quot;玻尔模型和氢原子光谱&amp;quot;&quot;/&gt;&lt;property id=&quot;20307&quot; value=&quot;303&quot;/&gt;&lt;/object&gt;&lt;object type=&quot;3&quot; unique_id=&quot;12543&quot;&gt;&lt;property id=&quot;20148&quot; value=&quot;5&quot;/&gt;&lt;property id=&quot;20300&quot; value=&quot;Slide 6 - &amp;quot;Bohr模型（1913）&amp;quot;&quot;/&gt;&lt;property id=&quot;20307&quot; value=&quot;304&quot;/&gt;&lt;/object&gt;&lt;object type=&quot;3&quot; unique_id=&quot;12577&quot;&gt;&lt;property id=&quot;20148&quot; value=&quot;5&quot;/&gt;&lt;property id=&quot;20300&quot; value=&quot;Slide 15 - &amp;quot;透射（吸收）谱和荧光谱&amp;quot;&quot;/&gt;&lt;property id=&quot;20307&quot; value=&quot;305&quot;/&gt;&lt;/object&gt;&lt;object type=&quot;3&quot; unique_id=&quot;12578&quot;&gt;&lt;property id=&quot;20148&quot; value=&quot;5&quot;/&gt;&lt;property id=&quot;20300&quot; value=&quot;Slide 20 - &amp;quot;反常(anormlous)塞曼效应&amp;quot;&quot;/&gt;&lt;property id=&quot;20307&quot; value=&quot;306&quot;/&gt;&lt;/object&gt;&lt;object type=&quot;3&quot; unique_id=&quot;12579&quot;&gt;&lt;property id=&quot;20148&quot; value=&quot;5&quot;/&gt;&lt;property id=&quot;20300&quot; value=&quot;Slide 29&quot;/&gt;&lt;property id=&quot;20307&quot; value=&quot;307&quot;/&gt;&lt;/object&gt;&lt;object type=&quot;3&quot; unique_id=&quot;13072&quot;&gt;&lt;property id=&quot;20148&quot; value=&quot;5&quot;/&gt;&lt;property id=&quot;20300&quot; value=&quot;Slide 25 - &amp;quot;Stern-Gerlach 实验的解释&amp;quot;&quot;/&gt;&lt;property id=&quot;20307&quot; value=&quot;308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FF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8989</TotalTime>
  <Words>240</Words>
  <Application>Microsoft Office PowerPoint</Application>
  <PresentationFormat>Widescreen</PresentationFormat>
  <Paragraphs>38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 Math</vt:lpstr>
      <vt:lpstr>Times New Roman</vt:lpstr>
      <vt:lpstr>Office Theme</vt:lpstr>
      <vt:lpstr>PowerPoint Presentation</vt:lpstr>
      <vt:lpstr>The Limitation of Bohr’s model</vt:lpstr>
      <vt:lpstr> wave particle duality (1923)</vt:lpstr>
      <vt:lpstr>电子晶体衍射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</dc:creator>
  <cp:lastModifiedBy>kevin zhao</cp:lastModifiedBy>
  <cp:revision>600</cp:revision>
  <dcterms:created xsi:type="dcterms:W3CDTF">2013-05-26T05:06:15Z</dcterms:created>
  <dcterms:modified xsi:type="dcterms:W3CDTF">2025-03-12T12:30:34Z</dcterms:modified>
</cp:coreProperties>
</file>