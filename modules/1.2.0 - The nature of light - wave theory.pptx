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7" r:id="rId2"/>
    <p:sldId id="258" r:id="rId3"/>
    <p:sldId id="602" r:id="rId4"/>
    <p:sldId id="369" r:id="rId5"/>
    <p:sldId id="603" r:id="rId6"/>
    <p:sldId id="306" r:id="rId7"/>
    <p:sldId id="366" r:id="rId8"/>
    <p:sldId id="370" r:id="rId9"/>
    <p:sldId id="367" r:id="rId10"/>
    <p:sldId id="261" r:id="rId11"/>
    <p:sldId id="601" r:id="rId12"/>
    <p:sldId id="317" r:id="rId13"/>
    <p:sldId id="264" r:id="rId14"/>
    <p:sldId id="267" r:id="rId15"/>
    <p:sldId id="259" r:id="rId16"/>
    <p:sldId id="260" r:id="rId17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tline" id="{1CDE3D84-0467-4869-B83C-48534D3232A1}">
          <p14:sldIdLst>
            <p14:sldId id="257"/>
          </p14:sldIdLst>
        </p14:section>
        <p14:section name="Wave theory history" id="{2AAB9C6B-21D9-4CB4-BC7F-13602F8F19D7}">
          <p14:sldIdLst>
            <p14:sldId id="258"/>
            <p14:sldId id="602"/>
            <p14:sldId id="369"/>
            <p14:sldId id="603"/>
            <p14:sldId id="306"/>
            <p14:sldId id="366"/>
            <p14:sldId id="370"/>
            <p14:sldId id="367"/>
          </p14:sldIdLst>
        </p14:section>
        <p14:section name="Wave basics" id="{2454BCC6-F1E8-43B4-AE1A-D767AE84B983}">
          <p14:sldIdLst>
            <p14:sldId id="261"/>
          </p14:sldIdLst>
        </p14:section>
        <p14:section name="polarization decomposition" id="{F578D4A6-8970-4972-92FD-87EF30225885}">
          <p14:sldIdLst>
            <p14:sldId id="601"/>
            <p14:sldId id="317"/>
            <p14:sldId id="264"/>
            <p14:sldId id="267"/>
          </p14:sldIdLst>
        </p14:section>
        <p14:section name="backups" id="{C55FBF58-63AF-4548-9B4F-74BA30F4E696}">
          <p14:sldIdLst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0" autoAdjust="0"/>
    <p:restoredTop sz="75097" autoAdjust="0"/>
  </p:normalViewPr>
  <p:slideViewPr>
    <p:cSldViewPr snapToGrid="0">
      <p:cViewPr varScale="1">
        <p:scale>
          <a:sx n="89" d="100"/>
          <a:sy n="89" d="100"/>
        </p:scale>
        <p:origin x="163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C307BF-A723-47A4-8ADA-9FDF0CF51F67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26A9F5-084A-4208-ACFD-B86A3EE862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2581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rago_spot#cite_note-15" TargetMode="External"/><Relationship Id="rId7" Type="http://schemas.openxmlformats.org/officeDocument/2006/relationships/hyperlink" Target="https://en.wikipedia.org/wiki/Arago_spot#cite_note-maraldi1723-17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Giacomo_F._Maraldi" TargetMode="External"/><Relationship Id="rId5" Type="http://schemas.openxmlformats.org/officeDocument/2006/relationships/hyperlink" Target="https://en.wikipedia.org/wiki/Arago_spot#cite_note-delisle1715-16" TargetMode="External"/><Relationship Id="rId4" Type="http://schemas.openxmlformats.org/officeDocument/2006/relationships/hyperlink" Target="https://en.wikipedia.org/wiki/Joseph-Nicolas_Delisle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这一章我们要讨论一个重要的问题，即光的本质。</a:t>
            </a:r>
            <a:endParaRPr lang="en-US" altLang="zh-CN" dirty="0"/>
          </a:p>
          <a:p>
            <a:r>
              <a:rPr lang="zh-CN" altLang="en-US" dirty="0"/>
              <a:t>我们将分四个小节，分别对应于人类在对光的认识过程中的四个重要阶段</a:t>
            </a:r>
            <a:endParaRPr lang="en-US" altLang="zh-CN" dirty="0"/>
          </a:p>
          <a:p>
            <a:r>
              <a:rPr lang="en-US" dirty="0"/>
              <a:t>1. </a:t>
            </a:r>
            <a:r>
              <a:rPr lang="zh-CN" altLang="en-US" dirty="0"/>
              <a:t>光的波粒之争，以及波动说的建立。</a:t>
            </a:r>
            <a:endParaRPr lang="en-US" dirty="0"/>
          </a:p>
          <a:p>
            <a:r>
              <a:rPr lang="en-US" altLang="zh-CN" dirty="0"/>
              <a:t>2. </a:t>
            </a:r>
            <a:r>
              <a:rPr lang="zh-CN" altLang="en-US" dirty="0"/>
              <a:t>光和物质的相互作用，光是怎么来的，以及黑体辐射问题是怎么提出的。</a:t>
            </a:r>
            <a:endParaRPr lang="en-US" altLang="zh-CN" dirty="0"/>
          </a:p>
          <a:p>
            <a:r>
              <a:rPr lang="en-US" altLang="zh-CN" dirty="0"/>
              <a:t>3. </a:t>
            </a:r>
            <a:r>
              <a:rPr lang="zh-CN" altLang="en-US" dirty="0"/>
              <a:t>我们将详细讨论黑体辐射问题，普朗克的黑体辐射公式以及解释</a:t>
            </a:r>
            <a:endParaRPr lang="en-US" altLang="zh-CN" dirty="0"/>
          </a:p>
          <a:p>
            <a:r>
              <a:rPr lang="en-US" altLang="zh-CN" dirty="0"/>
              <a:t>4. </a:t>
            </a:r>
            <a:r>
              <a:rPr lang="zh-CN" altLang="en-US" dirty="0"/>
              <a:t>粒子的回归：我们将讨论光子的提出和光粒子性的重要证据。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6635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Wave theory explains reflection, refraction, and interference phenomena</a:t>
            </a:r>
            <a:endParaRPr lang="zh-CN" altLang="en-US" sz="1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dirty="0"/>
          </a:p>
          <a:p>
            <a:r>
              <a:rPr lang="en-US" altLang="zh-CN" dirty="0"/>
              <a:t>1887</a:t>
            </a:r>
            <a:r>
              <a:rPr lang="zh-CN" altLang="en-US" dirty="0"/>
              <a:t>年被赫兹在实验室里产生了无线电波，证实了</a:t>
            </a:r>
            <a:r>
              <a:rPr lang="en-US" dirty="0"/>
              <a:t>Maxwell</a:t>
            </a:r>
            <a:r>
              <a:rPr lang="zh-CN" altLang="en-US" dirty="0"/>
              <a:t>的预言。</a:t>
            </a:r>
            <a:r>
              <a:rPr lang="en-US" altLang="zh-CN" dirty="0"/>
              <a:t>Maxwell</a:t>
            </a:r>
            <a:r>
              <a:rPr lang="zh-CN" altLang="en-US" dirty="0"/>
              <a:t>发现电磁波在真空中的传播速度和当时测到的光速值相等，因而推断光就是电磁波。</a:t>
            </a:r>
            <a:endParaRPr lang="en-US" altLang="zh-CN" dirty="0"/>
          </a:p>
          <a:p>
            <a:r>
              <a:rPr lang="zh-CN" altLang="en-US" dirty="0"/>
              <a:t>利用电磁波理论可以解释光的反射，折射，干涉等重要性质。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217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两列波同时到达目的地，但由于它们走的路程长度不同，它们速度又是相同。因此，它们在从</a:t>
            </a:r>
            <a:r>
              <a:rPr lang="en-US" altLang="zh-CN" dirty="0"/>
              <a:t>B</a:t>
            </a:r>
            <a:r>
              <a:rPr lang="zh-CN" altLang="en-US" dirty="0"/>
              <a:t>和</a:t>
            </a:r>
            <a:r>
              <a:rPr lang="en-US" altLang="zh-CN" dirty="0"/>
              <a:t>C</a:t>
            </a:r>
            <a:r>
              <a:rPr lang="zh-CN" altLang="en-US" dirty="0"/>
              <a:t>点的出发的时间一定是不同的。因此不一定同步，相位不同。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1C856-083D-44CC-9D8D-0A919229A3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69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Among the jury,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Biot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Laplace and Poisson are the most resolutely opposed to wave theory. Poisson in particular, fascinated by Fresnel’s theory, studies it in detail, looking for weaknesses. From it he derives a counter intuitive result beyond Fresnel’s own predictions: by placing a disc at a certain distance between a source of light and a screen, a bright spot should appear in the center of the disc’s shadow. To Poisson, this apparently absurd consequence is a proof that invalidates Fresnel’s work. </a:t>
            </a:r>
          </a:p>
          <a:p>
            <a:r>
              <a:rPr lang="en-US" b="1" dirty="0"/>
              <a:t>François </a:t>
            </a:r>
            <a:r>
              <a:rPr lang="en-US" b="1" dirty="0" err="1"/>
              <a:t>Arago</a:t>
            </a:r>
            <a:r>
              <a:rPr lang="en-US" dirty="0"/>
              <a:t> experimentally confirmed the existence of this diffraction pattern.</a:t>
            </a:r>
          </a:p>
          <a:p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Arago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later noted</a:t>
            </a:r>
            <a:r>
              <a:rPr lang="en-US" b="0" i="0" u="none" strike="noStrike" baseline="30000" dirty="0">
                <a:solidFill>
                  <a:srgbClr val="202122"/>
                </a:solidFill>
                <a:effectLst/>
                <a:latin typeface="Arial" panose="020B0604020202020204" pitchFamily="34" charset="0"/>
                <a:hlinkClick r:id="rId3"/>
              </a:rPr>
              <a:t>[15]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that the phenomenon (later known as "Poisson's spot" or the "spot of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Arago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") had already been observed by </a:t>
            </a:r>
            <a:r>
              <a:rPr lang="en-US" b="0" i="0" u="none" strike="noStrike" dirty="0">
                <a:effectLst/>
                <a:latin typeface="Arial" panose="020B0604020202020204" pitchFamily="34" charset="0"/>
                <a:hlinkClick r:id="rId4" tooltip="Joseph-Nicolas Delisle"/>
              </a:rPr>
              <a:t>Delisle</a:t>
            </a:r>
            <a:r>
              <a:rPr lang="en-US" b="0" i="0" u="none" strike="noStrike" baseline="30000" dirty="0">
                <a:solidFill>
                  <a:srgbClr val="202122"/>
                </a:solidFill>
                <a:effectLst/>
                <a:latin typeface="Arial" panose="020B0604020202020204" pitchFamily="34" charset="0"/>
                <a:hlinkClick r:id="rId5"/>
              </a:rPr>
              <a:t>[16]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US" b="0" i="0" u="none" strike="noStrike" dirty="0">
                <a:effectLst/>
                <a:latin typeface="Arial" panose="020B0604020202020204" pitchFamily="34" charset="0"/>
                <a:hlinkClick r:id="rId6" tooltip="Giacomo F. Maraldi"/>
              </a:rPr>
              <a:t>Maraldi</a:t>
            </a:r>
            <a:r>
              <a:rPr lang="en-US" b="0" i="0" u="none" strike="noStrike" baseline="30000" dirty="0">
                <a:solidFill>
                  <a:srgbClr val="202122"/>
                </a:solidFill>
                <a:effectLst/>
                <a:latin typeface="Arial" panose="020B0604020202020204" pitchFamily="34" charset="0"/>
                <a:hlinkClick r:id="rId7"/>
              </a:rPr>
              <a:t>[17]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a century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1C856-083D-44CC-9D8D-0A919229A3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6084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有方程就要有解，一个如何在时空中变化的电磁场，才能满足这个方程组。</a:t>
            </a:r>
            <a:endParaRPr lang="en-US" altLang="zh-CN" dirty="0"/>
          </a:p>
          <a:p>
            <a:r>
              <a:rPr lang="zh-CN" altLang="en-US" dirty="0"/>
              <a:t>这个解是一个典型的横波</a:t>
            </a:r>
            <a:endParaRPr lang="en-US" altLang="zh-CN" dirty="0"/>
          </a:p>
          <a:p>
            <a:r>
              <a:rPr lang="zh-CN" altLang="en-US" dirty="0"/>
              <a:t>光就是电磁场的振动的传播，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1C856-083D-44CC-9D8D-0A919229A3E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73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对可见光而言。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4379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6A9F5-084A-4208-ACFD-B86A3EE8620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8669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所有偏振都可以分解成两种基本偏振的叠加。差别在用两种基本偏振振幅之比和位相之差。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1C856-083D-44CC-9D8D-0A919229A3E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5839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线双折射晶体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6A9F5-084A-4208-ACFD-B86A3EE8620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3490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9794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6A9F5-084A-4208-ACFD-B86A3EE8620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018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3"/>
            <a:ext cx="10363200" cy="147002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8"/>
            <a:ext cx="2844800" cy="365125"/>
          </a:xfrm>
          <a:prstGeom prst="rect">
            <a:avLst/>
          </a:prstGeom>
        </p:spPr>
        <p:txBody>
          <a:bodyPr/>
          <a:lstStyle/>
          <a:p>
            <a:fld id="{BE7051A5-1592-489A-8D1C-F89F4FB899E2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8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8"/>
            <a:ext cx="2844800" cy="365125"/>
          </a:xfrm>
          <a:prstGeom prst="rect">
            <a:avLst/>
          </a:prstGeom>
        </p:spPr>
        <p:txBody>
          <a:bodyPr/>
          <a:lstStyle/>
          <a:p>
            <a:fld id="{1A76A76C-72E8-49BF-B756-1C38726266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370650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188641"/>
            <a:ext cx="8070980" cy="551589"/>
          </a:xfrm>
        </p:spPr>
        <p:txBody>
          <a:bodyPr>
            <a:noAutofit/>
          </a:bodyPr>
          <a:lstStyle>
            <a:lvl1pPr>
              <a:defRPr sz="2800" b="1">
                <a:latin typeface="+mj-lt"/>
                <a:ea typeface="黑体" panose="02010609060101010101" pitchFamily="49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3" y="862155"/>
            <a:ext cx="8070980" cy="5663195"/>
          </a:xfrm>
        </p:spPr>
        <p:txBody>
          <a:bodyPr>
            <a:normAutofit/>
          </a:bodyPr>
          <a:lstStyle>
            <a:lvl1pPr>
              <a:spcBef>
                <a:spcPts val="1200"/>
              </a:spcBef>
              <a:defRPr sz="2800">
                <a:latin typeface="+mn-lt"/>
                <a:ea typeface="黑体" panose="02010609060101010101" pitchFamily="49" charset="-122"/>
              </a:defRPr>
            </a:lvl1pPr>
            <a:lvl2pPr>
              <a:spcBef>
                <a:spcPts val="1200"/>
              </a:spcBef>
              <a:defRPr sz="2400">
                <a:latin typeface="+mn-lt"/>
                <a:ea typeface="黑体" panose="02010609060101010101" pitchFamily="49" charset="-122"/>
              </a:defRPr>
            </a:lvl2pPr>
            <a:lvl3pPr>
              <a:spcBef>
                <a:spcPts val="1200"/>
              </a:spcBef>
              <a:defRPr sz="2000">
                <a:latin typeface="+mn-lt"/>
                <a:ea typeface="黑体" panose="02010609060101010101" pitchFamily="49" charset="-122"/>
              </a:defRPr>
            </a:lvl3pPr>
            <a:lvl4pPr>
              <a:spcBef>
                <a:spcPts val="1200"/>
              </a:spcBef>
              <a:defRPr sz="1800">
                <a:latin typeface="+mn-lt"/>
                <a:ea typeface="黑体" panose="02010609060101010101" pitchFamily="49" charset="-122"/>
              </a:defRPr>
            </a:lvl4pPr>
            <a:lvl5pPr>
              <a:spcBef>
                <a:spcPts val="1200"/>
              </a:spcBef>
              <a:defRPr sz="1800">
                <a:latin typeface="+mn-lt"/>
                <a:ea typeface="黑体" panose="02010609060101010101" pitchFamily="49" charset="-122"/>
              </a:defRPr>
            </a:lvl5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31763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8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8"/>
            <a:ext cx="2844800" cy="365125"/>
          </a:xfrm>
          <a:prstGeom prst="rect">
            <a:avLst/>
          </a:prstGeom>
        </p:spPr>
        <p:txBody>
          <a:bodyPr/>
          <a:lstStyle/>
          <a:p>
            <a:fld id="{BE7051A5-1592-489A-8D1C-F89F4FB899E2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8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8"/>
            <a:ext cx="2844800" cy="365125"/>
          </a:xfrm>
          <a:prstGeom prst="rect">
            <a:avLst/>
          </a:prstGeom>
        </p:spPr>
        <p:txBody>
          <a:bodyPr/>
          <a:lstStyle/>
          <a:p>
            <a:fld id="{1A76A76C-72E8-49BF-B756-1C38726266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196162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8"/>
            <a:ext cx="2844800" cy="365125"/>
          </a:xfrm>
          <a:prstGeom prst="rect">
            <a:avLst/>
          </a:prstGeom>
        </p:spPr>
        <p:txBody>
          <a:bodyPr/>
          <a:lstStyle/>
          <a:p>
            <a:fld id="{BE7051A5-1592-489A-8D1C-F89F4FB899E2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8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8"/>
            <a:ext cx="2844800" cy="365125"/>
          </a:xfrm>
          <a:prstGeom prst="rect">
            <a:avLst/>
          </a:prstGeom>
        </p:spPr>
        <p:txBody>
          <a:bodyPr/>
          <a:lstStyle/>
          <a:p>
            <a:fld id="{1A76A76C-72E8-49BF-B756-1C38726266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29349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7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7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8"/>
            <a:ext cx="2844800" cy="365125"/>
          </a:xfrm>
          <a:prstGeom prst="rect">
            <a:avLst/>
          </a:prstGeom>
        </p:spPr>
        <p:txBody>
          <a:bodyPr/>
          <a:lstStyle/>
          <a:p>
            <a:fld id="{BE7051A5-1592-489A-8D1C-F89F4FB899E2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8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8"/>
            <a:ext cx="2844800" cy="365125"/>
          </a:xfrm>
          <a:prstGeom prst="rect">
            <a:avLst/>
          </a:prstGeom>
        </p:spPr>
        <p:txBody>
          <a:bodyPr/>
          <a:lstStyle/>
          <a:p>
            <a:fld id="{1A76A76C-72E8-49BF-B756-1C38726266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972818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8"/>
            <a:ext cx="2844800" cy="365125"/>
          </a:xfrm>
          <a:prstGeom prst="rect">
            <a:avLst/>
          </a:prstGeom>
        </p:spPr>
        <p:txBody>
          <a:bodyPr/>
          <a:lstStyle/>
          <a:p>
            <a:fld id="{BE7051A5-1592-489A-8D1C-F89F4FB899E2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8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8"/>
            <a:ext cx="2844800" cy="365125"/>
          </a:xfrm>
          <a:prstGeom prst="rect">
            <a:avLst/>
          </a:prstGeom>
        </p:spPr>
        <p:txBody>
          <a:bodyPr/>
          <a:lstStyle/>
          <a:p>
            <a:fld id="{1A76A76C-72E8-49BF-B756-1C38726266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138095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8"/>
            <a:ext cx="2844800" cy="365125"/>
          </a:xfrm>
          <a:prstGeom prst="rect">
            <a:avLst/>
          </a:prstGeom>
        </p:spPr>
        <p:txBody>
          <a:bodyPr/>
          <a:lstStyle/>
          <a:p>
            <a:fld id="{BE7051A5-1592-489A-8D1C-F89F4FB899E2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8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8"/>
            <a:ext cx="2844800" cy="365125"/>
          </a:xfrm>
          <a:prstGeom prst="rect">
            <a:avLst/>
          </a:prstGeom>
        </p:spPr>
        <p:txBody>
          <a:bodyPr/>
          <a:lstStyle/>
          <a:p>
            <a:fld id="{1A76A76C-72E8-49BF-B756-1C38726266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519934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3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8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4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8"/>
            <a:ext cx="2844800" cy="365125"/>
          </a:xfrm>
          <a:prstGeom prst="rect">
            <a:avLst/>
          </a:prstGeom>
        </p:spPr>
        <p:txBody>
          <a:bodyPr/>
          <a:lstStyle/>
          <a:p>
            <a:fld id="{BE7051A5-1592-489A-8D1C-F89F4FB899E2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8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8"/>
            <a:ext cx="2844800" cy="365125"/>
          </a:xfrm>
          <a:prstGeom prst="rect">
            <a:avLst/>
          </a:prstGeom>
        </p:spPr>
        <p:txBody>
          <a:bodyPr/>
          <a:lstStyle/>
          <a:p>
            <a:fld id="{1A76A76C-72E8-49BF-B756-1C38726266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1515075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4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2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8"/>
            <a:ext cx="2844800" cy="365125"/>
          </a:xfrm>
          <a:prstGeom prst="rect">
            <a:avLst/>
          </a:prstGeom>
        </p:spPr>
        <p:txBody>
          <a:bodyPr/>
          <a:lstStyle/>
          <a:p>
            <a:fld id="{BE7051A5-1592-489A-8D1C-F89F4FB899E2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8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8"/>
            <a:ext cx="2844800" cy="365125"/>
          </a:xfrm>
          <a:prstGeom prst="rect">
            <a:avLst/>
          </a:prstGeom>
        </p:spPr>
        <p:txBody>
          <a:bodyPr/>
          <a:lstStyle/>
          <a:p>
            <a:fld id="{1A76A76C-72E8-49BF-B756-1C38726266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569345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8"/>
            <a:ext cx="2844800" cy="365125"/>
          </a:xfrm>
          <a:prstGeom prst="rect">
            <a:avLst/>
          </a:prstGeom>
        </p:spPr>
        <p:txBody>
          <a:bodyPr/>
          <a:lstStyle/>
          <a:p>
            <a:fld id="{BE7051A5-1592-489A-8D1C-F89F4FB899E2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8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8"/>
            <a:ext cx="2844800" cy="365125"/>
          </a:xfrm>
          <a:prstGeom prst="rect">
            <a:avLst/>
          </a:prstGeom>
        </p:spPr>
        <p:txBody>
          <a:bodyPr/>
          <a:lstStyle/>
          <a:p>
            <a:fld id="{1A76A76C-72E8-49BF-B756-1C38726266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890587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6"/>
            <a:ext cx="2743200" cy="5851525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6"/>
            <a:ext cx="8026400" cy="5851525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8"/>
            <a:ext cx="2844800" cy="365125"/>
          </a:xfrm>
          <a:prstGeom prst="rect">
            <a:avLst/>
          </a:prstGeom>
        </p:spPr>
        <p:txBody>
          <a:bodyPr/>
          <a:lstStyle/>
          <a:p>
            <a:fld id="{BE7051A5-1592-489A-8D1C-F89F4FB899E2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8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8"/>
            <a:ext cx="2844800" cy="365125"/>
          </a:xfrm>
          <a:prstGeom prst="rect">
            <a:avLst/>
          </a:prstGeom>
        </p:spPr>
        <p:txBody>
          <a:bodyPr/>
          <a:lstStyle/>
          <a:p>
            <a:fld id="{1A76A76C-72E8-49BF-B756-1C38726266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444388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10CA57BC-CEED-4585-9D44-C04818E92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155" y="155229"/>
            <a:ext cx="9096233" cy="678929"/>
          </a:xfrm>
        </p:spPr>
        <p:txBody>
          <a:bodyPr>
            <a:normAutofit/>
          </a:bodyPr>
          <a:lstStyle>
            <a:lvl1pPr>
              <a:defRPr sz="4000" b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DB3486-C804-41EA-91C9-1D81A9AC2BE4}"/>
              </a:ext>
            </a:extLst>
          </p:cNvPr>
          <p:cNvSpPr/>
          <p:nvPr userDrawn="1"/>
        </p:nvSpPr>
        <p:spPr>
          <a:xfrm>
            <a:off x="0" y="965915"/>
            <a:ext cx="12192000" cy="58208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814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3392" y="188640"/>
            <a:ext cx="1097280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908720"/>
            <a:ext cx="10972800" cy="5616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394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 spd="slow">
    <p:push dir="u"/>
  </p:transition>
  <p:txStyles>
    <p:titleStyle>
      <a:lvl1pPr algn="ctr" defTabSz="91435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82" indent="-342882" algn="l" defTabSz="914354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13" indent="-285737" algn="l" defTabSz="914354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0.png"/><Relationship Id="rId11" Type="http://schemas.openxmlformats.org/officeDocument/2006/relationships/image" Target="../media/image16.png"/><Relationship Id="rId5" Type="http://schemas.openxmlformats.org/officeDocument/2006/relationships/image" Target="../media/image13.png"/><Relationship Id="rId10" Type="http://schemas.openxmlformats.org/officeDocument/2006/relationships/image" Target="../media/image150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gif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jpe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.hk/url?sa=i&amp;rct=j&amp;q=&amp;esrc=s&amp;frm=1&amp;source=images&amp;cd=&amp;cad=rja&amp;docid=qcKyUquU4XZQcM&amp;tbnid=MRqV-128bOmUtM:&amp;ved=0CAUQjRw&amp;url=http://www.contrarian-investor.com/the-basics-of-silver.html&amp;ei=RAs1Uv2xEa2uiQeC6YCAAQ&amp;psig=AFQjCNH2HmdP9j6fpYv5DDXaxHAFKHHN6w&amp;ust=1379294390942950" TargetMode="External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5" Type="http://schemas.openxmlformats.org/officeDocument/2006/relationships/image" Target="../media/image101.png"/><Relationship Id="rId4" Type="http://schemas.openxmlformats.org/officeDocument/2006/relationships/image" Target="../media/image34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13" Type="http://schemas.openxmlformats.org/officeDocument/2006/relationships/image" Target="../media/image330.png"/><Relationship Id="rId3" Type="http://schemas.openxmlformats.org/officeDocument/2006/relationships/image" Target="../media/image35.gif"/><Relationship Id="rId7" Type="http://schemas.openxmlformats.org/officeDocument/2006/relationships/image" Target="../media/image21.png"/><Relationship Id="rId12" Type="http://schemas.openxmlformats.org/officeDocument/2006/relationships/image" Target="../media/image40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emf"/><Relationship Id="rId11" Type="http://schemas.openxmlformats.org/officeDocument/2006/relationships/image" Target="../media/image31.png"/><Relationship Id="rId5" Type="http://schemas.openxmlformats.org/officeDocument/2006/relationships/image" Target="../media/image37.emf"/><Relationship Id="rId10" Type="http://schemas.openxmlformats.org/officeDocument/2006/relationships/image" Target="../media/image39.emf"/><Relationship Id="rId4" Type="http://schemas.openxmlformats.org/officeDocument/2006/relationships/image" Target="../media/image36.gif"/><Relationship Id="rId9" Type="http://schemas.openxmlformats.org/officeDocument/2006/relationships/image" Target="../media/image2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gif"/><Relationship Id="rId2" Type="http://schemas.openxmlformats.org/officeDocument/2006/relationships/image" Target="../media/image41.gi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0.png"/><Relationship Id="rId3" Type="http://schemas.openxmlformats.org/officeDocument/2006/relationships/image" Target="../media/image20.gif"/><Relationship Id="rId7" Type="http://schemas.openxmlformats.org/officeDocument/2006/relationships/image" Target="../media/image100.png"/><Relationship Id="rId12" Type="http://schemas.openxmlformats.org/officeDocument/2006/relationships/image" Target="../media/image39.emf"/><Relationship Id="rId17" Type="http://schemas.openxmlformats.org/officeDocument/2006/relationships/image" Target="../media/image50.emf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4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48.gif"/><Relationship Id="rId15" Type="http://schemas.openxmlformats.org/officeDocument/2006/relationships/image" Target="../media/image170.png"/><Relationship Id="rId10" Type="http://schemas.openxmlformats.org/officeDocument/2006/relationships/image" Target="../media/image131.png"/><Relationship Id="rId4" Type="http://schemas.openxmlformats.org/officeDocument/2006/relationships/image" Target="../media/image80.png"/><Relationship Id="rId9" Type="http://schemas.openxmlformats.org/officeDocument/2006/relationships/image" Target="../media/image120.png"/><Relationship Id="rId14" Type="http://schemas.openxmlformats.org/officeDocument/2006/relationships/image" Target="../media/image1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Nature of light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3391" y="933887"/>
                <a:ext cx="10323529" cy="5616624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altLang="zh-CN" dirty="0"/>
                  <a:t>The discovery of electromagnetic wave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CN" dirty="0"/>
                  <a:t>Spectra of thermal radiation</a:t>
                </a:r>
              </a:p>
              <a:p>
                <a:pPr lvl="1"/>
                <a:r>
                  <a:rPr lang="en-US" altLang="zh-CN" dirty="0"/>
                  <a:t>Spectra of thermal radiation and characteristic spectral lines</a:t>
                </a:r>
              </a:p>
              <a:p>
                <a:pPr lvl="1"/>
                <a:r>
                  <a:rPr lang="en-US" altLang="zh-CN" dirty="0"/>
                  <a:t>Kirchhoff's law of thermal radiation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CN" dirty="0"/>
                  <a:t>Black body radiation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the statistical properties of light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1"/>
                <a:r>
                  <a:rPr lang="en-US" altLang="zh-CN"/>
                  <a:t>1900 Planck </a:t>
                </a:r>
                <a:r>
                  <a:rPr lang="en-US" altLang="zh-CN" dirty="0"/>
                  <a:t>formula and its interpretation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CN" dirty="0"/>
                  <a:t>Particle theory coming back</a:t>
                </a:r>
              </a:p>
              <a:p>
                <a:pPr lvl="1"/>
                <a:r>
                  <a:rPr lang="en-US" altLang="zh-CN" dirty="0"/>
                  <a:t>1905 Einstein’s theory of photo-electric effect, photon energy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1923 Compton scattering, photon momentum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altLang="zh-CN" b="0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3391" y="933887"/>
                <a:ext cx="10323529" cy="5616624"/>
              </a:xfrm>
              <a:blipFill>
                <a:blip r:embed="rId3"/>
                <a:stretch>
                  <a:fillRect l="-1240" t="-11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85590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filter="image" prLst="opacity: 0.2">
                                      <p:cBhvr rctx="IE">
                                        <p:cTn id="7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1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filter="image" prLst="opacity: 0.2">
                                      <p:cBhvr rctx="IE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4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filter="image" prLst="opacity: 0.2">
                                      <p:cBhvr rctx="IE">
                                        <p:cTn id="15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7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filter="image" prLst="opacity: 0.2">
                                      <p:cBhvr rctx="IE">
                                        <p:cTn id="18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0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filter="image" prLst="opacity: 0.2">
                                      <p:cBhvr rctx="IE">
                                        <p:cTn id="21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3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filter="image" prLst="opacity: 0.2">
                                      <p:cBhvr rctx="IE">
                                        <p:cTn id="24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8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filter="image" prLst="opacity: 0.2">
                                      <p:cBhvr rctx="IE">
                                        <p:cTn id="29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1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filter="image" prLst="opacity: 0.2">
                                      <p:cBhvr rctx="IE">
                                        <p:cTn id="32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4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"/>
                                      </p:to>
                                    </p:set>
                                    <p:animEffect filter="image" prLst="opacity: 0.2">
                                      <p:cBhvr rctx="IE">
                                        <p:cTn id="35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334" y="146752"/>
            <a:ext cx="8070980" cy="551589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establishment of the wave theory of light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5148" y="812288"/>
            <a:ext cx="9734058" cy="5857070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dirty="0"/>
              <a:t>1670s: earlier debate</a:t>
            </a:r>
          </a:p>
          <a:p>
            <a:pPr lvl="1">
              <a:lnSpc>
                <a:spcPct val="110000"/>
              </a:lnSpc>
            </a:pPr>
            <a:r>
              <a:rPr lang="en-US" altLang="zh-CN" dirty="0"/>
              <a:t>Huygens, Hooke</a:t>
            </a:r>
            <a:r>
              <a:rPr lang="zh-CN" altLang="en-US" dirty="0"/>
              <a:t>：</a:t>
            </a:r>
            <a:r>
              <a:rPr lang="en-US" altLang="zh-CN" dirty="0"/>
              <a:t>Wave in ether</a:t>
            </a:r>
          </a:p>
          <a:p>
            <a:pPr lvl="1">
              <a:lnSpc>
                <a:spcPct val="110000"/>
              </a:lnSpc>
            </a:pPr>
            <a:r>
              <a:rPr lang="en-US" altLang="zh-CN" dirty="0"/>
              <a:t>Newton:</a:t>
            </a:r>
            <a:r>
              <a:rPr lang="zh-CN" altLang="en-US" dirty="0"/>
              <a:t>  </a:t>
            </a:r>
            <a:r>
              <a:rPr lang="en-US" altLang="zh-CN" dirty="0"/>
              <a:t>corpuscles </a:t>
            </a:r>
          </a:p>
          <a:p>
            <a:pPr lvl="1">
              <a:lnSpc>
                <a:spcPct val="110000"/>
              </a:lnSpc>
            </a:pPr>
            <a:endParaRPr lang="en-US" altLang="zh-CN" dirty="0"/>
          </a:p>
          <a:p>
            <a:pPr>
              <a:lnSpc>
                <a:spcPct val="110000"/>
              </a:lnSpc>
            </a:pPr>
            <a:r>
              <a:rPr lang="en-US" altLang="zh-CN" dirty="0"/>
              <a:t>The triumph of wave theory</a:t>
            </a:r>
          </a:p>
          <a:p>
            <a:pPr lvl="1">
              <a:lnSpc>
                <a:spcPct val="110000"/>
              </a:lnSpc>
            </a:pPr>
            <a:r>
              <a:rPr lang="en-US" altLang="zh-CN" dirty="0"/>
              <a:t>Young’s double slit</a:t>
            </a:r>
            <a:r>
              <a:rPr lang="zh-CN" altLang="en-US" dirty="0"/>
              <a:t> （</a:t>
            </a:r>
            <a:r>
              <a:rPr lang="en-US" altLang="zh-CN" dirty="0"/>
              <a:t>1801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en-US" altLang="zh-CN" dirty="0"/>
              <a:t>Fresnel’s explanation of refraction</a:t>
            </a:r>
            <a:r>
              <a:rPr lang="zh-CN" altLang="en-US" dirty="0"/>
              <a:t>（</a:t>
            </a:r>
            <a:r>
              <a:rPr lang="en-US" altLang="zh-CN" dirty="0"/>
              <a:t>1815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en-US" altLang="zh-CN" dirty="0"/>
              <a:t>1860s  Maxwell’s equations predicted EM waves and light</a:t>
            </a:r>
          </a:p>
          <a:p>
            <a:pPr lvl="1">
              <a:lnSpc>
                <a:spcPct val="110000"/>
              </a:lnSpc>
            </a:pPr>
            <a:r>
              <a:rPr lang="en-US" altLang="zh-CN" dirty="0"/>
              <a:t>1887 Hertz’s experimental demonstration of EM waves</a:t>
            </a:r>
          </a:p>
          <a:p>
            <a:pPr lvl="1">
              <a:lnSpc>
                <a:spcPct val="110000"/>
              </a:lnSpc>
            </a:pPr>
            <a:r>
              <a:rPr lang="en-US" altLang="zh-CN" dirty="0"/>
              <a:t>Lorentz oscillator model</a:t>
            </a:r>
            <a:endParaRPr lang="zh-CN" alt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794" y="3037314"/>
            <a:ext cx="3556322" cy="2002766"/>
          </a:xfrm>
          <a:prstGeom prst="rect">
            <a:avLst/>
          </a:prstGeom>
        </p:spPr>
      </p:pic>
      <p:grpSp>
        <p:nvGrpSpPr>
          <p:cNvPr id="5" name="Group 4"/>
          <p:cNvGrpSpPr>
            <a:grpSpLocks noChangeAspect="1"/>
          </p:cNvGrpSpPr>
          <p:nvPr/>
        </p:nvGrpSpPr>
        <p:grpSpPr>
          <a:xfrm>
            <a:off x="6962289" y="783323"/>
            <a:ext cx="3495333" cy="1939538"/>
            <a:chOff x="5144404" y="792496"/>
            <a:chExt cx="2570915" cy="1259224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44404" y="792496"/>
              <a:ext cx="2570915" cy="1259224"/>
            </a:xfrm>
            <a:prstGeom prst="rect">
              <a:avLst/>
            </a:prstGeom>
          </p:spPr>
        </p:pic>
        <p:cxnSp>
          <p:nvCxnSpPr>
            <p:cNvPr id="6" name="Straight Arrow Connector 5"/>
            <p:cNvCxnSpPr/>
            <p:nvPr/>
          </p:nvCxnSpPr>
          <p:spPr>
            <a:xfrm flipH="1" flipV="1">
              <a:off x="5962261" y="811158"/>
              <a:ext cx="1369" cy="541355"/>
            </a:xfrm>
            <a:prstGeom prst="straightConnector1">
              <a:avLst/>
            </a:prstGeom>
            <a:ln cap="rnd" cmpd="dbl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AutoShape 2" descr="{\begin{aligned}{\frac {1}{c^{2}}}{\frac {\partial ^{2}\mathbf {E} }{\partial t^{2}}}-\nabla ^{2}\mathbf {E} =0\\{\frac {1}{c^{2}}}{\frac {\partial ^{2}\mathbf {B} }{\partial t^{2}}}-\nabla ^{2}\mathbf {B} =0\end{aligned}}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6032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B0B2E7C-0662-6477-79A1-2200B6E74AD1}"/>
              </a:ext>
            </a:extLst>
          </p:cNvPr>
          <p:cNvSpPr txBox="1"/>
          <p:nvPr/>
        </p:nvSpPr>
        <p:spPr>
          <a:xfrm>
            <a:off x="9865718" y="2708676"/>
            <a:ext cx="2008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Christiaan Huygens 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42A8096-BBBC-48FE-A695-614D8EC18B45}"/>
              </a:ext>
            </a:extLst>
          </p:cNvPr>
          <p:cNvSpPr txBox="1">
            <a:spLocks/>
          </p:cNvSpPr>
          <p:nvPr/>
        </p:nvSpPr>
        <p:spPr>
          <a:xfrm>
            <a:off x="520262" y="922283"/>
            <a:ext cx="9517356" cy="563245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0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point on a wavefront acts as a source of secondary spherical wavelets that spread out in the forward direction at the same speed as the wave itself.</a:t>
            </a:r>
          </a:p>
          <a:p>
            <a:pPr marL="342900" lvl="1" indent="-342900">
              <a:lnSpc>
                <a:spcPct val="10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new wavefront is the tangent surface to all these secondary wavelets at a later time.</a:t>
            </a:r>
          </a:p>
          <a:p>
            <a:pPr marL="342900" lvl="1" indent="-342900">
              <a:lnSpc>
                <a:spcPct val="10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slows down in denser medium (e.g., glass or water) .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D9B744-7F23-451F-9E14-D6A619018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7042" y="2420408"/>
            <a:ext cx="4551218" cy="36409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2D6C1D-9946-423E-A400-4C7DAEC35205}"/>
              </a:ext>
            </a:extLst>
          </p:cNvPr>
          <p:cNvSpPr txBox="1"/>
          <p:nvPr/>
        </p:nvSpPr>
        <p:spPr>
          <a:xfrm>
            <a:off x="1220549" y="189746"/>
            <a:ext cx="82715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Huygens’s principle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F91BD6-D4BE-478D-9D73-5E7374406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47" y="3046180"/>
            <a:ext cx="3759904" cy="2630412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CC4DC103-B05A-4E55-BCCD-713E31ACC6A7}"/>
              </a:ext>
            </a:extLst>
          </p:cNvPr>
          <p:cNvGrpSpPr/>
          <p:nvPr/>
        </p:nvGrpSpPr>
        <p:grpSpPr>
          <a:xfrm>
            <a:off x="780878" y="2661118"/>
            <a:ext cx="2593831" cy="3893622"/>
            <a:chOff x="715674" y="2645803"/>
            <a:chExt cx="2593831" cy="389362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4D20275-E297-446A-81CA-6B8584A0E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3064" y="2645803"/>
              <a:ext cx="2520071" cy="3493512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F1337AF-3FBC-4ACC-B1ED-515DED29C7BB}"/>
                </a:ext>
              </a:extLst>
            </p:cNvPr>
            <p:cNvSpPr txBox="1"/>
            <p:nvPr/>
          </p:nvSpPr>
          <p:spPr>
            <a:xfrm>
              <a:off x="715674" y="6139315"/>
              <a:ext cx="259383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0" dirty="0">
                  <a:solidFill>
                    <a:srgbClr val="202122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Treatise on light (1690)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BAB715E8-5F5A-4B87-84DB-E7D96B1BE1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0999" y="866069"/>
            <a:ext cx="1434981" cy="179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455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810EA-F634-482C-96F2-0CBD0DE71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Newton’s corpuscle theory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A561B97-B3B5-403B-AD20-2F14B05BE982}"/>
              </a:ext>
            </a:extLst>
          </p:cNvPr>
          <p:cNvGrpSpPr/>
          <p:nvPr/>
        </p:nvGrpSpPr>
        <p:grpSpPr>
          <a:xfrm>
            <a:off x="222971" y="3054565"/>
            <a:ext cx="2194247" cy="3571287"/>
            <a:chOff x="1290557" y="1569468"/>
            <a:chExt cx="2933389" cy="4670796"/>
          </a:xfrm>
        </p:grpSpPr>
        <p:pic>
          <p:nvPicPr>
            <p:cNvPr id="24580" name="Picture 4" descr="Newton's Opticks with colour Spectrum - Stock Image - C008/9526 ...">
              <a:extLst>
                <a:ext uri="{FF2B5EF4-FFF2-40B4-BE49-F238E27FC236}">
                  <a16:creationId xmlns:a16="http://schemas.microsoft.com/office/drawing/2014/main" id="{6B64A078-C107-48CE-BB4A-33F0531B1A8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24" r="7888" b="5125"/>
            <a:stretch/>
          </p:blipFill>
          <p:spPr bwMode="auto">
            <a:xfrm>
              <a:off x="1290557" y="1569468"/>
              <a:ext cx="2933389" cy="41635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9E32DFB-F9CD-4B92-A15F-469050E303BF}"/>
                </a:ext>
              </a:extLst>
            </p:cNvPr>
            <p:cNvSpPr txBox="1"/>
            <p:nvPr/>
          </p:nvSpPr>
          <p:spPr>
            <a:xfrm>
              <a:off x="1651295" y="5757224"/>
              <a:ext cx="2211915" cy="483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Opticks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(1704)</a:t>
              </a:r>
              <a:endParaRPr lang="en-US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672011D-1A05-403C-B8A3-4FFAAEA08D75}"/>
              </a:ext>
            </a:extLst>
          </p:cNvPr>
          <p:cNvGrpSpPr/>
          <p:nvPr/>
        </p:nvGrpSpPr>
        <p:grpSpPr>
          <a:xfrm>
            <a:off x="527133" y="818419"/>
            <a:ext cx="1585924" cy="2126845"/>
            <a:chOff x="487170" y="799933"/>
            <a:chExt cx="1585924" cy="212684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26387C7-B537-4891-A9DE-3BA2CACD4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7170" y="799933"/>
              <a:ext cx="1585924" cy="1785951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D591B7E-6A8B-4944-9E45-59E67B1BA406}"/>
                </a:ext>
              </a:extLst>
            </p:cNvPr>
            <p:cNvSpPr txBox="1"/>
            <p:nvPr/>
          </p:nvSpPr>
          <p:spPr>
            <a:xfrm>
              <a:off x="562822" y="2557446"/>
              <a:ext cx="14346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Isaac Newton </a:t>
              </a:r>
              <a:endParaRPr lang="zh-CN" altLang="en-US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AD42138-5B11-4EDB-88A8-5B6A31A2E99F}"/>
              </a:ext>
            </a:extLst>
          </p:cNvPr>
          <p:cNvSpPr txBox="1"/>
          <p:nvPr/>
        </p:nvSpPr>
        <p:spPr>
          <a:xfrm>
            <a:off x="2419597" y="799933"/>
            <a:ext cx="9169618" cy="1823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defTabSz="9144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comprises tiny particles called ‘corpuscles’ having negligible mass.</a:t>
            </a:r>
          </a:p>
          <a:p>
            <a:pPr marL="342900" lvl="1" indent="-342900" defTabSz="9144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corpuscles are perfectly elastic</a:t>
            </a:r>
          </a:p>
          <a:p>
            <a:pPr marL="342900" lvl="1" indent="-342900" defTabSz="9144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corpuscles travel faster in denser media than in less dense media</a:t>
            </a:r>
          </a:p>
          <a:p>
            <a:pPr marL="342900" lvl="1" indent="-342900" defTabSz="9144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light corpuscles enter a denser medium, they experience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attractive force perpendicular to the surface of the medium</a:t>
            </a:r>
            <a:endParaRPr lang="zh-CN" altLang="en-US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363777-2018-4179-ADBC-7BF360E71F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8968" y="2737251"/>
            <a:ext cx="3626906" cy="36269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79064C8-9D35-413D-9082-BBB04823EF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0232" y="2715253"/>
            <a:ext cx="4076079" cy="367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252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6C379A5-5528-4FC5-ACA2-5BB53CD001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264" y="1731382"/>
            <a:ext cx="7653407" cy="4947556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745184D-1B46-4B20-A67F-A82F7BA6B17E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8385464" y="5323937"/>
            <a:ext cx="64423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7C12A18-60B7-4B28-BD36-7400BF815EBF}"/>
              </a:ext>
            </a:extLst>
          </p:cNvPr>
          <p:cNvCxnSpPr>
            <a:cxnSpLocks/>
          </p:cNvCxnSpPr>
          <p:nvPr/>
        </p:nvCxnSpPr>
        <p:spPr>
          <a:xfrm>
            <a:off x="8385464" y="2530669"/>
            <a:ext cx="6207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416884F-E4F0-4D73-A7AC-0BEFF3BACC50}"/>
              </a:ext>
            </a:extLst>
          </p:cNvPr>
          <p:cNvSpPr/>
          <p:nvPr/>
        </p:nvSpPr>
        <p:spPr>
          <a:xfrm>
            <a:off x="3030395" y="162256"/>
            <a:ext cx="73790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托马斯</a:t>
            </a:r>
            <a:r>
              <a:rPr lang="en-US" altLang="zh-CN" sz="3600" dirty="0">
                <a:solidFill>
                  <a:schemeClr val="bg1"/>
                </a:solidFill>
              </a:rPr>
              <a:t>·</a:t>
            </a:r>
            <a:r>
              <a:rPr lang="zh-CN" altLang="en-US" sz="3600" dirty="0">
                <a:solidFill>
                  <a:schemeClr val="bg1"/>
                </a:solidFill>
              </a:rPr>
              <a:t>杨  双缝干涉 （</a:t>
            </a:r>
            <a:r>
              <a:rPr lang="en-US" altLang="zh-CN" sz="3600" dirty="0">
                <a:solidFill>
                  <a:schemeClr val="bg1"/>
                </a:solidFill>
              </a:rPr>
              <a:t>1801</a:t>
            </a:r>
            <a:r>
              <a:rPr lang="zh-CN" altLang="en-US" sz="3600" dirty="0">
                <a:solidFill>
                  <a:schemeClr val="bg1"/>
                </a:solidFill>
              </a:rPr>
              <a:t>） 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B82C2C9-6FF4-44B9-BA87-886D30B944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806" y="3630779"/>
            <a:ext cx="422392" cy="70940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E334CCE-1B09-4C26-BCC7-77809AF39453}"/>
              </a:ext>
            </a:extLst>
          </p:cNvPr>
          <p:cNvSpPr/>
          <p:nvPr/>
        </p:nvSpPr>
        <p:spPr>
          <a:xfrm>
            <a:off x="1738324" y="162633"/>
            <a:ext cx="97778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Young’s double slit interference experiment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(1801)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8F1280E-B1FD-4F0A-9292-523CB8C4F950}"/>
              </a:ext>
            </a:extLst>
          </p:cNvPr>
          <p:cNvGrpSpPr/>
          <p:nvPr/>
        </p:nvGrpSpPr>
        <p:grpSpPr>
          <a:xfrm>
            <a:off x="4239491" y="2130642"/>
            <a:ext cx="3614025" cy="3473579"/>
            <a:chOff x="4166711" y="1836175"/>
            <a:chExt cx="3686805" cy="347357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D1D0756-B515-45C2-988B-91909027F4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66711" y="1836175"/>
              <a:ext cx="3686805" cy="347357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16BE832-9053-4080-B209-BEA822277B1D}"/>
                    </a:ext>
                  </a:extLst>
                </p:cNvPr>
                <p:cNvSpPr txBox="1"/>
                <p:nvPr/>
              </p:nvSpPr>
              <p:spPr>
                <a:xfrm>
                  <a:off x="4441339" y="4476401"/>
                  <a:ext cx="623439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𝐿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  </m:t>
                        </m:r>
                      </m:oMath>
                    </m:oMathPara>
                  </a14:m>
                  <a:endParaRPr lang="en-US" sz="2400" dirty="0"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16BE832-9053-4080-B209-BEA822277B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1339" y="4476401"/>
                  <a:ext cx="623439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13000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335036F-53A1-4136-A2C7-94092E495B87}"/>
              </a:ext>
            </a:extLst>
          </p:cNvPr>
          <p:cNvGrpSpPr/>
          <p:nvPr/>
        </p:nvGrpSpPr>
        <p:grpSpPr>
          <a:xfrm>
            <a:off x="9029699" y="1079176"/>
            <a:ext cx="2486471" cy="2667502"/>
            <a:chOff x="9029699" y="784709"/>
            <a:chExt cx="2486471" cy="266750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A5D8817-6EE0-4F37-A8E5-773D39294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029699" y="1446211"/>
              <a:ext cx="2486471" cy="2006000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943ACFB-B846-462D-8F99-2B957AC1A5CB}"/>
                    </a:ext>
                  </a:extLst>
                </p:cNvPr>
                <p:cNvSpPr txBox="1"/>
                <p:nvPr/>
              </p:nvSpPr>
              <p:spPr>
                <a:xfrm>
                  <a:off x="9094569" y="784709"/>
                  <a:ext cx="2023704" cy="6280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+1</m:t>
                            </m:r>
                          </m:e>
                        </m:d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𝜆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dirty="0"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943ACFB-B846-462D-8F99-2B957AC1A5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94569" y="784709"/>
                  <a:ext cx="2023704" cy="62805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7396385-2E85-48C4-801F-BCDFB25F7302}"/>
              </a:ext>
            </a:extLst>
          </p:cNvPr>
          <p:cNvGrpSpPr/>
          <p:nvPr/>
        </p:nvGrpSpPr>
        <p:grpSpPr>
          <a:xfrm>
            <a:off x="9029699" y="3949230"/>
            <a:ext cx="2486471" cy="2377707"/>
            <a:chOff x="9029699" y="3654763"/>
            <a:chExt cx="2486471" cy="237770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E33C95F-865B-49F5-983B-3B0412D74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029699" y="4026470"/>
              <a:ext cx="2486471" cy="2006000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F4D9664-0A96-4399-BCA7-8911196818A7}"/>
                    </a:ext>
                  </a:extLst>
                </p:cNvPr>
                <p:cNvSpPr txBox="1"/>
                <p:nvPr/>
              </p:nvSpPr>
              <p:spPr>
                <a:xfrm>
                  <a:off x="9231204" y="3654763"/>
                  <a:ext cx="202370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Δ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𝐿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𝜆</m:t>
                        </m:r>
                      </m:oMath>
                    </m:oMathPara>
                  </a14:m>
                  <a:endParaRPr lang="en-US" dirty="0"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F4D9664-0A96-4399-BCA7-8911196818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31204" y="3654763"/>
                  <a:ext cx="2023704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BF9D543-36A2-415F-A033-2AE6EC3D6366}"/>
              </a:ext>
            </a:extLst>
          </p:cNvPr>
          <p:cNvGrpSpPr/>
          <p:nvPr/>
        </p:nvGrpSpPr>
        <p:grpSpPr>
          <a:xfrm>
            <a:off x="106582" y="788364"/>
            <a:ext cx="1588632" cy="1925580"/>
            <a:chOff x="30942" y="744884"/>
            <a:chExt cx="1588632" cy="1925580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4A746738-8F4D-4C74-8791-039A14A58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05294" y="744884"/>
              <a:ext cx="1240487" cy="1556248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9527095-3BA5-460B-9043-B0244013C095}"/>
                </a:ext>
              </a:extLst>
            </p:cNvPr>
            <p:cNvSpPr txBox="1"/>
            <p:nvPr/>
          </p:nvSpPr>
          <p:spPr>
            <a:xfrm>
              <a:off x="30942" y="2301132"/>
              <a:ext cx="158863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Thomas Young </a:t>
              </a:r>
              <a:endParaRPr lang="zh-CN" altLang="en-US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CAA758EE-50ED-4B9D-91C4-6CA92BC979CD}"/>
              </a:ext>
            </a:extLst>
          </p:cNvPr>
          <p:cNvSpPr txBox="1"/>
          <p:nvPr/>
        </p:nvSpPr>
        <p:spPr>
          <a:xfrm>
            <a:off x="1695214" y="785829"/>
            <a:ext cx="71013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defTabSz="914400">
              <a:spcBef>
                <a:spcPts val="50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Young’s principle of interference: when two or more waves overlap, their displacements add together (superposition principle).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33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548C46-868F-48CE-BD78-9FFE61DAA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314" y="3031968"/>
            <a:ext cx="6442983" cy="36914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D3CE0E-C00A-48FA-BA89-DB8EEB751B37}"/>
              </a:ext>
            </a:extLst>
          </p:cNvPr>
          <p:cNvSpPr txBox="1"/>
          <p:nvPr/>
        </p:nvSpPr>
        <p:spPr>
          <a:xfrm>
            <a:off x="2031426" y="828114"/>
            <a:ext cx="962717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Combing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Huygens' principle,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Young’s principle of interference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transverse polarizations hypothesis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Fresnel laid the foundation of the wave theory of light.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 paper on the study of diffractions using the wave theory won the 1st prize in the 1818 optics competition held by the French Academy of Sciences.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Poisson derived an absurd result from Fresnel’s theory, indicating it might be wrong.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F6BA800-593E-40E2-A463-4E0A73C225E9}"/>
              </a:ext>
            </a:extLst>
          </p:cNvPr>
          <p:cNvGrpSpPr/>
          <p:nvPr/>
        </p:nvGrpSpPr>
        <p:grpSpPr>
          <a:xfrm>
            <a:off x="7390272" y="3202433"/>
            <a:ext cx="3677419" cy="3457160"/>
            <a:chOff x="7514960" y="2803530"/>
            <a:chExt cx="3878565" cy="359422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845CD58-57DD-4BBC-922E-10F0CDFF86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14960" y="2803530"/>
              <a:ext cx="3878565" cy="319411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C0C87A1-7398-4E6A-817C-C6E11AEDA055}"/>
                </a:ext>
              </a:extLst>
            </p:cNvPr>
            <p:cNvSpPr txBox="1"/>
            <p:nvPr/>
          </p:nvSpPr>
          <p:spPr>
            <a:xfrm>
              <a:off x="8335057" y="5997642"/>
              <a:ext cx="22383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Arago’s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verification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E683627B-0D26-4BA0-8301-0A628FAAB358}"/>
              </a:ext>
            </a:extLst>
          </p:cNvPr>
          <p:cNvSpPr txBox="1">
            <a:spLocks/>
          </p:cNvSpPr>
          <p:nvPr/>
        </p:nvSpPr>
        <p:spPr>
          <a:xfrm>
            <a:off x="1475775" y="88539"/>
            <a:ext cx="6820137" cy="678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000" b="0" kern="1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Fresnel’s wave theory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1815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0D54CF-6352-485F-9DB4-F6AB7A9059FD}"/>
              </a:ext>
            </a:extLst>
          </p:cNvPr>
          <p:cNvSpPr txBox="1"/>
          <p:nvPr/>
        </p:nvSpPr>
        <p:spPr>
          <a:xfrm>
            <a:off x="4394832" y="2681233"/>
            <a:ext cx="32419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Poisson spot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Arago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spot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1D0D42-901B-461C-9F1D-16FB5372BD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314" y="876404"/>
            <a:ext cx="1526609" cy="1874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50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56642B1-00D7-43C1-B84D-8271E2DF7C1B}"/>
              </a:ext>
            </a:extLst>
          </p:cNvPr>
          <p:cNvGrpSpPr/>
          <p:nvPr/>
        </p:nvGrpSpPr>
        <p:grpSpPr>
          <a:xfrm>
            <a:off x="6774876" y="740101"/>
            <a:ext cx="4695751" cy="4185190"/>
            <a:chOff x="6408420" y="1324173"/>
            <a:chExt cx="4444213" cy="427340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6AB2392-7CE5-46B5-B585-2E1F79988F86}"/>
                </a:ext>
              </a:extLst>
            </p:cNvPr>
            <p:cNvGrpSpPr/>
            <p:nvPr/>
          </p:nvGrpSpPr>
          <p:grpSpPr>
            <a:xfrm>
              <a:off x="6408420" y="1741321"/>
              <a:ext cx="4444213" cy="3856257"/>
              <a:chOff x="753751" y="1926080"/>
              <a:chExt cx="4444213" cy="3856257"/>
            </a:xfrm>
          </p:grpSpPr>
          <p:pic>
            <p:nvPicPr>
              <p:cNvPr id="8" name="Picture 6" descr="https://upload.wikimedia.org/wikipedia/commons/4/4c/Electromagneticwave3D.gif">
                <a:extLst>
                  <a:ext uri="{FF2B5EF4-FFF2-40B4-BE49-F238E27FC236}">
                    <a16:creationId xmlns:a16="http://schemas.microsoft.com/office/drawing/2014/main" id="{C67EBD2A-F1CA-4FDB-AE20-ACE542568CDE}"/>
                  </a:ext>
                </a:extLst>
              </p:cNvPr>
              <p:cNvPicPr>
                <a:picLocks noChangeAspect="1" noChangeArrowheads="1" noCrop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3751" y="1926080"/>
                <a:ext cx="4444213" cy="385625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404631F-D881-481A-9DDB-912E8E92C165}"/>
                  </a:ext>
                </a:extLst>
              </p:cNvPr>
              <p:cNvSpPr txBox="1"/>
              <p:nvPr/>
            </p:nvSpPr>
            <p:spPr>
              <a:xfrm>
                <a:off x="753751" y="5269770"/>
                <a:ext cx="3348620" cy="3771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E: electric field,  </a:t>
                </a:r>
                <a:r>
                  <a:rPr lang="en-US" altLang="zh-CN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B: magnetic field</a:t>
                </a:r>
                <a:endParaRPr lang="en-US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C10D319-776B-4B92-A060-648789089CF8}"/>
                </a:ext>
              </a:extLst>
            </p:cNvPr>
            <p:cNvSpPr txBox="1"/>
            <p:nvPr/>
          </p:nvSpPr>
          <p:spPr>
            <a:xfrm>
              <a:off x="6472574" y="1324173"/>
              <a:ext cx="4172181" cy="3456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solution of Maxwell’s equations:</a:t>
              </a:r>
              <a:r>
                <a:rPr lang="zh-CN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EM</a:t>
              </a:r>
              <a:r>
                <a:rPr lang="zh-CN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Waves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306A54D-6ECF-4912-85DF-468021B2533E}"/>
              </a:ext>
            </a:extLst>
          </p:cNvPr>
          <p:cNvGrpSpPr/>
          <p:nvPr/>
        </p:nvGrpSpPr>
        <p:grpSpPr>
          <a:xfrm>
            <a:off x="461411" y="853596"/>
            <a:ext cx="5160461" cy="2846602"/>
            <a:chOff x="291139" y="1321197"/>
            <a:chExt cx="5160461" cy="284660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3D330DC-9957-41F4-B855-019C5255A160}"/>
                </a:ext>
              </a:extLst>
            </p:cNvPr>
            <p:cNvGrpSpPr/>
            <p:nvPr/>
          </p:nvGrpSpPr>
          <p:grpSpPr>
            <a:xfrm>
              <a:off x="291139" y="1403342"/>
              <a:ext cx="2198038" cy="2732522"/>
              <a:chOff x="253039" y="1434396"/>
              <a:chExt cx="2198038" cy="2732522"/>
            </a:xfrm>
          </p:grpSpPr>
          <p:pic>
            <p:nvPicPr>
              <p:cNvPr id="2050" name="Picture 2" descr="» Científic@s » Maxwell.">
                <a:extLst>
                  <a:ext uri="{FF2B5EF4-FFF2-40B4-BE49-F238E27FC236}">
                    <a16:creationId xmlns:a16="http://schemas.microsoft.com/office/drawing/2014/main" id="{C573633B-12AA-4EFA-ACB3-73DAB5E449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6697" y="1434396"/>
                <a:ext cx="1843087" cy="22980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D10AFE-6A7D-4FA1-81D1-E71F3073D002}"/>
                  </a:ext>
                </a:extLst>
              </p:cNvPr>
              <p:cNvSpPr txBox="1"/>
              <p:nvPr/>
            </p:nvSpPr>
            <p:spPr>
              <a:xfrm>
                <a:off x="253039" y="3797586"/>
                <a:ext cx="21980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James Clerk Maxwell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8845636-73D9-48B1-A42E-4A708DB2C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40469" y="1321197"/>
              <a:ext cx="2811131" cy="2846602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84F512B-B7BD-4D52-AEB0-EB66AB08D8BA}"/>
              </a:ext>
            </a:extLst>
          </p:cNvPr>
          <p:cNvGrpSpPr/>
          <p:nvPr/>
        </p:nvGrpSpPr>
        <p:grpSpPr>
          <a:xfrm>
            <a:off x="925603" y="3878457"/>
            <a:ext cx="4623856" cy="1304386"/>
            <a:chOff x="925603" y="3895709"/>
            <a:chExt cx="4623856" cy="130438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9C635B4-1486-47D1-9C69-6879607C3C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25603" y="3895709"/>
              <a:ext cx="2073514" cy="130438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F7E7119-9D7D-40E2-8FAD-23B9D223B7BE}"/>
                    </a:ext>
                  </a:extLst>
                </p:cNvPr>
                <p:cNvSpPr txBox="1"/>
                <p:nvPr/>
              </p:nvSpPr>
              <p:spPr>
                <a:xfrm>
                  <a:off x="3194317" y="4109043"/>
                  <a:ext cx="2355142" cy="4011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𝑐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type m:val="lin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</m:oMath>
                    </m:oMathPara>
                  </a14:m>
                  <a:endParaRPr lang="en-US" altLang="zh-CN" sz="20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F7E7119-9D7D-40E2-8FAD-23B9D223B7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4317" y="4109043"/>
                  <a:ext cx="2355142" cy="401135"/>
                </a:xfrm>
                <a:prstGeom prst="rect">
                  <a:avLst/>
                </a:prstGeom>
                <a:blipFill>
                  <a:blip r:embed="rId7"/>
                  <a:stretch>
                    <a:fillRect t="-115152" b="-17878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7C39DFE-3F2C-49BE-9A9E-02309DDB163B}"/>
                  </a:ext>
                </a:extLst>
              </p:cNvPr>
              <p:cNvSpPr txBox="1"/>
              <p:nvPr/>
            </p:nvSpPr>
            <p:spPr>
              <a:xfrm>
                <a:off x="1259457" y="5285656"/>
                <a:ext cx="10923917" cy="13322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The plane wave solution: 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𝐄</m:t>
                    </m:r>
                    <m:d>
                      <m:d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𝐫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𝐄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</m:sub>
                    </m:sSub>
                    <m:func>
                      <m:func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 i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𝐤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⋅</m:t>
                            </m:r>
                            <m:r>
                              <a:rPr lang="en-US" altLang="zh-CN" sz="2000" b="1" i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𝐫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𝜔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endParaRPr lang="en-US" altLang="zh-CN" sz="2000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𝐁</m:t>
                      </m:r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𝐫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 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𝐁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𝐤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⋅</m:t>
                              </m:r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𝐫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𝜔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   </m:t>
                      </m:r>
                      <m:r>
                        <a:rPr lang="en-US" altLang="zh-CN" sz="2000" b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𝐁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⊥</m:t>
                      </m:r>
                      <m:r>
                        <a:rPr lang="en-US" altLang="zh-CN" sz="2000" b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𝐄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&amp; 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𝐵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/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𝑐</m:t>
                      </m:r>
                    </m:oMath>
                  </m:oMathPara>
                </a14:m>
                <a:endParaRPr lang="en-US" altLang="zh-CN" sz="20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wave vector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𝐤</m:t>
                        </m:r>
                      </m:e>
                    </m:d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200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2</m:t>
                    </m:r>
                    <m:r>
                      <a:rPr lang="en-US" altLang="zh-CN" sz="200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𝜋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/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𝜆</m:t>
                    </m:r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       angular frequency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𝜔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=2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𝜋𝜈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𝑐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𝐤</m:t>
                        </m:r>
                      </m:e>
                    </m:d>
                  </m:oMath>
                </a14:m>
                <a:endParaRPr lang="zh-CN" altLang="en-US" sz="20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7C39DFE-3F2C-49BE-9A9E-02309DDB1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457" y="5285656"/>
                <a:ext cx="10923917" cy="1332288"/>
              </a:xfrm>
              <a:prstGeom prst="rect">
                <a:avLst/>
              </a:prstGeom>
              <a:blipFill>
                <a:blip r:embed="rId8"/>
                <a:stretch>
                  <a:fillRect l="-1451" b="-105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itle 1">
            <a:extLst>
              <a:ext uri="{FF2B5EF4-FFF2-40B4-BE49-F238E27FC236}">
                <a16:creationId xmlns:a16="http://schemas.microsoft.com/office/drawing/2014/main" id="{5524ACEF-5880-4E6F-B1A9-BC6DB856E3AC}"/>
              </a:ext>
            </a:extLst>
          </p:cNvPr>
          <p:cNvSpPr txBox="1">
            <a:spLocks/>
          </p:cNvSpPr>
          <p:nvPr/>
        </p:nvSpPr>
        <p:spPr>
          <a:xfrm>
            <a:off x="461411" y="208563"/>
            <a:ext cx="11009216" cy="5515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000" b="0" kern="1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Maxwell’s equations and prediction of electromagnetic waves (1860s)</a:t>
            </a:r>
            <a:endParaRPr lang="zh-CN" alt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FC3B373-35B6-458F-B6AC-0909109BB970}"/>
                  </a:ext>
                </a:extLst>
              </p:cNvPr>
              <p:cNvSpPr txBox="1"/>
              <p:nvPr/>
            </p:nvSpPr>
            <p:spPr>
              <a:xfrm>
                <a:off x="3736425" y="4573705"/>
                <a:ext cx="181303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18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speed</m:t>
                      </m:r>
                      <m:r>
                        <a:rPr lang="en-US" altLang="zh-CN" sz="18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18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of</m:t>
                      </m:r>
                      <m:r>
                        <a:rPr lang="en-US" altLang="zh-CN" sz="18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18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light</m:t>
                      </m:r>
                    </m:oMath>
                  </m:oMathPara>
                </a14:m>
                <a:endParaRPr lang="zh-CN" altLang="en-US" sz="1800" dirty="0">
                  <a:solidFill>
                    <a:srgbClr val="C00000"/>
                  </a:solidFill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FC3B373-35B6-458F-B6AC-0909109BB9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425" y="4573705"/>
                <a:ext cx="1813034" cy="369332"/>
              </a:xfrm>
              <a:prstGeom prst="rect">
                <a:avLst/>
              </a:prstGeom>
              <a:blipFill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6079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AA182-18AF-43B4-BD8F-819FEF5F3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136" y="168300"/>
            <a:ext cx="9397833" cy="678929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Hertz’s discovery of the radio wave (1886)</a:t>
            </a:r>
            <a:endParaRPr lang="zh-CN" altLang="en-US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D8DF0-4811-4623-805D-92270861AD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439" b="6493"/>
          <a:stretch/>
        </p:blipFill>
        <p:spPr>
          <a:xfrm>
            <a:off x="7286358" y="966047"/>
            <a:ext cx="3490032" cy="54986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147482-3A67-4226-AD7F-D9CEB537A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399" y="2766272"/>
            <a:ext cx="5500256" cy="38203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21FDDD-DCD5-4D2B-AB3B-C7B17A90A8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5610" y="966047"/>
            <a:ext cx="4514850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42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613" y="209572"/>
            <a:ext cx="9348074" cy="551589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Lorentz oscillator model on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atom-light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8" descr="data:image/jpeg;base64,/9j/4AAQSkZJRgABAQAAAQABAAD/2wCEAAkGBg8QERAPEBANDw8QEg8QDhARDw8UEBAQFBAVFRQQEhYXGyYeFxkjGhYVHy8gJScpLSwsFh4xNTMrNSYrLCkBCQoKBQUFDQUFDSkYEhgpKSkpKSkpKSkpKSkpKSkpKSkpKSkpKSkpKSkpKSkpKSkpKSkpKSkpKSkpKSkpKSkpKf/AABEIAOEA4QMBIgACEQEDEQH/xAAbAAEAAgMBAQAAAAAAAAAAAAAAAgYBAwUEB//EAEwQAAIBAwEEBAkGCgYLAAAAAAABAgMEEQUGEiExE0FRcQciIzJSYZGSoRRTcoGxwRUkNEJigqKywtEzRHODw/AWQ0VVY2SVo9LT4f/EABQBAQAAAAAAAAAAAAAAAAAAAAD/xAAUEQEAAAAAAAAAAAAAAAAAAAAA/9oADAMBAAIRAxEAPwD7iAAAAAAAAAAAAAAAAAAAAAAAAAAAAAAAAAAAAAAAAAAAAAAAAARlNLi2kvWBIGn5bS+cp+/H+Y+W0vnKfvx/mBuBo+X0vnaXvx/mZhd03ynTfdKLA3A1Su6a5zprvlEj8tpfOU/fj/MDeDSryn85T9+JsjNPk0+5oCQGTGQMgZAAAAAAAAAAAAAAAAAAAAAAAOPtTPct5VctOjOlVXWniaTUk+DWG/g+o7BwtuZ7unXsvRoTlyb81Z5fUB56mzdR43b68ppN+LCFputdnjU28dzND2Srv/aupd3Raa/ttyx0/tw/gSQHMstDqw868r1vp0bJfuUkSudFqvzburT+jQs3+9TZ1oGJgV+ezlZ876s+vja6e/8ABIPZWo8p3lRp4ynaabh45Z8iWEAcKGzGM5rKWe20svupo2x2fx+dSffaW33RR2AByJ7OJr+rfXZ0/uaNX+jjjwi7VLjj8RpNL1edksBrYFfezlWXDpbPdw+H4Phz71U5HmWzsqcG5ytZY4vobToU8c0m5zcc9uS0w+45+s1N2jVl2Rk/gBLZxp29KSlvxqKVWD6lCcnKMI+pJpLuOmczZr8ktf7Cl2eguw6YAAAAAAAAAAAAAAAAAAACv+ECGdL1Jf8AJ3T9lGT+4sBzNqKe9ZXsfStble2jJAb7WWYwfbGD9sUbUeLRJ71vbS7aNB8886cT3AbIGJimZmBAGTAAAyBM1s2GtgILmcjaWeLW4fZSqv2Qb+47C6yvbafkVyvSpVor66clw9oHV2epONrbxfNUqa/ZR0Dz6f8A0VL+zh+6j0AAAAAAAAAAAAAAAAAAAAPJq1PeoV4rnKlVivrg0eshWjmMl2pr4AcLY6sp2FlNPKlb0Gn2rcR2jgbD01HT7OCeVTo06a/Uio/cd8CdMzIxAzMCJgyAMAGQJmtmxmsAusrm20vxWa9Jwh71SMfvLH1MrO2b8nTXpVaUcd9WD+4C0UI4jFLqil8CZiKMgAAAAAAAAAAAAAAAAAAAAAFZ2Lf4pTXY6i/7kiwFd2MfkJR9GvcR92rJP4pliAnAzMxAzMCAMmABlGDKAma2bGawHUyp7ZVsTs4+nc28Vz4tzb4Y9UWWx8io7Tx3rvT44yvllBvrxu0q0sr2oC5GTCMgAAAAAAAAAAAAAAAAAAAADAqGxEXGN3CSxKN7qDx6pX1eSfuuL+stK6ir7N1GrnUIPquqrXc1Tn/GWhcgJwMzIwJTAgAABmIMxAkyBJkQMS5FM12SlqWlxzh/Kq0ksZb3LGq8erg3/llyk+CKfJqerWiw/EV5U4ZwvJxp8ePrAuwAAAAAAAAAAAAAAAAAAAAAGABTdJnjUL+PbcLHdKzof+LLZHkU6nU3dXuo8sxs6mOPXTlBv68JfUXGHICUCUzETMgImDIAGYmDMQMsgybIMDEyl6PVctXWUt1WVSpF9kp3c0/2YwLfeVN2MpejGT9kWylbHve1S655pWlrTaa5OUKc3LPr3nw6t31gfQAAAAAAAAAAAAAAAAAAAAAAMACgarU6PWn/AMSypOXDrhXbXw3i8Q6yg7W78dWoySSjOjb0m2vOjKGoNpPtU1R7k3zyXi1q70Yy9KMX7YoD1RMyIwJSAiAABKJElEBIgyciAHO16XkKqXByi4Lvl4q+0q+wqUtT1qa4rfoQ5vg6bq0WvZSiWTWXnoYc9+vSz3Re/n9krfg0tsVtQqrO7XqRqrj85Wr1eX94BfgAAAAAAAAAAAAAAAAAAAAAAAUDwjvdq0qnDNP5DUzwyoR1KjCeP1ajX1lq0qfk4L0cw92TRVvCdQlJVNxeO9N1B03urO/SqW9WPF9aayjvaFcKSljk3Ga7px/+fEDtxJzIQJTAwYBkASiQJQASIkmQYFf1y8UKik/NoULm4l2eLDg/VwUjl+CiEo0KtOSadCGnUZZ9JabbzkvbUZ59sWpw1BZflKVCwhhcd+4qRp8PW+lfq4Hc2Mgt/U2uT1Caz9C0tqf8LAswAAAAAAAAAAAAAAAAAAAAAAAK7tHRjO6sqcseWhfUFnivGoKTTXWsQfsK/wCDfUpVKFvvuW/K2pKe8sPpaTdKpF9jUqbyjrbb3EaNbSa8s4p301LCy92djcpvC49hSY6lG1u51INTo22pJycHlOy1Ompqpz5KvnL7MgfXIE5nno3EGuE4P9ZGy4uIQWZyjFdrYEweT8K0PnYe0fhWh85D2geszE8f4WofOQ9pKGrUHw6SGe/n3AekhM107+lLlUh1pZklx7mV7b7aNWts4wk+nuG6NBQSlNNp70orK4pcFl+c4gcmpHpq1pS8/p79XNTlwpW0J1Vlda6Tol7GdzYGpvULmfNy1DU+PaleVIr4JL6jg6TeRjdPLi69vSpWUU5J4rVY0q1zLq4KPQLPa2iweD+hGNmnF5U695Vz2ud1Uln4gWQAAAAAAAAAAAAAAAAAAAAAAAFT8IVspwsXJ7sIX1vvvhwU41KfX65oo2u6DDppO2pV61Td6O4ozbUbmjHMoJOlT8lOMuMZpNcePqvPhMqONnTkscLzTs55Yd3TTz7TjUK848Fxx5qfJcOK4cePHlwA8eydpKl0cK1KvShT3VRpXFGpOpD9FVYQVNxy883guO1N1aQpRndVIUqSlHykt7dUm0o8ufHBp0ywpRw4QdJ8P6KTjHP0eWPVyPfr+iU7ql0VWNOcG03GpShUi8PPFPHWBVbTRNIrrfp141YuTW/TrXLhvc3HMauF611G2WzGlL/WSWOH5VdL/FJUvB5bxThGlYRhLzlC2r01P6ahXSfsC8G1px8nR9WJXiS+rpv5AYpaRpcOKrtYx/Wbh/vVGLjW9Ftl497Rg/RnVzL3Xl/AxHwY2OXv0LWaa5SV00+9Os8nrtfB/ptN5+Q6Zwxj8TUnw9c5P7APDS2+0ip4tG6UpJ86VCvJpvq8WKR6G6l541KjCcouUadzXtpwpwafnxhUxKo08cFup+lg7ytowSUPJpfm04UoLv4Rz7GeK/u5xXCT45y3KWfbkDw2GytraOE6cnvvjUc8upUqZlJ1Zfpyk23wS4+pHv8ABsn+C7KT51KSqv8AvG5/xFa1C+lCM6mVmnTrVFlN5lGjJr4lv2Htuj03T6fPdtLVPv6GLfxA7YAAAAAAAAAAAAAAAAAAAAAAAKl4UqTlptVp4cK1nUz9G7pP6+44u81nHHD48MZXHlgtW29nKtY3NOMXOTjFqK5vdqRk8evCyVO2uekgqlCcZwmt6nOOJxlzwn/lAWfTp8IvuZ26z4HA02tmMW85ws5ST5cSwVJJxymgPOmSyQTMgZIyZlsjJgaakjjao19p1qsjg6vUnlRjnlzXeBWtpuNrcwXOdC4gn9Km4r4s+q2VJQp04LgowhFLsSikfLtToTq+SjlynhOK5tb8c8Fl8s/A+rwWEl2cAMgAAAAAAAAAAAAAAAAAAAAAAAYODqGw9hWlKboulUm96dS3qVaFSUsJbzlSlHLwubO8AK3S2JhT4U7zUoLCWHcKp8asZP4klszcLlqV3jslRs38ejRYgBwKmh3m61DUJqeHuudpbSin1OSSi2u5o8P4B1r/AHrZ/wDSY/8AvLaAKpS0HV8+Pqlq12R0uEX7XWf2HvWh3PDevqr4POLe3Sba5+adwAV7/Riu/O1C6a/RpWkX7ejf2Gp7BW8mnWr6hXacsqV3UhCSf5soUt2LXqwWYAc3TtnLS3adKjTjJcN/G9U9+WX8TpIAAAAAAAAAAAAAAAAAAAAAAAAAAAAAAAAAAAAAAAAAAAAAAAAAAAAAAA//2Q=="/>
          <p:cNvSpPr>
            <a:spLocks noChangeAspect="1" noChangeArrowheads="1"/>
          </p:cNvSpPr>
          <p:nvPr/>
        </p:nvSpPr>
        <p:spPr bwMode="auto">
          <a:xfrm>
            <a:off x="1679575" y="-14446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sp>
        <p:nvSpPr>
          <p:cNvPr id="5" name="AutoShape 10" descr="data:image/jpeg;base64,/9j/4AAQSkZJRgABAQAAAQABAAD/2wCEAAkGBg8QERAPEBANDw8QEg8QDhARDw8UEBAQFBAVFRQQEhYXGyYeFxkjGhYVHy8gJScpLSwsFh4xNTMrNSYrLCkBCQoKBQUFDQUFDSkYEhgpKSkpKSkpKSkpKSkpKSkpKSkpKSkpKSkpKSkpKSkpKSkpKSkpKSkpKSkpKSkpKSkpKf/AABEIAOEA4QMBIgACEQEDEQH/xAAbAAEAAgMBAQAAAAAAAAAAAAAAAgYBAwUEB//EAEwQAAIBAwEEBAkGCgYLAAAAAAABAgMEEQUGEiExE0FRcQciIzJSYZGSoRRTcoGxwRUkNEJigqKywtEzRHODw/AWQ0VVY2SVo9LT4f/EABQBAQAAAAAAAAAAAAAAAAAAAAD/xAAUEQEAAAAAAAAAAAAAAAAAAAAA/9oADAMBAAIRAxEAPwD7iAAAAAAAAAAAAAAAAAAAAAAAAAAAAAAAAAAAAAAAAAAAAAAAAARlNLi2kvWBIGn5bS+cp+/H+Y+W0vnKfvx/mBuBo+X0vnaXvx/mZhd03ynTfdKLA3A1Su6a5zprvlEj8tpfOU/fj/MDeDSryn85T9+JsjNPk0+5oCQGTGQMgZAAAAAAAAAAAAAAAAAAAAAAAOPtTPct5VctOjOlVXWniaTUk+DWG/g+o7BwtuZ7unXsvRoTlyb81Z5fUB56mzdR43b68ppN+LCFputdnjU28dzND2Srv/aupd3Raa/ttyx0/tw/gSQHMstDqw868r1vp0bJfuUkSudFqvzburT+jQs3+9TZ1oGJgV+ezlZ876s+vja6e/8ABIPZWo8p3lRp4ynaabh45Z8iWEAcKGzGM5rKWe20svupo2x2fx+dSffaW33RR2AByJ7OJr+rfXZ0/uaNX+jjjwi7VLjj8RpNL1edksBrYFfezlWXDpbPdw+H4Phz71U5HmWzsqcG5ytZY4vobToU8c0m5zcc9uS0w+45+s1N2jVl2Rk/gBLZxp29KSlvxqKVWD6lCcnKMI+pJpLuOmczZr8ktf7Cl2eguw6YAAAAAAAAAAAAAAAAAAACv+ECGdL1Jf8AJ3T9lGT+4sBzNqKe9ZXsfStble2jJAb7WWYwfbGD9sUbUeLRJ71vbS7aNB8886cT3AbIGJimZmBAGTAAAyBM1s2GtgILmcjaWeLW4fZSqv2Qb+47C6yvbafkVyvSpVor66clw9oHV2epONrbxfNUqa/ZR0Dz6f8A0VL+zh+6j0AAAAAAAAAAAAAAAAAAAAPJq1PeoV4rnKlVivrg0eshWjmMl2pr4AcLY6sp2FlNPKlb0Gn2rcR2jgbD01HT7OCeVTo06a/Uio/cd8CdMzIxAzMCJgyAMAGQJmtmxmsAusrm20vxWa9Jwh71SMfvLH1MrO2b8nTXpVaUcd9WD+4C0UI4jFLqil8CZiKMgAAAAAAAAAAAAAAAAAAAAAFZ2Lf4pTXY6i/7kiwFd2MfkJR9GvcR92rJP4pliAnAzMxAzMCAMmABlGDKAma2bGawHUyp7ZVsTs4+nc28Vz4tzb4Y9UWWx8io7Tx3rvT44yvllBvrxu0q0sr2oC5GTCMgAAAAAAAAAAAAAAAAAAAADAqGxEXGN3CSxKN7qDx6pX1eSfuuL+stK6ir7N1GrnUIPquqrXc1Tn/GWhcgJwMzIwJTAgAABmIMxAkyBJkQMS5FM12SlqWlxzh/Kq0ksZb3LGq8erg3/llyk+CKfJqerWiw/EV5U4ZwvJxp8ePrAuwAAAAAAAAAAAAAAAAAAAAAGABTdJnjUL+PbcLHdKzof+LLZHkU6nU3dXuo8sxs6mOPXTlBv68JfUXGHICUCUzETMgImDIAGYmDMQMsgybIMDEyl6PVctXWUt1WVSpF9kp3c0/2YwLfeVN2MpejGT9kWylbHve1S655pWlrTaa5OUKc3LPr3nw6t31gfQAAAAAAAAAAAAAAAAAAAAAAMACgarU6PWn/AMSypOXDrhXbXw3i8Q6yg7W78dWoySSjOjb0m2vOjKGoNpPtU1R7k3zyXi1q70Yy9KMX7YoD1RMyIwJSAiAABKJElEBIgyciAHO16XkKqXByi4Lvl4q+0q+wqUtT1qa4rfoQ5vg6bq0WvZSiWTWXnoYc9+vSz3Re/n9krfg0tsVtQqrO7XqRqrj85Wr1eX94BfgAAAAAAAAAAAAAAAAAAAAAAAUDwjvdq0qnDNP5DUzwyoR1KjCeP1ajX1lq0qfk4L0cw92TRVvCdQlJVNxeO9N1B03urO/SqW9WPF9aayjvaFcKSljk3Ga7px/+fEDtxJzIQJTAwYBkASiQJQASIkmQYFf1y8UKik/NoULm4l2eLDg/VwUjl+CiEo0KtOSadCGnUZZ9JabbzkvbUZ59sWpw1BZflKVCwhhcd+4qRp8PW+lfq4Hc2Mgt/U2uT1Caz9C0tqf8LAswAAAAAAAAAAAAAAAAAAAAAAAK7tHRjO6sqcseWhfUFnivGoKTTXWsQfsK/wCDfUpVKFvvuW/K2pKe8sPpaTdKpF9jUqbyjrbb3EaNbSa8s4p301LCy92djcpvC49hSY6lG1u51INTo22pJycHlOy1Ompqpz5KvnL7MgfXIE5nno3EGuE4P9ZGy4uIQWZyjFdrYEweT8K0PnYe0fhWh85D2geszE8f4WofOQ9pKGrUHw6SGe/n3AekhM107+lLlUh1pZklx7mV7b7aNWts4wk+nuG6NBQSlNNp70orK4pcFl+c4gcmpHpq1pS8/p79XNTlwpW0J1Vlda6Tol7GdzYGpvULmfNy1DU+PaleVIr4JL6jg6TeRjdPLi69vSpWUU5J4rVY0q1zLq4KPQLPa2iweD+hGNmnF5U695Vz2ud1Uln4gWQAAAAAAAAAAAAAAAAAAAAAAAFT8IVspwsXJ7sIX1vvvhwU41KfX65oo2u6DDppO2pV61Td6O4ozbUbmjHMoJOlT8lOMuMZpNcePqvPhMqONnTkscLzTs55Yd3TTz7TjUK848Fxx5qfJcOK4cePHlwA8eydpKl0cK1KvShT3VRpXFGpOpD9FVYQVNxy883guO1N1aQpRndVIUqSlHykt7dUm0o8ufHBp0ywpRw4QdJ8P6KTjHP0eWPVyPfr+iU7ql0VWNOcG03GpShUi8PPFPHWBVbTRNIrrfp141YuTW/TrXLhvc3HMauF611G2WzGlL/WSWOH5VdL/FJUvB5bxThGlYRhLzlC2r01P6ahXSfsC8G1px8nR9WJXiS+rpv5AYpaRpcOKrtYx/Wbh/vVGLjW9Ftl497Rg/RnVzL3Xl/AxHwY2OXv0LWaa5SV00+9Os8nrtfB/ptN5+Q6Zwxj8TUnw9c5P7APDS2+0ip4tG6UpJ86VCvJpvq8WKR6G6l541KjCcouUadzXtpwpwafnxhUxKo08cFup+lg7ytowSUPJpfm04UoLv4Rz7GeK/u5xXCT45y3KWfbkDw2GytraOE6cnvvjUc8upUqZlJ1Zfpyk23wS4+pHv8ABsn+C7KT51KSqv8AvG5/xFa1C+lCM6mVmnTrVFlN5lGjJr4lv2Htuj03T6fPdtLVPv6GLfxA7YAAAAAAAAAAAAAAAAAAAAAAAKl4UqTlptVp4cK1nUz9G7pP6+44u81nHHD48MZXHlgtW29nKtY3NOMXOTjFqK5vdqRk8evCyVO2uekgqlCcZwmt6nOOJxlzwn/lAWfTp8IvuZ26z4HA02tmMW85ws5ST5cSwVJJxymgPOmSyQTMgZIyZlsjJgaakjjao19p1qsjg6vUnlRjnlzXeBWtpuNrcwXOdC4gn9Km4r4s+q2VJQp04LgowhFLsSikfLtToTq+SjlynhOK5tb8c8Fl8s/A+rwWEl2cAMgAAAAAAAAAAAAAAAAAAAAAAAYODqGw9hWlKboulUm96dS3qVaFSUsJbzlSlHLwubO8AK3S2JhT4U7zUoLCWHcKp8asZP4klszcLlqV3jslRs38ejRYgBwKmh3m61DUJqeHuudpbSin1OSSi2u5o8P4B1r/AHrZ/wDSY/8AvLaAKpS0HV8+Pqlq12R0uEX7XWf2HvWh3PDevqr4POLe3Sba5+adwAV7/Riu/O1C6a/RpWkX7ejf2Gp7BW8mnWr6hXacsqV3UhCSf5soUt2LXqwWYAc3TtnLS3adKjTjJcN/G9U9+WX8TpIAAAAAAAAAAAAAAAAAAAAAAAAAAAAAAAAAAAAAAAAAAAAAAAAAAAAAAA//2Q=="/>
          <p:cNvSpPr>
            <a:spLocks noChangeAspect="1" noChangeArrowheads="1"/>
          </p:cNvSpPr>
          <p:nvPr/>
        </p:nvSpPr>
        <p:spPr bwMode="auto">
          <a:xfrm>
            <a:off x="1831975" y="7945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sp>
        <p:nvSpPr>
          <p:cNvPr id="6" name="TextBox 5"/>
          <p:cNvSpPr txBox="1"/>
          <p:nvPr/>
        </p:nvSpPr>
        <p:spPr>
          <a:xfrm>
            <a:off x="1032146" y="4335499"/>
            <a:ext cx="18428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Free electron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9677" y="4344501"/>
            <a:ext cx="22258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/>
              <a:t>dipole oscillator</a:t>
            </a:r>
            <a:endParaRPr lang="zh-CN" alt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6863306" y="4344501"/>
            <a:ext cx="3516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Strongly damped oscillator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06834" y="1140128"/>
            <a:ext cx="2664296" cy="3036291"/>
            <a:chOff x="467545" y="1362595"/>
            <a:chExt cx="2664296" cy="3036291"/>
          </a:xfrm>
        </p:grpSpPr>
        <p:pic>
          <p:nvPicPr>
            <p:cNvPr id="1028" name="Picture 4" descr="http://www.contrarian-investor.com/image-files/silver-bars.jpg">
              <a:hlinkClick r:id="rId3"/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45" y="2150885"/>
              <a:ext cx="2664296" cy="224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/>
            <p:cNvSpPr txBox="1"/>
            <p:nvPr/>
          </p:nvSpPr>
          <p:spPr>
            <a:xfrm>
              <a:off x="1159303" y="1362595"/>
              <a:ext cx="14763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/>
                <a:t>Reflection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067816" y="1121627"/>
            <a:ext cx="2448272" cy="3008850"/>
            <a:chOff x="2915815" y="1336695"/>
            <a:chExt cx="2448272" cy="3008850"/>
          </a:xfrm>
        </p:grpSpPr>
        <p:pic>
          <p:nvPicPr>
            <p:cNvPr id="1036" name="Picture 12" descr="https://encrypted-tbn0.gstatic.com/images?q=tbn:ANd9GcTNIGfPGByRF9PGa3DJgvBYxSATdkxQUKmIORfBl-eiCuBCwx-k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5815" y="1897273"/>
              <a:ext cx="2448272" cy="24482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/>
            <p:cNvSpPr txBox="1"/>
            <p:nvPr/>
          </p:nvSpPr>
          <p:spPr>
            <a:xfrm>
              <a:off x="3218897" y="1336695"/>
              <a:ext cx="184210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/>
                <a:t>Transmission</a:t>
              </a:r>
              <a:endParaRPr lang="zh-CN" altLang="en-US" sz="2400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943456" y="1121627"/>
            <a:ext cx="3113108" cy="3195366"/>
            <a:chOff x="5426882" y="1336696"/>
            <a:chExt cx="3379981" cy="3195366"/>
          </a:xfrm>
        </p:grpSpPr>
        <p:pic>
          <p:nvPicPr>
            <p:cNvPr id="1037" name="Picture 13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26882" y="1741237"/>
              <a:ext cx="3379981" cy="279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TextBox 13"/>
            <p:cNvSpPr txBox="1"/>
            <p:nvPr/>
          </p:nvSpPr>
          <p:spPr>
            <a:xfrm>
              <a:off x="6243598" y="1336696"/>
              <a:ext cx="17465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/>
                <a:t>Absorption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49ED3D96-1ECB-4D75-94B1-768295733E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2299" y="4901433"/>
            <a:ext cx="897720" cy="128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3387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9DE48-8854-4FE3-8D30-CBFECDA8B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9625" y="29029"/>
            <a:ext cx="8070980" cy="551589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Propagation properties of plane waves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FEA75B-F426-4404-8C82-9F4782D9E873}"/>
                  </a:ext>
                </a:extLst>
              </p:cNvPr>
              <p:cNvSpPr txBox="1"/>
              <p:nvPr/>
            </p:nvSpPr>
            <p:spPr>
              <a:xfrm>
                <a:off x="943970" y="714385"/>
                <a:ext cx="10672935" cy="5663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𝐄</m:t>
                    </m:r>
                    <m:d>
                      <m:d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𝐫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𝐄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</m:sub>
                    </m:sSub>
                    <m:func>
                      <m:func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𝐤</m:t>
                            </m:r>
                            <m:r>
                              <a:rPr lang="en-US" altLang="zh-CN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⋅</m:t>
                            </m:r>
                            <m:r>
                              <a:rPr lang="en-US" altLang="zh-CN" sz="2000" b="1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𝐫</m:t>
                            </m:r>
                            <m:r>
                              <a:rPr lang="en-US" altLang="zh-CN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𝜔</m:t>
                            </m:r>
                            <m:r>
                              <a:rPr lang="en-US" altLang="zh-CN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r>
                  <a:rPr lang="zh-CN" altLang="en-US" sz="2000" dirty="0">
                    <a:ea typeface="黑体" panose="02010609060101010101" pitchFamily="49" charset="-122"/>
                  </a:rPr>
                  <a:t>，</a:t>
                </a:r>
                <a:r>
                  <a:rPr lang="en-US" altLang="zh-CN" sz="2000" dirty="0">
                    <a:ea typeface="黑体" panose="02010609060101010101" pitchFamily="49" charset="-122"/>
                  </a:rPr>
                  <a:t> the argument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c</m:t>
                    </m:r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os</m:t>
                    </m:r>
                  </m:oMath>
                </a14:m>
                <a:r>
                  <a:rPr lang="zh-CN" altLang="en-US" sz="2000" dirty="0">
                    <a:ea typeface="黑体" panose="02010609060101010101" pitchFamily="49" charset="-122"/>
                  </a:rPr>
                  <a:t> </a:t>
                </a:r>
                <a:r>
                  <a:rPr lang="en-US" altLang="zh-CN" sz="2000" dirty="0">
                    <a:ea typeface="黑体" panose="02010609060101010101" pitchFamily="49" charset="-122"/>
                  </a:rPr>
                  <a:t>is the </a:t>
                </a:r>
                <a:r>
                  <a:rPr lang="en-US" altLang="zh-CN" sz="2000" dirty="0">
                    <a:solidFill>
                      <a:srgbClr val="C00000"/>
                    </a:solidFill>
                    <a:ea typeface="黑体" panose="02010609060101010101" pitchFamily="49" charset="-122"/>
                  </a:rPr>
                  <a:t>phase, </a:t>
                </a:r>
                <a:r>
                  <a:rPr lang="en-US" altLang="zh-CN" sz="2000" dirty="0"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000" b="1" i="0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𝐤</m:t>
                    </m:r>
                  </m:oMath>
                </a14:m>
                <a:r>
                  <a:rPr lang="zh-CN" altLang="en-US" sz="2000" dirty="0">
                    <a:ea typeface="黑体" panose="02010609060101010101" pitchFamily="49" charset="-122"/>
                  </a:rPr>
                  <a:t> </a:t>
                </a:r>
                <a:r>
                  <a:rPr lang="en-US" altLang="zh-CN" sz="2000" dirty="0">
                    <a:ea typeface="黑体" panose="02010609060101010101" pitchFamily="49" charset="-122"/>
                  </a:rPr>
                  <a:t>is</a:t>
                </a:r>
                <a:r>
                  <a:rPr lang="zh-CN" altLang="en-US" sz="2000" dirty="0">
                    <a:ea typeface="黑体" panose="02010609060101010101" pitchFamily="49" charset="-122"/>
                  </a:rPr>
                  <a:t> </a:t>
                </a:r>
                <a:r>
                  <a:rPr lang="en-US" altLang="zh-CN" sz="2000" dirty="0">
                    <a:ea typeface="黑体" panose="02010609060101010101" pitchFamily="49" charset="-122"/>
                  </a:rPr>
                  <a:t>wave vector,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𝐤</m:t>
                        </m:r>
                      </m:e>
                    </m:d>
                    <m:r>
                      <a:rPr lang="en-US" altLang="zh-CN" sz="2000" b="1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𝜔</m:t>
                        </m:r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𝑐</m:t>
                        </m:r>
                      </m:den>
                    </m:f>
                  </m:oMath>
                </a14:m>
                <a:endParaRPr lang="en-US" altLang="zh-CN" sz="2000" b="1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FEA75B-F426-4404-8C82-9F4782D9E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970" y="714385"/>
                <a:ext cx="10672935" cy="566309"/>
              </a:xfrm>
              <a:prstGeom prst="rect">
                <a:avLst/>
              </a:prstGeom>
              <a:blipFill>
                <a:blip r:embed="rId3"/>
                <a:stretch>
                  <a:fillRect l="-857" b="-16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247D659B-D806-47EF-9630-2FA1E5FEF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91" y="2429700"/>
            <a:ext cx="4158681" cy="36067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D733409-7C51-479E-99ED-C1B7AFCA759F}"/>
                  </a:ext>
                </a:extLst>
              </p:cNvPr>
              <p:cNvSpPr/>
              <p:nvPr/>
            </p:nvSpPr>
            <p:spPr>
              <a:xfrm>
                <a:off x="4284172" y="1455890"/>
                <a:ext cx="7532172" cy="25499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Wavefront </a:t>
                </a:r>
                <a:r>
                  <a:rPr lang="en-US" altLang="zh-CN" sz="2000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is the collection of all points of the same phase at time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𝑡</m:t>
                    </m:r>
                  </m:oMath>
                </a14:m>
                <a:r>
                  <a:rPr lang="en-US" altLang="zh-CN" sz="2000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𝒓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𝜙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lang="en-US" altLang="zh-CN" sz="2000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𝒌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⋅</m:t>
                    </m:r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𝒓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𝜙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const.. Thus the wavefront is a plane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⊥</m:t>
                    </m:r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𝒌</m:t>
                    </m:r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b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𝐄</m:t>
                    </m:r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𝐫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 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𝐄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</m:sub>
                    </m:sSub>
                    <m:func>
                      <m:func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cos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𝐤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⋅</m:t>
                            </m:r>
                            <m:d>
                              <m:d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𝐫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𝑐𝑡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altLang="zh-CN" sz="2000" b="1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b="1" i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𝐤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US" sz="2000" dirty="0"/>
                  <a:t> shows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𝐫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𝜙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lang="en-US" sz="2000" dirty="0"/>
                  <a:t>must obey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𝐫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𝜙</m:t>
                        </m:r>
                      </m:sub>
                    </m:sSub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𝑡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𝑐𝑡</m:t>
                    </m:r>
                    <m:acc>
                      <m:accPr>
                        <m:chr m:val="̂"/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𝐤</m:t>
                        </m:r>
                      </m:e>
                    </m:acc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</m:oMath>
                </a14:m>
                <a:r>
                  <a:rPr lang="en-US" sz="2000" dirty="0"/>
                  <a:t> constant vector, thus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altLang="zh-CN" sz="2000" b="1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000" b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𝐫</m:t>
                            </m:r>
                          </m:e>
                        </m:acc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</m:e>
                    </m:d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𝑐</m:t>
                    </m:r>
                    <m:acc>
                      <m:accPr>
                        <m:chr m:val="̂"/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𝐤</m:t>
                        </m:r>
                      </m:e>
                    </m:acc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.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/>
                  <a:t>It shows that the wavefront travels in the direction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000" b="1" i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𝐤</m:t>
                        </m:r>
                      </m:e>
                    </m:acc>
                  </m:oMath>
                </a14:m>
                <a:r>
                  <a:rPr lang="en-US" sz="2000" dirty="0"/>
                  <a:t> with speed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000" dirty="0"/>
                  <a:t>.</a:t>
                </a:r>
                <a:endParaRPr lang="en-US" sz="20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D733409-7C51-479E-99ED-C1B7AFCA75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4172" y="1455890"/>
                <a:ext cx="7532172" cy="2549993"/>
              </a:xfrm>
              <a:prstGeom prst="rect">
                <a:avLst/>
              </a:prstGeom>
              <a:blipFill>
                <a:blip r:embed="rId5"/>
                <a:stretch>
                  <a:fillRect l="-891" b="-35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A53B3D2-8E85-4F78-B1A1-73E2F3F121E5}"/>
              </a:ext>
            </a:extLst>
          </p:cNvPr>
          <p:cNvSpPr txBox="1"/>
          <p:nvPr/>
        </p:nvSpPr>
        <p:spPr>
          <a:xfrm>
            <a:off x="457277" y="5958949"/>
            <a:ext cx="1902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ea typeface="黑体" panose="02010609060101010101" pitchFamily="49" charset="-122"/>
              </a:rPr>
              <a:t>Hecht, Optics, 4ed</a:t>
            </a:r>
            <a:endParaRPr lang="en-US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635B70B-99EE-4400-9935-BE34C9A902B0}"/>
                  </a:ext>
                </a:extLst>
              </p:cNvPr>
              <p:cNvSpPr txBox="1"/>
              <p:nvPr/>
            </p:nvSpPr>
            <p:spPr>
              <a:xfrm>
                <a:off x="5002258" y="4297725"/>
                <a:ext cx="6096000" cy="20305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000" b="1" dirty="0"/>
                  <a:t>Energy flux density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𝐄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𝐁</m:t>
                      </m:r>
                    </m:oMath>
                  </m:oMathPara>
                </a14:m>
                <a:endParaRPr lang="en-US" sz="2000" b="1" dirty="0"/>
              </a:p>
              <a:p>
                <a:pPr marL="0" indent="0">
                  <a:buNone/>
                </a:pPr>
                <a:r>
                  <a:rPr lang="en-US" altLang="zh-CN" sz="2000" b="1" dirty="0"/>
                  <a:t>Light intensity</a:t>
                </a:r>
                <a:r>
                  <a:rPr lang="zh-CN" altLang="en-US" sz="2000" b="1" dirty="0"/>
                  <a:t>：</a:t>
                </a:r>
                <a:r>
                  <a:rPr lang="en-US" altLang="zh-CN" sz="2000" dirty="0"/>
                  <a:t>one cycle average of energy flux density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𝑆𝑑𝑡</m:t>
                          </m:r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635B70B-99EE-4400-9935-BE34C9A90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2258" y="4297725"/>
                <a:ext cx="6096000" cy="2030556"/>
              </a:xfrm>
              <a:prstGeom prst="rect">
                <a:avLst/>
              </a:prstGeom>
              <a:blipFill>
                <a:blip r:embed="rId6"/>
                <a:stretch>
                  <a:fillRect l="-1100" t="-15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2762173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E5DCD47-6648-4C30-A9B3-AEE0B6AF8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554" y="159330"/>
            <a:ext cx="11358113" cy="678929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Orthogonal(perpendicular) linear polarization decomposition</a:t>
            </a:r>
            <a:endParaRPr lang="en-US" sz="3200" dirty="0"/>
          </a:p>
        </p:txBody>
      </p:sp>
      <p:pic>
        <p:nvPicPr>
          <p:cNvPr id="6146" name="Picture 2" descr="https://shopdelta.eu/obrazki_art/polaryzacja_img5.gif">
            <a:extLst>
              <a:ext uri="{FF2B5EF4-FFF2-40B4-BE49-F238E27FC236}">
                <a16:creationId xmlns:a16="http://schemas.microsoft.com/office/drawing/2014/main" id="{AAF5927A-747C-4B91-B2C1-1DFAE073463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692" y="1430481"/>
            <a:ext cx="6408963" cy="2275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s://shopdelta.eu/obrazki_art/polaryzacja_img6.gif">
            <a:extLst>
              <a:ext uri="{FF2B5EF4-FFF2-40B4-BE49-F238E27FC236}">
                <a16:creationId xmlns:a16="http://schemas.microsoft.com/office/drawing/2014/main" id="{F47071B4-68D4-453E-B129-E724685E6E6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693" y="3958028"/>
            <a:ext cx="6408963" cy="2299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A50CE6-4AAE-4C45-844B-E7DDC53CCD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3856" y="3204166"/>
            <a:ext cx="3922629" cy="5484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730432-6343-4A2F-B618-E7AB80F3B9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7159" y="1112386"/>
            <a:ext cx="3680153" cy="11638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F12E87-87DD-49D2-9B1D-A3AD8B6371B2}"/>
                  </a:ext>
                </a:extLst>
              </p:cNvPr>
              <p:cNvSpPr txBox="1"/>
              <p:nvPr/>
            </p:nvSpPr>
            <p:spPr>
              <a:xfrm>
                <a:off x="7511632" y="2724659"/>
                <a:ext cx="392370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solidFill>
                      <a:srgbClr val="C00000"/>
                    </a:solidFill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𝜖</m:t>
                    </m:r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sz="2400" dirty="0">
                    <a:solidFill>
                      <a:srgbClr val="C00000"/>
                    </a:solidFill>
                    <a:ea typeface="黑体" panose="02010609060101010101" pitchFamily="49" charset="-122"/>
                  </a:rPr>
                  <a:t>或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𝜋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  <a:ea typeface="黑体" panose="02010609060101010101" pitchFamily="49" charset="-122"/>
                  </a:rPr>
                  <a:t>, linear</a:t>
                </a:r>
                <a:r>
                  <a:rPr lang="en-US" altLang="zh-CN" sz="2400" dirty="0">
                    <a:solidFill>
                      <a:srgbClr val="C00000"/>
                    </a:solidFill>
                    <a:ea typeface="黑体" panose="02010609060101010101" pitchFamily="49" charset="-122"/>
                  </a:rPr>
                  <a:t>ly </a:t>
                </a:r>
                <a:r>
                  <a:rPr lang="en-US" sz="2400" dirty="0">
                    <a:solidFill>
                      <a:srgbClr val="C00000"/>
                    </a:solidFill>
                    <a:ea typeface="黑体" panose="02010609060101010101" pitchFamily="49" charset="-122"/>
                  </a:rPr>
                  <a:t>polarized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F12E87-87DD-49D2-9B1D-A3AD8B637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1632" y="2724659"/>
                <a:ext cx="3923703" cy="461665"/>
              </a:xfrm>
              <a:prstGeom prst="rect">
                <a:avLst/>
              </a:prstGeom>
              <a:blipFill>
                <a:blip r:embed="rId7"/>
                <a:stretch>
                  <a:fillRect t="-15789" r="-466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AD62EA-805D-4971-AF37-D9149B745F1C}"/>
                  </a:ext>
                </a:extLst>
              </p:cNvPr>
              <p:cNvSpPr txBox="1"/>
              <p:nvPr/>
            </p:nvSpPr>
            <p:spPr>
              <a:xfrm>
                <a:off x="7563707" y="4112639"/>
                <a:ext cx="330705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𝜖</m:t>
                    </m:r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=−</m:t>
                    </m:r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𝜋</m:t>
                    </m:r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/2</m:t>
                    </m:r>
                  </m:oMath>
                </a14:m>
                <a:r>
                  <a:rPr lang="en-US" altLang="zh-CN" sz="2400" dirty="0">
                    <a:ea typeface="黑体" panose="02010609060101010101" pitchFamily="49" charset="-122"/>
                  </a:rPr>
                  <a:t>,   RC polarized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AD62EA-805D-4971-AF37-D9149B745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707" y="4112639"/>
                <a:ext cx="3307059" cy="461665"/>
              </a:xfrm>
              <a:prstGeom prst="rect">
                <a:avLst/>
              </a:prstGeom>
              <a:blipFill>
                <a:blip r:embed="rId8"/>
                <a:stretch>
                  <a:fillRect t="-10667" r="-1476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3C38A63-6C6D-4DFF-8367-A731CCCCB411}"/>
                  </a:ext>
                </a:extLst>
              </p:cNvPr>
              <p:cNvSpPr txBox="1"/>
              <p:nvPr/>
            </p:nvSpPr>
            <p:spPr>
              <a:xfrm>
                <a:off x="7570165" y="5164039"/>
                <a:ext cx="32140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𝜖</m:t>
                    </m:r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𝜋</m:t>
                    </m:r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/2</m:t>
                    </m:r>
                  </m:oMath>
                </a14:m>
                <a:r>
                  <a:rPr lang="en-US" altLang="zh-CN" sz="2400" dirty="0">
                    <a:ea typeface="黑体" panose="02010609060101010101" pitchFamily="49" charset="-122"/>
                  </a:rPr>
                  <a:t>,   LC </a:t>
                </a:r>
                <a:r>
                  <a:rPr lang="en-US" altLang="zh-CN" sz="2400" dirty="0" err="1">
                    <a:ea typeface="黑体" panose="02010609060101010101" pitchFamily="49" charset="-122"/>
                  </a:rPr>
                  <a:t>pollarized</a:t>
                </a:r>
                <a:endParaRPr lang="en-US" altLang="zh-CN" sz="2400" dirty="0"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3C38A63-6C6D-4DFF-8367-A731CCCCB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0165" y="5164039"/>
                <a:ext cx="3214049" cy="461665"/>
              </a:xfrm>
              <a:prstGeom prst="rect">
                <a:avLst/>
              </a:prstGeom>
              <a:blipFill>
                <a:blip r:embed="rId9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31E7FBDD-7E2F-48D7-9480-259BC0B9FE6E}"/>
              </a:ext>
            </a:extLst>
          </p:cNvPr>
          <p:cNvGrpSpPr>
            <a:grpSpLocks noChangeAspect="1"/>
          </p:cNvGrpSpPr>
          <p:nvPr/>
        </p:nvGrpSpPr>
        <p:grpSpPr>
          <a:xfrm>
            <a:off x="7376342" y="4629256"/>
            <a:ext cx="4142798" cy="397221"/>
            <a:chOff x="6796140" y="3589147"/>
            <a:chExt cx="4877654" cy="467681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044E8D2-F961-44B0-B054-C03B675BE5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892321" y="3589147"/>
              <a:ext cx="4781473" cy="46768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5F72757-A9CF-4EBC-8933-547336EB0808}"/>
                    </a:ext>
                  </a:extLst>
                </p:cNvPr>
                <p:cNvSpPr txBox="1"/>
                <p:nvPr/>
              </p:nvSpPr>
              <p:spPr>
                <a:xfrm>
                  <a:off x="6796140" y="3644719"/>
                  <a:ext cx="456407" cy="38472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sz="2500" b="1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𝑬</m:t>
                            </m:r>
                          </m:e>
                          <m: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𝑅</m:t>
                            </m:r>
                          </m:sub>
                        </m:sSub>
                      </m:oMath>
                    </m:oMathPara>
                  </a14:m>
                  <a:endParaRPr lang="en-US" sz="2500" dirty="0"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B9B13C8-E7BA-42D6-A3B3-515BD6CECA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6140" y="3644719"/>
                  <a:ext cx="456407" cy="384721"/>
                </a:xfrm>
                <a:prstGeom prst="rect">
                  <a:avLst/>
                </a:prstGeom>
                <a:blipFill>
                  <a:blip r:embed="rId11"/>
                  <a:stretch>
                    <a:fillRect l="-16000" r="-4000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BB6BC89-B9F7-4006-BA7B-61FF22AED0BE}"/>
              </a:ext>
            </a:extLst>
          </p:cNvPr>
          <p:cNvGrpSpPr>
            <a:grpSpLocks noChangeAspect="1"/>
          </p:cNvGrpSpPr>
          <p:nvPr/>
        </p:nvGrpSpPr>
        <p:grpSpPr>
          <a:xfrm>
            <a:off x="7375412" y="5730516"/>
            <a:ext cx="4134783" cy="410301"/>
            <a:chOff x="6840914" y="4914319"/>
            <a:chExt cx="4956533" cy="49184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8E875CC-285D-435A-8362-F59F44363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892321" y="4914319"/>
              <a:ext cx="4905126" cy="49184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5693F14-7875-4955-BA26-F6641957E2B5}"/>
                    </a:ext>
                  </a:extLst>
                </p:cNvPr>
                <p:cNvSpPr txBox="1"/>
                <p:nvPr/>
              </p:nvSpPr>
              <p:spPr>
                <a:xfrm>
                  <a:off x="6840914" y="4975575"/>
                  <a:ext cx="429990" cy="38472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sz="2500" b="1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𝑬</m:t>
                            </m:r>
                          </m:e>
                          <m: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sz="2500" dirty="0"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4AAB654-C98B-449D-B150-F7A9A1451B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0914" y="4975575"/>
                  <a:ext cx="429990" cy="384721"/>
                </a:xfrm>
                <a:prstGeom prst="rect">
                  <a:avLst/>
                </a:prstGeom>
                <a:blipFill>
                  <a:blip r:embed="rId13"/>
                  <a:stretch>
                    <a:fillRect l="-17143" r="-4286" b="-158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88479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ttps://shopdelta.eu/obrazki_art/polaryzacja_img8.gif">
            <a:extLst>
              <a:ext uri="{FF2B5EF4-FFF2-40B4-BE49-F238E27FC236}">
                <a16:creationId xmlns:a16="http://schemas.microsoft.com/office/drawing/2014/main" id="{834A21CE-0401-49CB-8F22-7014B2B4AEA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163" y="1072560"/>
            <a:ext cx="6147707" cy="2535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ttps://shopdelta.eu/obrazki_art/polaryzacja_img9.gif">
            <a:extLst>
              <a:ext uri="{FF2B5EF4-FFF2-40B4-BE49-F238E27FC236}">
                <a16:creationId xmlns:a16="http://schemas.microsoft.com/office/drawing/2014/main" id="{E16B58E8-A772-4D1E-94E0-4FD3CA1B6DA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583" y="3891847"/>
            <a:ext cx="5616287" cy="247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AD3D740-2BE3-4586-96BE-5D4C55A2C884}"/>
              </a:ext>
            </a:extLst>
          </p:cNvPr>
          <p:cNvSpPr txBox="1">
            <a:spLocks/>
          </p:cNvSpPr>
          <p:nvPr/>
        </p:nvSpPr>
        <p:spPr>
          <a:xfrm>
            <a:off x="416943" y="244733"/>
            <a:ext cx="11358113" cy="678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Orthogonal(perpendicular) circular polarization decomposition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67464A-0AC8-458A-B571-4D43D3CE138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491" t="3329" r="42197" b="16172"/>
          <a:stretch/>
        </p:blipFill>
        <p:spPr>
          <a:xfrm>
            <a:off x="7971993" y="998111"/>
            <a:ext cx="2377441" cy="25359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42D2E2-3663-4295-953A-D27DF2E7F86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0548" b="3468"/>
          <a:stretch/>
        </p:blipFill>
        <p:spPr>
          <a:xfrm>
            <a:off x="8125377" y="3608489"/>
            <a:ext cx="1864196" cy="304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296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21D89-5E51-402E-830A-AB9525EF6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946" y="479859"/>
            <a:ext cx="8070980" cy="551589"/>
          </a:xfrm>
        </p:spPr>
        <p:txBody>
          <a:bodyPr/>
          <a:lstStyle/>
          <a:p>
            <a:r>
              <a:rPr lang="en-US" sz="3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Polarizer filters the </a:t>
            </a:r>
            <a:r>
              <a:rPr lang="en-US" altLang="zh-CN" sz="3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polarization</a:t>
            </a:r>
            <a:endParaRPr lang="en-US" sz="3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https://cdn.shopify.com/s/files/1/1026/4509/files/2016-04-08_15-10-05.png?12215960505739134314">
            <a:extLst>
              <a:ext uri="{FF2B5EF4-FFF2-40B4-BE49-F238E27FC236}">
                <a16:creationId xmlns:a16="http://schemas.microsoft.com/office/drawing/2014/main" id="{B671C7DE-24F8-4FCA-8453-47F420338D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619BA4C-CB09-418A-864D-43DC7526666C}"/>
                  </a:ext>
                </a:extLst>
              </p:cNvPr>
              <p:cNvSpPr txBox="1"/>
              <p:nvPr/>
            </p:nvSpPr>
            <p:spPr>
              <a:xfrm>
                <a:off x="6983679" y="1433352"/>
                <a:ext cx="240386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𝐼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𝜃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</m:oMath>
                </a14:m>
                <a:r>
                  <a:rPr lang="en-US" sz="2800" dirty="0"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𝐼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</m:sub>
                    </m:sSub>
                    <m:func>
                      <m:funcPr>
                        <m:ctrlPr>
                          <a:rPr 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cos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𝜃</m:t>
                        </m:r>
                      </m:e>
                    </m:func>
                  </m:oMath>
                </a14:m>
                <a:endParaRPr lang="en-US" sz="2800" dirty="0"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619BA4C-CB09-418A-864D-43DC75266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3679" y="1433352"/>
                <a:ext cx="2403863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307FC756-B904-4DAF-8FD2-E35E7609047F}"/>
              </a:ext>
            </a:extLst>
          </p:cNvPr>
          <p:cNvGrpSpPr/>
          <p:nvPr/>
        </p:nvGrpSpPr>
        <p:grpSpPr>
          <a:xfrm>
            <a:off x="566358" y="1433352"/>
            <a:ext cx="10141539" cy="4608644"/>
            <a:chOff x="566358" y="1433352"/>
            <a:chExt cx="10141539" cy="460864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04DAF37-4F14-40BD-9B3E-E16451474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6358" y="1433352"/>
              <a:ext cx="10141539" cy="43932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7BB14FC-01AE-4637-A037-E371435A74F2}"/>
                </a:ext>
              </a:extLst>
            </p:cNvPr>
            <p:cNvSpPr txBox="1"/>
            <p:nvPr/>
          </p:nvSpPr>
          <p:spPr>
            <a:xfrm>
              <a:off x="935924" y="5641886"/>
              <a:ext cx="20967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ea typeface="黑体" panose="02010609060101010101" pitchFamily="49" charset="-122"/>
                </a:rPr>
                <a:t>Hecht, Optics, 4ed</a:t>
              </a:r>
              <a:endParaRPr lang="en-US" sz="2000" dirty="0"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97111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2ABA6-FC6F-4A70-8DC7-AFFFB0AF8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2937" y="952099"/>
            <a:ext cx="2473974" cy="551589"/>
          </a:xfrm>
        </p:spPr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</a:rPr>
              <a:t>Half wave plate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622E8A6-65AD-42E8-961B-BEB99D223E25}"/>
              </a:ext>
            </a:extLst>
          </p:cNvPr>
          <p:cNvSpPr txBox="1">
            <a:spLocks/>
          </p:cNvSpPr>
          <p:nvPr/>
        </p:nvSpPr>
        <p:spPr>
          <a:xfrm>
            <a:off x="991654" y="3764573"/>
            <a:ext cx="2997406" cy="5515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rgbClr val="C00000"/>
                </a:solidFill>
              </a:rPr>
              <a:t>quarter wave plate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2A30A75-F926-40D3-81E9-92B053C8A17B}"/>
              </a:ext>
            </a:extLst>
          </p:cNvPr>
          <p:cNvGrpSpPr/>
          <p:nvPr/>
        </p:nvGrpSpPr>
        <p:grpSpPr>
          <a:xfrm>
            <a:off x="703575" y="1475635"/>
            <a:ext cx="1222034" cy="1929343"/>
            <a:chOff x="8739544" y="350380"/>
            <a:chExt cx="1222034" cy="2231456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3BEED73-3886-438C-9939-B80DC9D4FBC7}"/>
                </a:ext>
              </a:extLst>
            </p:cNvPr>
            <p:cNvGrpSpPr/>
            <p:nvPr/>
          </p:nvGrpSpPr>
          <p:grpSpPr>
            <a:xfrm>
              <a:off x="8739544" y="817581"/>
              <a:ext cx="1222034" cy="1764255"/>
              <a:chOff x="8739544" y="817581"/>
              <a:chExt cx="1222034" cy="1764255"/>
            </a:xfrm>
          </p:grpSpPr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1CDF5BD1-9A58-4908-8FED-388555281F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39544" y="1636552"/>
                <a:ext cx="1222034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BE040C94-08EF-402A-9BFC-495FC54522E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407559" y="817581"/>
                <a:ext cx="1" cy="1764255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4DD33219-C5B9-4371-BB09-7D3A3CCDB7F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85815" y="1634007"/>
                <a:ext cx="52174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582D063C-EEF2-4DBB-A0D7-4251E8112D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407561" y="939184"/>
                <a:ext cx="0" cy="70128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FA0C60-A000-48B7-A4CD-327319B27094}"/>
                </a:ext>
              </a:extLst>
            </p:cNvPr>
            <p:cNvSpPr txBox="1"/>
            <p:nvPr/>
          </p:nvSpPr>
          <p:spPr>
            <a:xfrm>
              <a:off x="8952120" y="350380"/>
              <a:ext cx="962443" cy="427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ea typeface="黑体" panose="02010609060101010101" pitchFamily="49" charset="-122"/>
                </a:rPr>
                <a:t>Fast</a:t>
              </a:r>
              <a:r>
                <a:rPr lang="zh-CN" altLang="en-US" dirty="0">
                  <a:ea typeface="黑体" panose="02010609060101010101" pitchFamily="49" charset="-122"/>
                </a:rPr>
                <a:t> </a:t>
              </a:r>
              <a:r>
                <a:rPr lang="en-US" altLang="zh-CN" dirty="0">
                  <a:ea typeface="黑体" panose="02010609060101010101" pitchFamily="49" charset="-122"/>
                </a:rPr>
                <a:t>axis</a:t>
              </a:r>
              <a:endParaRPr lang="en-US" dirty="0">
                <a:ea typeface="黑体" panose="02010609060101010101" pitchFamily="49" charset="-122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5D1E472-F777-484D-B6AE-E5135A30CEE4}"/>
              </a:ext>
            </a:extLst>
          </p:cNvPr>
          <p:cNvGrpSpPr/>
          <p:nvPr/>
        </p:nvGrpSpPr>
        <p:grpSpPr>
          <a:xfrm>
            <a:off x="2780843" y="1476075"/>
            <a:ext cx="1222034" cy="1928902"/>
            <a:chOff x="10483322" y="350369"/>
            <a:chExt cx="1222034" cy="2231466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7575B7F-1E54-4A5F-886B-5B4FE4F0E1CF}"/>
                </a:ext>
              </a:extLst>
            </p:cNvPr>
            <p:cNvGrpSpPr/>
            <p:nvPr/>
          </p:nvGrpSpPr>
          <p:grpSpPr>
            <a:xfrm>
              <a:off x="10483322" y="817169"/>
              <a:ext cx="1222034" cy="1764666"/>
              <a:chOff x="8739544" y="817169"/>
              <a:chExt cx="1222034" cy="1764666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9CC9B9E1-8B4E-4475-A377-606CA2BC45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39544" y="1636552"/>
                <a:ext cx="1222034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8DB6532E-CFD4-4CD5-9B18-D66533B97C1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407558" y="817169"/>
                <a:ext cx="1" cy="1764666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37E6FC47-4BB7-4D32-9097-EAF06831140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97317" y="1634004"/>
                <a:ext cx="52174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D1B7641B-615C-4D0C-A0F4-54055E4D3E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07556" y="1640466"/>
                <a:ext cx="5" cy="79376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63D82A0-5CF0-4F4A-832F-6A3DE4F15104}"/>
                </a:ext>
              </a:extLst>
            </p:cNvPr>
            <p:cNvSpPr txBox="1"/>
            <p:nvPr/>
          </p:nvSpPr>
          <p:spPr>
            <a:xfrm>
              <a:off x="10670112" y="350369"/>
              <a:ext cx="962443" cy="4272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ea typeface="黑体" panose="02010609060101010101" pitchFamily="49" charset="-122"/>
                </a:rPr>
                <a:t>Fast</a:t>
              </a:r>
              <a:r>
                <a:rPr lang="zh-CN" altLang="en-US" dirty="0">
                  <a:ea typeface="黑体" panose="02010609060101010101" pitchFamily="49" charset="-122"/>
                </a:rPr>
                <a:t> </a:t>
              </a:r>
              <a:r>
                <a:rPr lang="en-US" altLang="zh-CN" dirty="0">
                  <a:ea typeface="黑体" panose="02010609060101010101" pitchFamily="49" charset="-122"/>
                </a:rPr>
                <a:t>axis</a:t>
              </a:r>
              <a:endParaRPr lang="en-US" dirty="0">
                <a:ea typeface="黑体" panose="02010609060101010101" pitchFamily="49" charset="-122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83E1809-CF06-45D5-B996-BD1B5D2E46AF}"/>
              </a:ext>
            </a:extLst>
          </p:cNvPr>
          <p:cNvGrpSpPr/>
          <p:nvPr/>
        </p:nvGrpSpPr>
        <p:grpSpPr>
          <a:xfrm>
            <a:off x="828332" y="4384475"/>
            <a:ext cx="1222034" cy="1942925"/>
            <a:chOff x="8739544" y="334331"/>
            <a:chExt cx="1222034" cy="2170173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9D92AC72-DCC0-4187-AF79-708BA7AF146E}"/>
                </a:ext>
              </a:extLst>
            </p:cNvPr>
            <p:cNvGrpSpPr/>
            <p:nvPr/>
          </p:nvGrpSpPr>
          <p:grpSpPr>
            <a:xfrm>
              <a:off x="8739544" y="759051"/>
              <a:ext cx="1222034" cy="1745453"/>
              <a:chOff x="8739544" y="759051"/>
              <a:chExt cx="1222034" cy="1745453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B040FEA9-8519-4632-8A7C-2BBDAE9E9D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39544" y="1636552"/>
                <a:ext cx="1222034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BA322817-452D-442B-9E7B-EA880334C39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391863" y="759051"/>
                <a:ext cx="12083" cy="1745453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21ACFC65-F7BD-4E85-9602-2944C9DE934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13492" y="1635324"/>
                <a:ext cx="60254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7E461081-2CB4-4308-920E-9692A8AF1F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390306" y="839096"/>
                <a:ext cx="2" cy="82288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7784177-CE5F-4DC1-A6A6-9E45C26E86BD}"/>
                </a:ext>
              </a:extLst>
            </p:cNvPr>
            <p:cNvSpPr txBox="1"/>
            <p:nvPr/>
          </p:nvSpPr>
          <p:spPr>
            <a:xfrm>
              <a:off x="8916682" y="334331"/>
              <a:ext cx="962443" cy="4125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ea typeface="黑体" panose="02010609060101010101" pitchFamily="49" charset="-122"/>
                </a:rPr>
                <a:t>Fast axis</a:t>
              </a:r>
              <a:endParaRPr lang="en-US" dirty="0">
                <a:ea typeface="黑体" panose="02010609060101010101" pitchFamily="49" charset="-122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C272A79-9DBE-498D-BE1D-850EB8DCDAD9}"/>
              </a:ext>
            </a:extLst>
          </p:cNvPr>
          <p:cNvGrpSpPr/>
          <p:nvPr/>
        </p:nvGrpSpPr>
        <p:grpSpPr>
          <a:xfrm>
            <a:off x="2894469" y="4384475"/>
            <a:ext cx="1222034" cy="2019807"/>
            <a:chOff x="10483322" y="325787"/>
            <a:chExt cx="1222034" cy="2256048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87EADAF7-3016-485C-ADAB-BE63914EE1DD}"/>
                </a:ext>
              </a:extLst>
            </p:cNvPr>
            <p:cNvGrpSpPr/>
            <p:nvPr/>
          </p:nvGrpSpPr>
          <p:grpSpPr>
            <a:xfrm>
              <a:off x="10483322" y="750506"/>
              <a:ext cx="1222034" cy="1831329"/>
              <a:chOff x="8739544" y="750506"/>
              <a:chExt cx="1222034" cy="1831329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76E6EF1F-8E3B-46EA-A4B5-FC870C882E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39544" y="1636552"/>
                <a:ext cx="1222034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F3EE2598-7588-4EE3-BF3A-00849B72C0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407558" y="750506"/>
                <a:ext cx="1" cy="1831329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3374F66E-B0CC-4038-ACBA-057DEFDB99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751046" y="1633204"/>
                <a:ext cx="668019" cy="125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20F36261-0CDC-4F89-9709-65CB9BCD33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07558" y="1640466"/>
                <a:ext cx="3" cy="17243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4478962-EE1A-4483-A877-972ADFFC5151}"/>
                </a:ext>
              </a:extLst>
            </p:cNvPr>
            <p:cNvSpPr txBox="1"/>
            <p:nvPr/>
          </p:nvSpPr>
          <p:spPr>
            <a:xfrm>
              <a:off x="10681621" y="325787"/>
              <a:ext cx="962443" cy="4125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ea typeface="黑体" panose="02010609060101010101" pitchFamily="49" charset="-122"/>
                </a:rPr>
                <a:t>Fast axis</a:t>
              </a:r>
              <a:endParaRPr lang="en-US" dirty="0">
                <a:ea typeface="黑体" panose="02010609060101010101" pitchFamily="49" charset="-122"/>
              </a:endParaRPr>
            </a:p>
          </p:txBody>
        </p:sp>
      </p:grpSp>
      <p:sp>
        <p:nvSpPr>
          <p:cNvPr id="76" name="Arrow: Right 75">
            <a:extLst>
              <a:ext uri="{FF2B5EF4-FFF2-40B4-BE49-F238E27FC236}">
                <a16:creationId xmlns:a16="http://schemas.microsoft.com/office/drawing/2014/main" id="{8193865B-5589-4156-8737-7D11CEE1D8C0}"/>
              </a:ext>
            </a:extLst>
          </p:cNvPr>
          <p:cNvSpPr/>
          <p:nvPr/>
        </p:nvSpPr>
        <p:spPr>
          <a:xfrm>
            <a:off x="2239907" y="5400105"/>
            <a:ext cx="500900" cy="3157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Arrow: Right 76">
            <a:extLst>
              <a:ext uri="{FF2B5EF4-FFF2-40B4-BE49-F238E27FC236}">
                <a16:creationId xmlns:a16="http://schemas.microsoft.com/office/drawing/2014/main" id="{12060FD5-FDAF-4FC5-A4AC-F102919121EA}"/>
              </a:ext>
            </a:extLst>
          </p:cNvPr>
          <p:cNvSpPr/>
          <p:nvPr/>
        </p:nvSpPr>
        <p:spPr>
          <a:xfrm>
            <a:off x="2081765" y="2429796"/>
            <a:ext cx="500900" cy="3157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itle 1">
            <a:extLst>
              <a:ext uri="{FF2B5EF4-FFF2-40B4-BE49-F238E27FC236}">
                <a16:creationId xmlns:a16="http://schemas.microsoft.com/office/drawing/2014/main" id="{CA958C79-0CA4-43D1-8ADD-F56319CF8906}"/>
              </a:ext>
            </a:extLst>
          </p:cNvPr>
          <p:cNvSpPr txBox="1">
            <a:spLocks/>
          </p:cNvSpPr>
          <p:nvPr/>
        </p:nvSpPr>
        <p:spPr>
          <a:xfrm>
            <a:off x="1132937" y="173777"/>
            <a:ext cx="9451674" cy="5515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en-US" altLang="zh-CN" sz="3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 plate transforms the polarization</a:t>
            </a:r>
            <a:endParaRPr lang="en-US" sz="3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99A16B7-3591-4878-B9A5-D7654566E848}"/>
              </a:ext>
            </a:extLst>
          </p:cNvPr>
          <p:cNvGrpSpPr/>
          <p:nvPr/>
        </p:nvGrpSpPr>
        <p:grpSpPr>
          <a:xfrm>
            <a:off x="4489117" y="852954"/>
            <a:ext cx="6267403" cy="5789523"/>
            <a:chOff x="4489117" y="979476"/>
            <a:chExt cx="6267403" cy="578952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5227A09-70E1-4922-9272-33489CE66D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89117" y="3509950"/>
              <a:ext cx="6267403" cy="325904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9194661-8D47-4F37-A4A0-D4749D9B9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57786" y="979476"/>
              <a:ext cx="6130063" cy="2778652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580C152-AE06-4B26-A6A9-DD7F7FF26002}"/>
                </a:ext>
              </a:extLst>
            </p:cNvPr>
            <p:cNvSpPr txBox="1"/>
            <p:nvPr/>
          </p:nvSpPr>
          <p:spPr>
            <a:xfrm>
              <a:off x="8853691" y="6327400"/>
              <a:ext cx="19028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ea typeface="黑体" panose="02010609060101010101" pitchFamily="49" charset="-122"/>
                </a:rPr>
                <a:t>Hecht, Optics, 4ed</a:t>
              </a:r>
              <a:endParaRPr lang="en-US" dirty="0"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3187446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361" y="1228130"/>
            <a:ext cx="6061498" cy="29708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Maxwell’s </a:t>
            </a:r>
            <a:r>
              <a:rPr lang="zh-CN" altLang="en-US" dirty="0"/>
              <a:t>方程组和电磁波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350" y="1340313"/>
            <a:ext cx="130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ea typeface="黑体" panose="02010609060101010101" pitchFamily="49" charset="-122"/>
              </a:rPr>
              <a:t>Gauss’s Law</a:t>
            </a:r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0350" y="1792791"/>
            <a:ext cx="1569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ea typeface="黑体" panose="02010609060101010101" pitchFamily="49" charset="-122"/>
              </a:rPr>
              <a:t>Gauss’s law for magnetism</a:t>
            </a:r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80350" y="2631315"/>
            <a:ext cx="1552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ea typeface="黑体" panose="02010609060101010101" pitchFamily="49" charset="-122"/>
              </a:rPr>
              <a:t>Faraday’s law</a:t>
            </a:r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0350" y="3335254"/>
            <a:ext cx="21859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ea typeface="黑体" panose="02010609060101010101" pitchFamily="49" charset="-122"/>
              </a:rPr>
              <a:t>Ampere’s law</a:t>
            </a:r>
            <a:r>
              <a:rPr lang="zh-CN" altLang="en-US" dirty="0">
                <a:ea typeface="黑体" panose="02010609060101010101" pitchFamily="49" charset="-122"/>
              </a:rPr>
              <a:t> </a:t>
            </a:r>
            <a:r>
              <a:rPr lang="en-US" altLang="zh-CN" dirty="0">
                <a:ea typeface="黑体" panose="02010609060101010101" pitchFamily="49" charset="-122"/>
              </a:rPr>
              <a:t>+</a:t>
            </a:r>
          </a:p>
          <a:p>
            <a:r>
              <a:rPr lang="en-US" altLang="zh-CN" dirty="0">
                <a:solidFill>
                  <a:srgbClr val="C00000"/>
                </a:solidFill>
                <a:ea typeface="黑体" panose="02010609060101010101" pitchFamily="49" charset="-122"/>
              </a:rPr>
              <a:t>displacement current</a:t>
            </a:r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42977" y="831619"/>
            <a:ext cx="1404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ea typeface="黑体" panose="02010609060101010101" pitchFamily="49" charset="-122"/>
              </a:rPr>
              <a:t>Integral form</a:t>
            </a:r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53316" y="828441"/>
            <a:ext cx="1739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ea typeface="黑体" panose="02010609060101010101" pitchFamily="49" charset="-122"/>
              </a:rPr>
              <a:t>Differential form</a:t>
            </a:r>
            <a:endParaRPr lang="zh-CN" altLang="en-US" dirty="0">
              <a:ea typeface="黑体" panose="02010609060101010101" pitchFamily="49" charset="-122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9022094" y="2104225"/>
            <a:ext cx="2216077" cy="1674659"/>
            <a:chOff x="7996525" y="1676063"/>
            <a:chExt cx="2216077" cy="1674659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29025" y="1676063"/>
              <a:ext cx="1951078" cy="116197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7996525" y="2949587"/>
                  <a:ext cx="2216077" cy="4011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𝑐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type m:val="lin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</m:oMath>
                    </m:oMathPara>
                  </a14:m>
                  <a:endParaRPr lang="zh-CN" altLang="en-US" sz="2000" dirty="0"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96525" y="2949587"/>
                  <a:ext cx="2216077" cy="401135"/>
                </a:xfrm>
                <a:prstGeom prst="rect">
                  <a:avLst/>
                </a:prstGeom>
                <a:blipFill>
                  <a:blip r:embed="rId5"/>
                  <a:stretch>
                    <a:fillRect t="-116667" b="-17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53" name="Rectangle: Rounded Corners 2052"/>
          <p:cNvSpPr/>
          <p:nvPr/>
        </p:nvSpPr>
        <p:spPr>
          <a:xfrm>
            <a:off x="4604591" y="3325484"/>
            <a:ext cx="1510745" cy="646331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rrow: Right 2"/>
          <p:cNvSpPr/>
          <p:nvPr/>
        </p:nvSpPr>
        <p:spPr>
          <a:xfrm>
            <a:off x="8445058" y="2439122"/>
            <a:ext cx="577036" cy="401135"/>
          </a:xfrm>
          <a:prstGeom prst="rightArrow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A2D577-6FD3-4C92-B999-308122DAF494}"/>
              </a:ext>
            </a:extLst>
          </p:cNvPr>
          <p:cNvSpPr txBox="1"/>
          <p:nvPr/>
        </p:nvSpPr>
        <p:spPr>
          <a:xfrm>
            <a:off x="9261380" y="1592566"/>
            <a:ext cx="1717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Wave equation</a:t>
            </a:r>
            <a:endParaRPr lang="zh-CN" altLang="en-US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8E81C99-AB64-444E-8CE3-4EF66A9F6AC8}"/>
              </a:ext>
            </a:extLst>
          </p:cNvPr>
          <p:cNvGrpSpPr/>
          <p:nvPr/>
        </p:nvGrpSpPr>
        <p:grpSpPr>
          <a:xfrm>
            <a:off x="560720" y="4480404"/>
            <a:ext cx="10748465" cy="1909754"/>
            <a:chOff x="457203" y="4562810"/>
            <a:chExt cx="10748465" cy="19097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1273341" y="4562810"/>
                  <a:ext cx="9932327" cy="19097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 i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𝐄</m:t>
                        </m:r>
                        <m:d>
                          <m:dPr>
                            <m:ctrlPr>
                              <a:rPr lang="en-US" altLang="zh-CN" sz="2000" b="1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𝐫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, 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𝐄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0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1" i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𝐤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⋅</m:t>
                                </m:r>
                                <m:r>
                                  <a:rPr lang="en-US" altLang="zh-CN" sz="2000" b="1" i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𝐫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𝜔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Re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𝐄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0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𝑖</m:t>
                                </m:r>
                                <m:d>
                                  <m:d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b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𝐤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⋅</m:t>
                                    </m:r>
                                    <m:r>
                                      <a:rPr lang="en-US" altLang="zh-CN" sz="2000" b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𝐫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−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𝜔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𝑡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oMath>
                    </m:oMathPara>
                  </a14:m>
                  <a:endParaRPr lang="en-US" altLang="zh-CN" sz="20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𝐁</m:t>
                        </m:r>
                        <m:d>
                          <m:d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𝐫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, 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20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𝐁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0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𝐤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⋅</m:t>
                                </m:r>
                                <m:r>
                                  <a:rPr lang="en-US" altLang="zh-CN" sz="2000" b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𝐫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𝜔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 </m:t>
                        </m:r>
                      </m:oMath>
                    </m:oMathPara>
                  </a14:m>
                  <a:endParaRPr lang="en-US" altLang="zh-CN" sz="2000" dirty="0">
                    <a:ea typeface="黑体" panose="02010609060101010101" pitchFamily="49" charset="-122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𝐁</m:t>
                        </m:r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⊥</m:t>
                        </m:r>
                        <m:r>
                          <a:rPr lang="en-US" altLang="zh-CN" sz="2000" b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𝐄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and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/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𝑐</m:t>
                        </m:r>
                      </m:oMath>
                    </m:oMathPara>
                  </a14:m>
                  <a:endParaRPr lang="en-US" altLang="zh-CN" sz="2000" dirty="0">
                    <a:ea typeface="黑体" panose="02010609060101010101" pitchFamily="49" charset="-122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CN" sz="2000" dirty="0">
                      <a:ea typeface="黑体" panose="02010609060101010101" pitchFamily="49" charset="-122"/>
                    </a:rPr>
                    <a:t>Angular frequency</a:t>
                  </a:r>
                  <a:r>
                    <a:rPr lang="zh-CN" altLang="en-US" sz="2000" dirty="0">
                      <a:ea typeface="黑体" panose="02010609060101010101" pitchFamily="49" charset="-122"/>
                    </a:rPr>
                    <a:t>：</a:t>
                  </a:r>
                  <a14:m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𝜔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=2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𝜋𝜈</m:t>
                      </m:r>
                    </m:oMath>
                  </a14:m>
                  <a:r>
                    <a:rPr lang="zh-CN" altLang="en-US" sz="2000" dirty="0"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，</a:t>
                  </a:r>
                  <a:r>
                    <a:rPr lang="en-US" altLang="zh-CN" sz="2000" dirty="0"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wave vector</a:t>
                  </a:r>
                  <a:r>
                    <a:rPr lang="zh-CN" altLang="en-US" sz="2000" dirty="0">
                      <a:ea typeface="黑体" panose="02010609060101010101" pitchFamily="49" charset="-122"/>
                    </a:rPr>
                    <a:t>：</a:t>
                  </a:r>
                  <a14:m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𝐤</m:t>
                          </m:r>
                        </m:e>
                      </m:d>
                      <m:r>
                        <a:rPr lang="en-US" altLang="zh-CN" sz="2000" b="1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2</m:t>
                      </m:r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𝜋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/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𝜆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𝜔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/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𝑐</m:t>
                      </m:r>
                    </m:oMath>
                  </a14:m>
                  <a:r>
                    <a:rPr lang="zh-CN" altLang="en-US" sz="2000" dirty="0"/>
                    <a:t>，</a:t>
                  </a:r>
                  <a:r>
                    <a:rPr lang="en-US" altLang="zh-CN" sz="2000" b="1" dirty="0">
                      <a:ea typeface="黑体" panose="02010609060101010101" pitchFamily="49" charset="-122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2000" b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𝐤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⋅</m:t>
                      </m:r>
                      <m:r>
                        <a:rPr lang="en-US" altLang="zh-CN" sz="2000" b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𝐫</m:t>
                      </m:r>
                      <m:r>
                        <a:rPr lang="en-US" altLang="zh-CN" sz="2000" b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</m:oMath>
                  </a14:m>
                  <a:endParaRPr lang="zh-CN" altLang="en-US" sz="2000" dirty="0"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3341" y="4562810"/>
                  <a:ext cx="9932327" cy="1909754"/>
                </a:xfrm>
                <a:prstGeom prst="rect">
                  <a:avLst/>
                </a:prstGeom>
                <a:blipFill>
                  <a:blip r:embed="rId6"/>
                  <a:stretch>
                    <a:fillRect l="-1596" b="-63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0DCCE09-A2A9-4B8B-B16D-AFA316DE6683}"/>
                </a:ext>
              </a:extLst>
            </p:cNvPr>
            <p:cNvSpPr txBox="1"/>
            <p:nvPr/>
          </p:nvSpPr>
          <p:spPr>
            <a:xfrm>
              <a:off x="457203" y="4562810"/>
              <a:ext cx="2785774" cy="5062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0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The plane wave solution: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9610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  <p:bldP spid="22" grpId="0"/>
      <p:bldP spid="23" grpId="0"/>
      <p:bldP spid="2053" grpId="0" animBg="1"/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F37E41-A8B7-435C-B6EE-A63BF6B0B688}"/>
              </a:ext>
            </a:extLst>
          </p:cNvPr>
          <p:cNvSpPr/>
          <p:nvPr/>
        </p:nvSpPr>
        <p:spPr>
          <a:xfrm>
            <a:off x="1014172" y="270613"/>
            <a:ext cx="61493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Polarization properties of Plane waves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F6E2A79-790D-4D85-902C-CD126418F0F6}"/>
              </a:ext>
            </a:extLst>
          </p:cNvPr>
          <p:cNvGrpSpPr/>
          <p:nvPr/>
        </p:nvGrpSpPr>
        <p:grpSpPr>
          <a:xfrm>
            <a:off x="1014172" y="901151"/>
            <a:ext cx="3847138" cy="4217321"/>
            <a:chOff x="1014172" y="1096685"/>
            <a:chExt cx="3847138" cy="421732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3706924-FF96-4387-A89C-4B2FA22007FD}"/>
                </a:ext>
              </a:extLst>
            </p:cNvPr>
            <p:cNvGrpSpPr/>
            <p:nvPr/>
          </p:nvGrpSpPr>
          <p:grpSpPr>
            <a:xfrm>
              <a:off x="1028494" y="1511632"/>
              <a:ext cx="3832816" cy="3802374"/>
              <a:chOff x="1126465" y="2275809"/>
              <a:chExt cx="3832816" cy="3802374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383677D4-79FA-42AA-96C1-AB02BC3422DE}"/>
                  </a:ext>
                </a:extLst>
              </p:cNvPr>
              <p:cNvGrpSpPr/>
              <p:nvPr/>
            </p:nvGrpSpPr>
            <p:grpSpPr>
              <a:xfrm>
                <a:off x="1126465" y="2275809"/>
                <a:ext cx="3832816" cy="3802374"/>
                <a:chOff x="7605122" y="2428802"/>
                <a:chExt cx="3832816" cy="3802374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E3D6A12E-AA00-4EC1-BCF6-2F8806BD459D}"/>
                    </a:ext>
                  </a:extLst>
                </p:cNvPr>
                <p:cNvGrpSpPr/>
                <p:nvPr/>
              </p:nvGrpSpPr>
              <p:grpSpPr>
                <a:xfrm>
                  <a:off x="7605122" y="2905430"/>
                  <a:ext cx="3832816" cy="3325746"/>
                  <a:chOff x="7223110" y="479067"/>
                  <a:chExt cx="3804774" cy="3779493"/>
                </a:xfrm>
              </p:grpSpPr>
              <p:pic>
                <p:nvPicPr>
                  <p:cNvPr id="11" name="Picture 6" descr="https://upload.wikimedia.org/wikipedia/commons/4/4c/Electromagneticwave3D.gif">
                    <a:extLst>
                      <a:ext uri="{FF2B5EF4-FFF2-40B4-BE49-F238E27FC236}">
                        <a16:creationId xmlns:a16="http://schemas.microsoft.com/office/drawing/2014/main" id="{6B909363-4D60-47C1-9246-16F6BE0CCFB8}"/>
                      </a:ext>
                    </a:extLst>
                  </p:cNvPr>
                  <p:cNvPicPr>
                    <a:picLocks noChangeAspect="1" noChangeArrowheads="1" noCrop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7223110" y="479067"/>
                    <a:ext cx="3804774" cy="3779493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2" name="TextBox 11">
                        <a:extLst>
                          <a:ext uri="{FF2B5EF4-FFF2-40B4-BE49-F238E27FC236}">
                            <a16:creationId xmlns:a16="http://schemas.microsoft.com/office/drawing/2014/main" id="{C038878B-B3C6-4C2D-9B6B-EC15C93F2F9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259011" y="1612778"/>
                        <a:ext cx="1768873" cy="419722"/>
                      </a:xfrm>
                      <a:prstGeom prst="rect">
                        <a:avLst/>
                      </a:prstGeom>
                      <a:solidFill>
                        <a:srgbClr val="EFEEFE"/>
                      </a:solidFill>
                    </p:spPr>
                    <p:txBody>
                      <a:bodyPr wrap="square" lIns="0" rIns="0" rtlCol="0">
                        <a:spAutoFit/>
                      </a:bodyPr>
                      <a:lstStyle/>
                      <a:p>
                        <a:r>
                          <a:rPr lang="en-US" altLang="zh-CN" dirty="0">
                            <a:ea typeface="黑体" panose="02010609060101010101" pitchFamily="49" charset="-122"/>
                          </a:rPr>
                          <a:t>     </a:t>
                        </a:r>
                        <a:r>
                          <a:rPr lang="zh-CN" altLang="en-US" dirty="0">
                            <a:ea typeface="黑体" panose="02010609060101010101" pitchFamily="49" charset="-122"/>
                          </a:rPr>
                          <a:t>波矢 </a:t>
                        </a:r>
                        <a14:m>
                          <m:oMath xmlns:m="http://schemas.openxmlformats.org/officeDocument/2006/math">
                            <m:r>
                              <a:rPr lang="en-US" altLang="zh-CN" b="1" i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𝐤</m:t>
                            </m:r>
                          </m:oMath>
                        </a14:m>
                        <a:endParaRPr lang="zh-CN" altLang="en-US" b="1" dirty="0">
                          <a:ea typeface="黑体" panose="02010609060101010101" pitchFamily="49" charset="-122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2" name="TextBox 11">
                        <a:extLst>
                          <a:ext uri="{FF2B5EF4-FFF2-40B4-BE49-F238E27FC236}">
                            <a16:creationId xmlns:a16="http://schemas.microsoft.com/office/drawing/2014/main" id="{C038878B-B3C6-4C2D-9B6B-EC15C93F2F9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259011" y="1612778"/>
                        <a:ext cx="1768873" cy="419722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t="-15000" b="-2166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13" name="Straight Arrow Connector 12">
                    <a:extLst>
                      <a:ext uri="{FF2B5EF4-FFF2-40B4-BE49-F238E27FC236}">
                        <a16:creationId xmlns:a16="http://schemas.microsoft.com/office/drawing/2014/main" id="{170B35B4-D6CB-4104-8D75-FED83B37EDA0}"/>
                      </a:ext>
                    </a:extLst>
                  </p:cNvPr>
                  <p:cNvCxnSpPr/>
                  <p:nvPr/>
                </p:nvCxnSpPr>
                <p:spPr>
                  <a:xfrm>
                    <a:off x="9527615" y="2040747"/>
                    <a:ext cx="615832" cy="304932"/>
                  </a:xfrm>
                  <a:prstGeom prst="straightConnector1">
                    <a:avLst/>
                  </a:prstGeom>
                  <a:ln w="2540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6E2132A0-9B82-4ADD-AB16-A2C8482EAC71}"/>
                    </a:ext>
                  </a:extLst>
                </p:cNvPr>
                <p:cNvSpPr/>
                <p:nvPr/>
              </p:nvSpPr>
              <p:spPr>
                <a:xfrm>
                  <a:off x="7666695" y="2428802"/>
                  <a:ext cx="300095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dirty="0">
                      <a:solidFill>
                        <a:srgbClr val="C00000"/>
                      </a:solidFill>
                      <a:ea typeface="黑体" panose="02010609060101010101" pitchFamily="49" charset="-122"/>
                    </a:rPr>
                    <a:t>Linearly polarized light</a:t>
                  </a:r>
                  <a:endParaRPr lang="zh-CN" altLang="en-US" sz="2400" b="1" dirty="0">
                    <a:solidFill>
                      <a:srgbClr val="C00000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Rectangle 1">
                    <a:extLst>
                      <a:ext uri="{FF2B5EF4-FFF2-40B4-BE49-F238E27FC236}">
                        <a16:creationId xmlns:a16="http://schemas.microsoft.com/office/drawing/2014/main" id="{7BA71C2B-271B-4AAD-ADB3-77A6869863F5}"/>
                      </a:ext>
                    </a:extLst>
                  </p:cNvPr>
                  <p:cNvSpPr/>
                  <p:nvPr/>
                </p:nvSpPr>
                <p:spPr>
                  <a:xfrm>
                    <a:off x="2803551" y="3295236"/>
                    <a:ext cx="388247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𝑬</m:t>
                          </m:r>
                        </m:oMath>
                      </m:oMathPara>
                    </a14:m>
                    <a:endParaRPr lang="en-US" i="1" dirty="0"/>
                  </a:p>
                </p:txBody>
              </p:sp>
            </mc:Choice>
            <mc:Fallback xmlns="">
              <p:sp>
                <p:nvSpPr>
                  <p:cNvPr id="2" name="Rectangle 1">
                    <a:extLst>
                      <a:ext uri="{FF2B5EF4-FFF2-40B4-BE49-F238E27FC236}">
                        <a16:creationId xmlns:a16="http://schemas.microsoft.com/office/drawing/2014/main" id="{7BA71C2B-271B-4AAD-ADB3-77A6869863F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3551" y="3295236"/>
                    <a:ext cx="388247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D43DAA1D-B766-4ED7-B0AF-4677F3EDEA8A}"/>
                      </a:ext>
                    </a:extLst>
                  </p:cNvPr>
                  <p:cNvSpPr/>
                  <p:nvPr/>
                </p:nvSpPr>
                <p:spPr>
                  <a:xfrm>
                    <a:off x="1416823" y="5177089"/>
                    <a:ext cx="404277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oMath>
                      </m:oMathPara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D43DAA1D-B766-4ED7-B0AF-4677F3EDEA8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16823" y="5177089"/>
                    <a:ext cx="404277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69FCE2FF-098B-4F01-AAB0-88C831E8D3F3}"/>
                    </a:ext>
                  </a:extLst>
                </p:cNvPr>
                <p:cNvSpPr/>
                <p:nvPr/>
              </p:nvSpPr>
              <p:spPr>
                <a:xfrm>
                  <a:off x="1028494" y="1096685"/>
                  <a:ext cx="321844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𝐄</m:t>
                        </m:r>
                        <m:d>
                          <m:d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𝐫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, 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20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𝐄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0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𝐤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⋅</m:t>
                                </m:r>
                                <m:r>
                                  <a:rPr lang="en-US" altLang="zh-CN" sz="2000" b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𝐫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𝜔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69FCE2FF-098B-4F01-AAB0-88C831E8D3F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8494" y="1096685"/>
                  <a:ext cx="3218445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8FDDD285-9690-4803-88B9-934250A2DD77}"/>
                    </a:ext>
                  </a:extLst>
                </p:cNvPr>
                <p:cNvSpPr txBox="1"/>
                <p:nvPr/>
              </p:nvSpPr>
              <p:spPr>
                <a:xfrm>
                  <a:off x="2568307" y="2280380"/>
                  <a:ext cx="274545" cy="369332"/>
                </a:xfrm>
                <a:prstGeom prst="rect">
                  <a:avLst/>
                </a:prstGeom>
                <a:solidFill>
                  <a:srgbClr val="EFEEFE"/>
                </a:solidFill>
              </p:spPr>
              <p:txBody>
                <a:bodyPr wrap="square" lIns="0" r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</m:oMath>
                    </m:oMathPara>
                  </a14:m>
                  <a:endParaRPr lang="zh-CN" altLang="en-US" b="1" dirty="0"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8FDDD285-9690-4803-88B9-934250A2DD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8307" y="2280380"/>
                  <a:ext cx="274545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C384C16-4C90-491F-A91A-F0C6219E33D2}"/>
                    </a:ext>
                  </a:extLst>
                </p:cNvPr>
                <p:cNvSpPr txBox="1"/>
                <p:nvPr/>
              </p:nvSpPr>
              <p:spPr>
                <a:xfrm>
                  <a:off x="1014172" y="4370882"/>
                  <a:ext cx="274545" cy="369332"/>
                </a:xfrm>
                <a:prstGeom prst="rect">
                  <a:avLst/>
                </a:prstGeom>
                <a:solidFill>
                  <a:srgbClr val="EFEEFE"/>
                </a:solidFill>
              </p:spPr>
              <p:txBody>
                <a:bodyPr wrap="square" lIns="0" r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𝒚</m:t>
                        </m:r>
                      </m:oMath>
                    </m:oMathPara>
                  </a14:m>
                  <a:endParaRPr lang="zh-CN" altLang="en-US" b="1" dirty="0"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C384C16-4C90-491F-A91A-F0C6219E33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4172" y="4370882"/>
                  <a:ext cx="274545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6667" r="-6667" b="-49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C5AA86A-5EA4-4094-B098-6ADDF902DC1A}"/>
              </a:ext>
            </a:extLst>
          </p:cNvPr>
          <p:cNvGrpSpPr/>
          <p:nvPr/>
        </p:nvGrpSpPr>
        <p:grpSpPr>
          <a:xfrm>
            <a:off x="6291845" y="901151"/>
            <a:ext cx="4454738" cy="4101231"/>
            <a:chOff x="6312727" y="1056812"/>
            <a:chExt cx="4454738" cy="410123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9F41AE4-3526-48A9-BA60-813AB5742220}"/>
                </a:ext>
              </a:extLst>
            </p:cNvPr>
            <p:cNvGrpSpPr/>
            <p:nvPr/>
          </p:nvGrpSpPr>
          <p:grpSpPr>
            <a:xfrm>
              <a:off x="6312727" y="1056812"/>
              <a:ext cx="4454738" cy="4101231"/>
              <a:chOff x="6312727" y="1056812"/>
              <a:chExt cx="4454738" cy="4101231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32290E37-FA1F-41F1-A5FE-D253BBFF6786}"/>
                  </a:ext>
                </a:extLst>
              </p:cNvPr>
              <p:cNvGrpSpPr/>
              <p:nvPr/>
            </p:nvGrpSpPr>
            <p:grpSpPr>
              <a:xfrm>
                <a:off x="6312727" y="1511632"/>
                <a:ext cx="4454738" cy="3646411"/>
                <a:chOff x="5851750" y="1351200"/>
                <a:chExt cx="4454738" cy="3576963"/>
              </a:xfrm>
            </p:grpSpPr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161B1AAB-A567-4885-B6FF-CC89202862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51750" y="2153080"/>
                  <a:ext cx="4454738" cy="2775083"/>
                </a:xfrm>
                <a:prstGeom prst="rect">
                  <a:avLst/>
                </a:prstGeom>
              </p:spPr>
            </p:pic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95AA9C1B-1E82-4310-ABB0-3DBA78EAD148}"/>
                    </a:ext>
                  </a:extLst>
                </p:cNvPr>
                <p:cNvSpPr/>
                <p:nvPr/>
              </p:nvSpPr>
              <p:spPr>
                <a:xfrm>
                  <a:off x="6701886" y="1351200"/>
                  <a:ext cx="3184013" cy="45287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dirty="0">
                      <a:solidFill>
                        <a:srgbClr val="C00000"/>
                      </a:solidFill>
                      <a:ea typeface="黑体" panose="02010609060101010101" pitchFamily="49" charset="-122"/>
                    </a:rPr>
                    <a:t>Circularly polarized light</a:t>
                  </a:r>
                  <a:endParaRPr lang="zh-CN" altLang="en-US" sz="2400" b="1" dirty="0">
                    <a:solidFill>
                      <a:srgbClr val="C00000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28D8D4AF-2840-434F-AB24-E6AE4705A5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92707" y="1056812"/>
                <a:ext cx="4294777" cy="420077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B9F2E0A-51D2-4AF6-AED3-4B2D319D26AE}"/>
                    </a:ext>
                  </a:extLst>
                </p:cNvPr>
                <p:cNvSpPr txBox="1"/>
                <p:nvPr/>
              </p:nvSpPr>
              <p:spPr>
                <a:xfrm>
                  <a:off x="7773408" y="2562415"/>
                  <a:ext cx="274545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r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𝒙</m:t>
                        </m:r>
                      </m:oMath>
                    </m:oMathPara>
                  </a14:m>
                  <a:endParaRPr lang="zh-CN" altLang="en-US" b="1" dirty="0"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B9F2E0A-51D2-4AF6-AED3-4B2D319D26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3408" y="2562415"/>
                  <a:ext cx="274545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CFB3070-9A94-408B-A2B7-DDA40A779F44}"/>
                    </a:ext>
                  </a:extLst>
                </p:cNvPr>
                <p:cNvSpPr txBox="1"/>
                <p:nvPr/>
              </p:nvSpPr>
              <p:spPr>
                <a:xfrm>
                  <a:off x="6888318" y="3938289"/>
                  <a:ext cx="274545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r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𝒚</m:t>
                        </m:r>
                      </m:oMath>
                    </m:oMathPara>
                  </a14:m>
                  <a:endParaRPr lang="zh-CN" altLang="en-US" b="1" dirty="0"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CFB3070-9A94-408B-A2B7-DDA40A779F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8318" y="3938289"/>
                  <a:ext cx="274545" cy="369332"/>
                </a:xfrm>
                <a:prstGeom prst="rect">
                  <a:avLst/>
                </a:prstGeom>
                <a:blipFill>
                  <a:blip r:embed="rId15"/>
                  <a:stretch>
                    <a:fillRect l="-6667" r="-6667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03CE465-55C4-4881-BFAC-6584B54EE111}"/>
              </a:ext>
            </a:extLst>
          </p:cNvPr>
          <p:cNvGrpSpPr/>
          <p:nvPr/>
        </p:nvGrpSpPr>
        <p:grpSpPr>
          <a:xfrm>
            <a:off x="4298615" y="5203944"/>
            <a:ext cx="6236358" cy="1459812"/>
            <a:chOff x="2524123" y="5081961"/>
            <a:chExt cx="6236358" cy="1459812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9927937-9591-4557-85AA-8BBFDAF9C5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524123" y="5081962"/>
              <a:ext cx="3571878" cy="1459811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64AE32E0-DA7E-49D3-9B09-73300297AA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114814" y="5081961"/>
              <a:ext cx="3645667" cy="14598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061172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模板W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dirty="0" smtClean="0">
            <a:ea typeface="黑体" panose="02010609060101010101" pitchFamily="49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.2 - 光的波粒二象性 W.pptx" id="{B8D2FE50-2AD3-426C-8A13-9B9700071994}" vid="{9413A56A-DFF9-428C-B928-05D58F36795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模板W</Template>
  <TotalTime>3196</TotalTime>
  <Words>1449</Words>
  <Application>Microsoft Office PowerPoint</Application>
  <PresentationFormat>Widescreen</PresentationFormat>
  <Paragraphs>151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等线</vt:lpstr>
      <vt:lpstr>微软雅黑</vt:lpstr>
      <vt:lpstr>Arial</vt:lpstr>
      <vt:lpstr>Calibri</vt:lpstr>
      <vt:lpstr>Cambria Math</vt:lpstr>
      <vt:lpstr>Times New Roman</vt:lpstr>
      <vt:lpstr>模板W</vt:lpstr>
      <vt:lpstr>The Nature of light</vt:lpstr>
      <vt:lpstr>The establishment of the wave theory of light </vt:lpstr>
      <vt:lpstr>PowerPoint Presentation</vt:lpstr>
      <vt:lpstr>Newton’s corpuscle theory</vt:lpstr>
      <vt:lpstr>PowerPoint Presentation</vt:lpstr>
      <vt:lpstr>PowerPoint Presentation</vt:lpstr>
      <vt:lpstr>PowerPoint Presentation</vt:lpstr>
      <vt:lpstr>Hertz’s discovery of the radio wave (1886)</vt:lpstr>
      <vt:lpstr>Lorentz oscillator model on the atom-light interaction </vt:lpstr>
      <vt:lpstr>Propagation properties of plane waves</vt:lpstr>
      <vt:lpstr>Orthogonal(perpendicular) linear polarization decomposition</vt:lpstr>
      <vt:lpstr>PowerPoint Presentation</vt:lpstr>
      <vt:lpstr>Polarizer filters the polarization</vt:lpstr>
      <vt:lpstr>Half wave plate</vt:lpstr>
      <vt:lpstr>Maxwell’s 方程组和电磁波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光的本质</dc:title>
  <dc:creator>zhao kevin</dc:creator>
  <cp:lastModifiedBy>zhao kevin</cp:lastModifiedBy>
  <cp:revision>152</cp:revision>
  <dcterms:created xsi:type="dcterms:W3CDTF">2016-09-17T07:14:19Z</dcterms:created>
  <dcterms:modified xsi:type="dcterms:W3CDTF">2026-09-20T09:04:28Z</dcterms:modified>
</cp:coreProperties>
</file>