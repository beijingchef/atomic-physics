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9"/>
  </p:notesMasterIdLst>
  <p:sldIdLst>
    <p:sldId id="602" r:id="rId2"/>
    <p:sldId id="603" r:id="rId3"/>
    <p:sldId id="599" r:id="rId4"/>
    <p:sldId id="608" r:id="rId5"/>
    <p:sldId id="288" r:id="rId6"/>
    <p:sldId id="609" r:id="rId7"/>
    <p:sldId id="327" r:id="rId8"/>
    <p:sldId id="286" r:id="rId9"/>
    <p:sldId id="296" r:id="rId10"/>
    <p:sldId id="283" r:id="rId11"/>
    <p:sldId id="308" r:id="rId12"/>
    <p:sldId id="306" r:id="rId13"/>
    <p:sldId id="287" r:id="rId14"/>
    <p:sldId id="301" r:id="rId15"/>
    <p:sldId id="325" r:id="rId16"/>
    <p:sldId id="291" r:id="rId17"/>
    <p:sldId id="605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patial quantization" id="{F79212D7-30DD-42A3-90D3-C119502F6ECF}">
          <p14:sldIdLst>
            <p14:sldId id="602"/>
            <p14:sldId id="603"/>
            <p14:sldId id="599"/>
            <p14:sldId id="608"/>
            <p14:sldId id="288"/>
            <p14:sldId id="609"/>
            <p14:sldId id="327"/>
            <p14:sldId id="286"/>
            <p14:sldId id="296"/>
            <p14:sldId id="283"/>
            <p14:sldId id="308"/>
          </p14:sldIdLst>
        </p14:section>
        <p14:section name="Pauli exclusion principle and electron spin" id="{ABCC00CC-D1E8-4614-934D-BA95DA64EE5B}">
          <p14:sldIdLst>
            <p14:sldId id="306"/>
            <p14:sldId id="287"/>
          </p14:sldIdLst>
        </p14:section>
        <p14:section name="Appendix" id="{381AD6C3-705B-48A1-9C93-F235151633A8}">
          <p14:sldIdLst>
            <p14:sldId id="301"/>
            <p14:sldId id="325"/>
            <p14:sldId id="291"/>
            <p14:sldId id="6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9020" autoAdjust="0"/>
  </p:normalViewPr>
  <p:slideViewPr>
    <p:cSldViewPr snapToGrid="0">
      <p:cViewPr varScale="1">
        <p:scale>
          <a:sx n="88" d="100"/>
          <a:sy n="88" d="100"/>
        </p:scale>
        <p:origin x="1299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647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-2914" y="-8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image" Target="../media/image40.wmf"/><Relationship Id="rId18" Type="http://schemas.openxmlformats.org/officeDocument/2006/relationships/image" Target="../media/image4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12" Type="http://schemas.openxmlformats.org/officeDocument/2006/relationships/image" Target="../media/image39.wmf"/><Relationship Id="rId17" Type="http://schemas.openxmlformats.org/officeDocument/2006/relationships/image" Target="../media/image44.wmf"/><Relationship Id="rId2" Type="http://schemas.openxmlformats.org/officeDocument/2006/relationships/image" Target="../media/image29.wmf"/><Relationship Id="rId16" Type="http://schemas.openxmlformats.org/officeDocument/2006/relationships/image" Target="../media/image43.wmf"/><Relationship Id="rId20" Type="http://schemas.openxmlformats.org/officeDocument/2006/relationships/image" Target="../media/image46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11" Type="http://schemas.openxmlformats.org/officeDocument/2006/relationships/image" Target="../media/image38.wmf"/><Relationship Id="rId5" Type="http://schemas.openxmlformats.org/officeDocument/2006/relationships/image" Target="../media/image32.wmf"/><Relationship Id="rId15" Type="http://schemas.openxmlformats.org/officeDocument/2006/relationships/image" Target="../media/image42.wmf"/><Relationship Id="rId10" Type="http://schemas.openxmlformats.org/officeDocument/2006/relationships/image" Target="../media/image37.wmf"/><Relationship Id="rId19" Type="http://schemas.openxmlformats.org/officeDocument/2006/relationships/image" Target="../media/image24.wmf"/><Relationship Id="rId4" Type="http://schemas.openxmlformats.org/officeDocument/2006/relationships/image" Target="../media/image31.wmf"/><Relationship Id="rId9" Type="http://schemas.openxmlformats.org/officeDocument/2006/relationships/image" Target="../media/image36.wmf"/><Relationship Id="rId14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387D0-1216-4FA3-AF01-EA63AC44C2D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8A642B-1D08-47C1-9385-1FDD33F8CE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50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563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8C1A6-BBE9-4961-A96C-F7F5F1B52B7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417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260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22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这个电子的圆周运动来自库伦相互作用，库仑力远大于磁场的洛伦兹力。因此我们可以认为电子的角动量的大小和磁场无关！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68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This convinced me once and for all that an ingenious classical mechanism was out and that we had to face the fact that the quantum phenomena required a completely new orientation. – </a:t>
            </a:r>
            <a:r>
              <a:rPr lang="en-US" altLang="zh-CN" dirty="0" err="1"/>
              <a:t>I.I.Rabi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07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was a sense of crisis. The state of physics ‘was from a methodological point of view, a lamentable hodgepodge of hypothesis, principles, theorems, and computational recipes rather than a logical, consistent theory.</a:t>
            </a:r>
          </a:p>
          <a:p>
            <a:r>
              <a:rPr lang="en-US" dirty="0"/>
              <a:t>Progress was often based on artful guessing and intuition rather than scientific reasoning.</a:t>
            </a:r>
          </a:p>
          <a:p>
            <a:endParaRPr lang="en-US" dirty="0"/>
          </a:p>
          <a:p>
            <a:r>
              <a:rPr lang="en-US" dirty="0"/>
              <a:t>That spring, it seemed that only a quantum magician could conjure up the yearned-for ‘new’ quantum theory – quantum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3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Anzatz</a:t>
            </a:r>
            <a:r>
              <a:rPr lang="zh-CN" altLang="en-US" dirty="0"/>
              <a:t>：</a:t>
            </a:r>
            <a:r>
              <a:rPr lang="en-US" altLang="zh-CN" dirty="0"/>
              <a:t>an</a:t>
            </a:r>
            <a:r>
              <a:rPr lang="en-US" altLang="zh-CN" baseline="0" dirty="0"/>
              <a:t> educated guess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8A642B-1D08-47C1-9385-1FDD33F8CE0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30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5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295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4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84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0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87BCBA8-2040-4DD5-98C7-C51B3657E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6518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4952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00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54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8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FBD3D0E2-FFB6-45FA-A865-B24E917AD09C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/>
          <a:lstStyle/>
          <a:p>
            <a:fld id="{A288CA69-4B7E-474A-B0AD-D23A2F48D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2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08720"/>
            <a:ext cx="109728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602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7" r:id="rId6"/>
    <p:sldLayoutId id="2147483728" r:id="rId7"/>
    <p:sldLayoutId id="2147483729" r:id="rId8"/>
    <p:sldLayoutId id="2147483730" r:id="rId9"/>
    <p:sldLayoutId id="2147483731" r:id="rId10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7.pn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.png"/><Relationship Id="rId20" Type="http://schemas.openxmlformats.org/officeDocument/2006/relationships/image" Target="../media/image10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png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1.bin"/><Relationship Id="rId19" Type="http://schemas.openxmlformats.org/officeDocument/2006/relationships/oleObject" Target="../embeddings/oleObject3.bin"/><Relationship Id="rId4" Type="http://schemas.openxmlformats.org/officeDocument/2006/relationships/image" Target="../media/image8.png"/><Relationship Id="rId1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wmf"/><Relationship Id="rId18" Type="http://schemas.openxmlformats.org/officeDocument/2006/relationships/oleObject" Target="../embeddings/oleObject5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7.png"/><Relationship Id="rId12" Type="http://schemas.openxmlformats.org/officeDocument/2006/relationships/oleObject" Target="../embeddings/oleObject2.bin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13.png"/><Relationship Id="rId20" Type="http://schemas.openxmlformats.org/officeDocument/2006/relationships/image" Target="../media/image10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png"/><Relationship Id="rId11" Type="http://schemas.openxmlformats.org/officeDocument/2006/relationships/image" Target="../media/image5.png"/><Relationship Id="rId5" Type="http://schemas.openxmlformats.org/officeDocument/2006/relationships/oleObject" Target="../embeddings/oleObject1.bin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1.bin"/><Relationship Id="rId19" Type="http://schemas.openxmlformats.org/officeDocument/2006/relationships/oleObject" Target="../embeddings/oleObject5.bin"/><Relationship Id="rId4" Type="http://schemas.openxmlformats.org/officeDocument/2006/relationships/image" Target="../media/image8.png"/><Relationship Id="rId14" Type="http://schemas.openxmlformats.org/officeDocument/2006/relationships/oleObject" Target="../embeddings/oleObject2.bin"/><Relationship Id="rId22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7.jpeg"/><Relationship Id="rId3" Type="http://schemas.openxmlformats.org/officeDocument/2006/relationships/image" Target="../media/image30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3.wmf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image" Target="../media/image24.wmf"/><Relationship Id="rId10" Type="http://schemas.openxmlformats.org/officeDocument/2006/relationships/image" Target="../media/image22.wmf"/><Relationship Id="rId4" Type="http://schemas.openxmlformats.org/officeDocument/2006/relationships/image" Target="../media/image26.png"/><Relationship Id="rId9" Type="http://schemas.openxmlformats.org/officeDocument/2006/relationships/oleObject" Target="../embeddings/oleObject9.bin"/><Relationship Id="rId14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wmf"/><Relationship Id="rId18" Type="http://schemas.openxmlformats.org/officeDocument/2006/relationships/oleObject" Target="../embeddings/oleObject19.bin"/><Relationship Id="rId26" Type="http://schemas.openxmlformats.org/officeDocument/2006/relationships/oleObject" Target="../embeddings/oleObject23.bin"/><Relationship Id="rId39" Type="http://schemas.openxmlformats.org/officeDocument/2006/relationships/image" Target="../media/image44.wmf"/><Relationship Id="rId21" Type="http://schemas.openxmlformats.org/officeDocument/2006/relationships/image" Target="../media/image35.wmf"/><Relationship Id="rId34" Type="http://schemas.openxmlformats.org/officeDocument/2006/relationships/oleObject" Target="../embeddings/oleObject27.bin"/><Relationship Id="rId42" Type="http://schemas.openxmlformats.org/officeDocument/2006/relationships/image" Target="../media/image45.wmf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8.bin"/><Relationship Id="rId29" Type="http://schemas.openxmlformats.org/officeDocument/2006/relationships/image" Target="../media/image39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53.png"/><Relationship Id="rId24" Type="http://schemas.openxmlformats.org/officeDocument/2006/relationships/oleObject" Target="../embeddings/oleObject22.bin"/><Relationship Id="rId32" Type="http://schemas.openxmlformats.org/officeDocument/2006/relationships/oleObject" Target="../embeddings/oleObject26.bin"/><Relationship Id="rId37" Type="http://schemas.openxmlformats.org/officeDocument/2006/relationships/image" Target="../media/image43.wmf"/><Relationship Id="rId40" Type="http://schemas.openxmlformats.org/officeDocument/2006/relationships/image" Target="../media/image27.jpeg"/><Relationship Id="rId45" Type="http://schemas.openxmlformats.org/officeDocument/2006/relationships/oleObject" Target="../embeddings/oleObject31.bin"/><Relationship Id="rId5" Type="http://schemas.openxmlformats.org/officeDocument/2006/relationships/image" Target="../media/image28.wmf"/><Relationship Id="rId15" Type="http://schemas.openxmlformats.org/officeDocument/2006/relationships/image" Target="../media/image32.wmf"/><Relationship Id="rId23" Type="http://schemas.openxmlformats.org/officeDocument/2006/relationships/image" Target="../media/image36.wmf"/><Relationship Id="rId28" Type="http://schemas.openxmlformats.org/officeDocument/2006/relationships/oleObject" Target="../embeddings/oleObject24.bin"/><Relationship Id="rId36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19" Type="http://schemas.openxmlformats.org/officeDocument/2006/relationships/image" Target="../media/image34.wmf"/><Relationship Id="rId31" Type="http://schemas.openxmlformats.org/officeDocument/2006/relationships/image" Target="../media/image40.wmf"/><Relationship Id="rId44" Type="http://schemas.openxmlformats.org/officeDocument/2006/relationships/image" Target="../media/image24.w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Relationship Id="rId27" Type="http://schemas.openxmlformats.org/officeDocument/2006/relationships/image" Target="../media/image38.wmf"/><Relationship Id="rId30" Type="http://schemas.openxmlformats.org/officeDocument/2006/relationships/oleObject" Target="../embeddings/oleObject25.bin"/><Relationship Id="rId35" Type="http://schemas.openxmlformats.org/officeDocument/2006/relationships/image" Target="../media/image42.wmf"/><Relationship Id="rId43" Type="http://schemas.openxmlformats.org/officeDocument/2006/relationships/oleObject" Target="../embeddings/oleObject11.bin"/><Relationship Id="rId8" Type="http://schemas.openxmlformats.org/officeDocument/2006/relationships/image" Target="../media/image52.png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33.wmf"/><Relationship Id="rId25" Type="http://schemas.openxmlformats.org/officeDocument/2006/relationships/image" Target="../media/image37.wmf"/><Relationship Id="rId33" Type="http://schemas.openxmlformats.org/officeDocument/2006/relationships/image" Target="../media/image41.wmf"/><Relationship Id="rId38" Type="http://schemas.openxmlformats.org/officeDocument/2006/relationships/oleObject" Target="../embeddings/oleObject29.bin"/><Relationship Id="rId46" Type="http://schemas.openxmlformats.org/officeDocument/2006/relationships/image" Target="../media/image46.wmf"/><Relationship Id="rId20" Type="http://schemas.openxmlformats.org/officeDocument/2006/relationships/oleObject" Target="../embeddings/oleObject20.bin"/><Relationship Id="rId41" Type="http://schemas.openxmlformats.org/officeDocument/2006/relationships/oleObject" Target="../embeddings/oleObject3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840.png"/><Relationship Id="rId18" Type="http://schemas.openxmlformats.org/officeDocument/2006/relationships/oleObject" Target="../embeddings/oleObject33.bin"/><Relationship Id="rId3" Type="http://schemas.openxmlformats.org/officeDocument/2006/relationships/notesSlide" Target="../notesSlides/notesSlide8.xml"/><Relationship Id="rId21" Type="http://schemas.openxmlformats.org/officeDocument/2006/relationships/image" Target="../media/image59.wmf"/><Relationship Id="rId7" Type="http://schemas.openxmlformats.org/officeDocument/2006/relationships/image" Target="../media/image72.png"/><Relationship Id="rId17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8.wmf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71.png"/><Relationship Id="rId5" Type="http://schemas.openxmlformats.org/officeDocument/2006/relationships/image" Target="../media/image60.png"/><Relationship Id="rId15" Type="http://schemas.openxmlformats.org/officeDocument/2006/relationships/oleObject" Target="../embeddings/oleObject32.bin"/><Relationship Id="rId19" Type="http://schemas.openxmlformats.org/officeDocument/2006/relationships/image" Target="../media/image59.wmf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8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emf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hyperlink" Target="http://scitation.aip.org/content/aip/magazine/physicstoday/article/56/12/10.1063/1.1650229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hopdelta.eu/obrazki_art/polaryzacja_img5.gif">
            <a:extLst>
              <a:ext uri="{FF2B5EF4-FFF2-40B4-BE49-F238E27FC236}">
                <a16:creationId xmlns:a16="http://schemas.microsoft.com/office/drawing/2014/main" id="{CB76A70A-8AF3-4598-931D-90BA33BD737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68" y="1959347"/>
            <a:ext cx="6174481" cy="219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shopdelta.eu/obrazki_art/polaryzacja_img6.gif">
            <a:extLst>
              <a:ext uri="{FF2B5EF4-FFF2-40B4-BE49-F238E27FC236}">
                <a16:creationId xmlns:a16="http://schemas.microsoft.com/office/drawing/2014/main" id="{3BA0CA29-0F99-4E5E-AFD7-47F6D75B420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70" y="4256334"/>
            <a:ext cx="6174480" cy="221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5311EB5-0DA8-4580-AD6A-40736141ACFF}"/>
              </a:ext>
            </a:extLst>
          </p:cNvPr>
          <p:cNvSpPr/>
          <p:nvPr/>
        </p:nvSpPr>
        <p:spPr>
          <a:xfrm>
            <a:off x="1046205" y="804433"/>
            <a:ext cx="103428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light polarization can be represented by the superposition of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orthogonal polarizations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E6405E-90D5-4732-9675-E7F905BC37B7}"/>
              </a:ext>
            </a:extLst>
          </p:cNvPr>
          <p:cNvSpPr/>
          <p:nvPr/>
        </p:nvSpPr>
        <p:spPr>
          <a:xfrm>
            <a:off x="7274256" y="2247312"/>
            <a:ext cx="452423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superposition: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basic polarizations 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perpendicular linearly polarized waves (red &amp; green)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DF3C06-BBFD-4579-8154-BCE26597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</a:rPr>
              <a:t>Polarizations of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light</a:t>
            </a:r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46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shopdelta.eu/obrazki_art/polaryzacja_img8.gif">
            <a:extLst>
              <a:ext uri="{FF2B5EF4-FFF2-40B4-BE49-F238E27FC236}">
                <a16:creationId xmlns:a16="http://schemas.microsoft.com/office/drawing/2014/main" id="{D1467FA5-EA17-41C2-A1A4-558C8BFD92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556" y="1157254"/>
            <a:ext cx="6147707" cy="253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https://shopdelta.eu/obrazki_art/polaryzacja_img9.gif">
            <a:extLst>
              <a:ext uri="{FF2B5EF4-FFF2-40B4-BE49-F238E27FC236}">
                <a16:creationId xmlns:a16="http://schemas.microsoft.com/office/drawing/2014/main" id="{0C7364F2-F4A5-42B1-90C7-3A216FD9A20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267" y="3915264"/>
            <a:ext cx="5616287" cy="247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EFCA74-A909-4448-9219-DCF746CCC59C}"/>
              </a:ext>
            </a:extLst>
          </p:cNvPr>
          <p:cNvSpPr/>
          <p:nvPr/>
        </p:nvSpPr>
        <p:spPr>
          <a:xfrm>
            <a:off x="7339220" y="1301833"/>
            <a:ext cx="44010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superposition:</a:t>
            </a:r>
          </a:p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basic polarizations: 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left- and right-circularly polarized wave ( red &amp; green)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F6E526-F9B6-46AD-9560-16BEECB1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35" y="158240"/>
            <a:ext cx="10972800" cy="576064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黑体" panose="02010609060101010101" pitchFamily="49" charset="-122"/>
              </a:defRPr>
            </a:lvl1pPr>
          </a:lstStyle>
          <a:p>
            <a:r>
              <a:rPr lang="en-US" altLang="zh-CN" dirty="0"/>
              <a:t>Polarizations of</a:t>
            </a:r>
            <a:r>
              <a:rPr lang="zh-CN" altLang="en-US" dirty="0"/>
              <a:t> </a:t>
            </a:r>
            <a:r>
              <a:rPr lang="en-US" altLang="zh-CN" dirty="0"/>
              <a:t>light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39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 Dipole: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displacement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charge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vibrating charge induces vibrating E&amp;M field at distance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blipFill>
                <a:blip r:embed="rId4"/>
                <a:stretch>
                  <a:fillRect t="-5369" b="-1409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1019773" y="143596"/>
            <a:ext cx="8070980" cy="551589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 radiation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124EB9-AAD1-4F08-A2FD-953BB891A21F}"/>
              </a:ext>
            </a:extLst>
          </p:cNvPr>
          <p:cNvGrpSpPr/>
          <p:nvPr/>
        </p:nvGrpSpPr>
        <p:grpSpPr>
          <a:xfrm>
            <a:off x="952376" y="2149794"/>
            <a:ext cx="4544264" cy="4319040"/>
            <a:chOff x="1273502" y="2149794"/>
            <a:chExt cx="4544264" cy="431904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ABB3B0-DACA-4EA9-91FE-60D650F96B75}"/>
                </a:ext>
              </a:extLst>
            </p:cNvPr>
            <p:cNvGrpSpPr/>
            <p:nvPr/>
          </p:nvGrpSpPr>
          <p:grpSpPr>
            <a:xfrm>
              <a:off x="1273502" y="2149794"/>
              <a:ext cx="4544264" cy="4319040"/>
              <a:chOff x="1273502" y="2149794"/>
              <a:chExt cx="4544264" cy="431904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6FD4148-7DC9-4D07-AC60-AC64B649350C}"/>
                  </a:ext>
                </a:extLst>
              </p:cNvPr>
              <p:cNvGrpSpPr/>
              <p:nvPr/>
            </p:nvGrpSpPr>
            <p:grpSpPr>
              <a:xfrm>
                <a:off x="1273502" y="2149794"/>
                <a:ext cx="4544264" cy="4319040"/>
                <a:chOff x="1385481" y="1529110"/>
                <a:chExt cx="4544264" cy="431904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26" name="Object 15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03590710"/>
                        </p:ext>
                      </p:extLst>
                    </p:nvPr>
                  </p:nvGraphicFramePr>
                  <p:xfrm>
                    <a:off x="1385481" y="1529110"/>
                    <a:ext cx="4544264" cy="431904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0458" name="Clip" r:id="rId5" imgW="9982200" imgH="9801225" progId="">
                            <p:embed/>
                          </p:oleObj>
                        </mc:Choice>
                        <mc:Fallback>
                          <p:oleObj name="Clip" r:id="rId5" imgW="9982200" imgH="9801225" progId="">
                            <p:embed/>
                            <p:pic>
                              <p:nvPicPr>
                                <p:cNvPr id="26" name="Object 1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6">
                                  <a:extLst>
                                    <a:ext uri="{28A0092B-C50C-407E-A947-70E740481C1C}">
                                      <a14:useLocalDpi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5481" y="1529110"/>
                                  <a:ext cx="4544264" cy="4319040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26" name="Object 15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03590710"/>
                        </p:ext>
                      </p:extLst>
                    </p:nvPr>
                  </p:nvGraphicFramePr>
                  <p:xfrm>
                    <a:off x="1385481" y="1529110"/>
                    <a:ext cx="4544264" cy="431904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0315" name="Clip" r:id="rId10" imgW="9982200" imgH="9801225" progId="">
                            <p:embed/>
                          </p:oleObj>
                        </mc:Choice>
                        <mc:Fallback>
                          <p:oleObj name="Clip" r:id="rId10" imgW="9982200" imgH="9801225" progId="">
                            <p:embed/>
                            <p:pic>
                              <p:nvPicPr>
                                <p:cNvPr id="26" name="Object 1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1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5481" y="1529110"/>
                                  <a:ext cx="4544264" cy="4319040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" name="Object 3">
                      <a:extLst>
                        <a:ext uri="{FF2B5EF4-FFF2-40B4-BE49-F238E27FC236}">
                          <a16:creationId xmlns:a16="http://schemas.microsoft.com/office/drawing/2014/main" id="{73F1B38F-EEA7-46E5-9A33-83A12797440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056954953"/>
                        </p:ext>
                      </p:extLst>
                    </p:nvPr>
                  </p:nvGraphicFramePr>
                  <p:xfrm>
                    <a:off x="3506539" y="3322680"/>
                    <a:ext cx="238934" cy="318579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0459" name="Equation" r:id="rId12" imgW="114120" imgH="152280" progId="Equation.DSMT4">
                            <p:embed/>
                          </p:oleObj>
                        </mc:Choice>
                        <mc:Fallback>
                          <p:oleObj name="Equation" r:id="rId12" imgW="114120" imgH="152280" progId="Equation.DSMT4">
                            <p:embed/>
                            <p:pic>
                              <p:nvPicPr>
                                <p:cNvPr id="4" name="Object 3">
                                  <a:extLst>
                                    <a:ext uri="{FF2B5EF4-FFF2-40B4-BE49-F238E27FC236}">
                                      <a16:creationId xmlns:a16="http://schemas.microsoft.com/office/drawing/2014/main" id="{73F1B38F-EEA7-46E5-9A33-83A127974409}"/>
                                    </a:ext>
                                  </a:extLst>
                                </p:cNvPr>
                                <p:cNvPicPr/>
                                <p:nvPr/>
                              </p:nvPicPr>
                              <p:blipFill>
                                <a:blip r:embed="rId1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506539" y="3322680"/>
                                  <a:ext cx="238934" cy="318579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4" name="Object 3">
                      <a:extLst>
                        <a:ext uri="{FF2B5EF4-FFF2-40B4-BE49-F238E27FC236}">
                          <a16:creationId xmlns:a16="http://schemas.microsoft.com/office/drawing/2014/main" id="{73F1B38F-EEA7-46E5-9A33-83A12797440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056954953"/>
                        </p:ext>
                      </p:extLst>
                    </p:nvPr>
                  </p:nvGraphicFramePr>
                  <p:xfrm>
                    <a:off x="3506539" y="3322680"/>
                    <a:ext cx="238934" cy="318579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0256" name="Equation" r:id="rId14" imgW="114120" imgH="152280" progId="Equation.DSMT4">
                            <p:embed/>
                          </p:oleObj>
                        </mc:Choice>
                        <mc:Fallback>
                          <p:oleObj name="Equation" r:id="rId14" imgW="114120" imgH="152280" progId="Equation.DSMT4">
                            <p:embed/>
                            <p:pic>
                              <p:nvPicPr>
                                <p:cNvPr id="4" name="Object 3">
                                  <a:extLst>
                                    <a:ext uri="{FF2B5EF4-FFF2-40B4-BE49-F238E27FC236}">
                                      <a16:creationId xmlns:a16="http://schemas.microsoft.com/office/drawing/2014/main" id="{73F1B38F-EEA7-46E5-9A33-83A127974409}"/>
                                    </a:ext>
                                  </a:extLst>
                                </p:cNvPr>
                                <p:cNvPicPr/>
                                <p:nvPr/>
                              </p:nvPicPr>
                              <p:blipFill>
                                <a:blip r:embed="rId15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506539" y="3322680"/>
                                  <a:ext cx="238934" cy="318579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p:sp>
              <p:nvSpPr>
                <p:cNvPr id="5" name="Arc 4">
                  <a:extLst>
                    <a:ext uri="{FF2B5EF4-FFF2-40B4-BE49-F238E27FC236}">
                      <a16:creationId xmlns:a16="http://schemas.microsoft.com/office/drawing/2014/main" id="{337BBB94-B103-42A7-9930-AA2594FDA0B4}"/>
                    </a:ext>
                  </a:extLst>
                </p:cNvPr>
                <p:cNvSpPr/>
                <p:nvPr/>
              </p:nvSpPr>
              <p:spPr>
                <a:xfrm rot="1149468">
                  <a:off x="3466934" y="3598571"/>
                  <a:ext cx="218899" cy="191202"/>
                </a:xfrm>
                <a:prstGeom prst="arc">
                  <a:avLst>
                    <a:gd name="adj1" fmla="val 12955880"/>
                    <a:gd name="adj2" fmla="val 19323252"/>
                  </a:avLst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3BC14F8-48C2-4DE8-8F83-1AA40D2C5364}"/>
                      </a:ext>
                    </a:extLst>
                  </p:cNvPr>
                  <p:cNvSpPr txBox="1"/>
                  <p:nvPr/>
                </p:nvSpPr>
                <p:spPr>
                  <a:xfrm>
                    <a:off x="3765696" y="3757744"/>
                    <a:ext cx="347154" cy="43088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oMath>
                      </m:oMathPara>
                    </a14:m>
                    <a:endParaRPr lang="en-US" sz="2200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3BC14F8-48C2-4DE8-8F83-1AA40D2C53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5696" y="3757744"/>
                    <a:ext cx="347154" cy="43088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754" r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6DAC5A7-E49F-46DA-93DC-C7B4323537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050" y="3699290"/>
              <a:ext cx="559605" cy="825824"/>
            </a:xfrm>
            <a:prstGeom prst="straightConnector1">
              <a:avLst/>
            </a:prstGeom>
            <a:ln w="25400">
              <a:solidFill>
                <a:srgbClr val="C00000"/>
              </a:solidFill>
              <a:prstDash val="sys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C9534-39BC-452D-A8C3-6DA3F141CF94}"/>
              </a:ext>
            </a:extLst>
          </p:cNvPr>
          <p:cNvGrpSpPr/>
          <p:nvPr/>
        </p:nvGrpSpPr>
        <p:grpSpPr>
          <a:xfrm>
            <a:off x="5510130" y="1791217"/>
            <a:ext cx="5559508" cy="3349507"/>
            <a:chOff x="5510130" y="1791217"/>
            <a:chExt cx="5559508" cy="33495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9"/>
                <p:cNvSpPr>
                  <a:spLocks noChangeArrowheads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latitude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longitude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points in the direction of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4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blipFill>
                  <a:blip r:embed="rId17"/>
                  <a:stretch>
                    <a:fillRect l="-2125" r="-531" b="-3461"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98033662"/>
                    </p:ext>
                  </p:extLst>
                </p:nvPr>
              </p:nvGraphicFramePr>
              <p:xfrm>
                <a:off x="5948363" y="2509838"/>
                <a:ext cx="5121275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460" name="Equation" r:id="rId18" imgW="2171520" imgH="419040" progId="Equation.DSMT4">
                        <p:embed/>
                      </p:oleObj>
                    </mc:Choice>
                    <mc:Fallback>
                      <p:oleObj name="Equation" r:id="rId18" imgW="2171520" imgH="419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48363" y="2509838"/>
                              <a:ext cx="5121275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98033662"/>
                    </p:ext>
                  </p:extLst>
                </p:nvPr>
              </p:nvGraphicFramePr>
              <p:xfrm>
                <a:off x="5948363" y="2509838"/>
                <a:ext cx="5121275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439" name="Equation" r:id="rId19" imgW="2171520" imgH="419040" progId="Equation.DSMT4">
                        <p:embed/>
                      </p:oleObj>
                    </mc:Choice>
                    <mc:Fallback>
                      <p:oleObj name="Equation" r:id="rId19" imgW="2171520" imgH="4190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48363" y="2509838"/>
                              <a:ext cx="5121275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A3B893-4880-4FE8-85BA-64B5D1A9A309}"/>
              </a:ext>
            </a:extLst>
          </p:cNvPr>
          <p:cNvGrpSpPr/>
          <p:nvPr/>
        </p:nvGrpSpPr>
        <p:grpSpPr>
          <a:xfrm>
            <a:off x="6230877" y="4586514"/>
            <a:ext cx="5241737" cy="1979618"/>
            <a:chOff x="6230877" y="4586514"/>
            <a:chExt cx="5241737" cy="1979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/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𝐩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      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blipFill>
                  <a:blip r:embed="rId20"/>
                  <a:stretch>
                    <a:fillRect l="-30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9835E2-D258-426D-B7F7-9E0D954BF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831685" y="4586514"/>
              <a:ext cx="1640929" cy="195137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7"/>
              <p:cNvSpPr>
                <a:spLocks noChangeArrowheads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Electric Dipole: </a:t>
                </a:r>
                <a:r>
                  <a:rPr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             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displacement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the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charge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at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time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ct val="2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vibrating charge induces vibrating E&amp;M field at distance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endPara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2376" y="812414"/>
                <a:ext cx="11137557" cy="904863"/>
              </a:xfrm>
              <a:prstGeom prst="rect">
                <a:avLst/>
              </a:prstGeom>
              <a:blipFill>
                <a:blip r:embed="rId4"/>
                <a:stretch>
                  <a:fillRect t="-5369" b="-14094"/>
                </a:stretch>
              </a:blipFill>
              <a:ln w="9525">
                <a:noFill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le 1">
            <a:extLst>
              <a:ext uri="{FF2B5EF4-FFF2-40B4-BE49-F238E27FC236}">
                <a16:creationId xmlns:a16="http://schemas.microsoft.com/office/drawing/2014/main" id="{EED127D0-0D78-4657-BAD1-6A50C39E77AA}"/>
              </a:ext>
            </a:extLst>
          </p:cNvPr>
          <p:cNvSpPr txBox="1">
            <a:spLocks/>
          </p:cNvSpPr>
          <p:nvPr/>
        </p:nvSpPr>
        <p:spPr>
          <a:xfrm>
            <a:off x="1019773" y="143596"/>
            <a:ext cx="8070980" cy="551589"/>
          </a:xfrm>
          <a:prstGeom prst="rect">
            <a:avLst/>
          </a:prstGeom>
        </p:spPr>
        <p:txBody>
          <a:bodyPr/>
          <a:lstStyle>
            <a:lvl1pPr algn="ctr" defTabSz="914354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Dipole radiation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124EB9-AAD1-4F08-A2FD-953BB891A21F}"/>
              </a:ext>
            </a:extLst>
          </p:cNvPr>
          <p:cNvGrpSpPr/>
          <p:nvPr/>
        </p:nvGrpSpPr>
        <p:grpSpPr>
          <a:xfrm>
            <a:off x="952376" y="2149794"/>
            <a:ext cx="4544264" cy="4319040"/>
            <a:chOff x="1273502" y="2149794"/>
            <a:chExt cx="4544264" cy="431904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2ABB3B0-DACA-4EA9-91FE-60D650F96B75}"/>
                </a:ext>
              </a:extLst>
            </p:cNvPr>
            <p:cNvGrpSpPr/>
            <p:nvPr/>
          </p:nvGrpSpPr>
          <p:grpSpPr>
            <a:xfrm>
              <a:off x="1273502" y="2149794"/>
              <a:ext cx="4544264" cy="4319040"/>
              <a:chOff x="1273502" y="2149794"/>
              <a:chExt cx="4544264" cy="4319040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6FD4148-7DC9-4D07-AC60-AC64B649350C}"/>
                  </a:ext>
                </a:extLst>
              </p:cNvPr>
              <p:cNvGrpSpPr/>
              <p:nvPr/>
            </p:nvGrpSpPr>
            <p:grpSpPr>
              <a:xfrm>
                <a:off x="1273502" y="2149794"/>
                <a:ext cx="4544264" cy="4319040"/>
                <a:chOff x="1385481" y="1529110"/>
                <a:chExt cx="4544264" cy="4319040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26" name="Object 1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1385481" y="1529110"/>
                    <a:ext cx="4544264" cy="431904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3350" name="Clip" r:id="rId5" imgW="9982200" imgH="9801225" progId="">
                            <p:embed/>
                          </p:oleObj>
                        </mc:Choice>
                        <mc:Fallback>
                          <p:oleObj name="Clip" r:id="rId5" imgW="9982200" imgH="9801225" progId="">
                            <p:embed/>
                            <p:pic>
                              <p:nvPicPr>
                                <p:cNvPr id="26" name="Object 1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6">
                                  <a:extLst>
                                    <a:ext uri="{28A0092B-C50C-407E-A947-70E740481C1C}">
                                      <a14:useLocalDpi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5481" y="1529110"/>
                                  <a:ext cx="4544264" cy="4319040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26" name="Object 15"/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1403590710"/>
                        </p:ext>
                      </p:extLst>
                    </p:nvPr>
                  </p:nvGraphicFramePr>
                  <p:xfrm>
                    <a:off x="1385481" y="1529110"/>
                    <a:ext cx="4544264" cy="431904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0315" name="Clip" r:id="rId10" imgW="9982200" imgH="9801225" progId="">
                            <p:embed/>
                          </p:oleObj>
                        </mc:Choice>
                        <mc:Fallback>
                          <p:oleObj name="Clip" r:id="rId10" imgW="9982200" imgH="9801225" progId="">
                            <p:embed/>
                            <p:pic>
                              <p:nvPicPr>
                                <p:cNvPr id="26" name="Object 15"/>
                                <p:cNvPicPr>
                                  <a:picLocks noChangeAspect="1" noChangeArrowheads="1"/>
                                </p:cNvPicPr>
                                <p:nvPr/>
                              </p:nvPicPr>
                              <p:blipFill>
                                <a:blip r:embed="rId11">
                                  <a:extLst>
                                    <a:ext uri="{28A0092B-C50C-407E-A947-70E740481C1C}">
                                      <a14:useLocalDpi xmlns:a14="http://schemas.microsoft.com/office/drawing/2010/main" val="0"/>
                                    </a:ext>
                                  </a:extLst>
                                </a:blip>
                                <a:srcRect/>
                                <a:stretch>
                                  <a:fillRect/>
                                </a:stretch>
                              </p:blipFill>
                              <p:spPr bwMode="auto">
                                <a:xfrm>
                                  <a:off x="1385481" y="1529110"/>
                                  <a:ext cx="4544264" cy="4319040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graphicFrame>
                  <p:nvGraphicFramePr>
                    <p:cNvPr id="4" name="Object 3">
                      <a:extLst>
                        <a:ext uri="{FF2B5EF4-FFF2-40B4-BE49-F238E27FC236}">
                          <a16:creationId xmlns:a16="http://schemas.microsoft.com/office/drawing/2014/main" id="{73F1B38F-EEA7-46E5-9A33-83A12797440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/>
                  </p:nvGraphicFramePr>
                  <p:xfrm>
                    <a:off x="3506539" y="3322680"/>
                    <a:ext cx="238934" cy="318579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3351" name="Equation" r:id="rId12" imgW="114120" imgH="152280" progId="Equation.DSMT4">
                            <p:embed/>
                          </p:oleObj>
                        </mc:Choice>
                        <mc:Fallback>
                          <p:oleObj name="Equation" r:id="rId12" imgW="114120" imgH="152280" progId="Equation.DSMT4">
                            <p:embed/>
                            <p:pic>
                              <p:nvPicPr>
                                <p:cNvPr id="4" name="Object 3">
                                  <a:extLst>
                                    <a:ext uri="{FF2B5EF4-FFF2-40B4-BE49-F238E27FC236}">
                                      <a16:creationId xmlns:a16="http://schemas.microsoft.com/office/drawing/2014/main" id="{73F1B38F-EEA7-46E5-9A33-83A127974409}"/>
                                    </a:ext>
                                  </a:extLst>
                                </p:cNvPr>
                                <p:cNvPicPr/>
                                <p:nvPr/>
                              </p:nvPicPr>
                              <p:blipFill>
                                <a:blip r:embed="rId1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506539" y="3322680"/>
                                  <a:ext cx="238934" cy="318579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 xmlns="">
                <p:graphicFrame>
                  <p:nvGraphicFramePr>
                    <p:cNvPr id="4" name="Object 3">
                      <a:extLst>
                        <a:ext uri="{FF2B5EF4-FFF2-40B4-BE49-F238E27FC236}">
                          <a16:creationId xmlns:a16="http://schemas.microsoft.com/office/drawing/2014/main" id="{73F1B38F-EEA7-46E5-9A33-83A127974409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2056954953"/>
                        </p:ext>
                      </p:extLst>
                    </p:nvPr>
                  </p:nvGraphicFramePr>
                  <p:xfrm>
                    <a:off x="3506539" y="3322680"/>
                    <a:ext cx="238934" cy="318579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spid="_x0000_s10256" name="Equation" r:id="rId14" imgW="114120" imgH="152280" progId="Equation.DSMT4">
                            <p:embed/>
                          </p:oleObj>
                        </mc:Choice>
                        <mc:Fallback>
                          <p:oleObj name="Equation" r:id="rId14" imgW="114120" imgH="152280" progId="Equation.DSMT4">
                            <p:embed/>
                            <p:pic>
                              <p:nvPicPr>
                                <p:cNvPr id="4" name="Object 3">
                                  <a:extLst>
                                    <a:ext uri="{FF2B5EF4-FFF2-40B4-BE49-F238E27FC236}">
                                      <a16:creationId xmlns:a16="http://schemas.microsoft.com/office/drawing/2014/main" id="{73F1B38F-EEA7-46E5-9A33-83A127974409}"/>
                                    </a:ext>
                                  </a:extLst>
                                </p:cNvPr>
                                <p:cNvPicPr/>
                                <p:nvPr/>
                              </p:nvPicPr>
                              <p:blipFill>
                                <a:blip r:embed="rId15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3506539" y="3322680"/>
                                  <a:ext cx="238934" cy="318579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  <p:sp>
              <p:nvSpPr>
                <p:cNvPr id="5" name="Arc 4">
                  <a:extLst>
                    <a:ext uri="{FF2B5EF4-FFF2-40B4-BE49-F238E27FC236}">
                      <a16:creationId xmlns:a16="http://schemas.microsoft.com/office/drawing/2014/main" id="{337BBB94-B103-42A7-9930-AA2594FDA0B4}"/>
                    </a:ext>
                  </a:extLst>
                </p:cNvPr>
                <p:cNvSpPr/>
                <p:nvPr/>
              </p:nvSpPr>
              <p:spPr>
                <a:xfrm rot="1149468">
                  <a:off x="3466934" y="3598571"/>
                  <a:ext cx="218899" cy="191202"/>
                </a:xfrm>
                <a:prstGeom prst="arc">
                  <a:avLst>
                    <a:gd name="adj1" fmla="val 12955880"/>
                    <a:gd name="adj2" fmla="val 19323252"/>
                  </a:avLst>
                </a:prstGeom>
                <a:effectLst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3BC14F8-48C2-4DE8-8F83-1AA40D2C5364}"/>
                      </a:ext>
                    </a:extLst>
                  </p:cNvPr>
                  <p:cNvSpPr txBox="1"/>
                  <p:nvPr/>
                </p:nvSpPr>
                <p:spPr>
                  <a:xfrm>
                    <a:off x="3765696" y="3757744"/>
                    <a:ext cx="347154" cy="43088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oMath>
                      </m:oMathPara>
                    </a14:m>
                    <a:endParaRPr lang="en-US" sz="2200" b="1" dirty="0">
                      <a:solidFill>
                        <a:srgbClr val="C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D3BC14F8-48C2-4DE8-8F83-1AA40D2C536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65696" y="3757744"/>
                    <a:ext cx="347154" cy="43088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754" r="-1052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6DAC5A7-E49F-46DA-93DC-C7B4323537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050" y="3699290"/>
              <a:ext cx="559605" cy="825824"/>
            </a:xfrm>
            <a:prstGeom prst="straightConnector1">
              <a:avLst/>
            </a:prstGeom>
            <a:ln w="25400">
              <a:solidFill>
                <a:srgbClr val="C00000"/>
              </a:solidFill>
              <a:prstDash val="sys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0C9534-39BC-452D-A8C3-6DA3F141CF94}"/>
              </a:ext>
            </a:extLst>
          </p:cNvPr>
          <p:cNvGrpSpPr/>
          <p:nvPr/>
        </p:nvGrpSpPr>
        <p:grpSpPr>
          <a:xfrm>
            <a:off x="5510130" y="1791217"/>
            <a:ext cx="5559508" cy="3349507"/>
            <a:chOff x="5510130" y="1791217"/>
            <a:chExt cx="5559508" cy="33495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9"/>
                <p:cNvSpPr>
                  <a:spLocks noChangeArrowheads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:endPara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latitude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</m:oMath>
                  </a14:m>
                  <a:r>
                    <a:rPr lang="zh-CN" altLang="en-US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oscillates along the longitude line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𝒌</m:t>
                      </m:r>
                    </m:oMath>
                  </a14:m>
                  <a:r>
                    <a:rPr lang="en-US" altLang="zh-CN"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points in the direction of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𝑹</m:t>
                      </m:r>
                    </m:oMath>
                  </a14:m>
                  <a:endParaRPr lang="en-US" altLang="zh-CN" sz="2400" b="1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6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10130" y="1791217"/>
                  <a:ext cx="4592924" cy="3349507"/>
                </a:xfrm>
                <a:prstGeom prst="rect">
                  <a:avLst/>
                </a:prstGeom>
                <a:blipFill>
                  <a:blip r:embed="rId17"/>
                  <a:stretch>
                    <a:fillRect l="-2125" r="-531" b="-3461"/>
                  </a:stretch>
                </a:blipFill>
                <a:ln w="9525">
                  <a:noFill/>
                  <a:miter lim="8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948363" y="2509838"/>
                <a:ext cx="5121275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3352" name="Equation" r:id="rId18" imgW="2171520" imgH="419040" progId="Equation.DSMT4">
                        <p:embed/>
                      </p:oleObj>
                    </mc:Choice>
                    <mc:Fallback>
                      <p:oleObj name="Equation" r:id="rId18" imgW="2171520" imgH="419040" progId="Equation.DSMT4">
                        <p:embed/>
                        <p:pic>
                          <p:nvPicPr>
                            <p:cNvPr id="8" name="Object 7">
                              <a:extLst>
                                <a:ext uri="{FF2B5EF4-FFF2-40B4-BE49-F238E27FC236}">
                                  <a16:creationId xmlns:a16="http://schemas.microsoft.com/office/drawing/2014/main" id="{68E25A66-2F6A-4362-9708-7E4BA3B6B48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48363" y="2509838"/>
                              <a:ext cx="5121275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8" name="Object 7">
                  <a:extLst>
                    <a:ext uri="{FF2B5EF4-FFF2-40B4-BE49-F238E27FC236}">
                      <a16:creationId xmlns:a16="http://schemas.microsoft.com/office/drawing/2014/main" id="{68E25A66-2F6A-4362-9708-7E4BA3B6B48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948363" y="2509838"/>
                <a:ext cx="5121275" cy="987425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3331" name="Equation" r:id="rId19" imgW="2171520" imgH="419040" progId="Equation.DSMT4">
                        <p:embed/>
                      </p:oleObj>
                    </mc:Choice>
                    <mc:Fallback>
                      <p:oleObj name="Equation" r:id="rId19" imgW="2171520" imgH="419040" progId="Equation.DSMT4">
                        <p:embed/>
                        <p:pic>
                          <p:nvPicPr>
                            <p:cNvPr id="8" name="Object 7">
                              <a:extLst>
                                <a:ext uri="{FF2B5EF4-FFF2-40B4-BE49-F238E27FC236}">
                                  <a16:creationId xmlns:a16="http://schemas.microsoft.com/office/drawing/2014/main" id="{68E25A66-2F6A-4362-9708-7E4BA3B6B48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948363" y="2509838"/>
                              <a:ext cx="5121275" cy="987425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A3B893-4880-4FE8-85BA-64B5D1A9A309}"/>
              </a:ext>
            </a:extLst>
          </p:cNvPr>
          <p:cNvGrpSpPr/>
          <p:nvPr/>
        </p:nvGrpSpPr>
        <p:grpSpPr>
          <a:xfrm>
            <a:off x="6230877" y="4586514"/>
            <a:ext cx="5241737" cy="1979618"/>
            <a:chOff x="6230877" y="4586514"/>
            <a:chExt cx="5241737" cy="19796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/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solidFill>
                  <a:srgbClr val="FFC000"/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sz="2400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𝐩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t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i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𝜋𝜈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p>
                      </m:sSup>
                    </m:oMath>
                  </a14:m>
                  <a:r>
                    <a:rPr lang="en-US" sz="2400" b="1" dirty="0">
                      <a:latin typeface="Times New Roman" panose="02020603050405020304" pitchFamily="18" charset="0"/>
                      <a:ea typeface="Cambria Math" panose="02040503050406030204" pitchFamily="18" charset="0"/>
                      <a:cs typeface="Times New Roman" panose="02020603050405020304" pitchFamily="18" charset="0"/>
                    </a:rPr>
                    <a:t>       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</m:func>
                      </m:oMath>
                    </m:oMathPara>
                  </a14:m>
                  <a:endPara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FB95FEB-EF47-4558-B771-6A51EC10C5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0877" y="5276612"/>
                  <a:ext cx="2960914" cy="1289520"/>
                </a:xfrm>
                <a:prstGeom prst="rect">
                  <a:avLst/>
                </a:prstGeom>
                <a:blipFill>
                  <a:blip r:embed="rId20"/>
                  <a:stretch>
                    <a:fillRect l="-30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69835E2-D258-426D-B7F7-9E0D954BF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9831685" y="4586514"/>
              <a:ext cx="1640929" cy="195137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344D75-5D45-4693-9093-E3AAE286F7AB}"/>
              </a:ext>
            </a:extLst>
          </p:cNvPr>
          <p:cNvGrpSpPr/>
          <p:nvPr/>
        </p:nvGrpSpPr>
        <p:grpSpPr>
          <a:xfrm>
            <a:off x="924072" y="2232916"/>
            <a:ext cx="4263384" cy="4058054"/>
            <a:chOff x="4564323" y="1431050"/>
            <a:chExt cx="4904105" cy="4973915"/>
          </a:xfrm>
        </p:grpSpPr>
        <p:pic>
          <p:nvPicPr>
            <p:cNvPr id="19" name="Picture 18" descr="Тест &quot;Електромагнитни вълни&quot; (вариант 2) | physicstime.com">
              <a:extLst>
                <a:ext uri="{FF2B5EF4-FFF2-40B4-BE49-F238E27FC236}">
                  <a16:creationId xmlns:a16="http://schemas.microsoft.com/office/drawing/2014/main" id="{D5415A9B-0083-41A9-8A29-926F7D72C276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64323" y="1431050"/>
              <a:ext cx="4904105" cy="49739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DCEFECE7-D0FD-40A3-9446-92B45D3CE896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53" y="2750416"/>
              <a:ext cx="216825" cy="55325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A8C5C40-260D-4541-BF9E-6E623C40C0B0}"/>
                </a:ext>
              </a:extLst>
            </p:cNvPr>
            <p:cNvCxnSpPr>
              <a:cxnSpLocks/>
            </p:cNvCxnSpPr>
            <p:nvPr/>
          </p:nvCxnSpPr>
          <p:spPr>
            <a:xfrm>
              <a:off x="7020670" y="3909065"/>
              <a:ext cx="2319341" cy="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2153F7D-E6DC-4248-8B16-53356F45F4F5}"/>
                </a:ext>
              </a:extLst>
            </p:cNvPr>
            <p:cNvCxnSpPr>
              <a:cxnSpLocks/>
            </p:cNvCxnSpPr>
            <p:nvPr/>
          </p:nvCxnSpPr>
          <p:spPr>
            <a:xfrm>
              <a:off x="9340011" y="3480967"/>
              <a:ext cx="0" cy="816712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1E1A1C1-1E86-4142-9DF4-20111819AF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96975" y="3056081"/>
              <a:ext cx="2093932" cy="858058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4ED7929C-0D63-4E5B-8611-9936EE0C78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6052" y="1710284"/>
              <a:ext cx="564847" cy="2198781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1A2FCC9-033B-4D86-B4B9-7775DEC077B3}"/>
                </a:ext>
              </a:extLst>
            </p:cNvPr>
            <p:cNvCxnSpPr>
              <a:cxnSpLocks/>
            </p:cNvCxnSpPr>
            <p:nvPr/>
          </p:nvCxnSpPr>
          <p:spPr>
            <a:xfrm>
              <a:off x="7423846" y="1631145"/>
              <a:ext cx="335280" cy="92745"/>
            </a:xfrm>
            <a:prstGeom prst="straightConnector1">
              <a:avLst/>
            </a:prstGeom>
            <a:ln w="38100">
              <a:solidFill>
                <a:schemeClr val="accent6">
                  <a:lumMod val="75000"/>
                </a:schemeClr>
              </a:solidFill>
              <a:headEnd type="triangle"/>
              <a:tailEnd type="triangle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1160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B858C60-974E-47E3-9225-CDF5984B1211}"/>
              </a:ext>
            </a:extLst>
          </p:cNvPr>
          <p:cNvGrpSpPr/>
          <p:nvPr/>
        </p:nvGrpSpPr>
        <p:grpSpPr>
          <a:xfrm>
            <a:off x="927563" y="1286602"/>
            <a:ext cx="10422964" cy="5356281"/>
            <a:chOff x="1305503" y="1286602"/>
            <a:chExt cx="10422964" cy="5356281"/>
          </a:xfrm>
        </p:grpSpPr>
        <p:pic>
          <p:nvPicPr>
            <p:cNvPr id="3164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5503" y="1327285"/>
              <a:ext cx="7844304" cy="5315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/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Perpendicular to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(transverse)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∥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  <a:endParaRPr lang="en-US" altLang="zh-CN" sz="2000" b="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blipFill>
                  <a:blip r:embed="rId4"/>
                  <a:stretch>
                    <a:fillRect l="-1495" t="-2304" r="-3987" b="-73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/>
                <p:nvPr/>
              </p:nvSpPr>
              <p:spPr>
                <a:xfrm>
                  <a:off x="4835769" y="1286602"/>
                  <a:ext cx="5136247" cy="163801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With magnetic field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endParaRPr lang="en-US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Observe along the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direction (longitudinal)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symmetrically splits into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with opposite circular polarizations </a:t>
                  </a:r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5769" y="1286602"/>
                  <a:ext cx="5136247" cy="1638013"/>
                </a:xfrm>
                <a:prstGeom prst="rect">
                  <a:avLst/>
                </a:prstGeom>
                <a:blipFill>
                  <a:blip r:embed="rId5"/>
                  <a:stretch>
                    <a:fillRect t="-1859" b="-520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58008"/>
            <a:ext cx="10972800" cy="576064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Zeeman effect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classical (Lorentz) explanation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37288" y="753276"/>
                <a:ext cx="9663830" cy="3732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magnetic field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unpolarized fluorescence of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observed from any direction.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7288" y="753276"/>
                <a:ext cx="9663830" cy="373211"/>
              </a:xfrm>
              <a:blipFill>
                <a:blip r:embed="rId6"/>
                <a:stretch>
                  <a:fillRect l="-694" t="-18033" r="-505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393" y="4017569"/>
            <a:ext cx="2613581" cy="2685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F5F73D-9931-41F3-A6B2-B96E5284AC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9643" y="5484708"/>
            <a:ext cx="389302" cy="455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81778-43F6-4AFB-8669-503EB47397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6200000">
            <a:off x="2630204" y="3456552"/>
            <a:ext cx="389302" cy="455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/>
              <p:nvPr/>
            </p:nvSpPr>
            <p:spPr>
              <a:xfrm>
                <a:off x="5904972" y="5791875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72" y="5791875"/>
                <a:ext cx="332462" cy="276999"/>
              </a:xfrm>
              <a:prstGeom prst="rect">
                <a:avLst/>
              </a:prstGeom>
              <a:blipFill>
                <a:blip r:embed="rId9"/>
                <a:stretch>
                  <a:fillRect l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/>
              <p:nvPr/>
            </p:nvSpPr>
            <p:spPr>
              <a:xfrm>
                <a:off x="7362067" y="5791875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067" y="5791875"/>
                <a:ext cx="332462" cy="276999"/>
              </a:xfrm>
              <a:prstGeom prst="rect">
                <a:avLst/>
              </a:prstGeom>
              <a:blipFill>
                <a:blip r:embed="rId10"/>
                <a:stretch>
                  <a:fillRect l="-9259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F5385F-233E-4DB8-A711-407A1135C1B6}"/>
              </a:ext>
            </a:extLst>
          </p:cNvPr>
          <p:cNvSpPr/>
          <p:nvPr/>
        </p:nvSpPr>
        <p:spPr>
          <a:xfrm>
            <a:off x="788473" y="1219201"/>
            <a:ext cx="10750705" cy="5538194"/>
          </a:xfrm>
          <a:prstGeom prst="roundRect">
            <a:avLst>
              <a:gd name="adj" fmla="val 507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95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B858C60-974E-47E3-9225-CDF5984B1211}"/>
              </a:ext>
            </a:extLst>
          </p:cNvPr>
          <p:cNvGrpSpPr/>
          <p:nvPr/>
        </p:nvGrpSpPr>
        <p:grpSpPr>
          <a:xfrm>
            <a:off x="927563" y="1286602"/>
            <a:ext cx="10422964" cy="5356281"/>
            <a:chOff x="1305503" y="1286602"/>
            <a:chExt cx="10422964" cy="5356281"/>
          </a:xfrm>
        </p:grpSpPr>
        <p:pic>
          <p:nvPicPr>
            <p:cNvPr id="3164" name="Picture 9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5503" y="1327285"/>
              <a:ext cx="7844304" cy="5315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/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Perpendicular to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(transverse)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zh-CN" altLang="en-US" sz="20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∥</m:t>
                      </m:r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𝜋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  <a:endParaRPr lang="en-US" altLang="zh-CN" sz="2000" b="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⊥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linearly polarized 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8B844449-03C9-4BA1-B6EE-756906F2D8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072" y="4005415"/>
                  <a:ext cx="3667395" cy="1323439"/>
                </a:xfrm>
                <a:prstGeom prst="rect">
                  <a:avLst/>
                </a:prstGeom>
                <a:blipFill>
                  <a:blip r:embed="rId4"/>
                  <a:stretch>
                    <a:fillRect l="-1495" t="-2304" r="-3987" b="-737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/>
                <p:nvPr/>
              </p:nvSpPr>
              <p:spPr>
                <a:xfrm>
                  <a:off x="4835769" y="1286602"/>
                  <a:ext cx="5136247" cy="1638013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zh-CN" sz="2000" dirty="0">
                      <a:solidFill>
                        <a:srgbClr val="C00000"/>
                      </a:solidFill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With magnetic field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endParaRPr lang="en-US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Observe along the </a:t>
                  </a:r>
                  <a14:m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𝑩</m:t>
                      </m:r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direction (longitudinal)</a:t>
                  </a: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symmetrically splits into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with opposite circular polarizations </a:t>
                  </a:r>
                  <a:r>
                    <a:rPr lang="zh-CN" altLang="en-US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</m:oMath>
                  </a14:m>
                  <a:r>
                    <a:rPr lang="en-US" altLang="zh-CN" sz="2000" dirty="0">
                      <a:latin typeface="Times New Roman" panose="02020603050405020304" pitchFamily="18" charset="0"/>
                      <a:ea typeface="黑体" panose="02010609060101010101" pitchFamily="49" charset="-122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C0E765D7-8C34-45E8-A463-D00CAA99C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5769" y="1286602"/>
                  <a:ext cx="5136247" cy="1638013"/>
                </a:xfrm>
                <a:prstGeom prst="rect">
                  <a:avLst/>
                </a:prstGeom>
                <a:blipFill>
                  <a:blip r:embed="rId5"/>
                  <a:stretch>
                    <a:fillRect t="-1859" b="-520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58008"/>
            <a:ext cx="10972800" cy="576064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Zeeman effect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1896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its classical (Lorentz) explanation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37288" y="753276"/>
                <a:ext cx="9663830" cy="37321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magnetic field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unpolarized fluorescence of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observed from any direction.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7288" y="753276"/>
                <a:ext cx="9663830" cy="373211"/>
              </a:xfrm>
              <a:blipFill>
                <a:blip r:embed="rId6"/>
                <a:stretch>
                  <a:fillRect l="-694" t="-18033" r="-505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ECF5F73D-9931-41F3-A6B2-B96E5284AC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643" y="5484708"/>
            <a:ext cx="389302" cy="4559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BA81778-43F6-4AFB-8669-503EB47397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630204" y="3456552"/>
            <a:ext cx="389302" cy="4559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/>
              <p:nvPr/>
            </p:nvSpPr>
            <p:spPr>
              <a:xfrm>
                <a:off x="5904972" y="5791875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9E1C853-5FEF-4569-9074-A0A4BE3CA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4972" y="5791875"/>
                <a:ext cx="332462" cy="276999"/>
              </a:xfrm>
              <a:prstGeom prst="rect">
                <a:avLst/>
              </a:prstGeom>
              <a:blipFill>
                <a:blip r:embed="rId8"/>
                <a:stretch>
                  <a:fillRect l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/>
              <p:nvPr/>
            </p:nvSpPr>
            <p:spPr>
              <a:xfrm>
                <a:off x="7362067" y="5791875"/>
                <a:ext cx="3324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CDB470D-FCD8-4C6B-9696-85B93A55C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2067" y="5791875"/>
                <a:ext cx="332462" cy="276999"/>
              </a:xfrm>
              <a:prstGeom prst="rect">
                <a:avLst/>
              </a:prstGeom>
              <a:blipFill>
                <a:blip r:embed="rId9"/>
                <a:stretch>
                  <a:fillRect l="-9259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F5385F-233E-4DB8-A711-407A1135C1B6}"/>
              </a:ext>
            </a:extLst>
          </p:cNvPr>
          <p:cNvSpPr/>
          <p:nvPr/>
        </p:nvSpPr>
        <p:spPr>
          <a:xfrm>
            <a:off x="788473" y="1219201"/>
            <a:ext cx="10750705" cy="5538194"/>
          </a:xfrm>
          <a:prstGeom prst="roundRect">
            <a:avLst>
              <a:gd name="adj" fmla="val 5070"/>
            </a:avLst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20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B5C8A7-438F-4810-82D3-D277A0DB5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92" y="1351884"/>
            <a:ext cx="2987204" cy="33003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CAAD88-8F9A-42D2-ADB8-192FE52275E2}"/>
                  </a:ext>
                </a:extLst>
              </p:cNvPr>
              <p:cNvSpPr txBox="1"/>
              <p:nvPr/>
            </p:nvSpPr>
            <p:spPr>
              <a:xfrm>
                <a:off x="4152608" y="892693"/>
                <a:ext cx="7767252" cy="42775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guess three independent solutions: 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longitudinal 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∥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linear vibration</a:t>
                </a:r>
                <a:r>
                  <a:rPr lang="zh-CN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：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</m:t>
                      </m:r>
                      <m:acc>
                        <m:accPr>
                          <m:chr m:val="̇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𝑩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transverse </a:t>
                </a:r>
                <a:r>
                  <a:rPr lang="en-US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⊥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𝑩</m:t>
                    </m:r>
                    <m:r>
                      <a:rPr lang="en-US" sz="24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circular vibrations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frequency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𝑚𝑟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400" b="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𝑒𝐵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find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𝑒𝐵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CAAD88-8F9A-42D2-ADB8-192FE5227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608" y="892693"/>
                <a:ext cx="7767252" cy="4277581"/>
              </a:xfrm>
              <a:prstGeom prst="rect">
                <a:avLst/>
              </a:prstGeom>
              <a:blipFill>
                <a:blip r:embed="rId4"/>
                <a:stretch>
                  <a:fillRect l="-1177" t="-1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BC23D56-176B-48F6-AC99-91FE0018A630}"/>
              </a:ext>
            </a:extLst>
          </p:cNvPr>
          <p:cNvSpPr/>
          <p:nvPr/>
        </p:nvSpPr>
        <p:spPr>
          <a:xfrm>
            <a:off x="1340487" y="5293544"/>
            <a:ext cx="101929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kind of vibration is equal to the superposition of these three eigen-vibrations.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E&amp;M radiations generated by these three eigen-vibrations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of electron give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to the Zeeman effect.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411C528-731F-45C0-BA65-4437C4BFE304}"/>
              </a:ext>
            </a:extLst>
          </p:cNvPr>
          <p:cNvGrpSpPr/>
          <p:nvPr/>
        </p:nvGrpSpPr>
        <p:grpSpPr>
          <a:xfrm>
            <a:off x="3130334" y="306827"/>
            <a:ext cx="5320620" cy="576263"/>
            <a:chOff x="5121728" y="448870"/>
            <a:chExt cx="5320620" cy="576263"/>
          </a:xfrm>
        </p:grpSpPr>
        <p:graphicFrame>
          <p:nvGraphicFramePr>
            <p:cNvPr id="5" name="Object 4">
              <a:extLst>
                <a:ext uri="{FF2B5EF4-FFF2-40B4-BE49-F238E27FC236}">
                  <a16:creationId xmlns:a16="http://schemas.microsoft.com/office/drawing/2014/main" id="{7ABFC262-5EA8-4740-A3CB-DA2973FADC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2833291"/>
                </p:ext>
              </p:extLst>
            </p:nvPr>
          </p:nvGraphicFramePr>
          <p:xfrm>
            <a:off x="7630885" y="448870"/>
            <a:ext cx="2811463" cy="576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1" name="Equation" r:id="rId5" imgW="2811738" imgH="576105" progId="Equation.DSMT4">
                    <p:embed/>
                  </p:oleObj>
                </mc:Choice>
                <mc:Fallback>
                  <p:oleObj name="Equation" r:id="rId5" imgW="2811738" imgH="57610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630885" y="448870"/>
                          <a:ext cx="2811463" cy="5762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00C101-878C-4CCE-84EA-1EF1C60E526E}"/>
                </a:ext>
              </a:extLst>
            </p:cNvPr>
            <p:cNvSpPr txBox="1"/>
            <p:nvPr/>
          </p:nvSpPr>
          <p:spPr>
            <a:xfrm>
              <a:off x="5121728" y="506170"/>
              <a:ext cx="25091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Lorentz equation:</a:t>
              </a:r>
              <a:endParaRPr 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235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4375" y="160339"/>
            <a:ext cx="8229600" cy="576064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*Bohr-Sommerfeld (old) quantum theory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46889" y="1023472"/>
                <a:ext cx="6049854" cy="5468802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Bohr model only allow circular orbits.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	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𝐸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000" b="0" i="1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𝐿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𝑛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ℏ</m:t>
                    </m:r>
                  </m:oMath>
                </a14:m>
                <a:endPara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Sommerfeld’s</a:t>
                </a:r>
                <a:r>
                  <a:rPr lang="zh-CN" altLang="en-US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extension: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Add the 2nd quantum number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𝑙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to represent elliptical orbits. </a:t>
                </a:r>
                <a:endPara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  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/>
                        </a:rPr>
                        <m:t>𝑙</m:t>
                      </m:r>
                      <m:r>
                        <a:rPr lang="en-US" altLang="zh-CN" sz="2000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ℏ</m:t>
                      </m:r>
                      <m:r>
                        <a:rPr lang="zh-CN" alt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，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 </m:t>
                      </m:r>
                      <m:d>
                        <m:dPr>
                          <m:ctrlP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𝑙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=1,…</m:t>
                          </m:r>
                          <m:r>
                            <a:rPr lang="en-US" altLang="zh-CN" sz="20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altLang="zh-CN" sz="20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Add the 3rd quantum number to represent the orientation of orbits (space quantization)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each</m:t>
                      </m:r>
                      <m:r>
                        <m:rPr>
                          <m:nor/>
                        </m:rPr>
                        <a:rPr lang="en-US" altLang="zh-CN" sz="2000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sz="20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  </m:t>
                          </m:r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0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ℏ,  (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=−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𝑙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,−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𝑙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+1…,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𝑙</m:t>
                      </m:r>
                      <m:r>
                        <a:rPr lang="en-US" altLang="zh-CN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-US" altLang="zh-CN" sz="2000" i="1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2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𝑙</m:t>
                      </m:r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+1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in</m:t>
                      </m:r>
                      <m:r>
                        <a:rPr lang="en-US" altLang="zh-CN" sz="20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0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total</m:t>
                      </m:r>
                    </m:oMath>
                  </m:oMathPara>
                </a14:m>
                <a:endPara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89" y="1023472"/>
                <a:ext cx="6049854" cy="5468802"/>
              </a:xfrm>
              <a:blipFill>
                <a:blip r:embed="rId3"/>
                <a:stretch>
                  <a:fillRect l="-1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&#10;\oint\limits_{H(p,q)=E} p_i \, dq_i = n_i h&#10;"/>
          <p:cNvSpPr>
            <a:spLocks noChangeAspect="1" noChangeArrowheads="1"/>
          </p:cNvSpPr>
          <p:nvPr/>
        </p:nvSpPr>
        <p:spPr bwMode="auto">
          <a:xfrm>
            <a:off x="1679575" y="-14446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9CD1AA0-C72D-4791-B9A5-AB1DFAC4B933}"/>
              </a:ext>
            </a:extLst>
          </p:cNvPr>
          <p:cNvGrpSpPr/>
          <p:nvPr/>
        </p:nvGrpSpPr>
        <p:grpSpPr>
          <a:xfrm>
            <a:off x="6444342" y="921112"/>
            <a:ext cx="5304713" cy="3102166"/>
            <a:chOff x="6239437" y="1224236"/>
            <a:chExt cx="5367918" cy="322225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51C043E-A148-4178-A29D-3A1044792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39437" y="1224236"/>
              <a:ext cx="4881883" cy="3222258"/>
            </a:xfrm>
            <a:prstGeom prst="rect">
              <a:avLst/>
            </a:prstGeom>
          </p:spPr>
        </p:pic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2FA5A06A-1398-4349-A3B5-1B571D8190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9180159"/>
                </p:ext>
              </p:extLst>
            </p:nvPr>
          </p:nvGraphicFramePr>
          <p:xfrm>
            <a:off x="8596393" y="1258507"/>
            <a:ext cx="469525" cy="277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0" name="Equation" r:id="rId5" imgW="279360" imgH="164880" progId="Equation.DSMT4">
                    <p:embed/>
                  </p:oleObj>
                </mc:Choice>
                <mc:Fallback>
                  <p:oleObj name="Equation" r:id="rId5" imgW="2793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596393" y="1258507"/>
                          <a:ext cx="469525" cy="27744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1">
              <a:extLst>
                <a:ext uri="{FF2B5EF4-FFF2-40B4-BE49-F238E27FC236}">
                  <a16:creationId xmlns:a16="http://schemas.microsoft.com/office/drawing/2014/main" id="{1FE4AA3B-F815-4E01-8086-F1DD27F1BAB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4292554"/>
                </p:ext>
              </p:extLst>
            </p:nvPr>
          </p:nvGraphicFramePr>
          <p:xfrm>
            <a:off x="9786663" y="1682375"/>
            <a:ext cx="494002" cy="291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1" name="Equation" r:id="rId7" imgW="279360" imgH="164880" progId="Equation.DSMT4">
                    <p:embed/>
                  </p:oleObj>
                </mc:Choice>
                <mc:Fallback>
                  <p:oleObj name="Equation" r:id="rId7" imgW="2793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786663" y="1682375"/>
                          <a:ext cx="494002" cy="2919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2">
              <a:extLst>
                <a:ext uri="{FF2B5EF4-FFF2-40B4-BE49-F238E27FC236}">
                  <a16:creationId xmlns:a16="http://schemas.microsoft.com/office/drawing/2014/main" id="{966772CE-1B06-4618-8F36-67B3CAFEE2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4480930"/>
                </p:ext>
              </p:extLst>
            </p:nvPr>
          </p:nvGraphicFramePr>
          <p:xfrm>
            <a:off x="10540726" y="2106238"/>
            <a:ext cx="494002" cy="291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2" name="Equation" r:id="rId9" imgW="279360" imgH="164880" progId="Equation.DSMT4">
                    <p:embed/>
                  </p:oleObj>
                </mc:Choice>
                <mc:Fallback>
                  <p:oleObj name="Equation" r:id="rId9" imgW="2793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540726" y="2106238"/>
                          <a:ext cx="494002" cy="2919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>
              <a:extLst>
                <a:ext uri="{FF2B5EF4-FFF2-40B4-BE49-F238E27FC236}">
                  <a16:creationId xmlns:a16="http://schemas.microsoft.com/office/drawing/2014/main" id="{30BC91A9-E4DA-4489-8380-C21D2119BD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9955476"/>
                </p:ext>
              </p:extLst>
            </p:nvPr>
          </p:nvGraphicFramePr>
          <p:xfrm>
            <a:off x="11158263" y="2545975"/>
            <a:ext cx="449092" cy="291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3" name="Equation" r:id="rId11" imgW="253800" imgH="164880" progId="Equation.DSMT4">
                    <p:embed/>
                  </p:oleObj>
                </mc:Choice>
                <mc:Fallback>
                  <p:oleObj name="Equation" r:id="rId11" imgW="25380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1158263" y="2545975"/>
                          <a:ext cx="449092" cy="2919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5">
            <a:extLst>
              <a:ext uri="{FF2B5EF4-FFF2-40B4-BE49-F238E27FC236}">
                <a16:creationId xmlns:a16="http://schemas.microsoft.com/office/drawing/2014/main" id="{F0233277-D44A-4813-92FD-313CFC0B2E4D}"/>
              </a:ext>
            </a:extLst>
          </p:cNvPr>
          <p:cNvGrpSpPr/>
          <p:nvPr/>
        </p:nvGrpSpPr>
        <p:grpSpPr>
          <a:xfrm>
            <a:off x="8915063" y="3659068"/>
            <a:ext cx="2851096" cy="3125674"/>
            <a:chOff x="2844912" y="1983647"/>
            <a:chExt cx="2686096" cy="2737784"/>
          </a:xfrm>
        </p:grpSpPr>
        <p:pic>
          <p:nvPicPr>
            <p:cNvPr id="23" name="Picture 2" descr="http://www.physics.sjsu.edu/becker/physics51/images/29_22_Magnetic_dipole_moment.JPG">
              <a:extLst>
                <a:ext uri="{FF2B5EF4-FFF2-40B4-BE49-F238E27FC236}">
                  <a16:creationId xmlns:a16="http://schemas.microsoft.com/office/drawing/2014/main" id="{C46CB90B-F7FF-4DB5-8C6C-FBEECA7580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396"/>
            <a:stretch/>
          </p:blipFill>
          <p:spPr bwMode="auto">
            <a:xfrm rot="1124431">
              <a:off x="2844912" y="1983647"/>
              <a:ext cx="2686096" cy="2737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C29EC3A-9BD2-44CE-8206-CD1AC0F3E3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2385" y="2064329"/>
              <a:ext cx="0" cy="138639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26" name="Object 25">
              <a:extLst>
                <a:ext uri="{FF2B5EF4-FFF2-40B4-BE49-F238E27FC236}">
                  <a16:creationId xmlns:a16="http://schemas.microsoft.com/office/drawing/2014/main" id="{6524BA48-E93D-4983-AABD-11F1849223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3821610"/>
                </p:ext>
              </p:extLst>
            </p:nvPr>
          </p:nvGraphicFramePr>
          <p:xfrm>
            <a:off x="4061698" y="2064327"/>
            <a:ext cx="1778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44" name="Equation" r:id="rId14" imgW="177480" imgH="177480" progId="Equation.DSMT4">
                    <p:embed/>
                  </p:oleObj>
                </mc:Choice>
                <mc:Fallback>
                  <p:oleObj name="Equation" r:id="rId14" imgW="177480" imgH="177480" progId="Equation.DSMT4">
                    <p:embed/>
                    <p:pic>
                      <p:nvPicPr>
                        <p:cNvPr id="14" name="Object 13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061698" y="2064327"/>
                          <a:ext cx="177800" cy="177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A926167C-BAE3-4B9B-959A-B6B7E46A65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34676"/>
              </p:ext>
            </p:extLst>
          </p:nvPr>
        </p:nvGraphicFramePr>
        <p:xfrm>
          <a:off x="7242387" y="4929187"/>
          <a:ext cx="1193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5" name="Equation" r:id="rId16" imgW="1193760" imgH="253800" progId="Equation.DSMT4">
                  <p:embed/>
                </p:oleObj>
              </mc:Choice>
              <mc:Fallback>
                <p:oleObj name="Equation" r:id="rId16" imgW="1193760" imgH="25380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51824FD-555F-427D-938B-8282FD9CE5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242387" y="4929187"/>
                        <a:ext cx="1193800" cy="254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83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46600"/>
            <a:ext cx="10972800" cy="576064"/>
          </a:xfrm>
        </p:spPr>
        <p:txBody>
          <a:bodyPr/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Zeeman effect explained by Bohr-Sommerfeld model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897811"/>
              </p:ext>
            </p:extLst>
          </p:nvPr>
        </p:nvGraphicFramePr>
        <p:xfrm>
          <a:off x="4362081" y="1629686"/>
          <a:ext cx="3624262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4" name="Equation" r:id="rId4" imgW="3886200" imgH="1409400" progId="Equation.DSMT4">
                  <p:embed/>
                </p:oleObj>
              </mc:Choice>
              <mc:Fallback>
                <p:oleObj name="Equation" r:id="rId4" imgW="3886200" imgH="1409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62081" y="1629686"/>
                        <a:ext cx="3624262" cy="1317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037091"/>
              </p:ext>
            </p:extLst>
          </p:nvPr>
        </p:nvGraphicFramePr>
        <p:xfrm>
          <a:off x="4616450" y="4308475"/>
          <a:ext cx="2511425" cy="193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5" name="Equation" r:id="rId6" imgW="2527200" imgH="1942920" progId="Equation.DSMT4">
                  <p:embed/>
                </p:oleObj>
              </mc:Choice>
              <mc:Fallback>
                <p:oleObj name="Equation" r:id="rId6" imgW="2527200" imgH="19429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450" y="4308475"/>
                        <a:ext cx="2511425" cy="1935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735565" y="976120"/>
                <a:ext cx="688521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Electronic circular motion induces an orbital magnetic moment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𝝁</m:t>
                    </m:r>
                  </m:oMath>
                </a14:m>
                <a:endPara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565" y="976120"/>
                <a:ext cx="6885218" cy="400110"/>
              </a:xfrm>
              <a:prstGeom prst="rect">
                <a:avLst/>
              </a:prstGeom>
              <a:blipFill>
                <a:blip r:embed="rId8"/>
                <a:stretch>
                  <a:fillRect l="-974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51824FD-555F-427D-938B-8282FD9CE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641574"/>
              </p:ext>
            </p:extLst>
          </p:nvPr>
        </p:nvGraphicFramePr>
        <p:xfrm>
          <a:off x="808433" y="4943079"/>
          <a:ext cx="340360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6" name="Equation" r:id="rId9" imgW="3403440" imgH="1625400" progId="Equation.DSMT4">
                  <p:embed/>
                </p:oleObj>
              </mc:Choice>
              <mc:Fallback>
                <p:oleObj name="Equation" r:id="rId9" imgW="3403440" imgH="1625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08433" y="4943079"/>
                        <a:ext cx="3403600" cy="16256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D93D0A-BDE5-4072-A940-5EE5A2A708E4}"/>
                  </a:ext>
                </a:extLst>
              </p:cNvPr>
              <p:cNvSpPr txBox="1"/>
              <p:nvPr/>
            </p:nvSpPr>
            <p:spPr>
              <a:xfrm>
                <a:off x="4289501" y="3644977"/>
                <a:ext cx="331712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 potential energy of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𝝁</m:t>
                    </m:r>
                  </m:oMath>
                </a14:m>
                <a:r>
                  <a:rPr lang="zh-CN" altLang="en-US" sz="20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CN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𝑩</m:t>
                    </m:r>
                  </m:oMath>
                </a14:m>
                <a:endParaRPr lang="zh-CN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D93D0A-BDE5-4072-A940-5EE5A2A70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9501" y="3644977"/>
                <a:ext cx="3317127" cy="400110"/>
              </a:xfrm>
              <a:prstGeom prst="rect">
                <a:avLst/>
              </a:prstGeom>
              <a:blipFill>
                <a:blip r:embed="rId11"/>
                <a:stretch>
                  <a:fillRect l="-2022"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6B038EC8-ECFE-4C03-BA7A-213191D16BDE}"/>
              </a:ext>
            </a:extLst>
          </p:cNvPr>
          <p:cNvGrpSpPr/>
          <p:nvPr/>
        </p:nvGrpSpPr>
        <p:grpSpPr>
          <a:xfrm>
            <a:off x="8775074" y="2081751"/>
            <a:ext cx="3164700" cy="3500670"/>
            <a:chOff x="8775074" y="2081751"/>
            <a:chExt cx="3164700" cy="3500670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B2229BC-001E-43FE-A6EB-7CD2D370584F}"/>
                </a:ext>
              </a:extLst>
            </p:cNvPr>
            <p:cNvGrpSpPr/>
            <p:nvPr/>
          </p:nvGrpSpPr>
          <p:grpSpPr>
            <a:xfrm>
              <a:off x="8775074" y="2081751"/>
              <a:ext cx="3164700" cy="3500670"/>
              <a:chOff x="8754054" y="3001730"/>
              <a:chExt cx="3164700" cy="3500670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60C5522-1424-4590-8443-49B2D5B36E53}"/>
                  </a:ext>
                </a:extLst>
              </p:cNvPr>
              <p:cNvGrpSpPr/>
              <p:nvPr/>
            </p:nvGrpSpPr>
            <p:grpSpPr>
              <a:xfrm>
                <a:off x="8799513" y="3001730"/>
                <a:ext cx="3116704" cy="3262545"/>
                <a:chOff x="8740114" y="2730661"/>
                <a:chExt cx="3116704" cy="3262545"/>
              </a:xfrm>
            </p:grpSpPr>
            <p:graphicFrame>
              <p:nvGraphicFramePr>
                <p:cNvPr id="39" name="Object 38">
                  <a:extLst>
                    <a:ext uri="{FF2B5EF4-FFF2-40B4-BE49-F238E27FC236}">
                      <a16:creationId xmlns:a16="http://schemas.microsoft.com/office/drawing/2014/main" id="{C2B9BCEF-5DBC-4414-A501-9BB976A0181B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066929604"/>
                    </p:ext>
                  </p:extLst>
                </p:nvPr>
              </p:nvGraphicFramePr>
              <p:xfrm>
                <a:off x="8846476" y="5701106"/>
                <a:ext cx="495300" cy="2921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727" name="Equation" r:id="rId12" imgW="291960" imgH="177480" progId="Equation.DSMT4">
                        <p:embed/>
                      </p:oleObj>
                    </mc:Choice>
                    <mc:Fallback>
                      <p:oleObj name="Equation" r:id="rId12" imgW="291960" imgH="177480" progId="Equation.DSMT4">
                        <p:embed/>
                        <p:pic>
                          <p:nvPicPr>
                            <p:cNvPr id="1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3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846476" y="5701106"/>
                              <a:ext cx="495300" cy="2921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2" name="Object 21">
                  <a:extLst>
                    <a:ext uri="{FF2B5EF4-FFF2-40B4-BE49-F238E27FC236}">
                      <a16:creationId xmlns:a16="http://schemas.microsoft.com/office/drawing/2014/main" id="{1072D62E-5D84-4062-9EC4-C9F465E70D7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548049432"/>
                    </p:ext>
                  </p:extLst>
                </p:nvPr>
              </p:nvGraphicFramePr>
              <p:xfrm>
                <a:off x="8740114" y="4051694"/>
                <a:ext cx="571500" cy="2936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728" name="Equation" r:id="rId14" imgW="355320" imgH="177480" progId="Equation.DSMT4">
                        <p:embed/>
                      </p:oleObj>
                    </mc:Choice>
                    <mc:Fallback>
                      <p:oleObj name="Equation" r:id="rId14" imgW="355320" imgH="177480" progId="Equation.DSMT4">
                        <p:embed/>
                        <p:pic>
                          <p:nvPicPr>
                            <p:cNvPr id="13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8740114" y="4051694"/>
                              <a:ext cx="571500" cy="2936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7FE082F7-C8C5-412C-805C-11458F8699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387625" y="4166969"/>
                  <a:ext cx="1637811" cy="20998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26" name="Object 25">
                  <a:extLst>
                    <a:ext uri="{FF2B5EF4-FFF2-40B4-BE49-F238E27FC236}">
                      <a16:creationId xmlns:a16="http://schemas.microsoft.com/office/drawing/2014/main" id="{361384CA-B6F5-4732-8BC4-B9A3B4D56B3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775178257"/>
                    </p:ext>
                  </p:extLst>
                </p:nvPr>
              </p:nvGraphicFramePr>
              <p:xfrm>
                <a:off x="11110693" y="4313068"/>
                <a:ext cx="7461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729" name="Equation" r:id="rId16" imgW="571320" imgH="203040" progId="Equation.DSMT4">
                        <p:embed/>
                      </p:oleObj>
                    </mc:Choice>
                    <mc:Fallback>
                      <p:oleObj name="Equation" r:id="rId16" imgW="571320" imgH="203040" progId="Equation.DSMT4">
                        <p:embed/>
                        <p:pic>
                          <p:nvPicPr>
                            <p:cNvPr id="20" name="Object 1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110693" y="4313068"/>
                              <a:ext cx="746125" cy="2587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7" name="Object 26">
                  <a:extLst>
                    <a:ext uri="{FF2B5EF4-FFF2-40B4-BE49-F238E27FC236}">
                      <a16:creationId xmlns:a16="http://schemas.microsoft.com/office/drawing/2014/main" id="{4E20FF9B-A0E3-4E5B-8077-2883DC46AF2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72574849"/>
                    </p:ext>
                  </p:extLst>
                </p:nvPr>
              </p:nvGraphicFramePr>
              <p:xfrm>
                <a:off x="11110693" y="3682613"/>
                <a:ext cx="58102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730" name="Equation" r:id="rId18" imgW="444240" imgH="203040" progId="Equation.DSMT4">
                        <p:embed/>
                      </p:oleObj>
                    </mc:Choice>
                    <mc:Fallback>
                      <p:oleObj name="Equation" r:id="rId18" imgW="444240" imgH="203040" progId="Equation.DSMT4">
                        <p:embed/>
                        <p:pic>
                          <p:nvPicPr>
                            <p:cNvPr id="21" name="Object 2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110693" y="3682613"/>
                              <a:ext cx="581025" cy="2587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8" name="Object 27">
                  <a:extLst>
                    <a:ext uri="{FF2B5EF4-FFF2-40B4-BE49-F238E27FC236}">
                      <a16:creationId xmlns:a16="http://schemas.microsoft.com/office/drawing/2014/main" id="{10082A47-C48B-4912-8E86-05479FD798D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193327420"/>
                    </p:ext>
                  </p:extLst>
                </p:nvPr>
              </p:nvGraphicFramePr>
              <p:xfrm>
                <a:off x="11110693" y="4008823"/>
                <a:ext cx="612775" cy="25876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731" name="Equation" r:id="rId20" imgW="469800" imgH="203040" progId="Equation.DSMT4">
                        <p:embed/>
                      </p:oleObj>
                    </mc:Choice>
                    <mc:Fallback>
                      <p:oleObj name="Equation" r:id="rId20" imgW="469800" imgH="203040" progId="Equation.DSMT4">
                        <p:embed/>
                        <p:pic>
                          <p:nvPicPr>
                            <p:cNvPr id="22" name="Object 2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1110693" y="4008823"/>
                              <a:ext cx="612775" cy="25876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D6E01584-69F3-4A82-9856-7DF944CFAD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78303" y="4483228"/>
                  <a:ext cx="26884" cy="1372083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23FFEF5-AAC2-4962-A1C9-626FAA6BA1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382528" y="4187967"/>
                  <a:ext cx="17948" cy="164058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2"/>
                </a:lnRef>
                <a:fillRef idx="0">
                  <a:schemeClr val="accent2"/>
                </a:fillRef>
                <a:effectRef idx="1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92CFA2C2-2211-46A4-9669-1271CCFDD3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47441" y="3850890"/>
                  <a:ext cx="18387" cy="1977662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4"/>
                </a:lnRef>
                <a:fillRef idx="0">
                  <a:schemeClr val="accent4"/>
                </a:fillRef>
                <a:effectRef idx="1">
                  <a:schemeClr val="accent4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06FE453-1214-44E2-8BD8-D35BCC80AF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80104" y="4456242"/>
                  <a:ext cx="1245332" cy="9741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108D0448-1160-42EF-9D90-26D41BCFEE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758017" y="3857226"/>
                  <a:ext cx="1267419" cy="10912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665A999D-5CD3-4D39-9ACF-F5861A6907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9399181" y="3872125"/>
                  <a:ext cx="357417" cy="322419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57D46C7-C815-48BB-9D9B-DA9C38607F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1607" y="4188100"/>
                  <a:ext cx="388263" cy="283644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aphicFrame>
              <p:nvGraphicFramePr>
                <p:cNvPr id="44" name="Object 43">
                  <a:extLst>
                    <a:ext uri="{FF2B5EF4-FFF2-40B4-BE49-F238E27FC236}">
                      <a16:creationId xmlns:a16="http://schemas.microsoft.com/office/drawing/2014/main" id="{9EFE3A93-BB17-4753-9CC3-71513E22C019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081358631"/>
                    </p:ext>
                  </p:extLst>
                </p:nvPr>
              </p:nvGraphicFramePr>
              <p:xfrm>
                <a:off x="9577655" y="2730661"/>
                <a:ext cx="1817056" cy="3539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732" name="Equation" r:id="rId22" imgW="977760" imgH="190440" progId="Equation.DSMT4">
                        <p:embed/>
                      </p:oleObj>
                    </mc:Choice>
                    <mc:Fallback>
                      <p:oleObj name="Equation" r:id="rId22" imgW="977760" imgH="19044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2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9577655" y="2730661"/>
                              <a:ext cx="1817056" cy="35397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DE559304-4C4C-4D63-BE80-69A664B8CA4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46790" y="6114021"/>
                <a:ext cx="1622281" cy="12359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35" name="Object 34">
                <a:extLst>
                  <a:ext uri="{FF2B5EF4-FFF2-40B4-BE49-F238E27FC236}">
                    <a16:creationId xmlns:a16="http://schemas.microsoft.com/office/drawing/2014/main" id="{EFA928D8-E2CA-476B-A187-303E94E2F7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6805510"/>
                  </p:ext>
                </p:extLst>
              </p:nvPr>
            </p:nvGraphicFramePr>
            <p:xfrm>
              <a:off x="11202988" y="6259513"/>
              <a:ext cx="679450" cy="242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33" name="Equation" r:id="rId24" imgW="520560" imgH="190440" progId="Equation.DSMT4">
                      <p:embed/>
                    </p:oleObj>
                  </mc:Choice>
                  <mc:Fallback>
                    <p:oleObj name="Equation" r:id="rId24" imgW="520560" imgH="190440" progId="Equation.DSMT4">
                      <p:embed/>
                      <p:pic>
                        <p:nvPicPr>
                          <p:cNvPr id="26" name="Object 25">
                            <a:extLst>
                              <a:ext uri="{FF2B5EF4-FFF2-40B4-BE49-F238E27FC236}">
                                <a16:creationId xmlns:a16="http://schemas.microsoft.com/office/drawing/2014/main" id="{361384CA-B6F5-4732-8BC4-B9A3B4D56B3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202988" y="6259513"/>
                            <a:ext cx="679450" cy="2428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6" name="Object 35">
                <a:extLst>
                  <a:ext uri="{FF2B5EF4-FFF2-40B4-BE49-F238E27FC236}">
                    <a16:creationId xmlns:a16="http://schemas.microsoft.com/office/drawing/2014/main" id="{D291B621-D186-4810-A3BC-451B50BA65F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0056944"/>
                  </p:ext>
                </p:extLst>
              </p:nvPr>
            </p:nvGraphicFramePr>
            <p:xfrm>
              <a:off x="11193463" y="5629275"/>
              <a:ext cx="531812" cy="2428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34" name="Equation" r:id="rId26" imgW="406080" imgH="190440" progId="Equation.DSMT4">
                      <p:embed/>
                    </p:oleObj>
                  </mc:Choice>
                  <mc:Fallback>
                    <p:oleObj name="Equation" r:id="rId26" imgW="406080" imgH="190440" progId="Equation.DSMT4">
                      <p:embed/>
                      <p:pic>
                        <p:nvPicPr>
                          <p:cNvPr id="27" name="Object 26">
                            <a:extLst>
                              <a:ext uri="{FF2B5EF4-FFF2-40B4-BE49-F238E27FC236}">
                                <a16:creationId xmlns:a16="http://schemas.microsoft.com/office/drawing/2014/main" id="{4E20FF9B-A0E3-4E5B-8077-2883DC46AF2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93463" y="5629275"/>
                            <a:ext cx="531812" cy="2428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7" name="Object 36">
                <a:extLst>
                  <a:ext uri="{FF2B5EF4-FFF2-40B4-BE49-F238E27FC236}">
                    <a16:creationId xmlns:a16="http://schemas.microsoft.com/office/drawing/2014/main" id="{20CC69C1-C702-446A-9B61-F020E47B3E9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69150169"/>
                  </p:ext>
                </p:extLst>
              </p:nvPr>
            </p:nvGraphicFramePr>
            <p:xfrm>
              <a:off x="11195050" y="5954713"/>
              <a:ext cx="561975" cy="242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35" name="Equation" r:id="rId28" imgW="431640" imgH="190440" progId="Equation.DSMT4">
                      <p:embed/>
                    </p:oleObj>
                  </mc:Choice>
                  <mc:Fallback>
                    <p:oleObj name="Equation" r:id="rId28" imgW="431640" imgH="190440" progId="Equation.DSMT4">
                      <p:embed/>
                      <p:pic>
                        <p:nvPicPr>
                          <p:cNvPr id="28" name="Object 27">
                            <a:extLst>
                              <a:ext uri="{FF2B5EF4-FFF2-40B4-BE49-F238E27FC236}">
                                <a16:creationId xmlns:a16="http://schemas.microsoft.com/office/drawing/2014/main" id="{10082A47-C48B-4912-8E86-05479FD798D3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195050" y="5954713"/>
                            <a:ext cx="561975" cy="2428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34BC015-D06A-430E-AF9E-0A76B68A28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39269" y="6401124"/>
                <a:ext cx="1243890" cy="327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857E07A3-95C0-42C6-961B-444F23A7A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17182" y="5806551"/>
                <a:ext cx="1251889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D5942D5-DD3D-4488-A96F-3E521253B5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58346" y="5810538"/>
                <a:ext cx="357417" cy="32241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D638221-0624-46C8-88DB-FD2BA34D4A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50772" y="6126513"/>
                <a:ext cx="388263" cy="28364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2AE58EFC-34AA-4534-B971-E8013BCE61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65782" y="5016343"/>
                <a:ext cx="1245332" cy="974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D679B8D-0055-4227-9C1A-DA4016EDAB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23739" y="3823415"/>
                <a:ext cx="1245332" cy="974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F06F65F0-1CBD-4A11-89F1-D76657B00D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56270" y="4462391"/>
                <a:ext cx="416628" cy="57526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F4B177A-9C78-4919-902D-B9144A076F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73309" y="3840326"/>
                <a:ext cx="365726" cy="60482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54" name="Object 53">
                <a:extLst>
                  <a:ext uri="{FF2B5EF4-FFF2-40B4-BE49-F238E27FC236}">
                    <a16:creationId xmlns:a16="http://schemas.microsoft.com/office/drawing/2014/main" id="{0B1FF06E-158C-4624-B0AF-E064B34CF5F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83187714"/>
                  </p:ext>
                </p:extLst>
              </p:nvPr>
            </p:nvGraphicFramePr>
            <p:xfrm>
              <a:off x="11161642" y="3662403"/>
              <a:ext cx="620991" cy="268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36" name="Equation" r:id="rId30" imgW="469800" imgH="203040" progId="Equation.DSMT4">
                      <p:embed/>
                    </p:oleObj>
                  </mc:Choice>
                  <mc:Fallback>
                    <p:oleObj name="Equation" r:id="rId30" imgW="46980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11161642" y="3662403"/>
                            <a:ext cx="620991" cy="268537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54">
                <a:extLst>
                  <a:ext uri="{FF2B5EF4-FFF2-40B4-BE49-F238E27FC236}">
                    <a16:creationId xmlns:a16="http://schemas.microsoft.com/office/drawing/2014/main" id="{D9B58117-0C95-4A53-8296-E27465E23E8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48147442"/>
                  </p:ext>
                </p:extLst>
              </p:nvPr>
            </p:nvGraphicFramePr>
            <p:xfrm>
              <a:off x="11175015" y="4894373"/>
              <a:ext cx="743739" cy="264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37" name="Equation" r:id="rId32" imgW="571320" imgH="203040" progId="Equation.DSMT4">
                      <p:embed/>
                    </p:oleObj>
                  </mc:Choice>
                  <mc:Fallback>
                    <p:oleObj name="Equation" r:id="rId32" imgW="571320" imgH="2030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11175015" y="4894373"/>
                            <a:ext cx="743739" cy="26444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Object 55">
                <a:extLst>
                  <a:ext uri="{FF2B5EF4-FFF2-40B4-BE49-F238E27FC236}">
                    <a16:creationId xmlns:a16="http://schemas.microsoft.com/office/drawing/2014/main" id="{4265D329-C5F8-43BA-9E58-377B923EA7C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14506196"/>
                  </p:ext>
                </p:extLst>
              </p:nvPr>
            </p:nvGraphicFramePr>
            <p:xfrm>
              <a:off x="8754054" y="5239468"/>
              <a:ext cx="1055348" cy="294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38" name="Equation" r:id="rId34" imgW="774360" imgH="215640" progId="Equation.DSMT4">
                      <p:embed/>
                    </p:oleObj>
                  </mc:Choice>
                  <mc:Fallback>
                    <p:oleObj name="Equation" r:id="rId34" imgW="774360" imgH="2156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35"/>
                          <a:stretch>
                            <a:fillRect/>
                          </a:stretch>
                        </p:blipFill>
                        <p:spPr>
                          <a:xfrm>
                            <a:off x="8754054" y="5239468"/>
                            <a:ext cx="1055348" cy="294113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9E4A764C-2E83-4F0F-BF5D-DBE7D955696E}"/>
                </a:ext>
              </a:extLst>
            </p:cNvPr>
            <p:cNvCxnSpPr>
              <a:cxnSpLocks/>
            </p:cNvCxnSpPr>
            <p:nvPr/>
          </p:nvCxnSpPr>
          <p:spPr>
            <a:xfrm>
              <a:off x="10555468" y="3820392"/>
              <a:ext cx="17948" cy="16405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743D9BE2-4F6C-45F8-A83A-7268E654821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3341" y="3226180"/>
              <a:ext cx="17948" cy="16405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73D4473-2C87-4002-BB57-A163F2EA21F3}"/>
                </a:ext>
              </a:extLst>
            </p:cNvPr>
            <p:cNvCxnSpPr>
              <a:cxnSpLocks/>
            </p:cNvCxnSpPr>
            <p:nvPr/>
          </p:nvCxnSpPr>
          <p:spPr>
            <a:xfrm>
              <a:off x="11002109" y="3520268"/>
              <a:ext cx="18387" cy="19776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9D3BC506-F805-43CB-A2B5-389535BE30DA}"/>
                </a:ext>
              </a:extLst>
            </p:cNvPr>
            <p:cNvCxnSpPr>
              <a:cxnSpLocks/>
            </p:cNvCxnSpPr>
            <p:nvPr/>
          </p:nvCxnSpPr>
          <p:spPr>
            <a:xfrm>
              <a:off x="10849952" y="2897676"/>
              <a:ext cx="18387" cy="197766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3B85AE3A-6B14-4EFE-AA49-F689CAD71D69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821" y="4118095"/>
              <a:ext cx="26884" cy="13720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CCC62F5-2700-4E9B-A08F-2D82B7FDD0E0}"/>
                </a:ext>
              </a:extLst>
            </p:cNvPr>
            <p:cNvCxnSpPr>
              <a:cxnSpLocks/>
            </p:cNvCxnSpPr>
            <p:nvPr/>
          </p:nvCxnSpPr>
          <p:spPr>
            <a:xfrm>
              <a:off x="9969411" y="3522711"/>
              <a:ext cx="26884" cy="137208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</p:grp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A74F0868-0F7A-41FC-A1C1-41C05B2B1D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058458"/>
              </p:ext>
            </p:extLst>
          </p:nvPr>
        </p:nvGraphicFramePr>
        <p:xfrm>
          <a:off x="9516384" y="5806701"/>
          <a:ext cx="2114063" cy="31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39" name="Equation" r:id="rId36" imgW="1600200" imgH="241200" progId="Equation.DSMT4">
                  <p:embed/>
                </p:oleObj>
              </mc:Choice>
              <mc:Fallback>
                <p:oleObj name="Equation" r:id="rId36" imgW="16002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9516384" y="5806701"/>
                        <a:ext cx="2114063" cy="31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8">
            <a:extLst>
              <a:ext uri="{FF2B5EF4-FFF2-40B4-BE49-F238E27FC236}">
                <a16:creationId xmlns:a16="http://schemas.microsoft.com/office/drawing/2014/main" id="{7BC95805-A8A6-4FAA-A3CF-03844954B5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5390706"/>
              </p:ext>
            </p:extLst>
          </p:nvPr>
        </p:nvGraphicFramePr>
        <p:xfrm>
          <a:off x="7456443" y="6072188"/>
          <a:ext cx="109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40" name="Equation" r:id="rId38" imgW="1091880" imgH="342720" progId="Equation.DSMT4">
                  <p:embed/>
                </p:oleObj>
              </mc:Choice>
              <mc:Fallback>
                <p:oleObj name="Equation" r:id="rId38" imgW="1091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7456443" y="6072188"/>
                        <a:ext cx="1092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9FC2271C-9C26-4133-94AD-8830B94C0DFC}"/>
              </a:ext>
            </a:extLst>
          </p:cNvPr>
          <p:cNvGrpSpPr/>
          <p:nvPr/>
        </p:nvGrpSpPr>
        <p:grpSpPr>
          <a:xfrm>
            <a:off x="933564" y="1102121"/>
            <a:ext cx="3085174" cy="3840959"/>
            <a:chOff x="933564" y="1102121"/>
            <a:chExt cx="3085174" cy="3840959"/>
          </a:xfrm>
        </p:grpSpPr>
        <p:grpSp>
          <p:nvGrpSpPr>
            <p:cNvPr id="6" name="组合 5"/>
            <p:cNvGrpSpPr/>
            <p:nvPr/>
          </p:nvGrpSpPr>
          <p:grpSpPr>
            <a:xfrm>
              <a:off x="933564" y="1102121"/>
              <a:ext cx="3085174" cy="3840959"/>
              <a:chOff x="2378274" y="1698798"/>
              <a:chExt cx="2686096" cy="3088818"/>
            </a:xfrm>
          </p:grpSpPr>
          <p:pic>
            <p:nvPicPr>
              <p:cNvPr id="29698" name="Picture 2" descr="http://www.physics.sjsu.edu/becker/physics51/images/29_22_Magnetic_dipole_moment.JPG"/>
              <p:cNvPicPr>
                <a:picLocks noChangeAspect="1" noChangeArrowheads="1"/>
              </p:cNvPicPr>
              <p:nvPr/>
            </p:nvPicPr>
            <p:blipFill rotWithShape="1">
              <a:blip r:embed="rId4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437"/>
              <a:stretch/>
            </p:blipFill>
            <p:spPr bwMode="auto">
              <a:xfrm>
                <a:off x="2378274" y="2021791"/>
                <a:ext cx="2686096" cy="27658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" name="Straight Arrow Connector 6"/>
              <p:cNvCxnSpPr>
                <a:cxnSpLocks/>
              </p:cNvCxnSpPr>
              <p:nvPr/>
            </p:nvCxnSpPr>
            <p:spPr>
              <a:xfrm flipH="1" flipV="1">
                <a:off x="3102533" y="1731408"/>
                <a:ext cx="2" cy="119604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aphicFrame>
            <p:nvGraphicFramePr>
              <p:cNvPr id="12" name="Object 1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77645736"/>
                  </p:ext>
                </p:extLst>
              </p:nvPr>
            </p:nvGraphicFramePr>
            <p:xfrm>
              <a:off x="2712447" y="1974863"/>
              <a:ext cx="2286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41" name="Equation" r:id="rId41" imgW="228600" imgH="330120" progId="Equation.DSMT4">
                      <p:embed/>
                    </p:oleObj>
                  </mc:Choice>
                  <mc:Fallback>
                    <p:oleObj name="Equation" r:id="rId41" imgW="228600" imgH="33012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2"/>
                          <a:stretch>
                            <a:fillRect/>
                          </a:stretch>
                        </p:blipFill>
                        <p:spPr>
                          <a:xfrm>
                            <a:off x="2712447" y="1974863"/>
                            <a:ext cx="228600" cy="330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" name="Object 1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6013692"/>
                  </p:ext>
                </p:extLst>
              </p:nvPr>
            </p:nvGraphicFramePr>
            <p:xfrm>
              <a:off x="3175119" y="1698798"/>
              <a:ext cx="177800" cy="1778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42" name="Equation" r:id="rId43" imgW="177480" imgH="177480" progId="Equation.DSMT4">
                      <p:embed/>
                    </p:oleObj>
                  </mc:Choice>
                  <mc:Fallback>
                    <p:oleObj name="Equation" r:id="rId43" imgW="177480" imgH="1774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4"/>
                          <a:stretch>
                            <a:fillRect/>
                          </a:stretch>
                        </p:blipFill>
                        <p:spPr>
                          <a:xfrm>
                            <a:off x="3175119" y="1698798"/>
                            <a:ext cx="177800" cy="1778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16" name="Straight Arrow Connector 15"/>
              <p:cNvCxnSpPr>
                <a:cxnSpLocks/>
              </p:cNvCxnSpPr>
              <p:nvPr/>
            </p:nvCxnSpPr>
            <p:spPr>
              <a:xfrm flipV="1">
                <a:off x="3102533" y="2065638"/>
                <a:ext cx="0" cy="84191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8" name="Object 7">
              <a:extLst>
                <a:ext uri="{FF2B5EF4-FFF2-40B4-BE49-F238E27FC236}">
                  <a16:creationId xmlns:a16="http://schemas.microsoft.com/office/drawing/2014/main" id="{5A9444A4-8C7F-4455-82BD-13A640BF18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4309747"/>
                </p:ext>
              </p:extLst>
            </p:nvPr>
          </p:nvGraphicFramePr>
          <p:xfrm>
            <a:off x="2588177" y="4287176"/>
            <a:ext cx="228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43" name="Equation" r:id="rId45" imgW="228600" imgH="380880" progId="Equation.DSMT4">
                    <p:embed/>
                  </p:oleObj>
                </mc:Choice>
                <mc:Fallback>
                  <p:oleObj name="Equation" r:id="rId45" imgW="2286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2588177" y="4287176"/>
                          <a:ext cx="228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73679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Stern-Gerlach experiment</a:t>
            </a:r>
            <a:r>
              <a:rPr lang="zh-CN" altLang="en-US" dirty="0"/>
              <a:t>（</a:t>
            </a:r>
            <a:r>
              <a:rPr lang="en-US" altLang="zh-CN" dirty="0"/>
              <a:t>1922</a:t>
            </a:r>
            <a:r>
              <a:rPr lang="zh-CN" altLang="en-US" dirty="0"/>
              <a:t>）</a:t>
            </a:r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0FC1D97-14E1-45A3-BCA0-33A9B25CB546}"/>
              </a:ext>
            </a:extLst>
          </p:cNvPr>
          <p:cNvGrpSpPr/>
          <p:nvPr/>
        </p:nvGrpSpPr>
        <p:grpSpPr>
          <a:xfrm>
            <a:off x="489235" y="1697478"/>
            <a:ext cx="7380515" cy="3936275"/>
            <a:chOff x="2748240" y="1416198"/>
            <a:chExt cx="7380515" cy="3936275"/>
          </a:xfrm>
        </p:grpSpPr>
        <p:pic>
          <p:nvPicPr>
            <p:cNvPr id="1028" name="Picture 4" descr="http://www.modelofreality.org/SG.gif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240" y="1416198"/>
              <a:ext cx="7380515" cy="39362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3487356" y="2647406"/>
              <a:ext cx="1354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Silver atoms</a:t>
              </a:r>
              <a:endParaRPr lang="zh-CN" altLang="en-US" b="1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42854" y="1064729"/>
            <a:ext cx="4104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Test of orientation quantization </a:t>
            </a:r>
            <a:endParaRPr 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064222" y="4377190"/>
                <a:ext cx="3604763" cy="1613006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/>
                        <a:ea typeface="Cambria Math"/>
                      </a:rPr>
                      <m:t>𝑈</m:t>
                    </m:r>
                    <m:r>
                      <a:rPr lang="en-US" altLang="zh-CN" sz="200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/>
                      </a:rPr>
                      <m:t>−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/>
                      </a:rPr>
                      <m:t>𝝁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/>
                      </a:rPr>
                      <m:t>⋅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/>
                      </a:rPr>
                      <m:t>𝑩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  <a:ea typeface="Cambria Math"/>
                      </a:rPr>
                      <m:t>=−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  <a:ea typeface="Cambria Math"/>
                          </a:rPr>
                          <m:t>𝑧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Cambria Math"/>
                      </a:rPr>
                      <m:t>𝐵</m:t>
                    </m:r>
                  </m:oMath>
                </a14:m>
                <a:endParaRPr lang="en-US" sz="2000" b="1" i="1" dirty="0">
                  <a:latin typeface="Cambria Math"/>
                </a:endParaRPr>
              </a:p>
              <a:p>
                <a:endParaRPr lang="en-US" sz="2000" b="1" i="1" dirty="0">
                  <a:latin typeface="Cambria Math"/>
                </a:endParaRPr>
              </a:p>
              <a:p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=−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𝑈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sz="2000">
                        <a:latin typeface="Cambria Math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𝐵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𝑧</m:t>
                        </m:r>
                      </m:den>
                    </m:f>
                  </m:oMath>
                </a14:m>
                <a:endParaRPr lang="en-US" sz="2000" i="1" dirty="0">
                  <a:latin typeface="Cambria Math" panose="02040503050406030204" pitchFamily="18" charset="0"/>
                  <a:ea typeface="Cambria Math"/>
                </a:endParaRPr>
              </a:p>
              <a:p>
                <a:r>
                  <a:rPr lang="en-US" sz="2000" b="0" dirty="0">
                    <a:ea typeface="Cambria Math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=−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/>
                      </a:rPr>
                      <m:t>𝛾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/>
                      </a:rPr>
                      <m:t>𝑚</m:t>
                    </m:r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/>
                      </a:rPr>
                      <m:t>ℏ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𝐵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𝜕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</a:rPr>
                          <m:t>𝑧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,      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/>
                      </a:rPr>
                      <m:t>=±1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222" y="4377190"/>
                <a:ext cx="3604763" cy="161300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57144172-8693-463B-84A9-CC81AAD357D0}"/>
              </a:ext>
            </a:extLst>
          </p:cNvPr>
          <p:cNvGrpSpPr/>
          <p:nvPr/>
        </p:nvGrpSpPr>
        <p:grpSpPr>
          <a:xfrm>
            <a:off x="7788729" y="1591220"/>
            <a:ext cx="4005942" cy="4213617"/>
            <a:chOff x="7788729" y="1591220"/>
            <a:chExt cx="4005942" cy="4213617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9060" y="1591220"/>
              <a:ext cx="3843705" cy="2510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0D04FA2-E3E1-493D-A4D3-2F9DBED68895}"/>
                </a:ext>
              </a:extLst>
            </p:cNvPr>
            <p:cNvSpPr/>
            <p:nvPr/>
          </p:nvSpPr>
          <p:spPr>
            <a:xfrm>
              <a:off x="7788729" y="4173621"/>
              <a:ext cx="4005942" cy="16312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Postcard from Gerlach to Bohr:</a:t>
              </a:r>
            </a:p>
            <a:p>
              <a:endParaRPr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r>
                <a:rPr lang="en-US" altLang="zh-CN" sz="2000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“Attached is a direct evidence of the space quantization. Congratulations! Your theory is confirmed.”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004EBA-ADED-449E-B81C-801615064685}"/>
                  </a:ext>
                </a:extLst>
              </p:cNvPr>
              <p:cNvSpPr txBox="1"/>
              <p:nvPr/>
            </p:nvSpPr>
            <p:spPr>
              <a:xfrm>
                <a:off x="489235" y="5298308"/>
                <a:ext cx="32500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a classical magnet,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can have any value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004EBA-ADED-449E-B81C-801615064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235" y="5298308"/>
                <a:ext cx="3250008" cy="646331"/>
              </a:xfrm>
              <a:prstGeom prst="rect">
                <a:avLst/>
              </a:prstGeom>
              <a:blipFill>
                <a:blip r:embed="rId6"/>
                <a:stretch>
                  <a:fillRect l="-1501" t="-4717" r="-1501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360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of the Stern-Gerlach </a:t>
            </a:r>
            <a:r>
              <a:rPr lang="en-US" altLang="zh-CN" dirty="0"/>
              <a:t>experiment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Confirmed the orientation (space) quantization of angular momentum.</a:t>
                </a:r>
              </a:p>
              <a:p>
                <a:endPara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Why there are two stripes instead of three?</a:t>
                </a:r>
              </a:p>
              <a:p>
                <a:pPr marL="0" indent="0">
                  <a:buNone/>
                </a:pPr>
                <a:endPara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=±1</m:t>
                      </m:r>
                      <m:r>
                        <m:rPr>
                          <m:nor/>
                        </m:rPr>
                        <a:rPr lang="en-US" altLang="zh-CN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instead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dirty="0"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of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0,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±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57188" lvl="1" indent="0">
                  <a:buNone/>
                </a:pPr>
                <a:endParaRPr lang="en-US" altLang="zh-CN" dirty="0"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732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</p:spPr>
        <p:txBody>
          <a:bodyPr/>
          <a:lstStyle/>
          <a:p>
            <a:r>
              <a:rPr lang="en-US" altLang="zh-CN" dirty="0"/>
              <a:t>Anomalous Zeeman effect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5B27A-9179-40E7-8ED2-C085487B8A1D}"/>
              </a:ext>
            </a:extLst>
          </p:cNvPr>
          <p:cNvSpPr/>
          <p:nvPr/>
        </p:nvSpPr>
        <p:spPr>
          <a:xfrm>
            <a:off x="1123507" y="5759881"/>
            <a:ext cx="110684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‘How can one look happy when he is thinking about the anomalous Zeeman effect?’  										——Pauli</a:t>
            </a:r>
            <a:endParaRPr lang="zh-CN" alt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C9F11E-BA63-44D3-8527-9AA218AF4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398" y="864084"/>
            <a:ext cx="7164459" cy="4796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83F1CB-2356-4DFF-BC73-2E74299B3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3728" y="2890156"/>
            <a:ext cx="1730051" cy="242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02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188640"/>
            <a:ext cx="10972800" cy="576064"/>
          </a:xfrm>
        </p:spPr>
        <p:txBody>
          <a:bodyPr/>
          <a:lstStyle/>
          <a:p>
            <a:r>
              <a:rPr lang="en-US" altLang="zh-CN" dirty="0"/>
              <a:t>Pauli’s exclusion principle and electron spin</a:t>
            </a:r>
            <a:r>
              <a:rPr lang="zh-CN" altLang="en-US" dirty="0"/>
              <a:t>（</a:t>
            </a:r>
            <a:r>
              <a:rPr lang="en-US" altLang="zh-CN" dirty="0"/>
              <a:t>1925</a:t>
            </a:r>
            <a:r>
              <a:rPr lang="zh-CN" altLang="en-US" dirty="0"/>
              <a:t>）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2375342"/>
                  </p:ext>
                </p:extLst>
              </p:nvPr>
            </p:nvGraphicFramePr>
            <p:xfrm>
              <a:off x="3073030" y="1079605"/>
              <a:ext cx="8487968" cy="50932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083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510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2851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16117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2000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shell can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contain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0" smtClean="0">
                                  <a:latin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electrons, disagreeing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with the prediction of the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old quantum theory: </a:t>
                          </a:r>
                          <a:br>
                            <a:rPr lang="en-US" altLang="zh-CN" sz="2000" b="0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ctrlPr>
                                      <a:rPr lang="pt-BR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𝑙</m:t>
                                    </m:r>
                                    <m:r>
                                      <a:rPr lang="pt-BR" altLang="zh-CN" sz="2000" b="0" i="1" smtClean="0">
                                        <a:latin typeface="Cambria Math"/>
                                      </a:rPr>
                                      <m:t>=0</m:t>
                                    </m:r>
                                  </m:sub>
                                  <m:sup>
                                    <m:r>
                                      <a:rPr lang="pt-BR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−1</m:t>
                                    </m:r>
                                  </m:sup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𝑙</m:t>
                                    </m:r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+1</m:t>
                                    </m:r>
                                  </m:e>
                                </m:nary>
                                <m:r>
                                  <a:rPr lang="en-US" altLang="zh-CN" sz="2000" b="0" i="1" smtClean="0">
                                    <a:latin typeface="Cambria Math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altLang="zh-CN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zh-CN" sz="20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Anomalous Zeeman effect</a:t>
                          </a: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：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zh-C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Spectral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lines of a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toms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with s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ingle valence electron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can split up to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0" smtClean="0">
                                  <a:latin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energy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levels.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7000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Pauli</a:t>
                          </a:r>
                        </a:p>
                        <a:p>
                          <a:pPr algn="ctr"/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1924</a:t>
                          </a:r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  <a:endPara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There must be a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4th quantum number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that</a:t>
                          </a:r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only has two values. Thus, the number of possible configurations of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000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in the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 shell become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latin typeface="Cambria Math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zh-CN" altLang="en-US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。</a:t>
                          </a:r>
                          <a:r>
                            <a:rPr lang="en-US" sz="2000" b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Exclusion</a:t>
                          </a:r>
                          <a:r>
                            <a:rPr lang="en-US" sz="2000" b="0" baseline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principle: </a:t>
                          </a:r>
                          <a:r>
                            <a:rPr lang="en-US" altLang="zh-CN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 two electrons</a:t>
                          </a:r>
                          <a:r>
                            <a:rPr lang="en-US" altLang="zh-CN" sz="2000" baseline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can have the same</a:t>
                          </a:r>
                          <a:r>
                            <a:rPr lang="zh-CN" altLang="en-US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configuration</a:t>
                          </a:r>
                          <a:r>
                            <a:rPr lang="en-US" altLang="zh-CN" sz="2000" baseline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of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b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4615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Kronig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</a:p>
                        <a:p>
                          <a:pPr algn="ctr"/>
                          <a:r>
                            <a:rPr lang="en-US" altLang="zh-CN" sz="20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Uhlenbeck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&amp;</a:t>
                          </a:r>
                        </a:p>
                        <a:p>
                          <a:pPr algn="ctr"/>
                          <a:r>
                            <a:rPr lang="en-US" altLang="zh-CN" sz="20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Goudsmit</a:t>
                          </a:r>
                          <a:endParaRPr lang="en-US" altLang="zh-CN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1925</a:t>
                          </a:r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  <a:endPara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2000" b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Electron has a spin angular momentum</a:t>
                          </a:r>
                          <a:r>
                            <a:rPr lang="en-US" altLang="zh-CN" sz="2000" b="1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000" b="1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oMath>
                          </a14:m>
                          <a:r>
                            <a:rPr lang="en-US" altLang="zh-CN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</a:t>
                          </a:r>
                        </a:p>
                        <a:p>
                          <a:pPr algn="l"/>
                          <a:r>
                            <a:rPr lang="en-US" altLang="zh-CN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Its</a:t>
                          </a:r>
                          <a:r>
                            <a:rPr lang="en-US" altLang="zh-CN" sz="2000" baseline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projection in any direction can only be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rgbClr val="C00000"/>
                                  </a:solidFill>
                                  <a:latin typeface="Cambria Math"/>
                                  <a:ea typeface="Cambria Math"/>
                                </a:rPr>
                                <m:t>ℏ</m:t>
                              </m:r>
                            </m:oMath>
                          </a14:m>
                          <a:r>
                            <a:rPr lang="en-US" altLang="zh-CN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  <a:r>
                            <a:rPr lang="zh-CN" altLang="en-US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altLang="zh-CN" sz="2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where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0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0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±1/2</m:t>
                              </m:r>
                            </m:oMath>
                          </a14:m>
                          <a:r>
                            <a:rPr lang="en-US" sz="2000" b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is the</a:t>
                          </a:r>
                          <a:r>
                            <a:rPr lang="en-US" sz="2000" b="0" baseline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4</a:t>
                          </a:r>
                          <a:r>
                            <a:rPr lang="en-US" sz="2000" b="0" baseline="300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th</a:t>
                          </a:r>
                          <a:r>
                            <a:rPr lang="en-US" sz="2000" b="0" baseline="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quantum number.</a:t>
                          </a:r>
                          <a:endParaRPr lang="en-US" sz="2000" b="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2375342"/>
                  </p:ext>
                </p:extLst>
              </p:nvPr>
            </p:nvGraphicFramePr>
            <p:xfrm>
              <a:off x="3073030" y="1079605"/>
              <a:ext cx="8487968" cy="509327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40835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510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2851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16719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Problem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7662" t="-1966" r="-88961" b="-1401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5311" t="-1966" r="-366" b="-1401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10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Pauli</a:t>
                          </a:r>
                        </a:p>
                        <a:p>
                          <a:pPr algn="ctr"/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1924</a:t>
                          </a:r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  <a:endPara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66" t="-168837" r="-172" b="-13209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154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0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Kronig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</a:t>
                          </a:r>
                        </a:p>
                        <a:p>
                          <a:pPr algn="ctr"/>
                          <a:r>
                            <a:rPr lang="en-US" altLang="zh-CN" sz="20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Uhlenbeck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&amp;</a:t>
                          </a:r>
                        </a:p>
                        <a:p>
                          <a:pPr algn="ctr"/>
                          <a:r>
                            <a:rPr lang="en-US" altLang="zh-CN" sz="2000" b="1" dirty="0" err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Goudsmit</a:t>
                          </a:r>
                          <a:endParaRPr lang="en-US" altLang="zh-CN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（</a:t>
                          </a:r>
                          <a:r>
                            <a:rPr lang="en-US" altLang="zh-CN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1925</a:t>
                          </a:r>
                          <a:r>
                            <a:rPr lang="zh-CN" altLang="en-US" sz="20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）</a:t>
                          </a:r>
                          <a:endParaRPr lang="en-US" sz="2000" b="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9966" t="-218113" r="-172" b="-717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DC1D6CE-3431-4559-A234-D611F5D07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67" y="4077727"/>
            <a:ext cx="1884589" cy="198689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46C7AA6-287A-4548-B87E-5E2974134A47}"/>
              </a:ext>
            </a:extLst>
          </p:cNvPr>
          <p:cNvGrpSpPr/>
          <p:nvPr/>
        </p:nvGrpSpPr>
        <p:grpSpPr>
          <a:xfrm>
            <a:off x="797546" y="1751912"/>
            <a:ext cx="1419235" cy="2341021"/>
            <a:chOff x="797546" y="1751912"/>
            <a:chExt cx="1419235" cy="234102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BD52C3A-D848-4B14-9B82-52B2DE2EB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7546" y="1751912"/>
              <a:ext cx="1419235" cy="1971689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CCA3CFB-2868-4DAD-A62A-44C0E992EEAE}"/>
                </a:ext>
              </a:extLst>
            </p:cNvPr>
            <p:cNvSpPr txBox="1"/>
            <p:nvPr/>
          </p:nvSpPr>
          <p:spPr>
            <a:xfrm>
              <a:off x="1034143" y="3723601"/>
              <a:ext cx="86541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800" b="1" dirty="0" err="1"/>
                <a:t>Kronig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68684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*Classical explanations of the Zeeman effect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51857" y="741412"/>
                <a:ext cx="9606643" cy="956656"/>
              </a:xfrm>
            </p:spPr>
            <p:txBody>
              <a:bodyPr>
                <a:normAutofit fontScale="92500"/>
              </a:bodyPr>
              <a:lstStyle/>
              <a:p>
                <a:pPr marL="1588" lvl="1" indent="0">
                  <a:buNone/>
                </a:pPr>
                <a:r>
                  <a:rPr lang="en-US" altLang="zh-CN" sz="1800" dirty="0"/>
                  <a:t>Before the birth quantum mechanics, </a:t>
                </a:r>
                <a:r>
                  <a:rPr lang="en-US" altLang="zh-CN" sz="1800" b="1" dirty="0">
                    <a:highlight>
                      <a:srgbClr val="FFFF00"/>
                    </a:highlight>
                  </a:rPr>
                  <a:t>Lorentz model </a:t>
                </a:r>
                <a:r>
                  <a:rPr lang="en-US" altLang="zh-CN" sz="1800" dirty="0"/>
                  <a:t>is a very effective theory on describing the interaction between atoms and light. It treats the atom as an dipole oscillator with intrinsic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sz="18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1800" dirty="0"/>
                  <a:t>. </a:t>
                </a:r>
                <a:r>
                  <a:rPr lang="zh-CN" altLang="en-US" sz="1800" dirty="0"/>
                  <a:t> </a:t>
                </a:r>
                <a:r>
                  <a:rPr lang="en-US" altLang="zh-CN" sz="1800" dirty="0"/>
                  <a:t>Let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1800" dirty="0"/>
                  <a:t> and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sz="1800" dirty="0"/>
                  <a:t> </a:t>
                </a:r>
                <a:r>
                  <a:rPr lang="en-US" altLang="zh-CN" sz="1800" dirty="0"/>
                  <a:t>be the mass and charge of the electron.  The Newton’s equation of motion for an atom under </a:t>
                </a:r>
                <a14:m>
                  <m:oMath xmlns:m="http://schemas.openxmlformats.org/officeDocument/2006/math">
                    <m:r>
                      <a:rPr lang="en-US" altLang="zh-CN" sz="18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en-US" sz="1800" dirty="0"/>
                  <a:t> </a:t>
                </a:r>
                <a:r>
                  <a:rPr lang="en-US" altLang="zh-CN" sz="1800" dirty="0"/>
                  <a:t>is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1857" y="741412"/>
                <a:ext cx="9606643" cy="956656"/>
              </a:xfrm>
              <a:blipFill>
                <a:blip r:embed="rId4"/>
                <a:stretch>
                  <a:fillRect l="-381" t="-2548" r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C34B765-AF5A-403A-9CE0-852BA4C4593F}"/>
              </a:ext>
            </a:extLst>
          </p:cNvPr>
          <p:cNvGrpSpPr/>
          <p:nvPr/>
        </p:nvGrpSpPr>
        <p:grpSpPr>
          <a:xfrm>
            <a:off x="1251857" y="3234357"/>
            <a:ext cx="8825756" cy="902332"/>
            <a:chOff x="1251857" y="3539041"/>
            <a:chExt cx="8825756" cy="902332"/>
          </a:xfrm>
        </p:grpSpPr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5715" y="3539041"/>
              <a:ext cx="2891898" cy="902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251857" y="3821995"/>
                  <a:ext cx="573677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dirty="0"/>
                    <a:t>The evolution of 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/>
                        </a:rPr>
                        <m:t>𝒓</m:t>
                      </m:r>
                    </m:oMath>
                  </a14:m>
                  <a:r>
                    <a:rPr lang="zh-CN" altLang="en-US" dirty="0"/>
                    <a:t> </a:t>
                  </a:r>
                  <a:r>
                    <a:rPr lang="en-US" altLang="zh-CN" dirty="0"/>
                    <a:t>should be periodic. We make an ansatz</a:t>
                  </a:r>
                  <a:r>
                    <a:rPr lang="zh-CN" altLang="en-US" dirty="0"/>
                    <a:t>：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1857" y="3821995"/>
                  <a:ext cx="573677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850" t="-14754" r="-4888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251857" y="4215493"/>
                <a:ext cx="881611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where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dirty="0"/>
                  <a:t> are time independent complex numbers. Applying the ansatz in the equation of motion, we obtain the following set of linear differential equations</a:t>
                </a:r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857" y="4215493"/>
                <a:ext cx="8816111" cy="646331"/>
              </a:xfrm>
              <a:prstGeom prst="rect">
                <a:avLst/>
              </a:prstGeom>
              <a:blipFill>
                <a:blip r:embed="rId7"/>
                <a:stretch>
                  <a:fillRect l="-553" t="-5660" r="-103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90" y="4955958"/>
            <a:ext cx="4998176" cy="96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334372" y="6104519"/>
                <a:ext cx="740764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0">
                            <a:latin typeface="Cambria Math"/>
                          </a:rPr>
                          <m:t>L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≪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obtain 3 eigenvalue solutions for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372" y="6104519"/>
                <a:ext cx="7407642" cy="369332"/>
              </a:xfrm>
              <a:prstGeom prst="rect">
                <a:avLst/>
              </a:prstGeom>
              <a:blipFill>
                <a:blip r:embed="rId9"/>
                <a:stretch>
                  <a:fillRect l="-74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8543114" y="1698068"/>
            <a:ext cx="2180083" cy="1304302"/>
            <a:chOff x="6867144" y="1676643"/>
            <a:chExt cx="2180083" cy="1304302"/>
          </a:xfrm>
        </p:grpSpPr>
        <p:sp>
          <p:nvSpPr>
            <p:cNvPr id="21" name="Rectangle 20"/>
            <p:cNvSpPr/>
            <p:nvPr/>
          </p:nvSpPr>
          <p:spPr>
            <a:xfrm>
              <a:off x="6867144" y="1676643"/>
              <a:ext cx="2103120" cy="130430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/>
            <p:cNvCxnSpPr>
              <a:endCxn id="9" idx="5"/>
            </p:cNvCxnSpPr>
            <p:nvPr/>
          </p:nvCxnSpPr>
          <p:spPr>
            <a:xfrm flipH="1" flipV="1">
              <a:off x="7151898" y="2046535"/>
              <a:ext cx="501630" cy="78561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7066044" y="1964033"/>
              <a:ext cx="100584" cy="966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7050137" y="2173803"/>
                  <a:ext cx="36099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/>
                          </a:rPr>
                          <m:t>𝒓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0137" y="2173803"/>
                  <a:ext cx="360996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/>
            <p:nvPr/>
          </p:nvCxnSpPr>
          <p:spPr>
            <a:xfrm>
              <a:off x="7225810" y="2057185"/>
              <a:ext cx="229107" cy="3693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7340363" y="2131679"/>
                  <a:ext cx="1706864" cy="3747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latin typeface="Cambria Math"/>
                          </a:rPr>
                          <m:t>𝑭</m:t>
                        </m:r>
                        <m:r>
                          <a:rPr lang="en-US" i="1">
                            <a:latin typeface="Cambria Math"/>
                          </a:rPr>
                          <m:t>=−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𝜔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0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en-US" b="1" i="1">
                            <a:latin typeface="Cambria Math"/>
                          </a:rPr>
                          <m:t>𝒓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0363" y="2131679"/>
                  <a:ext cx="1706864" cy="37478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D4691C08-9BAB-4904-BAAF-BBBAE36ADB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9533935"/>
              </p:ext>
            </p:extLst>
          </p:nvPr>
        </p:nvGraphicFramePr>
        <p:xfrm>
          <a:off x="3688528" y="1769789"/>
          <a:ext cx="2444048" cy="705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86" name="Equation" r:id="rId15" imgW="1231560" imgH="355320" progId="Equation.DSMT4">
                  <p:embed/>
                </p:oleObj>
              </mc:Choice>
              <mc:Fallback>
                <p:oleObj name="Equation" r:id="rId15" imgW="1231560" imgH="35532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5130849C-4125-4B47-BBCD-4B11545BA2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88528" y="1769789"/>
                        <a:ext cx="2444048" cy="7054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553CA8D6-AC24-4388-8254-1B455692563A}"/>
              </a:ext>
            </a:extLst>
          </p:cNvPr>
          <p:cNvGrpSpPr/>
          <p:nvPr/>
        </p:nvGrpSpPr>
        <p:grpSpPr>
          <a:xfrm>
            <a:off x="1334372" y="2455321"/>
            <a:ext cx="6471223" cy="704850"/>
            <a:chOff x="1301715" y="2403349"/>
            <a:chExt cx="6471223" cy="7048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1301715" y="2570400"/>
                  <a:ext cx="260680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1588" lvl="1"/>
                  <a:r>
                    <a:rPr lang="en-US" altLang="zh-CN" dirty="0"/>
                    <a:t>Assume 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/>
                        </a:rPr>
                        <m:t>𝑩</m:t>
                      </m:r>
                      <m:r>
                        <a:rPr lang="en-US" altLang="zh-CN" i="1">
                          <a:latin typeface="Cambria Math"/>
                        </a:rPr>
                        <m:t>=</m:t>
                      </m:r>
                      <m:r>
                        <a:rPr lang="en-US" altLang="zh-CN" i="1">
                          <a:latin typeface="Cambria Math"/>
                        </a:rPr>
                        <m:t>𝐵</m:t>
                      </m:r>
                      <m:acc>
                        <m:accPr>
                          <m:chr m:val="̂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a14:m>
                  <a:r>
                    <a:rPr lang="en-US" altLang="zh-CN" dirty="0"/>
                    <a:t>, we have</a:t>
                  </a:r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1715" y="2570400"/>
                  <a:ext cx="2606804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2103" t="-8197" r="-9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4" name="Object 23">
                  <a:extLst>
                    <a:ext uri="{FF2B5EF4-FFF2-40B4-BE49-F238E27FC236}">
                      <a16:creationId xmlns:a16="http://schemas.microsoft.com/office/drawing/2014/main" id="{C5ED5DD2-B725-468E-A8C7-FF69755ECD1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29539345"/>
                    </p:ext>
                  </p:extLst>
                </p:nvPr>
              </p:nvGraphicFramePr>
              <p:xfrm>
                <a:off x="3967701" y="2403349"/>
                <a:ext cx="3805237" cy="7048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6387" name="Equation" r:id="rId18" imgW="1917360" imgH="355320" progId="Equation.DSMT4">
                        <p:embed/>
                      </p:oleObj>
                    </mc:Choice>
                    <mc:Fallback>
                      <p:oleObj name="Equation" r:id="rId18" imgW="1917360" imgH="355320" progId="Equation.DSMT4">
                        <p:embed/>
                        <p:pic>
                          <p:nvPicPr>
                            <p:cNvPr id="22" name="Object 21">
                              <a:extLst>
                                <a:ext uri="{FF2B5EF4-FFF2-40B4-BE49-F238E27FC236}">
                                  <a16:creationId xmlns:a16="http://schemas.microsoft.com/office/drawing/2014/main" id="{D4691C08-9BAB-4904-BAAF-BBBAE36ADBA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67701" y="2403349"/>
                              <a:ext cx="3805237" cy="7048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4" name="Object 23">
                  <a:extLst>
                    <a:ext uri="{FF2B5EF4-FFF2-40B4-BE49-F238E27FC236}">
                      <a16:creationId xmlns:a16="http://schemas.microsoft.com/office/drawing/2014/main" id="{C5ED5DD2-B725-468E-A8C7-FF69755ECD1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29539345"/>
                    </p:ext>
                  </p:extLst>
                </p:nvPr>
              </p:nvGraphicFramePr>
              <p:xfrm>
                <a:off x="3967701" y="2403349"/>
                <a:ext cx="3805237" cy="704850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6293" name="Equation" r:id="rId20" imgW="1917360" imgH="355320" progId="Equation.DSMT4">
                        <p:embed/>
                      </p:oleObj>
                    </mc:Choice>
                    <mc:Fallback>
                      <p:oleObj name="Equation" r:id="rId20" imgW="1917360" imgH="355320" progId="Equation.DSMT4">
                        <p:embed/>
                        <p:pic>
                          <p:nvPicPr>
                            <p:cNvPr id="22" name="Object 21">
                              <a:extLst>
                                <a:ext uri="{FF2B5EF4-FFF2-40B4-BE49-F238E27FC236}">
                                  <a16:creationId xmlns:a16="http://schemas.microsoft.com/office/drawing/2014/main" id="{D4691C08-9BAB-4904-BAAF-BBBAE36ADBA3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967701" y="2403349"/>
                              <a:ext cx="3805237" cy="7048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328779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*Classical explanations of the Zeeman effect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2"/>
              <p:cNvSpPr txBox="1"/>
              <p:nvPr/>
            </p:nvSpPr>
            <p:spPr>
              <a:xfrm>
                <a:off x="1289142" y="939387"/>
                <a:ext cx="90188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These 3 eigenvalues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  <m:r>
                      <a:rPr lang="en-US" altLang="zh-CN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correspond to 3 eigenmodes of oscillations:</a:t>
                </a:r>
              </a:p>
            </p:txBody>
          </p:sp>
        </mc:Choice>
        <mc:Fallback xmlns="">
          <p:sp>
            <p:nvSpPr>
              <p:cNvPr id="7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142" y="939387"/>
                <a:ext cx="9018805" cy="369332"/>
              </a:xfrm>
              <a:prstGeom prst="rect">
                <a:avLst/>
              </a:prstGeom>
              <a:blipFill>
                <a:blip r:embed="rId2"/>
                <a:stretch>
                  <a:fillRect l="-54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12"/>
          <p:cNvSpPr txBox="1"/>
          <p:nvPr/>
        </p:nvSpPr>
        <p:spPr>
          <a:xfrm>
            <a:off x="1345193" y="2778007"/>
            <a:ext cx="7908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 graphical representation of these 3 eigenmodes of oscillations.</a:t>
            </a:r>
            <a:endParaRPr 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36626E0-F5AC-42DC-88E0-127F4419CEB5}"/>
              </a:ext>
            </a:extLst>
          </p:cNvPr>
          <p:cNvGrpSpPr/>
          <p:nvPr/>
        </p:nvGrpSpPr>
        <p:grpSpPr>
          <a:xfrm>
            <a:off x="1762181" y="1374255"/>
            <a:ext cx="7651392" cy="1322219"/>
            <a:chOff x="2253229" y="1659887"/>
            <a:chExt cx="7356164" cy="109847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2547" y="1659887"/>
              <a:ext cx="3086846" cy="107571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755E34-7FB5-4E14-B8FF-C9FCA0C74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53229" y="1673177"/>
              <a:ext cx="4480948" cy="1085182"/>
            </a:xfrm>
            <a:prstGeom prst="rect">
              <a:avLst/>
            </a:prstGeom>
          </p:spPr>
        </p:pic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196" y="3421234"/>
            <a:ext cx="2416540" cy="294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23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762" y="123212"/>
            <a:ext cx="8644270" cy="576064"/>
          </a:xfrm>
        </p:spPr>
        <p:txBody>
          <a:bodyPr/>
          <a:lstStyle/>
          <a:p>
            <a:r>
              <a:rPr lang="en-US" altLang="zh-CN" dirty="0"/>
              <a:t>How a Bad Cigar Helped Reorient Atomic Physics</a:t>
            </a:r>
            <a:endParaRPr lang="zh-CN" alt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8C2317-3DC5-442E-9DD1-990DB032D897}"/>
              </a:ext>
            </a:extLst>
          </p:cNvPr>
          <p:cNvGrpSpPr/>
          <p:nvPr/>
        </p:nvGrpSpPr>
        <p:grpSpPr>
          <a:xfrm>
            <a:off x="885310" y="744401"/>
            <a:ext cx="2581723" cy="2823139"/>
            <a:chOff x="2147287" y="3586190"/>
            <a:chExt cx="2630710" cy="3005506"/>
          </a:xfrm>
        </p:grpSpPr>
        <p:sp>
          <p:nvSpPr>
            <p:cNvPr id="4" name="TextBox 3"/>
            <p:cNvSpPr txBox="1"/>
            <p:nvPr/>
          </p:nvSpPr>
          <p:spPr>
            <a:xfrm>
              <a:off x="2432327" y="6130031"/>
              <a:ext cx="206062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Walter </a:t>
              </a:r>
              <a:r>
                <a:rPr lang="en-US" altLang="zh-CN" sz="2400" dirty="0" err="1"/>
                <a:t>Gerlach</a:t>
              </a:r>
              <a:endParaRPr lang="zh-CN" altLang="en-US" sz="2400" dirty="0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BE04297-9140-46F5-A381-CE413B778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7287" y="3586190"/>
              <a:ext cx="2630710" cy="2548316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7ECECF9-CD06-45D4-B3EF-8A9FE8579DED}"/>
              </a:ext>
            </a:extLst>
          </p:cNvPr>
          <p:cNvGrpSpPr/>
          <p:nvPr/>
        </p:nvGrpSpPr>
        <p:grpSpPr>
          <a:xfrm>
            <a:off x="639596" y="3640434"/>
            <a:ext cx="3306344" cy="2881347"/>
            <a:chOff x="1498289" y="547653"/>
            <a:chExt cx="3306344" cy="2881347"/>
          </a:xfrm>
        </p:grpSpPr>
        <p:sp>
          <p:nvSpPr>
            <p:cNvPr id="3" name="TextBox 2"/>
            <p:cNvSpPr txBox="1"/>
            <p:nvPr/>
          </p:nvSpPr>
          <p:spPr>
            <a:xfrm>
              <a:off x="2367998" y="2967335"/>
              <a:ext cx="14804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Otto Stern</a:t>
              </a:r>
              <a:endParaRPr lang="zh-CN" altLang="en-US" sz="2400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B4588D3-6476-42CA-979C-B9B82A929C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289" y="547653"/>
              <a:ext cx="3306344" cy="247316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E37321B-FCCB-4CDF-984D-CD0AE9F33737}"/>
              </a:ext>
            </a:extLst>
          </p:cNvPr>
          <p:cNvGrpSpPr/>
          <p:nvPr/>
        </p:nvGrpSpPr>
        <p:grpSpPr>
          <a:xfrm>
            <a:off x="4688755" y="1023755"/>
            <a:ext cx="6556188" cy="5348837"/>
            <a:chOff x="4733365" y="1213116"/>
            <a:chExt cx="6556188" cy="5348837"/>
          </a:xfrm>
        </p:grpSpPr>
        <p:sp>
          <p:nvSpPr>
            <p:cNvPr id="5" name="Rectangle 4"/>
            <p:cNvSpPr/>
            <p:nvPr/>
          </p:nvSpPr>
          <p:spPr>
            <a:xfrm>
              <a:off x="4775200" y="5915622"/>
              <a:ext cx="6514353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hlinkClick r:id="rId4"/>
                </a:rPr>
                <a:t>http://scitation.aip.org/content/aip/magazine/physicstoday/article/56/12/10.1063/1.1650229</a:t>
              </a:r>
              <a:endParaRPr lang="zh-CN" altLang="en-US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9207C1C-F1FE-4488-8A19-AD087A4C3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33365" y="1213116"/>
              <a:ext cx="6514353" cy="4598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61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16D0-05DC-4376-B81B-C3A8E59EE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88640"/>
            <a:ext cx="3262808" cy="576064"/>
          </a:xfrm>
        </p:spPr>
        <p:txBody>
          <a:bodyPr/>
          <a:lstStyle/>
          <a:p>
            <a:r>
              <a:rPr lang="en-US" altLang="zh-CN" dirty="0"/>
              <a:t>Table of</a:t>
            </a:r>
            <a:r>
              <a:rPr lang="zh-CN" altLang="en-US" dirty="0"/>
              <a:t> </a:t>
            </a:r>
            <a:r>
              <a:rPr lang="en-US" altLang="zh-CN" dirty="0"/>
              <a:t>constants</a:t>
            </a:r>
            <a:endParaRPr lang="en-US" dirty="0"/>
          </a:p>
        </p:txBody>
      </p:sp>
      <p:pic>
        <p:nvPicPr>
          <p:cNvPr id="14338" name="Picture 2" descr="Appendix A: Table of Constants - Solid State Physics [Book]">
            <a:extLst>
              <a:ext uri="{FF2B5EF4-FFF2-40B4-BE49-F238E27FC236}">
                <a16:creationId xmlns:a16="http://schemas.microsoft.com/office/drawing/2014/main" id="{7C6C351C-D41C-4AC6-8AC9-A5351548E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0" y="130629"/>
            <a:ext cx="7723414" cy="660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4996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原子物理学和量子力学的诞生&amp;quot;&quot;/&gt;&lt;property id=&quot;20307&quot; value=&quot;256&quot;/&gt;&lt;/object&gt;&lt;object type=&quot;3&quot; unique_id=&quot;10013&quot;&gt;&lt;property id=&quot;20148&quot; value=&quot;5&quot;/&gt;&lt;property id=&quot;20300&quot; value=&quot;Slide 9 - &amp;quot;几个重要的物理量&amp;quot;&quot;/&gt;&lt;property id=&quot;20307&quot; value=&quot;262&quot;/&gt;&lt;/object&gt;&lt;object type=&quot;3&quot; unique_id=&quot;10058&quot;&gt;&lt;property id=&quot;20148&quot; value=&quot;5&quot;/&gt;&lt;property id=&quot;20300&quot; value=&quot;Slide 2 - &amp;quot;第一届索尔维物理会议&amp;quot;&quot;/&gt;&lt;property id=&quot;20307&quot; value=&quot;265&quot;/&gt;&lt;/object&gt;&lt;object type=&quot;3&quot; unique_id=&quot;10072&quot;&gt;&lt;property id=&quot;20148&quot; value=&quot;5&quot;/&gt;&lt;property id=&quot;20300&quot; value=&quot;Slide 3 - &amp;quot;The 1st Solvay Conference 1911&amp;quot;&quot;/&gt;&lt;property id=&quot;20307&quot; value=&quot;267&quot;/&gt;&lt;/object&gt;&lt;object type=&quot;3&quot; unique_id=&quot;10112&quot;&gt;&lt;property id=&quot;20148&quot; value=&quot;5&quot;/&gt;&lt;property id=&quot;20300&quot; value=&quot;Slide 4 - &amp;quot;氢原子光谱&amp;quot;&quot;/&gt;&lt;property id=&quot;20307&quot; value=&quot;273&quot;/&gt;&lt;/object&gt;&lt;object type=&quot;3&quot; unique_id=&quot;10113&quot;&gt;&lt;property id=&quot;20148&quot; value=&quot;5&quot;/&gt;&lt;property id=&quot;20300&quot; value=&quot;Slide 5 - &amp;quot;氢原子光谱&amp;quot;&quot;/&gt;&lt;property id=&quot;20307&quot; value=&quot;274&quot;/&gt;&lt;/object&gt;&lt;object type=&quot;3&quot; unique_id=&quot;10116&quot;&gt;&lt;property id=&quot;20148&quot; value=&quot;5&quot;/&gt;&lt;property id=&quot;20300&quot; value=&quot;Slide 31 - &amp;quot;第五届索尔维会议（1927）&amp;quot;&quot;/&gt;&lt;property id=&quot;20307&quot; value=&quot;270&quot;/&gt;&lt;/object&gt;&lt;object type=&quot;3&quot; unique_id=&quot;10117&quot;&gt;&lt;property id=&quot;20148&quot; value=&quot;5&quot;/&gt;&lt;property id=&quot;20300&quot; value=&quot;Slide 32 - &amp;quot;The 5th Solvay Conference 1927&amp;quot;&quot;/&gt;&lt;property id=&quot;20307&quot; value=&quot;269&quot;/&gt;&lt;/object&gt;&lt;object type=&quot;3&quot; unique_id=&quot;10279&quot;&gt;&lt;property id=&quot;20148&quot; value=&quot;5&quot;/&gt;&lt;property id=&quot;20300&quot; value=&quot;Slide 8 - &amp;quot;里德堡常数的修正&amp;quot;&quot;/&gt;&lt;property id=&quot;20307&quot; value=&quot;276&quot;/&gt;&lt;/object&gt;&lt;object type=&quot;3&quot; unique_id=&quot;10350&quot;&gt;&lt;property id=&quot;20148&quot; value=&quot;5&quot;/&gt;&lt;property id=&quot;20300&quot; value=&quot;Slide 13 - &amp;quot;进一步验证：类氢离子光谱&amp;quot;&quot;/&gt;&lt;property id=&quot;20307&quot; value=&quot;278&quot;/&gt;&lt;/object&gt;&lt;object type=&quot;3&quot; unique_id=&quot;10351&quot;&gt;&lt;property id=&quot;20148&quot; value=&quot;5&quot;/&gt;&lt;property id=&quot;20300&quot; value=&quot;Slide 14 - &amp;quot;类氢离子的物理常数&amp;quot;&quot;/&gt;&lt;property id=&quot;20307&quot; value=&quot;279&quot;/&gt;&lt;/object&gt;&lt;object type=&quot;3&quot; unique_id=&quot;10352&quot;&gt;&lt;property id=&quot;20148&quot; value=&quot;5&quot;/&gt;&lt;property id=&quot;20300&quot; value=&quot;Slide 16 - &amp;quot;原子能级在碰撞过程的体现&amp;quot;&quot;/&gt;&lt;property id=&quot;20307&quot; value=&quot;277&quot;/&gt;&lt;/object&gt;&lt;object type=&quot;3&quot; unique_id=&quot;10438&quot;&gt;&lt;property id=&quot;20148&quot; value=&quot;5&quot;/&gt;&lt;property id=&quot;20300&quot; value=&quot;Slide 12 - &amp;quot;精细结构常数:  𝛼=  𝑒 2  ℏ𝑐 &amp;quot;&quot;/&gt;&lt;property id=&quot;20307&quot; value=&quot;280&quot;/&gt;&lt;/object&gt;&lt;object type=&quot;3&quot; unique_id=&quot;10923&quot;&gt;&lt;property id=&quot;20148&quot; value=&quot;5&quot;/&gt;&lt;property id=&quot;20300&quot; value=&quot;Slide 23 - &amp;quot;Stern-Gerlach 实验（1922）&amp;quot;&quot;/&gt;&lt;property id=&quot;20307&quot; value=&quot;283&quot;/&gt;&lt;/object&gt;&lt;object type=&quot;3&quot; unique_id=&quot;11076&quot;&gt;&lt;property id=&quot;20148&quot; value=&quot;5&quot;/&gt;&lt;property id=&quot;20300&quot; value=&quot;Slide 21 - &amp;quot;Bohr – Sommerfeld 的旧量子论&amp;quot;&quot;/&gt;&lt;property id=&quot;20307&quot; value=&quot;286&quot;/&gt;&lt;/object&gt;&lt;object type=&quot;3&quot; unique_id=&quot;11101&quot;&gt;&lt;property id=&quot;20148&quot; value=&quot;5&quot;/&gt;&lt;property id=&quot;20300&quot; value=&quot;Slide 18 - &amp;quot;塞曼效应（1896）&amp;quot;&quot;/&gt;&lt;property id=&quot;20307&quot; value=&quot;288&quot;/&gt;&lt;/object&gt;&lt;object type=&quot;3&quot; unique_id=&quot;11102&quot;&gt;&lt;property id=&quot;20148&quot; value=&quot;5&quot;/&gt;&lt;property id=&quot;20300&quot; value=&quot;Slide 26 - &amp;quot;泡利不相容原理和电子自旋（1925）&amp;quot;&quot;/&gt;&lt;property id=&quot;20307&quot; value=&quot;287&quot;/&gt;&lt;/object&gt;&lt;object type=&quot;3&quot; unique_id=&quot;11103&quot;&gt;&lt;property id=&quot;20148&quot; value=&quot;5&quot;/&gt;&lt;property id=&quot;20300&quot; value=&quot;Slide 30 - &amp;quot;量子力学&amp;quot;&quot;/&gt;&lt;property id=&quot;20307&quot; value=&quot;289&quot;/&gt;&lt;/object&gt;&lt;object type=&quot;3&quot; unique_id=&quot;11204&quot;&gt;&lt;property id=&quot;20148&quot; value=&quot;5&quot;/&gt;&lt;property id=&quot;20300&quot; value=&quot;Slide 17 - &amp;quot;改进后的Frank-Hertz实验(1920)&amp;quot;&quot;/&gt;&lt;property id=&quot;20307&quot; value=&quot;290&quot;/&gt;&lt;/object&gt;&lt;object type=&quot;3&quot; unique_id=&quot;11231&quot;&gt;&lt;property id=&quot;20148&quot; value=&quot;5&quot;/&gt;&lt;property id=&quot;20300&quot; value=&quot;Slide 24 - &amp;quot;幸运雪茄&amp;quot;&quot;/&gt;&lt;property id=&quot;20307&quot; value=&quot;291&quot;/&gt;&lt;/object&gt;&lt;object type=&quot;3&quot; unique_id=&quot;11260&quot;&gt;&lt;property id=&quot;20148&quot; value=&quot;5&quot;/&gt;&lt;property id=&quot;20300&quot; value=&quot;Slide 27 - &amp;quot;de Broglie物质波(1923)&amp;quot;&quot;/&gt;&lt;property id=&quot;20307&quot; value=&quot;294&quot;/&gt;&lt;/object&gt;&lt;object type=&quot;3&quot; unique_id=&quot;11261&quot;&gt;&lt;property id=&quot;20148&quot; value=&quot;5&quot;/&gt;&lt;property id=&quot;20300&quot; value=&quot;Slide 28 - &amp;quot;电子晶体衍射&amp;quot;&quot;/&gt;&lt;property id=&quot;20307&quot; value=&quot;295&quot;/&gt;&lt;/object&gt;&lt;object type=&quot;3&quot; unique_id=&quot;11262&quot;&gt;&lt;property id=&quot;20148&quot; value=&quot;5&quot;/&gt;&lt;property id=&quot;20300&quot; value=&quot;Slide 33&quot;/&gt;&lt;property id=&quot;20307&quot; value=&quot;292&quot;/&gt;&lt;/object&gt;&lt;object type=&quot;3&quot; unique_id=&quot;11437&quot;&gt;&lt;property id=&quot;20148&quot; value=&quot;5&quot;/&gt;&lt;property id=&quot;20300&quot; value=&quot;Slide 22 - &amp;quot;正常塞曼效应的Bohr理论解释&amp;quot;&quot;/&gt;&lt;property id=&quot;20307&quot; value=&quot;296&quot;/&gt;&lt;/object&gt;&lt;object type=&quot;3&quot; unique_id=&quot;11468&quot;&gt;&lt;property id=&quot;20148&quot; value=&quot;5&quot;/&gt;&lt;property id=&quot;20300&quot; value=&quot;Slide 34 - &amp;quot;作业&amp;quot;&quot;/&gt;&lt;property id=&quot;20307&quot; value=&quot;299&quot;/&gt;&lt;/object&gt;&lt;object type=&quot;3&quot; unique_id=&quot;12182&quot;&gt;&lt;property id=&quot;20148&quot; value=&quot;5&quot;/&gt;&lt;property id=&quot;20300&quot; value=&quot;Slide 11 - &amp;quot;精细结构常数  𝛼=  𝑒 2  ℏ𝑐 &amp;quot;&quot;/&gt;&lt;property id=&quot;20307&quot; value=&quot;300&quot;/&gt;&lt;/object&gt;&lt;object type=&quot;3&quot; unique_id=&quot;12183&quot;&gt;&lt;property id=&quot;20148&quot; value=&quot;5&quot;/&gt;&lt;property id=&quot;20300&quot; value=&quot;Slide 19 - &amp;quot;塞曼效应的经典解释&amp;quot;&quot;/&gt;&lt;property id=&quot;20307&quot; value=&quot;301&quot;/&gt;&lt;/object&gt;&lt;object type=&quot;3&quot; unique_id=&quot;12280&quot;&gt;&lt;property id=&quot;20148&quot; value=&quot;5&quot;/&gt;&lt;property id=&quot;20300&quot; value=&quot;Slide 10 - &amp;quot;备注&amp;quot;&quot;/&gt;&lt;property id=&quot;20307&quot; value=&quot;302&quot;/&gt;&lt;/object&gt;&lt;object type=&quot;3&quot; unique_id=&quot;12281&quot;&gt;&lt;property id=&quot;20148&quot; value=&quot;5&quot;/&gt;&lt;property id=&quot;20300&quot; value=&quot;Slide 7 - &amp;quot;玻尔模型和氢原子光谱&amp;quot;&quot;/&gt;&lt;property id=&quot;20307&quot; value=&quot;303&quot;/&gt;&lt;/object&gt;&lt;object type=&quot;3&quot; unique_id=&quot;12543&quot;&gt;&lt;property id=&quot;20148&quot; value=&quot;5&quot;/&gt;&lt;property id=&quot;20300&quot; value=&quot;Slide 6 - &amp;quot;Bohr模型（1913）&amp;quot;&quot;/&gt;&lt;property id=&quot;20307&quot; value=&quot;304&quot;/&gt;&lt;/object&gt;&lt;object type=&quot;3&quot; unique_id=&quot;12577&quot;&gt;&lt;property id=&quot;20148&quot; value=&quot;5&quot;/&gt;&lt;property id=&quot;20300&quot; value=&quot;Slide 15 - &amp;quot;透射（吸收）谱和荧光谱&amp;quot;&quot;/&gt;&lt;property id=&quot;20307&quot; value=&quot;305&quot;/&gt;&lt;/object&gt;&lt;object type=&quot;3&quot; unique_id=&quot;12578&quot;&gt;&lt;property id=&quot;20148&quot; value=&quot;5&quot;/&gt;&lt;property id=&quot;20300&quot; value=&quot;Slide 20 - &amp;quot;反常(anormlous)塞曼效应&amp;quot;&quot;/&gt;&lt;property id=&quot;20307&quot; value=&quot;306&quot;/&gt;&lt;/object&gt;&lt;object type=&quot;3&quot; unique_id=&quot;12579&quot;&gt;&lt;property id=&quot;20148&quot; value=&quot;5&quot;/&gt;&lt;property id=&quot;20300&quot; value=&quot;Slide 29&quot;/&gt;&lt;property id=&quot;20307&quot; value=&quot;307&quot;/&gt;&lt;/object&gt;&lt;object type=&quot;3&quot; unique_id=&quot;13072&quot;&gt;&lt;property id=&quot;20148&quot; value=&quot;5&quot;/&gt;&lt;property id=&quot;20300&quot; value=&quot;Slide 25 - &amp;quot;Stern-Gerlach 实验的解释&amp;quot;&quot;/&gt;&lt;property id=&quot;20307&quot; value=&quot;30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FF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9031</TotalTime>
  <Words>1297</Words>
  <Application>Microsoft Office PowerPoint</Application>
  <PresentationFormat>Widescreen</PresentationFormat>
  <Paragraphs>150</Paragraphs>
  <Slides>17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 Math</vt:lpstr>
      <vt:lpstr>Times New Roman</vt:lpstr>
      <vt:lpstr>Office Theme</vt:lpstr>
      <vt:lpstr>Clip</vt:lpstr>
      <vt:lpstr>Equation</vt:lpstr>
      <vt:lpstr>Polarizations of light</vt:lpstr>
      <vt:lpstr>Polarizations of light</vt:lpstr>
      <vt:lpstr>PowerPoint Presentation</vt:lpstr>
      <vt:lpstr>PowerPoint Presentation</vt:lpstr>
      <vt:lpstr>Zeeman effect（1896）and its classical (Lorentz) explanation</vt:lpstr>
      <vt:lpstr>Zeeman effect（1896）and its classical (Lorentz) explanation</vt:lpstr>
      <vt:lpstr>PowerPoint Presentation</vt:lpstr>
      <vt:lpstr>*Bohr-Sommerfeld (old) quantum theory</vt:lpstr>
      <vt:lpstr>Normal Zeeman effect explained by Bohr-Sommerfeld model</vt:lpstr>
      <vt:lpstr>Stern-Gerlach experiment（1922）</vt:lpstr>
      <vt:lpstr>Interpretation of the Stern-Gerlach experiment</vt:lpstr>
      <vt:lpstr>Anomalous Zeeman effect</vt:lpstr>
      <vt:lpstr>Pauli’s exclusion principle and electron spin（1925）</vt:lpstr>
      <vt:lpstr>*Classical explanations of the Zeeman effect</vt:lpstr>
      <vt:lpstr>*Classical explanations of the Zeeman effect</vt:lpstr>
      <vt:lpstr>How a Bad Cigar Helped Reorient Atomic Physics</vt:lpstr>
      <vt:lpstr>Table of constants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</dc:creator>
  <cp:lastModifiedBy>Zhao KF</cp:lastModifiedBy>
  <cp:revision>688</cp:revision>
  <dcterms:created xsi:type="dcterms:W3CDTF">2013-05-26T05:06:15Z</dcterms:created>
  <dcterms:modified xsi:type="dcterms:W3CDTF">2026-09-07T13:55:17Z</dcterms:modified>
</cp:coreProperties>
</file>