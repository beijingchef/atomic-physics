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8"/>
  </p:notesMasterIdLst>
  <p:sldIdLst>
    <p:sldId id="256" r:id="rId2"/>
    <p:sldId id="305" r:id="rId3"/>
    <p:sldId id="329" r:id="rId4"/>
    <p:sldId id="336" r:id="rId5"/>
    <p:sldId id="327" r:id="rId6"/>
    <p:sldId id="319" r:id="rId7"/>
    <p:sldId id="337" r:id="rId8"/>
    <p:sldId id="323" r:id="rId9"/>
    <p:sldId id="313" r:id="rId10"/>
    <p:sldId id="314" r:id="rId11"/>
    <p:sldId id="316" r:id="rId12"/>
    <p:sldId id="317" r:id="rId13"/>
    <p:sldId id="318" r:id="rId14"/>
    <p:sldId id="315" r:id="rId15"/>
    <p:sldId id="339" r:id="rId16"/>
    <p:sldId id="338" r:id="rId17"/>
  </p:sldIdLst>
  <p:sldSz cx="12192000" cy="6858000"/>
  <p:notesSz cx="7315200" cy="96012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标题" id="{09BCCD36-CD68-4312-ABF8-8D1F580E3CAA}">
          <p14:sldIdLst>
            <p14:sldId id="256"/>
          </p14:sldIdLst>
        </p14:section>
        <p14:section name="aborption and spontaneous emission" id="{0FE56635-158C-4073-A9B2-4C9649A64BC4}">
          <p14:sldIdLst>
            <p14:sldId id="305"/>
          </p14:sldIdLst>
        </p14:section>
        <p14:section name="Doppler effect" id="{E2839441-FD87-4D85-935A-312B74269D3B}">
          <p14:sldIdLst>
            <p14:sldId id="329"/>
            <p14:sldId id="336"/>
            <p14:sldId id="327"/>
          </p14:sldIdLst>
        </p14:section>
        <p14:section name="Einstein transition probability" id="{E151CA89-9250-450B-860B-160CE31F96B7}">
          <p14:sldIdLst>
            <p14:sldId id="319"/>
            <p14:sldId id="337"/>
            <p14:sldId id="323"/>
            <p14:sldId id="313"/>
            <p14:sldId id="314"/>
          </p14:sldIdLst>
        </p14:section>
        <p14:section name="Principle of Lasers" id="{35A7FBAB-76C6-4473-B6D9-CDCEF6A13CD1}">
          <p14:sldIdLst>
            <p14:sldId id="316"/>
            <p14:sldId id="317"/>
            <p14:sldId id="318"/>
          </p14:sldIdLst>
        </p14:section>
        <p14:section name="附录" id="{9840DE7D-586E-4AF3-9944-65AB456E158D}">
          <p14:sldIdLst>
            <p14:sldId id="315"/>
            <p14:sldId id="339"/>
            <p14:sldId id="3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55" autoAdjust="0"/>
    <p:restoredTop sz="88298" autoAdjust="0"/>
  </p:normalViewPr>
  <p:slideViewPr>
    <p:cSldViewPr snapToGrid="0">
      <p:cViewPr>
        <p:scale>
          <a:sx n="78" d="100"/>
          <a:sy n="78" d="100"/>
        </p:scale>
        <p:origin x="231" y="54"/>
      </p:cViewPr>
      <p:guideLst>
        <p:guide orient="horz" pos="2160"/>
        <p:guide pos="3840"/>
      </p:guideLst>
    </p:cSldViewPr>
  </p:slideViewPr>
  <p:outlineViewPr>
    <p:cViewPr>
      <p:scale>
        <a:sx n="33" d="100"/>
        <a:sy n="33" d="100"/>
      </p:scale>
      <p:origin x="0" y="0"/>
    </p:cViewPr>
  </p:outlineViewPr>
  <p:notesTextViewPr>
    <p:cViewPr>
      <p:scale>
        <a:sx n="200" d="100"/>
        <a:sy n="200" d="100"/>
      </p:scale>
      <p:origin x="0" y="0"/>
    </p:cViewPr>
  </p:notesTextViewPr>
  <p:sorterViewPr>
    <p:cViewPr>
      <p:scale>
        <a:sx n="100" d="100"/>
        <a:sy n="100" d="100"/>
      </p:scale>
      <p:origin x="0" y="0"/>
    </p:cViewPr>
  </p:sorterViewPr>
  <p:notesViewPr>
    <p:cSldViewPr snapToGrid="0">
      <p:cViewPr varScale="1">
        <p:scale>
          <a:sx n="75" d="100"/>
          <a:sy n="75" d="100"/>
        </p:scale>
        <p:origin x="-2914" y="-8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wmf"/><Relationship Id="rId1" Type="http://schemas.openxmlformats.org/officeDocument/2006/relationships/image" Target="../media/image43.wmf"/><Relationship Id="rId5" Type="http://schemas.openxmlformats.org/officeDocument/2006/relationships/image" Target="../media/image47.wmf"/><Relationship Id="rId4" Type="http://schemas.openxmlformats.org/officeDocument/2006/relationships/image" Target="../media/image4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6:42.825"/>
    </inkml:context>
    <inkml:brush xml:id="br0">
      <inkml:brushProperty name="width" value="0.05833" units="cm"/>
      <inkml:brushProperty name="height" value="0.05833" units="cm"/>
      <inkml:brushProperty name="fitToCurve" value="1"/>
    </inkml:brush>
  </inkml:definitions>
  <inkml:trace contextRef="#ctx0" brushRef="#br0">1322-2877 178,'0'0'27,"-5"0"-12,5 0-9,0 0 11,0 0 3,0 0-19,-3 0-12,1 0 0,-1 0 12,-2 0-1,3 0 6,-3 0 18,3 0-2,-3 0 17,5 0-3,-5 0 11,2 0-5,3 0-7,0 0-1,0 0 6,0 0-7,0 0-1,0 0 0,0 0-10,0 0-7,0 0-1,0-3 0,0 0-15,5-5 4,12-2 3,5 0-4,8-4 3,-3-1-10,7 1 10,-2-3-4,-2 3-7,2-1 12,-5 2-5,0 2-1,0-1 0,-3 3-4,-4 1 9,0 1-5,-3 0 0,0 1 0,-2 0-1,-3 2 2,-5 0-1,1 2 2,-6 0-1,3 1-4,-2 1 2,-3 0 2,0 0-1,2 0-1,0-2 2,6-1-2,-1 1 2,-2 0-2,2-1 2,-4 3-1,-3 0 2,0 0-4,0 0 0,0 0 0,0 0 16,0 0-11,0 0 0,0 0 0,-7 3-2,-1 6-1,-2 2 0,1 8 1,-4-1 2,3 7 0,-2 3 0,-3 7 3,-4 2-4,-1 1 4,0 3 1,-2 1-4,-2-3 2,2-1-3,5-7-2,4-8 1,3-7 2,6-5-5,1-6 3,3-5-1,0 0-1,0 0-62,-2-9-71,-6-14-132</inkml:trace>
  <inkml:trace contextRef="#ctx0" brushRef="#br0" timeOffset="-133680.49">2787-1004 417,'-5'0'98,"5"0"-30,0 0-9,0 0-18,32-2-9,12-12-9,18-1-4,9 0-7,3 0-10,9 5 5,3 2 7,0 5-14,0 3 0,-9 0 5,-1 0-2,-15 0 1,-12 7-2,-17 1-4,-7-3 1,-10-1-10,-15 0-23,0-4-22,-3 0-31,-41 0-90</inkml:trace>
  <inkml:trace contextRef="#ctx0" brushRef="#br0" timeOffset="-134230.52">2834-1544 257,'0'-1'113,"0"0"-31,0 1-10,0-1 7,0-4-22,0 2-30,17-3-8,15-2-5,5 0-5,4-4-3,6 2-4,0 0 0,0-1-6,-8 2 5,-2 1 1,-8 2-29,-2 4-8,-5-1-30,-4 2-22,-11 1-14,-7 0-41,0 0-139</inkml:trace>
  <inkml:trace contextRef="#ctx0" brushRef="#br0" timeOffset="-133968.5">3200-1596 268,'-7'4'89,"-1"2"-27,-2 5-4,1 3 2,4 8-11,-8 4-20,3 8 7,3 3-14,-5 6-6,2 2-8,0 3 15,3 0-7,-3-1 0,3-1 1,4-4-9,3-5-7,0-8 0,0-4 0,0-6 1,0-3-15,0-4-21,5-3-19,-3-2-40,-2-7-44,0 0-110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21.859"/>
    </inkml:context>
    <inkml:brush xml:id="br0">
      <inkml:brushProperty name="width" value="0.05833" units="cm"/>
      <inkml:brushProperty name="height" value="0.05833" units="cm"/>
      <inkml:brushProperty name="fitToCurve" value="1"/>
    </inkml:brush>
  </inkml:definitions>
  <inkml:trace contextRef="#ctx0" brushRef="#br0">1120 924 142,'0'-12'48,"-2"-3"-46,-3-1 6,-3-1 26,1-2 8,-5-2-13,-8-1 1,-4-3-4,-1 1 6,-12-3 6,-10-4 4,-2-5-19,-12-2-11,-5-6 3,-8-8 2,-2-2 2,-5-4-13,2-2-3,3 0-2,5 3-1,7 3 2,10 7-2,7 7 1,8 9-1,9 5 6,3 8-7,8 7-4,7 3 11,4 7-8,8 1-36,0 0-62,0 0-101</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5.244"/>
    </inkml:context>
    <inkml:brush xml:id="br0">
      <inkml:brushProperty name="width" value="0.05833" units="cm"/>
      <inkml:brushProperty name="height" value="0.05833" units="cm"/>
      <inkml:brushProperty name="fitToCurve" value="1"/>
    </inkml:brush>
  </inkml:definitions>
  <inkml:trace contextRef="#ctx0" brushRef="#br0">0 0 628,'10'2'68,"5"0"-67,24 2-64,0 0 19,6-1-52,-6 0-109</inkml:trace>
  <inkml:trace contextRef="#ctx0" brushRef="#br0" timeOffset="-164.01">307-290 32,'-10'23'581,"-2"-3"-614,-8 3-201</inkml:trace>
  <inkml:trace contextRef="#ctx0" brushRef="#br0" timeOffset="128">452 225 64,'22'12'390,"5"-4"-371,8-3-33,11-1-27,1-1-106</inkml:trace>
  <inkml:trace contextRef="#ctx0" brushRef="#br0" timeOffset="-307.02">518-722 627,'10'0'98,"-10"1"-85,15 4-94,-3 5-42,-12 4 0,0 1-241</inkml:trace>
  <inkml:trace contextRef="#ctx0" brushRef="#br0" timeOffset="724.04">1339-466 376,'-224'-141'125,"207"144"-112,2 4-137,8-3-133</inkml:trace>
  <inkml:trace contextRef="#ctx0" brushRef="#br0" timeOffset="880.04">1132-301 498,'0'39'40,"-5"-2"-32,5-4-9,0-2 0,15-5-36,12-6-68,-2-8-72</inkml:trace>
  <inkml:trace contextRef="#ctx0" brushRef="#br0" timeOffset="599.03">1339-466 367,'-42'13'269,"0"-3"-229,18-2-19,16 1-24,8-1-47,0-7-129,0-1-101</inkml:trace>
  <inkml:trace contextRef="#ctx0" brushRef="#br0" timeOffset="288.01">1587 214 664,'22'6'31,"-3"-6"-82,21 0-93,6 0-23</inkml:trace>
  <inkml:trace contextRef="#ctx0" brushRef="#br0" timeOffset="1119.06">1744-941 7,'17'-5'525,"-12"4"-422,-5 1-44,0 0-40,10 0-13,-3 0-23,1 0-114,-8 4-101</inkml:trace>
  <inkml:trace contextRef="#ctx0" brushRef="#br0" timeOffset="444.02">2144-105 695,'-34'2'72,"-3"-2"-53,22 0-16,10 0-4,3 0-40,-3-14-129,-7-12-144</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1.349"/>
    </inkml:context>
    <inkml:brush xml:id="br0">
      <inkml:brushProperty name="width" value="0.05833" units="cm"/>
      <inkml:brushProperty name="height" value="0.05833" units="cm"/>
      <inkml:brushProperty name="fitToCurve" value="1"/>
    </inkml:brush>
  </inkml:definitions>
  <inkml:trace contextRef="#ctx0" brushRef="#br0">-1866 1209 117,'-7'0'266,"2"0"-208,-3 0-21,6 0 21,2 0 11,0-2-11,0-5-14,22 2-28,15-4-11,12-2 5,2-3-1,8 2-8,5 0 2,-2 2-3,-1 3-68,-9 2-47,-1 3-70</inkml:trace>
  <inkml:trace contextRef="#ctx0" brushRef="#br0" timeOffset="-205.02">-1832 807 51,'0'-8'320,"-2"-1"-276,-1 1-14,3 0 9,0-2 11,0-1-14,13-2-15,14-3-14,7-1 2,5-2-5,6 5 6,-1 3-2,5-1 2,-7 6-13,2 1 9,-12 0-9,0 2 4,-5 1-2,-13-2-12,-1 4-20,-11 0-14,-2 0-2,0 0-2,0 0 35,-10 3 7,-14 5-2,-3 1 15,0 0-8,2 1 16,3 0-3,2 2 12,3 4 5,7 3 1,3 4-2,5 8-4,-3 4-1,5 3 6,-3 3-17,1 2 5,-1-2-9,-4 0 5,-3 0-10,3-5 4,-3-2-2,-2-5-4,7 0-23,-5-4-27,-2-7-35,-1-5-33,-1-7-67</inkml:trace>
  <inkml:trace contextRef="#ctx0" brushRef="#br0" timeOffset="451.02">-1068 1073 262,'10'-9'58,"-3"1"-44,6 3 7,-1 0 6,-2 3-5,7 2-14,2 0 1,-1 0 7,-4 0-10,-1 12-3,-6 8 6,-7 1 10,0 4-1,0 0-3,0 3-7,-15-3 5,-4 1-1,-1-8-1,-7-3-1,10 0 19,0-6-19,-3-4 10,5-4 2,1-1 1,-4 0 4,9 0-3,-4-9-16,3-7-5,1 0-1,4-1-5,5 4-10,0-3-19,0 3-18,0 5-4,0-1-21,0 2-26,0 3-50</inkml:trace>
  <inkml:trace contextRef="#ctx0" brushRef="#br0" timeOffset="11527.65">47 69 17,'-12'-13'116,"2"-2"-47,0 4-20,8-1 27,-3 4-4,2 4-1,1 0-15,2 3-2,-3 1-9,3 0-23,0 0-15,0 0-10,0 0 5,0 10-2,0 13 1,0 4 0,10 4 2,3 1-7,4-1 5,-5-4-3,0-4-22,1-4-19,-9-4-28,-4-7-34,0-5-85</inkml:trace>
  <inkml:trace contextRef="#ctx0" brushRef="#br0" timeOffset="11692.66">123 77 264,'27'0'13,"0"0"-2,5 0-11,7 3 8,3 11-5,0-2-34,5-1-121</inkml:trace>
  <inkml:trace contextRef="#ctx0" brushRef="#br0" timeOffset="151414.49">1223-1523 401,'0'0'70,"0"0"-12,0 0 8,0-2 11,0 0-26,0 2-38,0 0-10,0 0-2,0 9 12,0 19-7,0 3 4,-2 10 1,-10 8 5,2 2-2,0-5 2,5-2-1,5-1 1,0-4-11,0-9 10,0-2-12,0-7-8,0-3 8,-2-4 2,2-6-8,0 1 4,0-3-1,0-3 7,0 1-13,0-3 13,0 3-8,0-3-8,0 0-18,-3 1 5,-4 0-7,-3 0-4,3 1-2,-6 1 6,1 0 6,0 0 11,-8 0 9,0 1 0,6 1 9,-4-4-6,6 2 0,0-1 0,7-3 4,-2 0 4,-1 0 10,3 0-11,-2 0 8,5 0-5,-3 0 1,2 0 10,3 0 2,-2 0 10,-1 0-1,3 0-4,-2 0-1,2 0-2,-3 0-2,3 0-3,0 0-7,0 0 4,0 0-4,0 0-4,0 0 0,0 0 5,0 0-10,0 0-4,0 0 0,5 0-1,25 0 4,9 0-3,8 0 2,-1 0-1,6 0 3,-3 0-1,0 0-9,-10 0 8,1 0-1,-8 0-2,-5 0 4,-13 0-3,-1 0 1,-11 0-3,-2 0 6,0 0-6,0 0 2,0 0-10,0 0-44,-10 0-56,-17 0-131,-9-9-299</inkml:trace>
  <inkml:trace contextRef="#ctx0" brushRef="#br0" timeOffset="150614.44">1012-1531 300,'0'0'328,"0"0"-273,0 0-31,0 0 9,0 0 34,0 0-24,0 0-30,0 0-5,0 0 0,0 0-3,0 0 1,3 0-5,6 0 2,9 0 1,4 0 2,-3 0-2,8 0-3,0 0 0,8 0 0,2 0 0,-1-6-2,4-6 1,-3 0 1,-6 0-9,-3 5 13,-11 1-16,-5 0 7,-5 2 1,-4 2 7,-3-1-7,0 1-18,0 2-7,0 0-10,0 0-35,0 0-48,0 0-68,0 0-131</inkml:trace>
  <inkml:trace contextRef="#ctx0" brushRef="#br0" timeOffset="152046.53">1665-1694 280,'5'-12'223,"-5"0"-117,0 0-24,8 8 13,-3 1 20,-5 3-34,0 0-10,0 0-9,0 0 6,0 10-16,0 17-26,0 7-12,0 5-4,-20 13-4,-7 4-5,0-3-4,-5 2-79,-5-9-113,5-7-335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25.344"/>
    </inkml:context>
    <inkml:brush xml:id="br0">
      <inkml:brushProperty name="width" value="0.05833" units="cm"/>
      <inkml:brushProperty name="height" value="0.05833" units="cm"/>
      <inkml:brushProperty name="fitToCurve" value="1"/>
    </inkml:brush>
  </inkml:definitions>
  <inkml:trace contextRef="#ctx0" brushRef="#br0">673 2976 367,'-9'-5'132,"1"1"-94,1 2-24,-1 1 14,6 1 21,-5 0-20,-8 0-10,-7 10-10,-8 15-4,-9 12-3,-10 4 2,-13 13-2,-1 7-2,-11 4 0,0 3 4,1 4-7,1-3 2,9-6 2,1-6 4,18-11-7,12-13-15,12-11-13,13-13-4,7-9-38,2 0-86,33-20 3</inkml:trace>
  <inkml:trace contextRef="#ctx0" brushRef="#br0" timeOffset="3289.18">-329 3497 265,'3'-20'42,"2"-5"-12,0 5 3,2 0 19,-2 3 9,0 2 0,-3 5-8,1 4-16,-3 4-7,0 2-1,0 0 6,0 0-12,0 0-13,0 0-7,0 13 0,0 7-1,0 2-1,0 4-4,-5 5 8,-5 0-6,3 4 6,-3-1-7,-2 0 3,2-2 0,-10-1-5,5-1-1,1-5-3,-4-3 6,4-3 1,4-6 0,0-3 1,3-5 1,2-1-2,2-3 3,3-1-3,0 0 2,0 0 4,0 0-3,0 0 1,0 0-3,0 0-6,0 0 13,0 0-7,8 0-7,4 0 8,0 0 5,10 0-6,10 0 0,10 0 0,7 0 2,15 0-2,5 0 0,4-8-2,8-4-11,-2-1-32,0-4-45,-11 1-56,-1-3-200</inkml:trace>
  <inkml:trace contextRef="#ctx0" brushRef="#br0" timeOffset="564.03">2014 3254 398,'0'14'64,"-2"1"-50,2 5-8,0 5-1,0 5 21,0 10-13,2 4 5,11 8 4,4 8-6,-2 5 1,-3 4 7,0-2-4,-2-3-13,2-2-4,0-10-2,-2-10 0,5-11-2,0-11-12,2-8-52,-5-12-51,-4 0-82</inkml:trace>
  <inkml:trace contextRef="#ctx0" brushRef="#br0" timeOffset="1112.06">2059 3944 222,'12'6'65,"0"2"-33,10 2 7,5 3-11,3 6 7,-1 2-17,1 3-8,-3-1-4,-8-3 14,-4-2-3,0-7 5,-5-7-4,-3-2-10,3-2 8,0 0 10,2-8-7,-5-13-1,1-8-5,-1-7-6,0-3-3,-2-10-8,-2-4-20,-3-5-52,0-1-51,0 1-146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3:23.713"/>
    </inkml:context>
    <inkml:brush xml:id="br0">
      <inkml:brushProperty name="width" value="0.05833" units="cm"/>
      <inkml:brushProperty name="height" value="0.05833" units="cm"/>
      <inkml:brushProperty name="fitToCurve" value="1"/>
    </inkml:brush>
  </inkml:definitions>
  <inkml:trace contextRef="#ctx0" brushRef="#br0">336 1076 84,'0'0'38,"0"0"-45,0 0-15,0 0 17,0 0 6,0 0 1,0 0 4,0 0-1,0 0 47,0 0 6,0 0-21,0 0-7,0 0-11,0 0-12,0 0-4,0 0-6,0 0-23,0 0-78</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23.74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0 140 230,'0'0'27,"0"0"-10,0 0 4,0 0 15,0 0 0,0 0-6,8 0-13,4 0-2,3-4-12,-1-4 25,6 3-6,-5-3-8,4 1-6,1 2 6,0-1-2,2 1-3,0 1-4,7 2-3,6-1 1,-1 0-2,3 1-1,2-4 1,3 5 2,2-3-3,-2-1-2,9 2 5,-4 0-3,7 1-1,-5 0 2,8-1-1,-6 1 0,6-1 0,-3-2 0,2-1 0,1 0 2,-1-2 0,-7 1-2,5 4-1,-9-1 1,-1 3 0,-2 1 0,-3 0-1,-5 0 6,-2 0-5,3 0-1,-3 5 1,-3 1 0,8 2 0,-3 0 1,1-4 1,9 2 1,-2-6-1,4 0 1,3 0-2,3 0 1,0 0-2,-1-4 1,-2 0 1,-5 0 0,-4 0 3,-8 2 7,-8 2 0,-2 0-6,-7 0-2,-3 0 5,-7 0 5,3 0 4,-3 4-13,-3-2 2,0-1-4,1-1-2,-3 0-1,2 0 3,-2 1-7,0 0-44,0 0-61,0 1-144</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24.440"/>
    </inkml:context>
    <inkml:brush xml:id="br0">
      <inkml:brushProperty name="width" value="0.05833" units="cm"/>
      <inkml:brushProperty name="height" value="0.05833" units="cm"/>
      <inkml:brushProperty name="fitToCurve" value="1"/>
    </inkml:brush>
  </inkml:definitions>
  <inkml:trace contextRef="#ctx0" brushRef="#br0">1967-1556 503,'3'-24'54,"-3"1"-47,10-5-10,12-9 6,2-6 1,8-6-1,10-10 1,7-9-7,8-8-1,6-11-10,4-6-4,-1-12-4,10 1-15,-2-4-11,0 6 28,-6 8 14,-1 10 15,-11 13 2,-4 12 11,-13 16 16,-5 11-5,-14 10-11,-3 10-17,-9 9 0,-8 3-2,0 0 0,0 0-9,-18 16-35,-11 5-101</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25.00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88 334,'2'-2'63,"1"-1"-30,2-1 10,4 1 18,-1-2-6,7-1-23,-3 0 0,8-1-15,-6 1 8,8-1-3,5 0-4,3 5-15,4-4 3,3 3-5,10 1 1,-3 1-1,8-5 6,2 4-6,2-1 0,-7-1-2,10 2-2,-7 2 3,4 0 4,-4 0-3,4 0 0,3 0-3,-2 0 3,9 0-1,-7 0 1,7 0-3,-2 0 4,2 0-2,3 0-1,-3 0 0,6 0 1,-4 1 0,6-1 2,-5 1-4,5 0 2,-6 1-3,-4-1 2,0 1 0,-3 0 0,-4 1 3,-1 1-5,-2-4 3,5 0-2,-9 0 6,4 0-4,-5 0 2,2 0-1,-4-3-3,-10 0 4,0 2 6,-15 0-7,-8 1-1,-9 0-1,-5 0 0,0 0 7,0 0 2,0 0 1,0 0-10,0 0-24,-7 0-43,0 0-37,-1 0-51,3 0-220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34.76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0 127,'7'-1'173,"0"1"-100,3 0-35,7 0 26,3 3-1,7 20-16,12 9-28,3 8-13,-3 5-12,-2 6-49,-7-5-116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34.62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144 2797 4,'0'0'28,"0"0"18,0 0-7,0 0-4,0 0 2,0 0-2,0 0-4,0 0 0,0 0-9,0 0-2,0 0 2,0 0-11,0 0 6,0 0-4,0 0-2,0 0-3,0 0-4,0 0 5,0 0-8,0 0 3,0 0-10,0 0 13,0 0-7,0 0 2,0 0 4,0 0-4,0 0 0,0 0-1,0 0 5,0-5-3,0-1 0,0-1-2,0-1-4,0-4 2,0-4 5,2 1-9,5-4 5,-4-3-5,-1 4 2,1-3 0,-3 0 3,2-2-4,1 1 8,-1-4-4,1 0-4,-1-1 8,0-2-2,1 2-4,2 0 4,0-3-4,0 1 4,0-1-4,2-2 1,-5 0 1,3-1-6,-2-3 2,-3 0-2,0 0 6,0 1 0,0-4 0,0-4 0,0-1-1,0-5 0,0-3 2,0 0-1,0 0 2,0-1-2,0 7 0,0 2 5,0 6-5,2 0-3,1 4 4,2 0 3,-1 0 0,1-3-2,-2-1-1,2-5-1,-5 0 0,0 1 0,2-4-4,1 4 3,-3-4 1,0 5 1,0 0-2,0 6-1,0 3-5,0 3 4,0 3-1,0 3 0,0-1 1,0-1 4,-3-1-1,1-3 0,-3-1-1,2-2 3,3 1-2,0 2 0,0-2 0,0 5 0,0 1 0,0 0 0,0 3 0,0-1-1,0 0 0,0 3 1,0 0 0,0 2-1,0-2 2,0 2-7,0 1 12,0 0-11,0-1 7,0 2 0,0 2 0,0-2-5,0 4 6,0 0-6,0 1 7,0-1-4,0 2-4,0 1 5,0-5 2,0 0-2,0 3 1,0-4-1,0 4 3,0 0-4,0 0-2,0 4 2,8-1 3,-3 1-6,0 0 7,-3 1-7,3-1 7,-3 2-2,1 1 4,-3 0 1,0 2 1,0-1 6,0 1-3,0-4-8,0-1-1,0-2-3,0 1 1,0-3-3,0 2-3,0 2 5,0 1 0,0 2 1,0 0-1,0 0 0,0 3 2,0 0-2,0 1 3,0 0 6,0 0 6,0 0-3,0 13-2,-12 2 2,-3 4-2,-2 3 14,-5-1-1,-1 3-13,-6 1 4,2 1-2,0 1-1,0-1-10,2-1 5,8-4-3,5-4-2,2-7 0,10-4-1,0-6-19,0 0-52,15-1 5,14-18-35,6-6-29</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52.00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0 33 80,'5'0'12,"0"0"-4,0 0 27,-3 0 14,1 0-19,-1 0-16,1 0 3,-3 0 5,0 0-2,0 0-2,0 0 7,0 0 5,0 0 2,0 0-5,2 0-7,5 0-5,3 0-5,5 0 8,0 0-4,9-5-7,1 1-5,-3-1 0,5 2-1,0-1-1,7 1 2,-2 0-3,5 1 5,2 2 0,1 0-3,4 0 7,0 0-5,3 0 5,2 0-8,2 0 1,6 0 0,-1 0-1,3 4 1,3-1-1,2-2 3,2-1-3,0 0 5,1 0-8,-1 0 8,-5 0-6,-2 0 0,-5 0 1,-7 0 0,2 0 0,-5 0 1,-4 0-1,1 0 1,1 0 4,0 5-5,0 4-4,2 0 10,2-4-5,1-1-3,0 0 3,-3-3 0,5-1 12,-2 0-3,-3 0 4,8 0 0,-8 0-9,5 0-1,-5 0-3,3 0 3,-5 0-4,2-1 1,-5-1 0,-2 2 7,-3 0-6,-4 0-4,-8 0 9,0 0 6,-7 0-3,-8 0 0,3 0 1,-5 0 5,5 0-1,2 0-4,5 0-2,5-3-4,3-2 0,-3 2-3,0-3-1,-7 4 1,-3 0 2,-7 1-5,-3 0 3,-2 1-3,0 0 3,0 0-3,0 0 0,0 0-26,0 0-51,-27 1-100</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55.92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150-3 49,'0'0'75,"-5"0"-65,3 0-4,-1 0 37,1 0 5,-3 0-13,3 5 3,-3 3 6,-3 3-1,3 0-4,0 4-9,1 4-8,-4 1-12,1 6 1,2 9 5,-3 5 2,4 6 0,-4 7-5,1 7-3,-1 3-5,1 5-1,-3 1-2,3 0 1,0 1 2,2-1-2,0-2-3,0-4 1,5 2 2,-3 1 0,3-1 1,0-1-4,0 1 0,0 1 1,0-6-2,0 0 1,0 0 0,0-3 2,0-1 2,3-5-11,-3 4 7,2-5 1,-2 1-2,0-1 1,0-1 1,0 0 0,0-3 2,0 1-4,3-2 2,-1 2-1,3-5-3,2 2 3,8-4-11,-3-2 2,3-1 4,-3-5 4,3-2 0,-5-9 2,-3-1-3,-4-3 2,-1-3-4,-2-4 2,0 0 1,0 1 0,3 1 1,-1 4-1,1 0 2,2 3-1,-3 4-1,1-3 1,-1-2 1,-2-5-2,2-3 1,-2-2 1,0-7-1,3-1 1,-3 0-3,0 0 3,2-13-21,1-9-22,-3-5-35,0-3-45,0 3-145</inkml:trace>
  <inkml:trace contextRef="#ctx0" brushRef="#br0" timeOffset="396.02">42 2309 117,'-5'-10'169,"-2"-1"-79,7 2-42,-3 1 5,3 4-1,-2-1-9,2 2-15,0 2-9,-3 1-7,3 0-1,0 0-3,0 0 5,0 12 5,0 9-8,0 5-8,0 7 7,15 1 2,0 2-2,5-3-3,-1-2-2,1-7 2,-5-7 1,2-5 3,-7-8-3,2-4 1,3 0 8,-3 0 11,3-22-2,-1-11-12,1-9-11,0-8 4,2-6-5,0-9-4,3 0-34,-8 0-57,-2 5-71,-3 7-164</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5:15.928"/>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10 73 133,'-5'0'74,"5"0"-28,-5-2 7,5-2 24,0 2-9,0-1-15,-2-2-5,2 2 0,0-1-4,0 1-15,0 0-13,0 2-6,0-2-1,0 2-7,0-2-2,12-1 2,13 0 0,7 2-3,7-4 1,-5 1 0,11 2 6,4 0-6,-3 3-4,1 0 9,-3 0-5,-2 0-3,2 0 6,-5 0-4,3 0 1,-2 0-2,6 1 2,-4 4-2,0 0 2,2 1-6,0-6 9,0 1-4,-2-1 1,5 0 0,-3 0-3,0 0 4,3 0 1,-3 0-4,0 0 2,3 0-1,0 0 0,-1 0 2,-4 0-1,5 0 5,-6 0-5,4 0 0,-4 0-5,4 0 10,-4 0-8,1 0 1,2 0 4,-2 0-1,2 0-4,-2 0 5,5 0-1,-3 0 0,2 0-1,1 0 0,2 0 1,-2 0-1,0 0-2,2 0 2,-3 0-3,4 0 5,-1 0-5,0 0 4,0 0-2,-2 0 1,2 0-1,-3 0 3,3 4 0,1-3-4,4 3 1,-5-2 4,2 0-2,3-2 0,-5 0-1,3 0-4,-5 0 10,-3 0-11,-2-8 10,-6 2-5,-1 0 2,-16 1-1,1 1-2,-10 2 5,-5 2 1,-5 0-10,0 0 7,0 0-11,-15 0-49,-19-2-133</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5:27.90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-1631 235 225,'0'0'52,"0"0"-29,0 0-2,0 0 17,0 0 5,0 0-20,0 0 11,0 0-8,0-3 3,0 3 7,0 0-6,0-2 0,0 1-7,0-1 5,0-2-18,0 1-3,0 0-3,0-1 1,0 2-1,0 1-2,0-1-8,0 1 13,0-1 3,0-2-9,0 1 8,0-3-1,5-2-6,0 0-6,0-1 7,4-2-3,-1 2 1,-1-1-1,0-1 5,3 1-10,0 3 6,2 1-2,1-3 2,-3 5-2,2-2 2,0 1-2,-2 2 5,0-1-4,0 0-4,-1 1 9,1-1-9,0 0 5,0 3-1,-3 0 1,-2 1 0,2 0-2,3 0 1,-2 0-1,2 0 0,-3 0 1,5 4 0,-2 3 0,5 0-1,-5 2 2,4 0-1,-6 2 0,-1-2 0,3 2-1,-3 0 0,1-2 1,-1 2 1,0-3-2,-2 1 3,3-3-3,-4 2 1,1 3 0,0-2 0,0 0 2,0 2-3,3 1 1,-1-2 0,-2-1-2,5-2 6,-3-1-8,5 1 7,-4-2-6,-1-2 2,0 3 4,-2-3-5,5-2 2,0 1 0,-3 0 3,3-2-6,0 0 4,5 0-2,-3 0 2,5 0-1,0 0 0,-2-8 0,5-1 0,-3-3 0,0 2 1,-5-2-1,3 2-2,-8-2-7,1 1 6,-3 2 0,2 1 2,1-2-1,-4 3-2,4 0-2,-1-1-2,-2 3 2,2-3 4,1 3-11,-1 0 11,1 1-7,1-2 5,-1 2 1,-1 2 1,0-4-1,-2 3 3,0-2-1,0 2 1,0 3 0,2-4 0,-2 3 0,3 1-4,-1 0 5,3 0 2,0 0-7,2 0 4,-2 0 3,0 0-5,0 0 3,2 0-1,-5 0-1,3 0 2,-3 1-2,3 6 1,-2 3 0,-1-1 3,3 2-2,-3 1-1,3-1-2,-5 1 5,2-2-7,1 3 5,-3 0 5,-1-1-10,1 2 5,0-4-1,3-1 4,-1-4-4,5 1 1,-2-2-6,0-2 9,5-1-6,-3-1 5,0 0-3,-2 0 0,2 0 1,-4 0-1,1 0 1,1 0-2,-5 0 1,3 0 1,-1-9 0,-2 0-1,2-2 0,-2 0 0,3-4-1,1 3 2,-4-1-3,3 2-2,-1-2-1,0-2 2,1 4 4,-3 0-7,0 2 5,4 0 0,-4 1 1,3 3-2,-1 2 4,3-1-2,0 0-2,-3 3 4,-2 0-4,0 1 2,0 0 0,0 0-1,0 0-1,4 0 4,-1 0-3,4 0 1,-2 0 0,0 0 0,-3 2 1,0 8-2,3-3 1,0 5 6,0 1-7,0 0 7,-3 1-9,5-1 7,-2-1-5,0 0 1,0 0 1,-3-3-1,3 0 2,0 0-2,2-3-1,-2 0 2,0-1-1,0-2 1,2-2-2,0 1 2,-2 0 0,2-2-2,1 0 3,-1 0 3,3 0-5,-3 0 3,-2 0 6,-5 0-5,-3 0 3,1 0 2,-3 0-3,0 0 4,0 2 4,0-2 3,0 2-1,0-2-6,0 0-6,0 0-1,0 0 0,0 0-1,0 0-2,0 0 2,0 0-7,0 0 10,0 0-3,0 0-1,0 0 1,0 0 0,0 0-2,0 0 0,0 0-1,0 0 2,0 0-1,0 0 0,0 0 0,0 0-1,0 0 4,0 0-3,0 0 1,0 0 1,0 0-5,0 0 4,0 0-1,0 0-1,0 0 1,4-4-1,-1-3 0,4-2 1,-2-1 0,0 2-2,0 1 0,0 5 3,-3-2-2,1 4 1,-3-2-1,0 2-13,0 0-2,0 0 0,0 0-2,0 0-3,0 0 9,2 0 0,1-1 3,2 0-2,-5 0 2,5-1 1,-5 1 2,4-1-6,1 1-19,0 0-6,3-1 14,-3 0 4,-5 1 1,4 1 13,-4 0 4,0-2 1,0 2 0,0 0 1,0 0 3,0 0 6,0 0-1,0 0-11,0-1 4,3-2-2,-1 1 1,-2-1-10,0 2-5,0-1-59,0 2-66</inkml:trace>
  <inkml:trace contextRef="#ctx0" brushRef="#br0" timeOffset="648.03">32-2 386,'2'0'78,"-2"0"-13,0 0-25,5 0 10,2 0-29,3 2-12,5 8 17,2 2 1,3 2-15,-1 5 2,6-1-2,-3 5 2,0-3-11,3 1-5,-1-3 3,6 1 0,-6-3 0,1-3 2,-1-1-6,-2-3 4,-7 2-1,-3-4 1,-2-1-1,-2 0 0,-6-3 0,1 0 0,-3 3 4,0-4-4,0 4 7,-3 0 10,-17 1-8,-9 3 4,-8-1 3,-2 5-1,-10 1-4,2 1 0,-5-1-4,6 0-4,7-1 2,7-3-5,10-6 2,14-2-3,8-3-41,0 0-53,0 0-101,3-10-74</inkml:trace>
  <inkml:trace contextRef="#ctx0" brushRef="#br0" timeOffset="1911.1">714-373 160,'0'0'281,"0"0"-270,0 0-7,0 4 12,0 14 15,0 4-18,-5 4 12,-4 10 15,-1 6-2,0 8-4,-7 6 3,2 10 2,0 1-2,0-1-6,1 2-10,1-6-4,-1-6-4,1-7-5,1-5-2,5-6-4,-1-7 4,6-11-5,0-4 1,2-7-2,0-6 1,-3-3 0,3 0-2,0 0 5,0 0-1,0-20 2,0 0-10,0-10-3,7-2-3,11 0-5,6 1-9,3 2 5,-5 2 7,0 7 3,1 2 8,1 5 1,-2 5 5,-2 2-9,-5 0 11,-1 5-7,-1 0 4,-6 1 0,0 0-2,-7 0 1,0 10 17,0 11-2,0 8-4,0 1-8,0 4 3,0 3 1,0-6 0,-7 1 0,7-5-7,0-7-1,0-2 0,0-8 1,0-6-2,0-4 3,17 0-12,8-4-25,-1-15-19,8-6-29,-5-1-47,-5-8-92</inkml:trace>
  <inkml:trace contextRef="#ctx0" brushRef="#br0" timeOffset="2775.15">1078 102 454,'0'-14'69,"0"-3"-3,0 1-35,0 0 2,17 3 1,0 1-20,3 4-4,-1 4-5,-4 4-2,0 0 1,-5 7 1,-5 15 24,-5 8-4,0 5-5,0 3-11,0 1 3,0-1-6,0-1-6,-3-5 3,-4-1-6,-8-5 3,3-3 5,-3 0-6,3-2 3,0-4-1,2-2 0,0-3 0,5-2 0,5-2-7,0-1 12,0-6-9,0-1 3,0 0 0,15 0 1,7-1 0,12-18 2,5 1 0,1-7 4,9-3-6,-7 1-1,4-3 1,-1-3 2,-11 2 0,-7-2 1,-3-1 1,-6-5 2,-13 1-2,-5 2 6,0-1-7,0 7 5,-5 4-7,-13 3 1,-6 7-2,12 5 1,-3 2-4,3 6-28,-3 1-56,3 1-97,-8-1-171</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27.064"/>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122 0 359,'-12'0'33,"-5"0"-2,2 0-21,3 6-1,0 13 9,2 6-10,-3 7-3,4 4 5,1 7 8,1 0-1,4 2 2,1 0-8,2-2-10,0-4 5,0-4 12,10-4-11,9-3-7,6-6 4,4-6-6,6-3 5,-3-5-1,12-5 0,5-3-5,3 0 12,4 0-5,3-12-4,-2-1 0,-3-1-33,-13 2-36,-6 1-57,-8 1-197</inkml:trace>
  <inkml:trace contextRef="#ctx0" brushRef="#br0" timeOffset="-683.04">167-152 353,'17'0'7,"7"0"-6,8 0 3,5 0 23,10-7 2,-3-1-12,7 0-8,-6-4-7,1 4 0,-6 0-4,-6 0 3,-12 2-9,-2 1-94,-18 3-180</inkml:trace>
  <inkml:trace contextRef="#ctx0" brushRef="#br0" timeOffset="-376.03">117 176 398,'0'0'44,"8"0"-34,7 0-1,7 0 32,12 0-3,5 0-19,1 0-13,6-3-8,-2-3 3,-2-1 2,-7 2-5,-13 1-6,-3 4-44,-9 0-20,-7 0-20,-3 0-36</inkml:trace>
  <inkml:trace contextRef="#ctx0" brushRef="#br0" timeOffset="504.02">754 394 403,'0'0'57,"0"0"-40,0 0-3,0 5 17,0 15-3,0 7-21,0 3-3,0-2 1,-5 0 8,-5-6-2,0-6-1,0-3-3,5-6-3,3-2-2,2-5 3,0 0-3,0 0-2,0-22-7,22-4-7,0-8-4,5 2-13,-2 1 6,6 6 17,-6 6 6,-3 4 2,-2 6 1,-5 1-2,-1 5 11,-6 1 5,-1 1 0,0 1-6,1 0 3,-1 0 4,3 5 4,0 16 8,-3 6-3,0 8-4,1 4-3,-1 2-10,1-2-4,1-2 1,4-9-4,-1-5-1,3-10-6,2-7-14,0-6-43,0 0-43,-9-14-80</inkml:trace>
  <inkml:trace contextRef="#ctx0" brushRef="#br0" timeOffset="734.04">1264 63 526,'-7'29'25,"-13"4"-22,1 9-2,4 10 5,0 1-6,-2 7-35,-3-3-215</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6:06.332"/>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199 35 139,'0'0'214,"0"0"-144,0 0-10,0 0 5,0 0 22,0 0-31,0 0-24,0 0-4,0 0-3,0 0-9,0 0 0,0 0-4,0 0 2,0 0 0,0 0-3,0 0 1,0 0-2,0 0 0,0 0-7,0 0 2,0 0-3,0 0-2,0 0 5,0 0-10,0 0 13,0 0-8,0 0 2,0 0-1,0 0 0,0 0-1,0 0 1,0 0-5,0-3 8,0 0-8,0 0 8,0-2-6,0 2 1,0 1-8,0 0 15,0 1-11,0 0 4,0-2-2,0 2 0,2-1 0,3 0 0,5 0 7,-8 2-7,3-1-4,-2 1 3,-3 0-4,7 0-4,-2 0 2,2 0-2,3 0-1,3 0 0,-1 7 6,-2-1 1,2 0 1,0 3-1,-4-1 3,1-1-6,-4 2 1,0 0-7,-5 0-1,0 1 11,0-1 8,0 2-6,0 0 4,0-4-1,0 0-1,0-1-6,0-1-3,0 1-8,0-3 4,0 0 2,0-1 7,0-1-10,-7 3 13,2-2-1,-2 3 3,-1 0 3,1 1 2,-1 1 2,-4 0-7,5 0 0,-3 1 1,0-1-2,0 1 0,1 1-5,-1-2 5,0 2 1,0 0-7,-2-5 2,0 4 5,4-4-1,1-1 2,-3-2 0,3 0-4,-1-1 12,3 0-8,0 0-1,-4 0-9,1 0 8,1 0-2,-8 0-1,5-7-11,0 0 9,3 0 5,0 0-6,-1 1 8,1 0-4,2 0 2,-2 0 2,4 0 1,-2 1-2,-2 1-2,2-2 7,0 1-5,0 3 0,3-2 0,-1 3-3,3-3 6,0 3-3,0-2 1,0-3 0,0 2 0,0-3-1,0-3 0,0 2 0,0 0-3,3-2 3,7 3 0,-5 1-2,-1 0 2,4 4-3,-6-3 3,1 3 2,4 1-2,-2-1-2,5-2 0,2 2 3,3-6 2,0 2 0,4-4-2,1-1 1,-5 2-2,-1 2 0,-4 1 4,-2 2-4,-6 2 0,0 2-4,-2 0 14,3 0-4,-3 0 7,5 0-1,0 0-6,5 0 1,-6 0 1,9 0 4,-3 0-1,-6 0-7,1 0-6,-2 0 8,-1 0-4,-2 0 0,0 0-6,3 0 9,-3 0-1,2 0-9,1 0 5,-1 0-12,1 0-21,1 0-43,-4 0-57,0 0-122</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29.804"/>
    </inkml:context>
    <inkml:brush xml:id="br0">
      <inkml:brushProperty name="width" value="0.05833" units="cm"/>
      <inkml:brushProperty name="height" value="0.05833" units="cm"/>
      <inkml:brushProperty name="fitToCurve" value="1"/>
    </inkml:brush>
  </inkml:definitions>
  <inkml:trace contextRef="#ctx0" brushRef="#br0">2019-515 66,'8'-12'126,"-3"1"-77,-1 3 14,-1 2 1,-3 1 10,0 3 0,0 0-1,0 2-6,0 0-17,0 0-24,-5 0-1,-12 0-6,-3 8-9,0 11-8,-2 4 0,-5 7-1,0 7-1,0 2 4,3 3-3,-3-4-2,5 2 3,0-6-7,4-7 5,6-3 0,5-8-2,4-8-41,3-8-22,0 0-60,0-5-75,5-21-35</inkml:trace>
  <inkml:trace contextRef="#ctx0" brushRef="#br0" timeOffset="189.01">1992-453 128,'10'0'230,"-3"0"-149,6 0-34,4 0-1,10 8 15,2 12-32,8 4-12,-2 6-10,-1 1-4,-2 3-3,-12 2-40,-13-5-71,-7-5-204</inkml:trace>
  <inkml:trace contextRef="#ctx0" brushRef="#br0" timeOffset="-6148.37">1862 646 169,'0'0'187,"0"0"-136,0-4-35,0-17 17,0-9-14,0-7-3,0-11-5,0-9-4,0-5-7,7-8 1,1-8 2,-3-4-4,2-7 2,-4 1 0,1-3 0,-4 8-2,5 9 0,-2 14-2,-1 14 1,3 17 2,-5 12-1,0 10 2,0 4 4,0 3 0,0 0-4,0 0-1,0 0 4,-7 9-13,-3 1-22,3 4-55,-1-5-79</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09.640"/>
    </inkml:context>
    <inkml:brush xml:id="br0">
      <inkml:brushProperty name="width" value="0.05833" units="cm"/>
      <inkml:brushProperty name="height" value="0.05833" units="cm"/>
      <inkml:brushProperty name="fitToCurve" value="1"/>
    </inkml:brush>
  </inkml:definitions>
  <inkml:trace contextRef="#ctx0" brushRef="#br0">-2662 1631 256,'0'0'62,"3"0"-54,-3 0-10,2 0 4,1 0 12,-1 0 22,-2 0-15,0 0-14,0 0-2,0 0 6,0 0 12,0 0-2,0 0-4,0 0-13,2 0-1,1 0-1,4 0-2,3 0-5,2 0 10,3 0-5,2 0-4,8 0 4,2 0 6,2 0-8,1 0 4,7 0-8,2 0 6,3 0 1,4 0 3,1 0-4,2 2-5,-2 1 11,-1-1-8,1-2-2,-5 3 3,2-3-2,-2 3-4,7-2 3,-2 1-4,4-2 4,-2 0-4,3 0 7,-3 0 0,3 0 1,-6 0-10,3 0 2,-7 0 6,5 0 2,-3 0 0,-5 0 0,1 0-1,-8 0 1,2 2-4,-2 4 6,-3-1 0,-2-2-4,-2 0 4,4 0-1,-2-2-1,0-1-3,3 0 9,9 0-5,0 0 9,6-4-5,-1-4 1,5 2-9,0 3 4,-2 3 7,-5-1-9,-8 1 1,0 0 0,-12 0 0,-4 0 1,-6 0-1,-5 0 1,1 0-1,-4 0 1,-1 0-1,-1 0 1,3 0-2,-5 0 2,0 0-2,0 0 9,0 0-9,0 1-18,0 1-5,0 3-26,0-1-65</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44:28.550"/>
    </inkml:context>
    <inkml:brush xml:id="br0">
      <inkml:brushProperty name="width" value="0.05833" units="cm"/>
      <inkml:brushProperty name="height" value="0.05833" units="cm"/>
      <inkml:brushProperty name="color" value="#3165BB"/>
      <inkml:brushProperty name="fitToCurve" value="1"/>
    </inkml:brush>
  </inkml:definitions>
  <inkml:trace contextRef="#ctx0" brushRef="#br0">6952 690 640,'0'-13'84,"0"-4"-15,12 3-51,30-5 6,0 4 2,7 3-14,-7 2-11,7 5-3,-15 3-40,-4 2-31,-11 0-40,-11 7-55,-8 12-112</inkml:trace>
  <inkml:trace contextRef="#ctx0" brushRef="#br0" timeOffset="478.02">6952 758 280,'-10'-7'75,"3"3"-28,2 4 7,3 0 7,-1 14-32,-4 20-10,-1 8-17,3 12 7,-2 5 18,2-1 2,3 0 0,2-1 4,0-8-1,0-6-2,0-8-12,17-7 0,15-8-9,10-10-5,9-10-1,11 0-2,1 0-5,4-20-16,-3-3-38,-8-1-60,-4 4-61,-13 0-134</inkml:trace>
  <inkml:trace contextRef="#ctx0" brushRef="#br0" timeOffset="186.01">7011 964 309,'0'0'193,"0"0"-139,34-13-29,13-11 3,7 1 3,5 2-21,-10 5-9,-2 3-20,-18 9-48,-11 4 1,-18 0-12,0 4-37,-3 10-8</inkml:trace>
  <inkml:trace contextRef="#ctx0" brushRef="#br0" timeOffset="902.05">7655 1051 356,'0'0'119,"0"0"-79,0 9-26,0 9-4,0 8 21,-5 4-5,-3 2-11,3 1 0,0-2 3,-2-8-7,2-1-4,0-9-6,3-5 0,2-7-1,0-1 2,0-2-6,0-23-32,0-10 5,7-4-26,13-1 17,-1 5-3,1 3 32,-5 9 11,-3 9 0,3 5 2,-8 7 14,3 2 9,-3 0 4,1 0 10,2 21 18,2 3-27,-2 4-8,2 2-9,5 2-3,0-2-6,-2-3-6,0-6 7,2 1-5,-2-10-13,-3-5-46,0-7-54,1 0-51</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4.672"/>
    </inkml:context>
    <inkml:brush xml:id="br0">
      <inkml:brushProperty name="width" value="0.05833" units="cm"/>
      <inkml:brushProperty name="height" value="0.05833" units="cm"/>
      <inkml:brushProperty name="fitToCurve" value="1"/>
    </inkml:brush>
  </inkml:definitions>
  <inkml:trace contextRef="#ctx0" brushRef="#br0">-344-732 317,'-2'-18'59,"-1"-6"-56,3-2-2,0 1 7,0-3 6,15-4 5,10-2 3,7 2-18,2-5 9,3 2-2,5-1-6,-1-2 1,6 4-3,5-2-5,2 0 2,7 2 3,-4 0-3,0 1 0,2 3 1,-2 4 0,2 1 2,5 0-3,-3 3-4,8 0 4,-3 0 7,3-1-13,5 4 6,-13 0 3,3-1-3,-3 5 0,-4 4 1,-1 2 1,1 5-2,-1 3-3,1 1 4,7 0-1,-3 0 3,8 2-4,4 9-1,-1 1 4,1 4-5,-1 3-4,1 0-4,-6 7 13,1 2-2,-2 4-1,-5 0 1,5 6 0,-4 2 4,-3 2-6,-3 4 2,1 1-1,-3 2 1,-5 3 1,-3 2 1,-1-2-2,-6-1-1,-5 0 6,-4-3-11,-6 1 14,1-2-7,-3-2 4,-5-3-7,3 1 6,0-1-1,-1 1 0,-2-3 0,1 2 0,-6-3-4,0 1 3,-5-3 0,-2 2 1,-5-1-2,0-2-5,0 0 5,0 1 2,0-1-3,-17-2 2,0-1-2,-3-1 0,-2 0 0,-2 0 2,-1-1-3,1 2 3,-8-1-2,-3-1 2,1 0 4,-5-2-5,-3 2 1,-5-3-3,-2 1 0,-3 2 3,-2 0-2,-4 1 3,-4 3 6,-2 0 1,3 1-9,-5-4 5,-5 0 4,10-3 11,0 0-12,-1-2-6,3-2-3,0-1 1,3-3 3,-1 0 4,6-4-2,-3-3-4,9-1 0,-4-1 3,8 0-3,-1-2 2,-2 0-2,-1-1-2,-1-3 4,-1 1-2,-2 0 0,0-6 1,2 0 7,8-1 1,0 0 3,2 0 0,2 0-11,8 0 0,-7-8 3,0 0-4,-3 2-5,-5-3 4,-2 1-1,-5 1 0,2 2 3,-7-1-4,5 2 1,-5 0 0,5-1 6,-5-1-11,5-1 5,0-2 7,0-3-10,0-4 3,7-2 1,3-1-2,2 0 1,5-3 2,3-3-2,-3 1 7,2-4-14,1 1 14,-3-3-13,-5 2 12,3-3-5,-8 1-2,3 1 2,4-2-1,-1 3 0,1-3-2,6 1 2,2 0 1,0-3-2,2 2 0,8-3 6,-3-1-8,6-1-5,-4 2 5,9 3 0,-4-1 8,6 4-7,2 6 3,0 0-2,0 2 1,3 0-1,-1-3-1,1 3 4,2-3-5,0 2 2,0-3 0,0-1 6,7 3-8,8-5-7,2 2 4,0 0-11,3-1 11,-5 1 7,-3 1-2,0 3 1,-4 3 0,-1 0 0,3 3 0,-3-1-3,1 3 3,-1 1 3,0-4-2,1 6-2,-6-2 1,3 3-1,0-3 2,0 1-2,2 2-1,3-2 4,0-2-4,0-3 8,4 0-7,1 2 2,0-2-8,-3 1 7,-2 0 0,-3 2 0,-4 2-8,-3 0-1,0 2 3,0 5 6,0 0 0,0 0 0,0 2 0,0-5 0,0-3 1,10-2-2,4-3 3,6-1-3,-3-4 0,3 3 1,-1 2 1,-6 1-5,2 3 5,-6 0-1,-1 5 2,2-1-1,-3 3 4,5 3-5,0-1 2,3 2 0,2 0-4,3 0 3,0 0-1,2-6-11,0-1-34,-2-5-43,-8 2-39,-5-2-155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0.220"/>
    </inkml:context>
    <inkml:brush xml:id="br0">
      <inkml:brushProperty name="width" value="0.05833" units="cm"/>
      <inkml:brushProperty name="height" value="0.05833" units="cm"/>
      <inkml:brushProperty name="fitToCurve" value="1"/>
    </inkml:brush>
  </inkml:definitions>
  <inkml:trace contextRef="#ctx0" brushRef="#br0">-718 1573 261,'0'0'38,"0"0"-39,0 0-6,0 0 9,0 0 13,0 0 6,2 0-6,-2 0-3,0 0 12,0 0 14,0 0-7,0 0-7,0 0 0,0 0-7,0 0 3,3 0-10,4 3-4,0 2 1,8 1 2,2-1-8,1 1 1,1-1-2,6-2 2,4-1 3,-2 2-6,-2-2 2,2 2-1,0-1 1,-3 3-1,-6 0 4,1 2-6,-4 0 2,-5 1 6,-5 3-6,-5 2 4,0 2 16,0-1-8,0 3 5,-27 1-2,-8 5 4,-6-1 1,-13 2-12,7-3 14,-7 1-13,10-3-4,2-5 1,12-3-5,11-5-7,11-6-7,4-1-72,4-10-111</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7.960"/>
    </inkml:context>
    <inkml:brush xml:id="br0">
      <inkml:brushProperty name="width" value="0.05833" units="cm"/>
      <inkml:brushProperty name="height" value="0.05833" units="cm"/>
      <inkml:brushProperty name="fitToCurve" value="1"/>
    </inkml:brush>
  </inkml:definitions>
  <inkml:trace contextRef="#ctx0" brushRef="#br0">3071-434 315,'-2'0'122,"-3"0"-95,0 0-8,5 0 6,0 0 13,0 0-4,0-2-18,0-1-4,5 0-8,14-2 15,4 2-9,6 0-7,3 0-3,5 3 6,-3-2-10,5 2 7,1 0-4,1-1 2,1 1 1,-2 0-4,4 0 3,-3-2 1,4 2-2,-4 0-1,4 0 0,1 0-1,1 0 0,0-1-2,-1 0 5,1-1-2,0-3 1,-1 2 1,1-2-1,0-1 1,2-3-5,-3 1 3,8-1 3,-7 1-2,5-1 5,-11 3-10,6 0 4,-10 4 3,-5 2 2,-3 0-4,-4 0-5,-1 0 10,1 1-10,7 6 6,-3-4 7,8 0-12,-2-3 7,4 0-2,3 0 4,-8 0-8,5-4 3,1-5 4,1 1-4,-6 1 4,4 3-8,0 2 6,-7 2 0,5 0-2,-5 0 0,0 0 3,0 0-3,-5 0 7,-7 0-1,-1 0 1,-2 0 0,-2 0-1,-5 0-1,-5 0-4,-3 0-1,1 0 3,-3 0-4,0 0 2,0 0-1,0 0-1,0 0-21,0 0-37,-10 0-63,-12 0-117</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27.096"/>
    </inkml:context>
    <inkml:brush xml:id="br0">
      <inkml:brushProperty name="width" value="0.05833" units="cm"/>
      <inkml:brushProperty name="height" value="0.05833" units="cm"/>
      <inkml:brushProperty name="fitToCurve" value="1"/>
    </inkml:brush>
  </inkml:definitions>
  <inkml:trace contextRef="#ctx0" brushRef="#br0">3377 2843 348,'5'0'74,"0"0"-63,15 3-12,12 13 30,7 4 22,10 5-14,10 3-9,3 4-15,4 0 3,5 5-5,-5-1-9,3 4-1,-3 2-4,-4-2 8,-3 0-8,-10-3 5,-2-3-1,-11-6-2,-9-6 2,-7-4-1,-3-5 1,-9-6-1,-8-3-5,0-1-20,0-3-39,0 0-62</inkml:trace>
  <inkml:trace contextRef="#ctx0" brushRef="#br0" timeOffset="437.02">4397 3191 409,'2'9'115,"8"-1"-101,0 5-12,9 2-3,8 3 10,-2 1 2,2 1-8,-5 0 2,-2-2 3,-6 2 16,-6-1 10,-3 5 5,-5-5-6,0 0-9,0 1-6,0-4 6,-5 0 1,-22-4-8,-10-1-7,-20-1-3,-14-2-5,-17-2-1,-23 0-18,-14-3-82,-10 1-86</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cm"/>
        </inkml:traceFormat>
        <inkml:channelProperties>
          <inkml:channelProperty channel="X" name="resolution" value="1465.95374" units="1/cm"/>
          <inkml:channelProperty channel="Y" name="resolution" value="2345.52612" units="1/cm"/>
          <inkml:channelProperty channel="F" name="resolution" value="5.68611" units="1/cm"/>
        </inkml:channelProperties>
      </inkml:inkSource>
      <inkml:timestamp xml:id="ts0" timeString="2015-09-22T06:37:18.404"/>
    </inkml:context>
    <inkml:brush xml:id="br0">
      <inkml:brushProperty name="width" value="0.05833" units="cm"/>
      <inkml:brushProperty name="height" value="0.05833" units="cm"/>
      <inkml:brushProperty name="fitToCurve" value="1"/>
    </inkml:brush>
    <inkml:brush xml:id="br1">
      <inkml:brushProperty name="width" value="0.05833" units="cm"/>
      <inkml:brushProperty name="height" value="0.05833" units="cm"/>
      <inkml:brushProperty name="color" value="#3165BB"/>
      <inkml:brushProperty name="fitToCurve" value="1"/>
    </inkml:brush>
  </inkml:definitions>
  <inkml:trace contextRef="#ctx0" brushRef="#br0">3674-717 261,'3'0'135,"-1"0"-88,3 0-31,5 0 20,10 6 12,-1 2-24,8 0-5,3-5-9,4 4 1,-2 1-8,0-1 1,0-1 3,-2 3 3,-6 3 1,-2-1 0,0-2 2,-4-2 4,-6 4-9,-2-1-2,-8 2 5,-2 3 8,0 3 2,0 1 2,-7 1 1,-23 5-4,-4-3-7,-1-1-3,-4-1-8,0-3 0,2-3-19,0-8-60,3-4-70,4-2-119</inkml:trace>
  <inkml:trace contextRef="#ctx0" brushRef="#br1" timeOffset="10931.46">7435-935 242,'0'0'58,"0"0"-51,0 0-6,0 0 11,0 0 25,0 0-17,0 0-11,0 5 12,0 9 16,0 5-6,0 10-12,0 2-5,0 9 2,0 5 0,0 3 5,0 0-5,0 0-4,0-5-1,0-8-4,0-9-4,0-5 1,2-6 3,-2-7-10,2-3 3,-2-3 1,0-2 3,0 0-4,3 0-1,-3 0 2,0 0-5,5-14-15,0-5-6,2-7 6,3 0 6,2-2 2,5 0-4,-2 3 6,0 2 1,-3 5-6,0 2 11,1 6 1,-6 3-1,0 3 7,-2 3-3,-5 1-1,3 0 3,-3 0 3,5 0 5,-3 0 11,3 11-1,2 7 0,3 4-7,0 2-2,-3 2-1,3-3-6,0 2-2,0-3-2,0-1 0,2-5-1,0-1-1,5-5 1,-2-5 0,5-5-37,-3 0-26,-5-13-36,-2-18-188</inkml:trace>
  <inkml:trace contextRef="#ctx0" brushRef="#br1" timeOffset="11570.49">7874-704 205,'8'-5'75,"1"-2"-65,4-1-6,4 1 22,-2 0 2,-1 4-9,-4 2-7,0 1-1,-3 0 3,1 4 23,-6 16-4,1 5-5,-3 7-5,0 1-4,0 3-4,0-4 2,0-2-8,0-8-3,0-3-4,0-5 3,0-9-6,2-3 1,8-2-1,5 0 2,-3-1 10,3-16-2,-1-5-6,1 0-1,2-7 0,0-3-2,3-2 0,-3-3 4,-2-3-4,-3 1 1,-2 1 1,-2 6 0,-4 3-3,1 9 2,-5 6-1,3 3-2,-3 6-17,0 4-25,0 1-15,0 0-59,-22 0-180</inkml:trace>
  <inkml:trace contextRef="#ctx0" brushRef="#br1" timeOffset="13859.62">8726-505 324,'0'0'55,"0"0"-6,0 0 1,0 0 11,0 0-13,0 0-18,0 0-7,0 0 1,0 0 3,0 0-7,0 0-11,0 0-5,0 0-1,0 0-3,0 0 1,13 0-1,6 5 3,8 9-2,0-5 0,0 3 2,8-2-4,-3-2-1,-8 1 8,3-2-10,-5-2 8,-2 0-8,-5-2 8,-8 0-1,0 0-7,-2-1 5,-2 5-1,-3 1-1,0 3 2,0 0-2,0 6 2,-15 0 4,-9 2-3,-8 2 0,-13 1 4,-1 1 4,-13 5 0,-3 0-2,1 2 0,-3-3 4,10 1-4,7-8 9,11-3-14,11-5 0,10-4 4,8-5-11,7-3 5,0 0-13,0 0-57,17 0 3,10 0-27,0 0-29,0-7-99</inkml:trace>
  <inkml:trace contextRef="#ctx0" brushRef="#br1" timeOffset="9563.34">7336-23 39,'0'0'52,"0"0"-43,0 0-17,0 0 7,0 0 8,0 0 8,-2 0 13,-3 0 20,5 0-5,-5-2 0,5-1-7,0 1-9,0-2-8,0-1 1,0-2-7,0 0-10,0 1 0,0-1-1,0-3-3,0 1 3,0 1-2,10-6 2,0-1-2,-1 2 0,4 2 1,-1-4-2,0 4 3,3 0-1,-8 2-2,6-2 1,-8 5 0,2 3 1,0-2-1,3 4 3,0-1-6,0 2 1,2 0 4,0 0 5,1 0 3,1 0 0,-1 0-2,4 0-3,0 0 5,3 8-2,2 3-9,-5 4 2,0-1 9,0-2-11,-2 0 2,-3-2 2,1-2-2,1-3-2,-1-3 2,-3-2-1,2 0 0,-2 0 0,2 0 0,0-15-6,-2-3-3,7 0-3,-5-1-14,6-3 11,-1 8 0,-2 0 3,-3 3 3,0 5 9,-4 4-1,-1 2 2,-2 0 3,0 0 13,2 0 4,3 0-5,5 1-4,-1 6-6,1 0-4,-3 0-1,6-3-1,-1 1 3,-2-3-5,-1-2 2,-1 0 2,1 0-2,1 0 0,2 0-9,0-3-7,-2-11 9,-3 3-6,3-1-5,-3 0 6,1 2 5,-3 5 7,-1 2-1,-4 3 1,3 0 5,-3 0 5,-1 0 12,6 0 2,0 0-5,0 8-10,5 0-5,-1 1 0,8-4-7,-2-1 9,0-4-6,4 0-3,-2 0-21,5-8-17,-2-4-10,-3 0-2,0 3 21,-5 4 28,1 2 5,-6 3 11,0 0 16,-4 0 9,6 0 12,-4 6-18,2 6-14,3-1-13,2 0-4,3-1-1,-3-2-46,-5-6-48,-2 0-135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9040" tIns="49520" rIns="99040" bIns="49520" rtlCol="0"/>
          <a:lstStyle>
            <a:lvl1pPr algn="l">
              <a:defRPr sz="1300"/>
            </a:lvl1pPr>
          </a:lstStyle>
          <a:p>
            <a:endParaRPr lang="en-US"/>
          </a:p>
        </p:txBody>
      </p:sp>
      <p:sp>
        <p:nvSpPr>
          <p:cNvPr id="3" name="Date Placeholder 2"/>
          <p:cNvSpPr>
            <a:spLocks noGrp="1"/>
          </p:cNvSpPr>
          <p:nvPr>
            <p:ph type="dt" idx="1"/>
          </p:nvPr>
        </p:nvSpPr>
        <p:spPr>
          <a:xfrm>
            <a:off x="4143588" y="1"/>
            <a:ext cx="3169920" cy="480060"/>
          </a:xfrm>
          <a:prstGeom prst="rect">
            <a:avLst/>
          </a:prstGeom>
        </p:spPr>
        <p:txBody>
          <a:bodyPr vert="horz" lIns="99040" tIns="49520" rIns="99040" bIns="49520" rtlCol="0"/>
          <a:lstStyle>
            <a:lvl1pPr algn="r">
              <a:defRPr sz="1300"/>
            </a:lvl1pPr>
          </a:lstStyle>
          <a:p>
            <a:fld id="{C06387D0-1216-4FA3-AF01-EA63AC44C2D4}" type="datetimeFigureOut">
              <a:rPr lang="en-US" smtClean="0"/>
              <a:t>3/12/2025</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9040" tIns="49520" rIns="99040" bIns="49520" rtlCol="0" anchor="ctr"/>
          <a:lstStyle/>
          <a:p>
            <a:endParaRPr lang="en-US"/>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9040" tIns="49520" rIns="99040" bIns="495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9040" tIns="49520" rIns="99040" bIns="49520" rtlCol="0" anchor="b"/>
          <a:lstStyle>
            <a:lvl1pPr algn="l">
              <a:defRPr sz="1300"/>
            </a:lvl1pPr>
          </a:lstStyle>
          <a:p>
            <a:endParaRPr lang="en-US"/>
          </a:p>
        </p:txBody>
      </p:sp>
      <p:sp>
        <p:nvSpPr>
          <p:cNvPr id="7" name="Slide Number Placeholder 6"/>
          <p:cNvSpPr>
            <a:spLocks noGrp="1"/>
          </p:cNvSpPr>
          <p:nvPr>
            <p:ph type="sldNum" sz="quarter" idx="5"/>
          </p:nvPr>
        </p:nvSpPr>
        <p:spPr>
          <a:xfrm>
            <a:off x="4143588" y="9119474"/>
            <a:ext cx="3169920" cy="480060"/>
          </a:xfrm>
          <a:prstGeom prst="rect">
            <a:avLst/>
          </a:prstGeom>
        </p:spPr>
        <p:txBody>
          <a:bodyPr vert="horz" lIns="99040" tIns="49520" rIns="99040" bIns="49520" rtlCol="0" anchor="b"/>
          <a:lstStyle>
            <a:lvl1pPr algn="r">
              <a:defRPr sz="13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654231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3</a:t>
            </a:fld>
            <a:endParaRPr lang="en-US"/>
          </a:p>
        </p:txBody>
      </p:sp>
    </p:spTree>
    <p:extLst>
      <p:ext uri="{BB962C8B-B14F-4D97-AF65-F5344CB8AC3E}">
        <p14:creationId xmlns:p14="http://schemas.microsoft.com/office/powerpoint/2010/main" val="37641481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1623855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对于受激辐射（吸收），要假设其发生速率正比于光强或辐射场的能量密度。</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8</a:t>
            </a:fld>
            <a:endParaRPr lang="en-US"/>
          </a:p>
        </p:txBody>
      </p:sp>
    </p:spTree>
    <p:extLst>
      <p:ext uri="{BB962C8B-B14F-4D97-AF65-F5344CB8AC3E}">
        <p14:creationId xmlns:p14="http://schemas.microsoft.com/office/powerpoint/2010/main" val="1094556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对于受激辐射（吸收），要假设其发生速率正比于光强或辐射场的能量密度。</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9</a:t>
            </a:fld>
            <a:endParaRPr lang="en-US"/>
          </a:p>
        </p:txBody>
      </p:sp>
    </p:spTree>
    <p:extLst>
      <p:ext uri="{BB962C8B-B14F-4D97-AF65-F5344CB8AC3E}">
        <p14:creationId xmlns:p14="http://schemas.microsoft.com/office/powerpoint/2010/main" val="3994243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如果不考虑受激辐射，则将得到</a:t>
            </a:r>
            <a:r>
              <a:rPr lang="en-US" altLang="zh-CN" dirty="0"/>
              <a:t>Wien</a:t>
            </a:r>
            <a:r>
              <a:rPr lang="zh-CN" altLang="en-US" dirty="0"/>
              <a:t>公式</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10</a:t>
            </a:fld>
            <a:endParaRPr lang="en-US"/>
          </a:p>
        </p:txBody>
      </p:sp>
    </p:spTree>
    <p:extLst>
      <p:ext uri="{BB962C8B-B14F-4D97-AF65-F5344CB8AC3E}">
        <p14:creationId xmlns:p14="http://schemas.microsoft.com/office/powerpoint/2010/main" val="307211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a:t>
            </a:r>
            <a:r>
              <a:rPr lang="en-US" altLang="zh-CN" dirty="0"/>
              <a:t> E3</a:t>
            </a:r>
            <a:r>
              <a:rPr lang="zh-CN" altLang="en-US" dirty="0"/>
              <a:t>到</a:t>
            </a:r>
            <a:r>
              <a:rPr lang="en-US" altLang="zh-CN" dirty="0"/>
              <a:t>E2</a:t>
            </a:r>
            <a:r>
              <a:rPr lang="zh-CN" altLang="en-US" dirty="0"/>
              <a:t>的跃迁速率要远远大于</a:t>
            </a:r>
            <a:r>
              <a:rPr lang="en-US" altLang="zh-CN" dirty="0"/>
              <a:t>E2</a:t>
            </a:r>
            <a:r>
              <a:rPr lang="zh-CN" altLang="en-US" dirty="0"/>
              <a:t>到</a:t>
            </a:r>
            <a:r>
              <a:rPr lang="en-US" altLang="zh-CN" dirty="0"/>
              <a:t>E1</a:t>
            </a:r>
            <a:r>
              <a:rPr lang="zh-CN" altLang="en-US" dirty="0"/>
              <a:t>的跃迁速率</a:t>
            </a:r>
            <a:endParaRPr lang="en-US" altLang="zh-CN" dirty="0"/>
          </a:p>
          <a:p>
            <a:r>
              <a:rPr lang="zh-CN" altLang="en-US" dirty="0"/>
              <a:t>●</a:t>
            </a:r>
            <a:r>
              <a:rPr lang="zh-CN" altLang="en-US" baseline="0" dirty="0"/>
              <a:t> </a:t>
            </a:r>
            <a:r>
              <a:rPr lang="zh-CN" altLang="en-US" dirty="0"/>
              <a:t>如果采用某种机制直接抽运原子</a:t>
            </a:r>
            <a:r>
              <a:rPr lang="en-US" altLang="zh-CN" dirty="0"/>
              <a:t>E1</a:t>
            </a:r>
            <a:r>
              <a:rPr lang="zh-CN" altLang="en-US" dirty="0"/>
              <a:t>到</a:t>
            </a:r>
            <a:r>
              <a:rPr lang="en-US" altLang="zh-CN" dirty="0"/>
              <a:t>E2,</a:t>
            </a:r>
            <a:r>
              <a:rPr lang="en-US" altLang="zh-CN" baseline="0" dirty="0"/>
              <a:t> </a:t>
            </a:r>
            <a:r>
              <a:rPr lang="zh-CN" altLang="en-US" baseline="0" dirty="0"/>
              <a:t>则这些抽运机制也会激励原子从</a:t>
            </a:r>
            <a:r>
              <a:rPr lang="en-US" altLang="zh-CN" baseline="0" dirty="0"/>
              <a:t>E2</a:t>
            </a:r>
            <a:r>
              <a:rPr lang="zh-CN" altLang="en-US" baseline="0" dirty="0"/>
              <a:t>向</a:t>
            </a:r>
            <a:r>
              <a:rPr lang="en-US" altLang="zh-CN" baseline="0" dirty="0"/>
              <a:t>E1</a:t>
            </a:r>
            <a:r>
              <a:rPr lang="zh-CN" altLang="en-US" baseline="0" dirty="0"/>
              <a:t>跃迁</a:t>
            </a:r>
            <a:r>
              <a:rPr lang="en-US" altLang="zh-CN" baseline="0" dirty="0"/>
              <a:t>, </a:t>
            </a:r>
            <a:r>
              <a:rPr lang="zh-CN" altLang="en-US" baseline="0" dirty="0"/>
              <a:t>这样的跃迁即使产生辐射</a:t>
            </a:r>
            <a:r>
              <a:rPr lang="en-US" altLang="zh-CN" baseline="0" dirty="0"/>
              <a:t>, </a:t>
            </a:r>
            <a:r>
              <a:rPr lang="zh-CN" altLang="en-US" baseline="0" dirty="0"/>
              <a:t>但出来的光子除了频率外</a:t>
            </a:r>
            <a:r>
              <a:rPr lang="en-US" altLang="zh-CN" baseline="0" dirty="0"/>
              <a:t>, </a:t>
            </a:r>
            <a:r>
              <a:rPr lang="zh-CN" altLang="en-US" baseline="0" dirty="0"/>
              <a:t>其他性质也是互相独立的</a:t>
            </a:r>
            <a:r>
              <a:rPr lang="en-US" altLang="zh-CN" baseline="0" dirty="0"/>
              <a:t>, </a:t>
            </a:r>
            <a:r>
              <a:rPr lang="zh-CN" altLang="en-US" baseline="0" dirty="0"/>
              <a:t>无法全同</a:t>
            </a:r>
            <a:r>
              <a:rPr lang="en-US" altLang="zh-CN" baseline="0" dirty="0"/>
              <a:t>.</a:t>
            </a:r>
          </a:p>
          <a:p>
            <a:r>
              <a:rPr lang="zh-CN" altLang="en-US" baseline="0" dirty="0"/>
              <a:t>● 在谐振腔内</a:t>
            </a:r>
            <a:r>
              <a:rPr lang="en-US" altLang="zh-CN" baseline="0" dirty="0"/>
              <a:t>, </a:t>
            </a:r>
            <a:r>
              <a:rPr lang="zh-CN" altLang="en-US" baseline="0" dirty="0"/>
              <a:t>增益介质最初只发出各向同性的自发跃迁</a:t>
            </a:r>
            <a:r>
              <a:rPr lang="en-US" altLang="zh-CN" baseline="0" dirty="0"/>
              <a:t>, </a:t>
            </a:r>
            <a:r>
              <a:rPr lang="zh-CN" altLang="en-US" baseline="0" dirty="0"/>
              <a:t>但是总有可能某个光子的飞行方向正好和镜子垂直</a:t>
            </a:r>
            <a:r>
              <a:rPr lang="en-US" altLang="zh-CN" baseline="0" dirty="0"/>
              <a:t>, </a:t>
            </a:r>
            <a:r>
              <a:rPr lang="zh-CN" altLang="en-US" baseline="0" dirty="0"/>
              <a:t>那么它就可以原路返回</a:t>
            </a:r>
            <a:r>
              <a:rPr lang="en-US" altLang="zh-CN" baseline="0" dirty="0"/>
              <a:t>, </a:t>
            </a:r>
            <a:r>
              <a:rPr lang="zh-CN" altLang="en-US" baseline="0" dirty="0"/>
              <a:t>由它激发出来的光子和它一模一样</a:t>
            </a:r>
            <a:r>
              <a:rPr lang="en-US" altLang="zh-CN" baseline="0" dirty="0"/>
              <a:t>, </a:t>
            </a:r>
            <a:r>
              <a:rPr lang="zh-CN" altLang="en-US" baseline="0" dirty="0"/>
              <a:t>它们再两个镜面之间来回反射</a:t>
            </a:r>
            <a:r>
              <a:rPr lang="en-US" altLang="zh-CN" baseline="0" dirty="0"/>
              <a:t>, </a:t>
            </a:r>
            <a:r>
              <a:rPr lang="zh-CN" altLang="en-US" baseline="0" dirty="0"/>
              <a:t>队伍不断扩大</a:t>
            </a:r>
            <a:r>
              <a:rPr lang="en-US" altLang="zh-CN" baseline="0" dirty="0"/>
              <a:t>, </a:t>
            </a:r>
            <a:r>
              <a:rPr lang="zh-CN" altLang="en-US" baseline="0" dirty="0"/>
              <a:t>形成激光</a:t>
            </a:r>
            <a:r>
              <a:rPr lang="en-US" altLang="zh-CN" baseline="0" dirty="0"/>
              <a:t>.</a:t>
            </a:r>
          </a:p>
          <a:p>
            <a:r>
              <a:rPr lang="zh-CN" altLang="en-US" baseline="0" dirty="0"/>
              <a:t>●增益曲线代表可以被介质放大的光的波长范围，腔模分布代表可以在谐振腔内形成驻波的光波的波长。如果腔摸间隔较大，使得增益曲线线宽内，只有一个模会被显著放大，则形成单模激光。</a:t>
            </a:r>
            <a:endParaRPr lang="en-US" altLang="zh-CN" baseline="0" dirty="0"/>
          </a:p>
          <a:p>
            <a:endParaRPr lang="zh-CN" alt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12</a:t>
            </a:fld>
            <a:endParaRPr lang="en-US"/>
          </a:p>
        </p:txBody>
      </p:sp>
    </p:spTree>
    <p:extLst>
      <p:ext uri="{BB962C8B-B14F-4D97-AF65-F5344CB8AC3E}">
        <p14:creationId xmlns:p14="http://schemas.microsoft.com/office/powerpoint/2010/main" val="2717061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13</a:t>
            </a:fld>
            <a:endParaRPr lang="en-US"/>
          </a:p>
        </p:txBody>
      </p:sp>
    </p:spTree>
    <p:extLst>
      <p:ext uri="{BB962C8B-B14F-4D97-AF65-F5344CB8AC3E}">
        <p14:creationId xmlns:p14="http://schemas.microsoft.com/office/powerpoint/2010/main" val="532137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19138"/>
            <a:ext cx="6400800" cy="3600450"/>
          </a:xfrm>
        </p:spPr>
      </p:sp>
      <p:sp>
        <p:nvSpPr>
          <p:cNvPr id="3" name="Notes Placeholder 2"/>
          <p:cNvSpPr>
            <a:spLocks noGrp="1"/>
          </p:cNvSpPr>
          <p:nvPr>
            <p:ph type="body" idx="1"/>
          </p:nvPr>
        </p:nvSpPr>
        <p:spPr/>
        <p:txBody>
          <a:bodyPr/>
          <a:lstStyle/>
          <a:p>
            <a:r>
              <a:rPr lang="zh-CN" altLang="en-US" dirty="0"/>
              <a:t>受激辐射是否可以改成</a:t>
            </a:r>
            <a:r>
              <a:rPr lang="zh-CN" altLang="en-US"/>
              <a:t>受激吸收，进而</a:t>
            </a:r>
            <a:r>
              <a:rPr lang="zh-CN" altLang="en-US" dirty="0"/>
              <a:t>推导出基尔霍夫定律</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14</a:t>
            </a:fld>
            <a:endParaRPr lang="en-US"/>
          </a:p>
        </p:txBody>
      </p:sp>
    </p:spTree>
    <p:extLst>
      <p:ext uri="{BB962C8B-B14F-4D97-AF65-F5344CB8AC3E}">
        <p14:creationId xmlns:p14="http://schemas.microsoft.com/office/powerpoint/2010/main" val="1810890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200" b="1">
                <a:latin typeface="Times New Roman" panose="02020603050405020304" pitchFamily="18" charset="0"/>
                <a:ea typeface="黑体" panose="02010609060101010101" pitchFamily="49" charset="-122"/>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8" name="Footer Placeholder 7"/>
          <p:cNvSpPr>
            <a:spLocks noGrp="1"/>
          </p:cNvSpPr>
          <p:nvPr>
            <p:ph type="ftr" sz="quarter" idx="11"/>
          </p:nvPr>
        </p:nvSpPr>
        <p:spPr>
          <a:xfrm>
            <a:off x="4165600" y="6356357"/>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4" name="Footer Placeholder 3"/>
          <p:cNvSpPr>
            <a:spLocks noGrp="1"/>
          </p:cNvSpPr>
          <p:nvPr>
            <p:ph type="ftr" sz="quarter" idx="11"/>
          </p:nvPr>
        </p:nvSpPr>
        <p:spPr>
          <a:xfrm>
            <a:off x="4165600" y="6356357"/>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3" name="Footer Placeholder 2"/>
          <p:cNvSpPr>
            <a:spLocks noGrp="1"/>
          </p:cNvSpPr>
          <p:nvPr>
            <p:ph type="ftr" sz="quarter" idx="11"/>
          </p:nvPr>
        </p:nvSpPr>
        <p:spPr>
          <a:xfrm>
            <a:off x="4165600" y="6356357"/>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3/12/2025</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image" Target="../media/image6.png"/><Relationship Id="rId39" Type="http://schemas.openxmlformats.org/officeDocument/2006/relationships/customXml" Target="../ink/ink12.xml"/><Relationship Id="rId42" Type="http://schemas.openxmlformats.org/officeDocument/2006/relationships/image" Target="../media/image49.emf"/><Relationship Id="rId47" Type="http://schemas.openxmlformats.org/officeDocument/2006/relationships/customXml" Target="../ink/ink16.xml"/><Relationship Id="rId50" Type="http://schemas.openxmlformats.org/officeDocument/2006/relationships/image" Target="../media/image53.emf"/><Relationship Id="rId55" Type="http://schemas.openxmlformats.org/officeDocument/2006/relationships/customXml" Target="../ink/ink19.xml"/><Relationship Id="rId63" Type="http://schemas.openxmlformats.org/officeDocument/2006/relationships/customXml" Target="../ink/ink23.xml"/><Relationship Id="rId68" Type="http://schemas.openxmlformats.org/officeDocument/2006/relationships/image" Target="../media/image14.png"/><Relationship Id="rId7" Type="http://schemas.openxmlformats.org/officeDocument/2006/relationships/image" Target="../media/image3.png"/><Relationship Id="rId2" Type="http://schemas.openxmlformats.org/officeDocument/2006/relationships/notesSlide" Target="../notesSlides/notesSlide1.xml"/><Relationship Id="rId29" Type="http://schemas.openxmlformats.org/officeDocument/2006/relationships/customXml" Target="../ink/ink8.xml"/><Relationship Id="rId11" Type="http://schemas.openxmlformats.org/officeDocument/2006/relationships/image" Target="../media/image5.png"/><Relationship Id="rId32" Type="http://schemas.openxmlformats.org/officeDocument/2006/relationships/image" Target="../media/image440.emf"/><Relationship Id="rId37" Type="http://schemas.openxmlformats.org/officeDocument/2006/relationships/customXml" Target="../ink/ink11.xml"/><Relationship Id="rId40" Type="http://schemas.openxmlformats.org/officeDocument/2006/relationships/image" Target="../media/image48.emf"/><Relationship Id="rId45" Type="http://schemas.openxmlformats.org/officeDocument/2006/relationships/customXml" Target="../ink/ink15.xml"/><Relationship Id="rId53" Type="http://schemas.openxmlformats.org/officeDocument/2006/relationships/customXml" Target="../ink/ink18.xml"/><Relationship Id="rId58" Type="http://schemas.openxmlformats.org/officeDocument/2006/relationships/image" Target="../media/image57.emf"/><Relationship Id="rId66" Type="http://schemas.openxmlformats.org/officeDocument/2006/relationships/image" Target="../media/image13.png"/><Relationship Id="rId5" Type="http://schemas.openxmlformats.org/officeDocument/2006/relationships/image" Target="../media/image2.png"/><Relationship Id="rId61" Type="http://schemas.openxmlformats.org/officeDocument/2006/relationships/customXml" Target="../ink/ink22.xml"/><Relationship Id="rId10" Type="http://schemas.openxmlformats.org/officeDocument/2006/relationships/customXml" Target="../ink/ink4.xml"/><Relationship Id="rId31" Type="http://schemas.openxmlformats.org/officeDocument/2006/relationships/customXml" Target="../ink/ink9.xml"/><Relationship Id="rId44" Type="http://schemas.openxmlformats.org/officeDocument/2006/relationships/image" Target="../media/image50.emf"/><Relationship Id="rId52" Type="http://schemas.openxmlformats.org/officeDocument/2006/relationships/image" Target="../media/image54.emf"/><Relationship Id="rId60" Type="http://schemas.openxmlformats.org/officeDocument/2006/relationships/image" Target="../media/image10.png"/><Relationship Id="rId65" Type="http://schemas.openxmlformats.org/officeDocument/2006/relationships/customXml" Target="../ink/ink24.xml"/><Relationship Id="rId4" Type="http://schemas.openxmlformats.org/officeDocument/2006/relationships/customXml" Target="../ink/ink1.xml"/><Relationship Id="rId9" Type="http://schemas.openxmlformats.org/officeDocument/2006/relationships/image" Target="../media/image4.png"/><Relationship Id="rId14" Type="http://schemas.openxmlformats.org/officeDocument/2006/relationships/customXml" Target="../ink/ink6.xml"/><Relationship Id="rId22" Type="http://schemas.openxmlformats.org/officeDocument/2006/relationships/image" Target="../media/image390.emf"/><Relationship Id="rId30" Type="http://schemas.openxmlformats.org/officeDocument/2006/relationships/image" Target="../media/image7.png"/><Relationship Id="rId43" Type="http://schemas.openxmlformats.org/officeDocument/2006/relationships/customXml" Target="../ink/ink14.xml"/><Relationship Id="rId56" Type="http://schemas.openxmlformats.org/officeDocument/2006/relationships/image" Target="../media/image9.png"/><Relationship Id="rId64" Type="http://schemas.openxmlformats.org/officeDocument/2006/relationships/image" Target="../media/image12.png"/><Relationship Id="rId69" Type="http://schemas.openxmlformats.org/officeDocument/2006/relationships/image" Target="../media/image15.png"/><Relationship Id="rId8" Type="http://schemas.openxmlformats.org/officeDocument/2006/relationships/customXml" Target="../ink/ink3.xml"/><Relationship Id="rId51" Type="http://schemas.openxmlformats.org/officeDocument/2006/relationships/customXml" Target="../ink/ink17.xml"/><Relationship Id="rId3" Type="http://schemas.openxmlformats.org/officeDocument/2006/relationships/image" Target="../media/image1.png"/><Relationship Id="rId12" Type="http://schemas.openxmlformats.org/officeDocument/2006/relationships/customXml" Target="../ink/ink5.xml"/><Relationship Id="rId33" Type="http://schemas.openxmlformats.org/officeDocument/2006/relationships/customXml" Target="../ink/ink10.xml"/><Relationship Id="rId38" Type="http://schemas.openxmlformats.org/officeDocument/2006/relationships/image" Target="../media/image47.emf"/><Relationship Id="rId46" Type="http://schemas.openxmlformats.org/officeDocument/2006/relationships/image" Target="../media/image51.emf"/><Relationship Id="rId59" Type="http://schemas.openxmlformats.org/officeDocument/2006/relationships/customXml" Target="../ink/ink21.xml"/><Relationship Id="rId67" Type="http://schemas.openxmlformats.org/officeDocument/2006/relationships/customXml" Target="../ink/ink25.xml"/><Relationship Id="rId41" Type="http://schemas.openxmlformats.org/officeDocument/2006/relationships/customXml" Target="../ink/ink13.xml"/><Relationship Id="rId54" Type="http://schemas.openxmlformats.org/officeDocument/2006/relationships/image" Target="../media/image8.png"/><Relationship Id="rId6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customXml" Target="../ink/ink2.xml"/><Relationship Id="rId23" Type="http://schemas.openxmlformats.org/officeDocument/2006/relationships/customXml" Target="../ink/ink7.xml"/><Relationship Id="rId28" Type="http://schemas.openxmlformats.org/officeDocument/2006/relationships/image" Target="../media/image42.emf"/><Relationship Id="rId36" Type="http://schemas.openxmlformats.org/officeDocument/2006/relationships/image" Target="../media/image460.emf"/><Relationship Id="rId57" Type="http://schemas.openxmlformats.org/officeDocument/2006/relationships/customXml" Target="../ink/ink20.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130.png"/><Relationship Id="rId18" Type="http://schemas.openxmlformats.org/officeDocument/2006/relationships/image" Target="../media/image24.png"/><Relationship Id="rId3" Type="http://schemas.openxmlformats.org/officeDocument/2006/relationships/image" Target="../media/image22.png"/><Relationship Id="rId21" Type="http://schemas.openxmlformats.org/officeDocument/2006/relationships/image" Target="../media/image21.wmf"/><Relationship Id="rId7" Type="http://schemas.openxmlformats.org/officeDocument/2006/relationships/image" Target="../media/image19.wmf"/><Relationship Id="rId12" Type="http://schemas.openxmlformats.org/officeDocument/2006/relationships/image" Target="../media/image120.png"/><Relationship Id="rId17" Type="http://schemas.openxmlformats.org/officeDocument/2006/relationships/image" Target="../media/image20.wmf"/><Relationship Id="rId2" Type="http://schemas.openxmlformats.org/officeDocument/2006/relationships/slideLayout" Target="../slideLayouts/slideLayout2.xml"/><Relationship Id="rId16" Type="http://schemas.openxmlformats.org/officeDocument/2006/relationships/oleObject" Target="../embeddings/oleObject3.bin"/><Relationship Id="rId20" Type="http://schemas.openxmlformats.org/officeDocument/2006/relationships/oleObject" Target="../embeddings/oleObject4.bin"/><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8.wmf"/><Relationship Id="rId15" Type="http://schemas.openxmlformats.org/officeDocument/2006/relationships/image" Target="../media/image20.wmf"/><Relationship Id="rId23" Type="http://schemas.openxmlformats.org/officeDocument/2006/relationships/image" Target="../media/image21.wmf"/><Relationship Id="rId19" Type="http://schemas.openxmlformats.org/officeDocument/2006/relationships/image" Target="../media/image25.png"/><Relationship Id="rId4" Type="http://schemas.openxmlformats.org/officeDocument/2006/relationships/oleObject" Target="../embeddings/oleObject1.bin"/><Relationship Id="rId9" Type="http://schemas.microsoft.com/office/2007/relationships/hdphoto" Target="../media/hdphoto1.wdp"/><Relationship Id="rId14" Type="http://schemas.openxmlformats.org/officeDocument/2006/relationships/oleObject" Target="../embeddings/oleObject3.bin"/><Relationship Id="rId22"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31.wmf"/><Relationship Id="rId3" Type="http://schemas.openxmlformats.org/officeDocument/2006/relationships/notesSlide" Target="../notesSlides/notesSlide4.xml"/><Relationship Id="rId7" Type="http://schemas.openxmlformats.org/officeDocument/2006/relationships/image" Target="../media/image36.png"/><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5.png"/><Relationship Id="rId11" Type="http://schemas.openxmlformats.org/officeDocument/2006/relationships/image" Target="../media/image30.wmf"/><Relationship Id="rId5" Type="http://schemas.openxmlformats.org/officeDocument/2006/relationships/image" Target="../media/image34.png"/><Relationship Id="rId15" Type="http://schemas.openxmlformats.org/officeDocument/2006/relationships/image" Target="../media/image32.wmf"/><Relationship Id="rId10" Type="http://schemas.openxmlformats.org/officeDocument/2006/relationships/oleObject" Target="../embeddings/oleObject5.bin"/><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oleObject" Target="../embeddings/oleObject9.bin"/><Relationship Id="rId3" Type="http://schemas.openxmlformats.org/officeDocument/2006/relationships/notesSlide" Target="../notesSlides/notesSlide5.xml"/><Relationship Id="rId7" Type="http://schemas.openxmlformats.org/officeDocument/2006/relationships/image" Target="../media/image34.png"/><Relationship Id="rId12" Type="http://schemas.openxmlformats.org/officeDocument/2006/relationships/image" Target="../media/image39.wmf"/><Relationship Id="rId2" Type="http://schemas.openxmlformats.org/officeDocument/2006/relationships/slideLayout" Target="../slideLayouts/slideLayout2.xml"/><Relationship Id="rId16" Type="http://schemas.openxmlformats.org/officeDocument/2006/relationships/image" Target="../media/image41.wmf"/><Relationship Id="rId1" Type="http://schemas.openxmlformats.org/officeDocument/2006/relationships/vmlDrawing" Target="../drawings/vmlDrawing3.vml"/><Relationship Id="rId6" Type="http://schemas.openxmlformats.org/officeDocument/2006/relationships/image" Target="../media/image33.png"/><Relationship Id="rId11" Type="http://schemas.openxmlformats.org/officeDocument/2006/relationships/oleObject" Target="../embeddings/oleObject8.bin"/><Relationship Id="rId5" Type="http://schemas.openxmlformats.org/officeDocument/2006/relationships/image" Target="../media/image43.png"/><Relationship Id="rId15" Type="http://schemas.openxmlformats.org/officeDocument/2006/relationships/oleObject" Target="../embeddings/oleObject10.bin"/><Relationship Id="rId10" Type="http://schemas.openxmlformats.org/officeDocument/2006/relationships/image" Target="../media/image38.png"/><Relationship Id="rId4" Type="http://schemas.openxmlformats.org/officeDocument/2006/relationships/image" Target="../media/image42.png"/><Relationship Id="rId9" Type="http://schemas.openxmlformats.org/officeDocument/2006/relationships/image" Target="../media/image45.png"/><Relationship Id="rId14" Type="http://schemas.openxmlformats.org/officeDocument/2006/relationships/image" Target="../media/image40.wmf"/></Relationships>
</file>

<file path=ppt/slides/_rels/slide10.xml.rels><?xml version="1.0" encoding="UTF-8" standalone="yes"?>
<Relationships xmlns="http://schemas.openxmlformats.org/package/2006/relationships"><Relationship Id="rId13" Type="http://schemas.openxmlformats.org/officeDocument/2006/relationships/image" Target="../media/image43.wmf"/><Relationship Id="rId18" Type="http://schemas.openxmlformats.org/officeDocument/2006/relationships/oleObject" Target="../embeddings/oleObject14.bin"/><Relationship Id="rId3" Type="http://schemas.openxmlformats.org/officeDocument/2006/relationships/notesSlide" Target="../notesSlides/notesSlide6.xml"/><Relationship Id="rId21" Type="http://schemas.openxmlformats.org/officeDocument/2006/relationships/image" Target="../media/image47.wmf"/><Relationship Id="rId7" Type="http://schemas.openxmlformats.org/officeDocument/2006/relationships/image" Target="../media/image49.png"/><Relationship Id="rId12" Type="http://schemas.openxmlformats.org/officeDocument/2006/relationships/oleObject" Target="../embeddings/oleObject11.bin"/><Relationship Id="rId17" Type="http://schemas.openxmlformats.org/officeDocument/2006/relationships/image" Target="../media/image45.emf"/><Relationship Id="rId2" Type="http://schemas.openxmlformats.org/officeDocument/2006/relationships/slideLayout" Target="../slideLayouts/slideLayout2.xml"/><Relationship Id="rId16" Type="http://schemas.openxmlformats.org/officeDocument/2006/relationships/oleObject" Target="../embeddings/oleObject13.bin"/><Relationship Id="rId20" Type="http://schemas.openxmlformats.org/officeDocument/2006/relationships/oleObject" Target="../embeddings/oleObject15.bin"/><Relationship Id="rId1" Type="http://schemas.openxmlformats.org/officeDocument/2006/relationships/vmlDrawing" Target="../drawings/vmlDrawing4.vml"/><Relationship Id="rId6" Type="http://schemas.openxmlformats.org/officeDocument/2006/relationships/image" Target="../media/image38.png"/><Relationship Id="rId11" Type="http://schemas.openxmlformats.org/officeDocument/2006/relationships/image" Target="../media/image82.png"/><Relationship Id="rId5" Type="http://schemas.openxmlformats.org/officeDocument/2006/relationships/image" Target="../media/image79.png"/><Relationship Id="rId15" Type="http://schemas.openxmlformats.org/officeDocument/2006/relationships/image" Target="../media/image44.wmf"/><Relationship Id="rId19" Type="http://schemas.openxmlformats.org/officeDocument/2006/relationships/image" Target="../media/image46.wmf"/><Relationship Id="rId1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8.wmf"/><Relationship Id="rId12" Type="http://schemas.openxmlformats.org/officeDocument/2006/relationships/image" Target="../media/image58.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6.bin"/><Relationship Id="rId11" Type="http://schemas.openxmlformats.org/officeDocument/2006/relationships/image" Target="../media/image57.png"/><Relationship Id="rId5" Type="http://schemas.openxmlformats.org/officeDocument/2006/relationships/image" Target="../media/image34.png"/><Relationship Id="rId10" Type="http://schemas.openxmlformats.org/officeDocument/2006/relationships/image" Target="../media/image56.png"/><Relationship Id="rId4" Type="http://schemas.openxmlformats.org/officeDocument/2006/relationships/image" Target="../media/image33.png"/><Relationship Id="rId9" Type="http://schemas.openxmlformats.org/officeDocument/2006/relationships/image" Target="../media/image85.png"/></Relationships>
</file>

<file path=ppt/slides/_rels/slide12.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59.png"/><Relationship Id="rId7" Type="http://schemas.openxmlformats.org/officeDocument/2006/relationships/image" Target="../media/image5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1.gif"/><Relationship Id="rId5" Type="http://schemas.openxmlformats.org/officeDocument/2006/relationships/hyperlink" Target="http://www.phy.cuhk.edu.hk/phyworld/articles/laser/3-states_e.gif" TargetMode="External"/><Relationship Id="rId4" Type="http://schemas.openxmlformats.org/officeDocument/2006/relationships/image" Target="../media/image50.png"/><Relationship Id="rId9" Type="http://schemas.openxmlformats.org/officeDocument/2006/relationships/image" Target="../media/image64.png"/></Relationships>
</file>

<file path=ppt/slides/_rels/slide13.xml.rels><?xml version="1.0" encoding="UTF-8" standalone="yes"?>
<Relationships xmlns="http://schemas.openxmlformats.org/package/2006/relationships"><Relationship Id="rId3" Type="http://schemas.openxmlformats.org/officeDocument/2006/relationships/hyperlink" Target="http://www.olympusconfocal.com/theory/images/laserfigure7.jpg"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5.png"/><Relationship Id="rId4" Type="http://schemas.openxmlformats.org/officeDocument/2006/relationships/image" Target="../media/image54.jpe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notesSlide" Target="../notesSlides/notesSlide9.xml"/><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8.bin"/><Relationship Id="rId5" Type="http://schemas.openxmlformats.org/officeDocument/2006/relationships/image" Target="../media/image61.wmf"/><Relationship Id="rId10" Type="http://schemas.openxmlformats.org/officeDocument/2006/relationships/image" Target="../media/image601.png"/><Relationship Id="rId4"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610.png"/><Relationship Id="rId3" Type="http://schemas.openxmlformats.org/officeDocument/2006/relationships/image" Target="../media/image99.png"/><Relationship Id="rId21" Type="http://schemas.openxmlformats.org/officeDocument/2006/relationships/image" Target="../media/image580.png"/><Relationship Id="rId7" Type="http://schemas.openxmlformats.org/officeDocument/2006/relationships/image" Target="../media/image103.png"/><Relationship Id="rId12" Type="http://schemas.openxmlformats.org/officeDocument/2006/relationships/image" Target="../media/image107.png"/><Relationship Id="rId17" Type="http://schemas.openxmlformats.org/officeDocument/2006/relationships/image" Target="../media/image570.png"/><Relationship Id="rId25" Type="http://schemas.openxmlformats.org/officeDocument/2006/relationships/image" Target="../media/image600.png"/><Relationship Id="rId2" Type="http://schemas.openxmlformats.org/officeDocument/2006/relationships/image" Target="../media/image63.png"/><Relationship Id="rId16" Type="http://schemas.openxmlformats.org/officeDocument/2006/relationships/image" Target="../media/image111.png"/><Relationship Id="rId20"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image" Target="../media/image106.png"/><Relationship Id="rId24" Type="http://schemas.openxmlformats.org/officeDocument/2006/relationships/image" Target="../media/image590.png"/><Relationship Id="rId5" Type="http://schemas.openxmlformats.org/officeDocument/2006/relationships/image" Target="../media/image101.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10" Type="http://schemas.openxmlformats.org/officeDocument/2006/relationships/image" Target="../media/image105.png"/><Relationship Id="rId19" Type="http://schemas.openxmlformats.org/officeDocument/2006/relationships/image" Target="../media/image114.png"/><Relationship Id="rId4" Type="http://schemas.openxmlformats.org/officeDocument/2006/relationships/image" Target="../media/image100.png"/><Relationship Id="rId9" Type="http://schemas.microsoft.com/office/2007/relationships/hdphoto" Target="../media/hdphoto2.wdp"/><Relationship Id="rId14" Type="http://schemas.openxmlformats.org/officeDocument/2006/relationships/image" Target="../media/image109.png"/><Relationship Id="rId22" Type="http://schemas.openxmlformats.org/officeDocument/2006/relationships/image" Target="../media/image117.png"/></Relationships>
</file>

<file path=ppt/slides/_rels/slide1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645710"/>
            <a:ext cx="10363200" cy="1470025"/>
          </a:xfrm>
        </p:spPr>
        <p:txBody>
          <a:bodyPr>
            <a:normAutofit/>
          </a:bodyPr>
          <a:lstStyle/>
          <a:p>
            <a:r>
              <a:rPr lang="en-US" altLang="zh-CN" sz="5400"/>
              <a:t>Transitions</a:t>
            </a:r>
            <a:endParaRPr lang="en-US" sz="5400" dirty="0"/>
          </a:p>
        </p:txBody>
      </p:sp>
    </p:spTree>
    <p:extLst>
      <p:ext uri="{BB962C8B-B14F-4D97-AF65-F5344CB8AC3E}">
        <p14:creationId xmlns:p14="http://schemas.microsoft.com/office/powerpoint/2010/main" val="2622153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Transmission(absorption) and fluorescence spectrum</a:t>
            </a:r>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502" y="981305"/>
            <a:ext cx="5839897" cy="34740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3198" name="Ink 3197"/>
              <p14:cNvContentPartPr/>
              <p14:nvPr/>
            </p14:nvContentPartPr>
            <p14:xfrm>
              <a:off x="3657356" y="4874382"/>
              <a:ext cx="887016" cy="769095"/>
            </p14:xfrm>
          </p:contentPart>
        </mc:Choice>
        <mc:Fallback xmlns="">
          <p:pic>
            <p:nvPicPr>
              <p:cNvPr id="3198" name="Ink 3197"/>
              <p:cNvPicPr/>
              <p:nvPr/>
            </p:nvPicPr>
            <p:blipFill>
              <a:blip r:embed="rId5"/>
              <a:stretch>
                <a:fillRect/>
              </a:stretch>
            </p:blipFill>
            <p:spPr>
              <a:xfrm>
                <a:off x="3646979" y="4863940"/>
                <a:ext cx="907411" cy="789619"/>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03" name="Ink 3202"/>
              <p14:cNvContentPartPr/>
              <p14:nvPr/>
            </p14:nvContentPartPr>
            <p14:xfrm>
              <a:off x="2357036" y="5192257"/>
              <a:ext cx="403200" cy="333000"/>
            </p14:xfrm>
          </p:contentPart>
        </mc:Choice>
        <mc:Fallback xmlns="">
          <p:pic>
            <p:nvPicPr>
              <p:cNvPr id="3203" name="Ink 3202"/>
              <p:cNvPicPr/>
              <p:nvPr/>
            </p:nvPicPr>
            <p:blipFill>
              <a:blip r:embed="rId7"/>
              <a:stretch>
                <a:fillRect/>
              </a:stretch>
            </p:blipFill>
            <p:spPr>
              <a:xfrm>
                <a:off x="2346605" y="5181817"/>
                <a:ext cx="423702" cy="35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205" name="Ink 3204"/>
              <p14:cNvContentPartPr/>
              <p14:nvPr/>
            </p14:nvContentPartPr>
            <p14:xfrm>
              <a:off x="2688596" y="5641537"/>
              <a:ext cx="772200" cy="433800"/>
            </p14:xfrm>
          </p:contentPart>
        </mc:Choice>
        <mc:Fallback xmlns="">
          <p:pic>
            <p:nvPicPr>
              <p:cNvPr id="3205" name="Ink 3204"/>
              <p:cNvPicPr/>
              <p:nvPr/>
            </p:nvPicPr>
            <p:blipFill>
              <a:blip r:embed="rId9"/>
              <a:stretch>
                <a:fillRect/>
              </a:stretch>
            </p:blipFill>
            <p:spPr>
              <a:xfrm>
                <a:off x="2678156" y="5631097"/>
                <a:ext cx="79272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219" name="Ink 3218"/>
              <p14:cNvContentPartPr/>
              <p14:nvPr/>
            </p14:nvContentPartPr>
            <p14:xfrm>
              <a:off x="1672677" y="4552315"/>
              <a:ext cx="1285180" cy="1086707"/>
            </p14:xfrm>
          </p:contentPart>
        </mc:Choice>
        <mc:Fallback xmlns="">
          <p:pic>
            <p:nvPicPr>
              <p:cNvPr id="3219" name="Ink 3218"/>
              <p:cNvPicPr/>
              <p:nvPr/>
            </p:nvPicPr>
            <p:blipFill>
              <a:blip r:embed="rId11"/>
              <a:stretch>
                <a:fillRect/>
              </a:stretch>
            </p:blipFill>
            <p:spPr>
              <a:xfrm>
                <a:off x="1662243" y="4541894"/>
                <a:ext cx="1305688" cy="110719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220" name="Ink 3219"/>
              <p14:cNvContentPartPr/>
              <p14:nvPr/>
            </p14:nvContentPartPr>
            <p14:xfrm>
              <a:off x="2184596" y="6242377"/>
              <a:ext cx="1025280" cy="417600"/>
            </p14:xfrm>
          </p:contentPart>
        </mc:Choice>
        <mc:Fallback xmlns="">
          <p:pic>
            <p:nvPicPr>
              <p:cNvPr id="3220" name="Ink 3219"/>
              <p:cNvPicPr/>
              <p:nvPr/>
            </p:nvPicPr>
            <p:blipFill>
              <a:blip r:embed="rId13"/>
              <a:stretch>
                <a:fillRect/>
              </a:stretch>
            </p:blipFill>
            <p:spPr>
              <a:xfrm>
                <a:off x="2174160" y="6231955"/>
                <a:ext cx="1045793" cy="43808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237" name="Ink 3236"/>
              <p14:cNvContentPartPr/>
              <p14:nvPr/>
            </p14:nvContentPartPr>
            <p14:xfrm>
              <a:off x="8112000" y="2329245"/>
              <a:ext cx="360" cy="360"/>
            </p14:xfrm>
          </p:contentPart>
        </mc:Choice>
        <mc:Fallback xmlns="">
          <p:pic>
            <p:nvPicPr>
              <p:cNvPr id="3237" name="Ink 3236"/>
              <p:cNvPicPr/>
              <p:nvPr/>
            </p:nvPicPr>
            <p:blipFill>
              <a:blip r:embed="rId22"/>
              <a:stretch>
                <a:fillRect/>
              </a:stretch>
            </p:blipFill>
            <p:spPr>
              <a:xfrm>
                <a:off x="8106960" y="2324205"/>
                <a:ext cx="10440" cy="10440"/>
              </a:xfrm>
              <a:prstGeom prst="rect">
                <a:avLst/>
              </a:prstGeom>
            </p:spPr>
          </p:pic>
        </mc:Fallback>
      </mc:AlternateContent>
      <p:sp>
        <p:nvSpPr>
          <p:cNvPr id="3266" name="TextBox 3265"/>
          <p:cNvSpPr txBox="1"/>
          <p:nvPr/>
        </p:nvSpPr>
        <p:spPr>
          <a:xfrm>
            <a:off x="7912800" y="975932"/>
            <a:ext cx="38016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Tunable monochromatic incident light</a:t>
            </a:r>
          </a:p>
        </p:txBody>
      </p:sp>
      <mc:AlternateContent xmlns:mc="http://schemas.openxmlformats.org/markup-compatibility/2006" xmlns:p14="http://schemas.microsoft.com/office/powerpoint/2010/main">
        <mc:Choice Requires="p14">
          <p:contentPart p14:bwMode="auto" r:id="rId23">
            <p14:nvContentPartPr>
              <p14:cNvPr id="3269" name="Ink 3268"/>
              <p14:cNvContentPartPr/>
              <p14:nvPr/>
            </p14:nvContentPartPr>
            <p14:xfrm>
              <a:off x="7167364" y="5293771"/>
              <a:ext cx="798480" cy="50400"/>
            </p14:xfrm>
          </p:contentPart>
        </mc:Choice>
        <mc:Fallback xmlns="">
          <p:pic>
            <p:nvPicPr>
              <p:cNvPr id="3269" name="Ink 3268"/>
              <p:cNvPicPr/>
              <p:nvPr/>
            </p:nvPicPr>
            <p:blipFill>
              <a:blip r:embed="rId28"/>
              <a:stretch>
                <a:fillRect/>
              </a:stretch>
            </p:blipFill>
            <p:spPr>
              <a:xfrm>
                <a:off x="7161604" y="5286980"/>
                <a:ext cx="812160" cy="62911"/>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278" name="Ink 3277"/>
              <p14:cNvContentPartPr/>
              <p14:nvPr/>
            </p14:nvContentPartPr>
            <p14:xfrm>
              <a:off x="3396716" y="4908937"/>
              <a:ext cx="365400" cy="513720"/>
            </p14:xfrm>
          </p:contentPart>
        </mc:Choice>
        <mc:Fallback xmlns="">
          <p:pic>
            <p:nvPicPr>
              <p:cNvPr id="3278" name="Ink 3277"/>
              <p:cNvPicPr/>
              <p:nvPr/>
            </p:nvPicPr>
            <p:blipFill>
              <a:blip r:embed="rId30"/>
              <a:stretch>
                <a:fillRect/>
              </a:stretch>
            </p:blipFill>
            <p:spPr>
              <a:xfrm>
                <a:off x="3386286" y="4898504"/>
                <a:ext cx="385900" cy="534226"/>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280" name="Ink 3279"/>
              <p14:cNvContentPartPr/>
              <p14:nvPr/>
            </p14:nvContentPartPr>
            <p14:xfrm>
              <a:off x="7073764" y="6397531"/>
              <a:ext cx="930600" cy="32760"/>
            </p14:xfrm>
          </p:contentPart>
        </mc:Choice>
        <mc:Fallback xmlns="">
          <p:pic>
            <p:nvPicPr>
              <p:cNvPr id="3280" name="Ink 3279"/>
              <p:cNvPicPr/>
              <p:nvPr/>
            </p:nvPicPr>
            <p:blipFill>
              <a:blip r:embed="rId32"/>
              <a:stretch>
                <a:fillRect/>
              </a:stretch>
            </p:blipFill>
            <p:spPr>
              <a:xfrm>
                <a:off x="7068724" y="6388891"/>
                <a:ext cx="944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288" name="Ink 3287"/>
              <p14:cNvContentPartPr/>
              <p14:nvPr/>
            </p14:nvContentPartPr>
            <p14:xfrm>
              <a:off x="7538884" y="5402851"/>
              <a:ext cx="99360" cy="86400"/>
            </p14:xfrm>
          </p:contentPart>
        </mc:Choice>
        <mc:Fallback xmlns="">
          <p:pic>
            <p:nvPicPr>
              <p:cNvPr id="3288" name="Ink 3287"/>
              <p:cNvPicPr/>
              <p:nvPr/>
            </p:nvPicPr>
            <p:blipFill>
              <a:blip r:embed="rId36"/>
              <a:stretch>
                <a:fillRect/>
              </a:stretch>
            </p:blipFill>
            <p:spPr>
              <a:xfrm>
                <a:off x="7535284" y="5396756"/>
                <a:ext cx="108360" cy="97872"/>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289" name="Ink 3288"/>
              <p14:cNvContentPartPr/>
              <p14:nvPr/>
            </p14:nvContentPartPr>
            <p14:xfrm>
              <a:off x="7439884" y="5373331"/>
              <a:ext cx="97200" cy="1006920"/>
            </p14:xfrm>
          </p:contentPart>
        </mc:Choice>
        <mc:Fallback xmlns="">
          <p:pic>
            <p:nvPicPr>
              <p:cNvPr id="3289" name="Ink 3288"/>
              <p:cNvPicPr/>
              <p:nvPr/>
            </p:nvPicPr>
            <p:blipFill>
              <a:blip r:embed="rId38"/>
              <a:stretch>
                <a:fillRect/>
              </a:stretch>
            </p:blipFill>
            <p:spPr>
              <a:xfrm>
                <a:off x="7432324" y="5366851"/>
                <a:ext cx="111240" cy="1019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305" name="Ink 3304"/>
              <p14:cNvContentPartPr/>
              <p14:nvPr/>
            </p14:nvContentPartPr>
            <p14:xfrm>
              <a:off x="8656324" y="5296291"/>
              <a:ext cx="993600" cy="18720"/>
            </p14:xfrm>
          </p:contentPart>
        </mc:Choice>
        <mc:Fallback xmlns="">
          <p:pic>
            <p:nvPicPr>
              <p:cNvPr id="3305" name="Ink 3304"/>
              <p:cNvPicPr/>
              <p:nvPr/>
            </p:nvPicPr>
            <p:blipFill>
              <a:blip r:embed="rId40"/>
              <a:stretch>
                <a:fillRect/>
              </a:stretch>
            </p:blipFill>
            <p:spPr>
              <a:xfrm>
                <a:off x="8653084" y="5289451"/>
                <a:ext cx="100512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312" name="Ink 3311"/>
              <p14:cNvContentPartPr/>
              <p14:nvPr/>
            </p14:nvContentPartPr>
            <p14:xfrm>
              <a:off x="9071404" y="5399611"/>
              <a:ext cx="120600" cy="947160"/>
            </p14:xfrm>
          </p:contentPart>
        </mc:Choice>
        <mc:Fallback xmlns="">
          <p:pic>
            <p:nvPicPr>
              <p:cNvPr id="3312" name="Ink 3311"/>
              <p:cNvPicPr/>
              <p:nvPr/>
            </p:nvPicPr>
            <p:blipFill>
              <a:blip r:embed="rId42"/>
              <a:stretch>
                <a:fillRect/>
              </a:stretch>
            </p:blipFill>
            <p:spPr>
              <a:xfrm>
                <a:off x="9064225" y="5394931"/>
                <a:ext cx="132086" cy="959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16" name="Ink 3315"/>
              <p14:cNvContentPartPr/>
              <p14:nvPr/>
            </p14:nvContentPartPr>
            <p14:xfrm>
              <a:off x="8619964" y="6437851"/>
              <a:ext cx="1165320" cy="25560"/>
            </p14:xfrm>
          </p:contentPart>
        </mc:Choice>
        <mc:Fallback xmlns="">
          <p:pic>
            <p:nvPicPr>
              <p:cNvPr id="3316" name="Ink 3315"/>
              <p:cNvPicPr/>
              <p:nvPr/>
            </p:nvPicPr>
            <p:blipFill>
              <a:blip r:embed="rId44"/>
              <a:stretch>
                <a:fillRect/>
              </a:stretch>
            </p:blipFill>
            <p:spPr>
              <a:xfrm>
                <a:off x="8612046" y="6430291"/>
                <a:ext cx="1181515"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322" name="Ink 3321"/>
              <p14:cNvContentPartPr/>
              <p14:nvPr/>
            </p14:nvContentPartPr>
            <p14:xfrm>
              <a:off x="9244204" y="5717851"/>
              <a:ext cx="1140120" cy="309240"/>
            </p14:xfrm>
          </p:contentPart>
        </mc:Choice>
        <mc:Fallback xmlns="">
          <p:pic>
            <p:nvPicPr>
              <p:cNvPr id="3322" name="Ink 3321"/>
              <p:cNvPicPr/>
              <p:nvPr/>
            </p:nvPicPr>
            <p:blipFill>
              <a:blip r:embed="rId46"/>
              <a:stretch>
                <a:fillRect/>
              </a:stretch>
            </p:blipFill>
            <p:spPr>
              <a:xfrm>
                <a:off x="9235924" y="5711731"/>
                <a:ext cx="11581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34" name="Ink 3333"/>
              <p14:cNvContentPartPr/>
              <p14:nvPr/>
            </p14:nvContentPartPr>
            <p14:xfrm>
              <a:off x="6607925" y="5062010"/>
              <a:ext cx="455396" cy="325727"/>
            </p14:xfrm>
          </p:contentPart>
        </mc:Choice>
        <mc:Fallback xmlns="">
          <p:pic>
            <p:nvPicPr>
              <p:cNvPr id="3334" name="Ink 3333"/>
              <p:cNvPicPr/>
              <p:nvPr/>
            </p:nvPicPr>
            <p:blipFill>
              <a:blip r:embed="rId50"/>
              <a:stretch>
                <a:fillRect/>
              </a:stretch>
            </p:blipFill>
            <p:spPr>
              <a:xfrm>
                <a:off x="6600725" y="5057331"/>
                <a:ext cx="469436" cy="338324"/>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336" name="Ink 3335"/>
              <p14:cNvContentPartPr/>
              <p14:nvPr/>
            </p14:nvContentPartPr>
            <p14:xfrm>
              <a:off x="7535284" y="6280531"/>
              <a:ext cx="123840" cy="99000"/>
            </p14:xfrm>
          </p:contentPart>
        </mc:Choice>
        <mc:Fallback xmlns="">
          <p:pic>
            <p:nvPicPr>
              <p:cNvPr id="3336" name="Ink 3335"/>
              <p:cNvPicPr/>
              <p:nvPr/>
            </p:nvPicPr>
            <p:blipFill>
              <a:blip r:embed="rId52"/>
              <a:stretch>
                <a:fillRect/>
              </a:stretch>
            </p:blipFill>
            <p:spPr>
              <a:xfrm>
                <a:off x="7528105" y="6271171"/>
                <a:ext cx="139275"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40" name="Ink 3339"/>
              <p14:cNvContentPartPr/>
              <p14:nvPr/>
            </p14:nvContentPartPr>
            <p14:xfrm>
              <a:off x="2978037" y="4973737"/>
              <a:ext cx="186100" cy="434520"/>
            </p14:xfrm>
          </p:contentPart>
        </mc:Choice>
        <mc:Fallback xmlns="">
          <p:pic>
            <p:nvPicPr>
              <p:cNvPr id="3340" name="Ink 3339"/>
              <p:cNvPicPr/>
              <p:nvPr/>
            </p:nvPicPr>
            <p:blipFill>
              <a:blip r:embed="rId54"/>
              <a:stretch>
                <a:fillRect/>
              </a:stretch>
            </p:blipFill>
            <p:spPr>
              <a:xfrm>
                <a:off x="2967718" y="4963297"/>
                <a:ext cx="206382" cy="455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41" name="Ink 3340"/>
              <p14:cNvContentPartPr/>
              <p14:nvPr/>
            </p14:nvContentPartPr>
            <p14:xfrm>
              <a:off x="1393316" y="5762497"/>
              <a:ext cx="780120" cy="14400"/>
            </p14:xfrm>
          </p:contentPart>
        </mc:Choice>
        <mc:Fallback xmlns="">
          <p:pic>
            <p:nvPicPr>
              <p:cNvPr id="3341" name="Ink 3340"/>
              <p:cNvPicPr/>
              <p:nvPr/>
            </p:nvPicPr>
            <p:blipFill>
              <a:blip r:embed="rId56"/>
              <a:stretch>
                <a:fillRect/>
              </a:stretch>
            </p:blipFill>
            <p:spPr>
              <a:xfrm>
                <a:off x="1382876" y="5752057"/>
                <a:ext cx="800640" cy="34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342" name="Ink 3341"/>
              <p14:cNvContentPartPr/>
              <p14:nvPr/>
            </p14:nvContentPartPr>
            <p14:xfrm>
              <a:off x="6569944" y="6134011"/>
              <a:ext cx="377816" cy="262800"/>
            </p14:xfrm>
          </p:contentPart>
        </mc:Choice>
        <mc:Fallback xmlns="">
          <p:pic>
            <p:nvPicPr>
              <p:cNvPr id="3342" name="Ink 3341"/>
              <p:cNvPicPr/>
              <p:nvPr/>
            </p:nvPicPr>
            <p:blipFill>
              <a:blip r:embed="rId58"/>
              <a:stretch>
                <a:fillRect/>
              </a:stretch>
            </p:blipFill>
            <p:spPr>
              <a:xfrm>
                <a:off x="6561308" y="6125011"/>
                <a:ext cx="391849"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346" name="Ink 3345"/>
              <p14:cNvContentPartPr/>
              <p14:nvPr/>
            </p14:nvContentPartPr>
            <p14:xfrm>
              <a:off x="2415716" y="5405737"/>
              <a:ext cx="1314720" cy="901080"/>
            </p14:xfrm>
          </p:contentPart>
        </mc:Choice>
        <mc:Fallback xmlns="">
          <p:pic>
            <p:nvPicPr>
              <p:cNvPr id="3346" name="Ink 3345"/>
              <p:cNvPicPr/>
              <p:nvPr/>
            </p:nvPicPr>
            <p:blipFill>
              <a:blip r:embed="rId60"/>
              <a:stretch>
                <a:fillRect/>
              </a:stretch>
            </p:blipFill>
            <p:spPr>
              <a:xfrm>
                <a:off x="2405276" y="5395293"/>
                <a:ext cx="1335240" cy="921608"/>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347" name="Ink 3346"/>
              <p14:cNvContentPartPr/>
              <p14:nvPr/>
            </p14:nvContentPartPr>
            <p14:xfrm>
              <a:off x="2070476" y="5742337"/>
              <a:ext cx="145440" cy="125640"/>
            </p14:xfrm>
          </p:contentPart>
        </mc:Choice>
        <mc:Fallback xmlns="">
          <p:pic>
            <p:nvPicPr>
              <p:cNvPr id="3347" name="Ink 3346"/>
              <p:cNvPicPr/>
              <p:nvPr/>
            </p:nvPicPr>
            <p:blipFill>
              <a:blip r:embed="rId62"/>
              <a:stretch>
                <a:fillRect/>
              </a:stretch>
            </p:blipFill>
            <p:spPr>
              <a:xfrm>
                <a:off x="2060164" y="5731956"/>
                <a:ext cx="165709" cy="146043"/>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348" name="Ink 3347"/>
              <p14:cNvContentPartPr/>
              <p14:nvPr/>
            </p14:nvContentPartPr>
            <p14:xfrm>
              <a:off x="3790916" y="5780137"/>
              <a:ext cx="817920" cy="44280"/>
            </p14:xfrm>
          </p:contentPart>
        </mc:Choice>
        <mc:Fallback xmlns="">
          <p:pic>
            <p:nvPicPr>
              <p:cNvPr id="3348" name="Ink 3347"/>
              <p:cNvPicPr/>
              <p:nvPr/>
            </p:nvPicPr>
            <p:blipFill>
              <a:blip r:embed="rId64"/>
              <a:stretch>
                <a:fillRect/>
              </a:stretch>
            </p:blipFill>
            <p:spPr>
              <a:xfrm>
                <a:off x="3780499" y="5770105"/>
                <a:ext cx="838395" cy="63998"/>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349" name="Ink 3348"/>
              <p14:cNvContentPartPr/>
              <p14:nvPr/>
            </p14:nvContentPartPr>
            <p14:xfrm>
              <a:off x="3567356" y="6199537"/>
              <a:ext cx="435600" cy="252000"/>
            </p14:xfrm>
          </p:contentPart>
        </mc:Choice>
        <mc:Fallback xmlns="">
          <p:pic>
            <p:nvPicPr>
              <p:cNvPr id="3349" name="Ink 3348"/>
              <p:cNvPicPr/>
              <p:nvPr/>
            </p:nvPicPr>
            <p:blipFill>
              <a:blip r:embed="rId66"/>
              <a:stretch>
                <a:fillRect/>
              </a:stretch>
            </p:blipFill>
            <p:spPr>
              <a:xfrm>
                <a:off x="3556916" y="6189127"/>
                <a:ext cx="456120" cy="272462"/>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353" name="Ink 3352"/>
              <p14:cNvContentPartPr/>
              <p14:nvPr/>
            </p14:nvContentPartPr>
            <p14:xfrm>
              <a:off x="4707568" y="5612669"/>
              <a:ext cx="1931376" cy="328455"/>
            </p14:xfrm>
          </p:contentPart>
        </mc:Choice>
        <mc:Fallback xmlns="">
          <p:pic>
            <p:nvPicPr>
              <p:cNvPr id="3353" name="Ink 3352"/>
              <p:cNvPicPr/>
              <p:nvPr/>
            </p:nvPicPr>
            <p:blipFill>
              <a:blip r:embed="rId68"/>
              <a:stretch>
                <a:fillRect/>
              </a:stretch>
            </p:blipFill>
            <p:spPr>
              <a:xfrm>
                <a:off x="4697128" y="5602236"/>
                <a:ext cx="1951896" cy="348961"/>
              </a:xfrm>
              <a:prstGeom prst="rect">
                <a:avLst/>
              </a:prstGeom>
            </p:spPr>
          </p:pic>
        </mc:Fallback>
      </mc:AlternateContent>
      <p:pic>
        <p:nvPicPr>
          <p:cNvPr id="6" name="Picture 5">
            <a:extLst>
              <a:ext uri="{FF2B5EF4-FFF2-40B4-BE49-F238E27FC236}">
                <a16:creationId xmlns:a16="http://schemas.microsoft.com/office/drawing/2014/main" id="{3040565F-DD6C-468D-B1AC-A25369BAF991}"/>
              </a:ext>
            </a:extLst>
          </p:cNvPr>
          <p:cNvPicPr>
            <a:picLocks noChangeAspect="1"/>
          </p:cNvPicPr>
          <p:nvPr/>
        </p:nvPicPr>
        <p:blipFill>
          <a:blip r:embed="rId69"/>
          <a:stretch>
            <a:fillRect/>
          </a:stretch>
        </p:blipFill>
        <p:spPr>
          <a:xfrm>
            <a:off x="7568722" y="1663449"/>
            <a:ext cx="4027469" cy="3200362"/>
          </a:xfrm>
          <a:prstGeom prst="rect">
            <a:avLst/>
          </a:prstGeom>
        </p:spPr>
      </p:pic>
      <p:sp>
        <p:nvSpPr>
          <p:cNvPr id="45" name="TextBox 44">
            <a:extLst>
              <a:ext uri="{FF2B5EF4-FFF2-40B4-BE49-F238E27FC236}">
                <a16:creationId xmlns:a16="http://schemas.microsoft.com/office/drawing/2014/main" id="{163FDB12-E9D2-4D78-BC78-50E063ABE0D5}"/>
              </a:ext>
            </a:extLst>
          </p:cNvPr>
          <p:cNvSpPr txBox="1"/>
          <p:nvPr/>
        </p:nvSpPr>
        <p:spPr>
          <a:xfrm>
            <a:off x="687928" y="5786626"/>
            <a:ext cx="1413144" cy="369332"/>
          </a:xfrm>
          <a:prstGeom prst="rect">
            <a:avLst/>
          </a:prstGeom>
          <a:noFill/>
        </p:spPr>
        <p:txBody>
          <a:bodyPr wrap="none" rtlCol="0">
            <a:spAutoFit/>
          </a:bodyPr>
          <a:lstStyle/>
          <a:p>
            <a:r>
              <a:rPr lang="en-US" altLang="zh-CN" dirty="0"/>
              <a:t>Incident light</a:t>
            </a:r>
            <a:endParaRPr lang="zh-CN" altLang="en-US" dirty="0"/>
          </a:p>
        </p:txBody>
      </p:sp>
      <p:sp>
        <p:nvSpPr>
          <p:cNvPr id="46" name="TextBox 45">
            <a:extLst>
              <a:ext uri="{FF2B5EF4-FFF2-40B4-BE49-F238E27FC236}">
                <a16:creationId xmlns:a16="http://schemas.microsoft.com/office/drawing/2014/main" id="{14ABAD6E-DC3B-4427-A2CE-240861E779C7}"/>
              </a:ext>
            </a:extLst>
          </p:cNvPr>
          <p:cNvSpPr txBox="1"/>
          <p:nvPr/>
        </p:nvSpPr>
        <p:spPr>
          <a:xfrm>
            <a:off x="4014319" y="5903796"/>
            <a:ext cx="1767150" cy="369332"/>
          </a:xfrm>
          <a:prstGeom prst="rect">
            <a:avLst/>
          </a:prstGeom>
          <a:noFill/>
        </p:spPr>
        <p:txBody>
          <a:bodyPr wrap="none" rtlCol="0">
            <a:spAutoFit/>
          </a:bodyPr>
          <a:lstStyle/>
          <a:p>
            <a:r>
              <a:rPr lang="en-US" altLang="zh-CN" dirty="0"/>
              <a:t>Transmitted light</a:t>
            </a:r>
            <a:endParaRPr lang="zh-CN" altLang="en-US" dirty="0"/>
          </a:p>
        </p:txBody>
      </p:sp>
      <p:sp>
        <p:nvSpPr>
          <p:cNvPr id="47" name="TextBox 46">
            <a:extLst>
              <a:ext uri="{FF2B5EF4-FFF2-40B4-BE49-F238E27FC236}">
                <a16:creationId xmlns:a16="http://schemas.microsoft.com/office/drawing/2014/main" id="{2138D053-4703-4B05-9102-619D2A0784E7}"/>
              </a:ext>
            </a:extLst>
          </p:cNvPr>
          <p:cNvSpPr txBox="1"/>
          <p:nvPr/>
        </p:nvSpPr>
        <p:spPr>
          <a:xfrm>
            <a:off x="3094454" y="4441316"/>
            <a:ext cx="1417568" cy="369332"/>
          </a:xfrm>
          <a:prstGeom prst="rect">
            <a:avLst/>
          </a:prstGeom>
          <a:noFill/>
        </p:spPr>
        <p:txBody>
          <a:bodyPr wrap="none" rtlCol="0">
            <a:spAutoFit/>
          </a:bodyPr>
          <a:lstStyle/>
          <a:p>
            <a:r>
              <a:rPr lang="en-US" altLang="zh-CN" dirty="0"/>
              <a:t>Fluorescence</a:t>
            </a:r>
            <a:endParaRPr lang="zh-CN" altLang="en-US" dirty="0"/>
          </a:p>
        </p:txBody>
      </p:sp>
    </p:spTree>
    <p:extLst>
      <p:ext uri="{BB962C8B-B14F-4D97-AF65-F5344CB8AC3E}">
        <p14:creationId xmlns:p14="http://schemas.microsoft.com/office/powerpoint/2010/main" val="2512891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06E39C-0830-4917-AD47-1ECEA0268019}"/>
                  </a:ext>
                </a:extLst>
              </p:cNvPr>
              <p:cNvSpPr txBox="1"/>
              <p:nvPr/>
            </p:nvSpPr>
            <p:spPr>
              <a:xfrm>
                <a:off x="914399" y="4698934"/>
                <a:ext cx="10722543" cy="1679114"/>
              </a:xfrm>
              <a:prstGeom prst="rect">
                <a:avLst/>
              </a:prstGeom>
              <a:noFill/>
            </p:spPr>
            <p:txBody>
              <a:bodyPr wrap="square" rtlCol="0">
                <a:spAutoFit/>
              </a:bodyPr>
              <a:lstStyle/>
              <a:p>
                <a:r>
                  <a:rPr lang="en-US" altLang="zh-CN" sz="2200" dirty="0">
                    <a:latin typeface="Times New Roman" panose="02020603050405020304" pitchFamily="18" charset="0"/>
                    <a:cs typeface="Times New Roman" panose="02020603050405020304" pitchFamily="18" charset="0"/>
                  </a:rPr>
                  <a:t>Sound wave (in medium):</a:t>
                </a:r>
                <a:r>
                  <a:rPr lang="zh-CN" altLang="en-US" sz="2200" dirty="0">
                    <a:latin typeface="Times New Roman" panose="02020603050405020304" pitchFamily="18" charset="0"/>
                    <a:cs typeface="Times New Roman" panose="02020603050405020304" pitchFamily="18" charset="0"/>
                  </a:rPr>
                  <a:t> </a:t>
                </a:r>
                <a14:m>
                  <m:oMath xmlns:m="http://schemas.openxmlformats.org/officeDocument/2006/math">
                    <m:r>
                      <a:rPr lang="en-US" sz="2200" b="0" i="1" smtClean="0">
                        <a:latin typeface="Cambria Math" panose="02040503050406030204" pitchFamily="18" charset="0"/>
                      </a:rPr>
                      <m:t>𝜔</m:t>
                    </m:r>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𝜔</m:t>
                        </m:r>
                      </m:e>
                      <m:sub>
                        <m:r>
                          <a:rPr lang="en-US" sz="2200" i="1">
                            <a:latin typeface="Cambria Math" panose="02040503050406030204" pitchFamily="18" charset="0"/>
                          </a:rPr>
                          <m:t>0</m:t>
                        </m:r>
                      </m:sub>
                    </m:sSub>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𝑢</m:t>
                        </m:r>
                        <m:r>
                          <a:rPr lang="en-US" altLang="zh-CN" sz="2200" i="1" smtClean="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𝑣</m:t>
                            </m:r>
                          </m:e>
                          <m:sub>
                            <m:r>
                              <m:rPr>
                                <m:sty m:val="p"/>
                              </m:rPr>
                              <a:rPr lang="en-US" sz="2200" b="0" i="0" smtClean="0">
                                <a:latin typeface="Cambria Math" panose="02040503050406030204" pitchFamily="18" charset="0"/>
                              </a:rPr>
                              <m:t>R</m:t>
                            </m:r>
                          </m:sub>
                        </m:sSub>
                      </m:num>
                      <m:den>
                        <m:r>
                          <a:rPr lang="en-US" sz="2200" b="0" i="1" smtClean="0">
                            <a:latin typeface="Cambria Math" panose="02040503050406030204" pitchFamily="18" charset="0"/>
                          </a:rPr>
                          <m:t>𝑢</m:t>
                        </m:r>
                        <m:r>
                          <a:rPr lang="en-US" altLang="zh-CN" sz="2200" i="1">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𝑣</m:t>
                            </m:r>
                          </m:e>
                          <m:sub>
                            <m:r>
                              <m:rPr>
                                <m:sty m:val="p"/>
                              </m:rPr>
                              <a:rPr lang="en-US" sz="2200" b="0" i="0" smtClean="0">
                                <a:latin typeface="Cambria Math" panose="02040503050406030204" pitchFamily="18" charset="0"/>
                              </a:rPr>
                              <m:t>S</m:t>
                            </m:r>
                          </m:sub>
                        </m:sSub>
                      </m:den>
                    </m:f>
                    <m:r>
                      <a:rPr lang="en-US" sz="2200" b="0" i="1" smtClean="0">
                        <a:latin typeface="Cambria Math" panose="02040503050406030204" pitchFamily="18" charset="0"/>
                      </a:rPr>
                      <m:t>  </m:t>
                    </m:r>
                    <m:groupChr>
                      <m:groupChrPr>
                        <m:chr m:val="→"/>
                        <m:vertJc m:val="bot"/>
                        <m:ctrlPr>
                          <a:rPr lang="en-US" sz="2200" b="0" i="1" smtClean="0">
                            <a:latin typeface="Cambria Math" panose="02040503050406030204" pitchFamily="18" charset="0"/>
                          </a:rPr>
                        </m:ctrlPr>
                      </m:groupChrPr>
                      <m:e>
                        <m:r>
                          <m:rPr>
                            <m:brk m:alnAt="2"/>
                          </m:rPr>
                          <a:rPr lang="en-US" sz="2200" b="0" i="1" smtClean="0">
                            <a:latin typeface="Cambria Math" panose="02040503050406030204" pitchFamily="18" charset="0"/>
                          </a:rPr>
                          <m:t> </m:t>
                        </m:r>
                        <m:r>
                          <a:rPr lang="en-US" sz="2200" b="0" i="1" smtClean="0">
                            <a:latin typeface="Cambria Math" panose="02040503050406030204" pitchFamily="18" charset="0"/>
                          </a:rPr>
                          <m:t>   </m:t>
                        </m:r>
                        <m:sSub>
                          <m:sSubPr>
                            <m:ctrlPr>
                              <a:rPr lang="en-US" sz="2200" b="0" i="1" smtClean="0">
                                <a:latin typeface="Cambria Math" panose="02040503050406030204" pitchFamily="18" charset="0"/>
                              </a:rPr>
                            </m:ctrlPr>
                          </m:sSubPr>
                          <m:e>
                            <m:r>
                              <m:rPr>
                                <m:brk m:alnAt="2"/>
                              </m:rPr>
                              <a:rPr lang="en-US" sz="2200" b="0" i="1" smtClean="0">
                                <a:latin typeface="Cambria Math" panose="02040503050406030204" pitchFamily="18" charset="0"/>
                              </a:rPr>
                              <m:t>𝑣</m:t>
                            </m:r>
                          </m:e>
                          <m:sub>
                            <m:r>
                              <m:rPr>
                                <m:sty m:val="p"/>
                              </m:rPr>
                              <a:rPr lang="en-US" altLang="zh-CN" sz="2200">
                                <a:latin typeface="Cambria Math" panose="02040503050406030204" pitchFamily="18" charset="0"/>
                              </a:rPr>
                              <m:t>R</m:t>
                            </m:r>
                          </m:sub>
                        </m:sSub>
                        <m:r>
                          <m:rPr>
                            <m:brk m:alnAt="2"/>
                          </m:rP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m:rPr>
                                <m:brk m:alnAt="2"/>
                              </m:rPr>
                              <a:rPr lang="en-US" sz="2200" b="0" i="1" smtClean="0">
                                <a:latin typeface="Cambria Math" panose="02040503050406030204" pitchFamily="18" charset="0"/>
                              </a:rPr>
                              <m:t>𝑣</m:t>
                            </m:r>
                          </m:e>
                          <m:sub>
                            <m:r>
                              <m:rPr>
                                <m:sty m:val="p"/>
                              </m:rPr>
                              <a:rPr lang="en-US" sz="2200" b="0" i="0" smtClean="0">
                                <a:latin typeface="Cambria Math" panose="02040503050406030204" pitchFamily="18" charset="0"/>
                              </a:rPr>
                              <m:t>S</m:t>
                            </m:r>
                          </m:sub>
                        </m:sSub>
                        <m:r>
                          <m:rPr>
                            <m:brk m:alnAt="2"/>
                          </m:rPr>
                          <a:rPr lang="en-US" sz="2200" b="0" i="1" smtClean="0">
                            <a:latin typeface="Cambria Math" panose="02040503050406030204" pitchFamily="18" charset="0"/>
                          </a:rPr>
                          <m:t>≪</m:t>
                        </m:r>
                        <m:r>
                          <a:rPr lang="en-US" sz="2200" b="0" i="1" smtClean="0">
                            <a:latin typeface="Cambria Math" panose="02040503050406030204" pitchFamily="18" charset="0"/>
                          </a:rPr>
                          <m:t>𝑐</m:t>
                        </m:r>
                        <m:r>
                          <a:rPr lang="en-US" sz="2200" b="0" i="1" smtClean="0">
                            <a:latin typeface="Cambria Math" panose="02040503050406030204" pitchFamily="18" charset="0"/>
                          </a:rPr>
                          <m:t>   </m:t>
                        </m:r>
                      </m:e>
                    </m:groupChr>
                    <m:r>
                      <a:rPr lang="en-US" sz="2200" b="0" i="1" smtClean="0">
                        <a:latin typeface="Cambria Math" panose="02040503050406030204" pitchFamily="18" charset="0"/>
                      </a:rPr>
                      <m:t>  </m:t>
                    </m:r>
                    <m:r>
                      <a:rPr lang="en-US" sz="2200" b="0" i="1" smtClean="0">
                        <a:solidFill>
                          <a:srgbClr val="0070C0"/>
                        </a:solidFill>
                        <a:latin typeface="Cambria Math" panose="02040503050406030204" pitchFamily="18" charset="0"/>
                      </a:rPr>
                      <m:t>𝜔</m:t>
                    </m:r>
                    <m:r>
                      <a:rPr lang="en-US" sz="2200" b="0" i="1" smtClean="0">
                        <a:solidFill>
                          <a:srgbClr val="0070C0"/>
                        </a:solidFill>
                        <a:latin typeface="Cambria Math" panose="02040503050406030204" pitchFamily="18" charset="0"/>
                      </a:rPr>
                      <m:t>=</m:t>
                    </m:r>
                    <m:sSub>
                      <m:sSubPr>
                        <m:ctrlPr>
                          <a:rPr lang="en-US" sz="2200" i="1" smtClean="0">
                            <a:solidFill>
                              <a:srgbClr val="0070C0"/>
                            </a:solidFill>
                            <a:latin typeface="Cambria Math" panose="02040503050406030204" pitchFamily="18" charset="0"/>
                          </a:rPr>
                        </m:ctrlPr>
                      </m:sSubPr>
                      <m:e>
                        <m:r>
                          <a:rPr lang="en-US" sz="2200" i="1">
                            <a:solidFill>
                              <a:srgbClr val="0070C0"/>
                            </a:solidFill>
                            <a:latin typeface="Cambria Math" panose="02040503050406030204" pitchFamily="18" charset="0"/>
                          </a:rPr>
                          <m:t>𝜔</m:t>
                        </m:r>
                      </m:e>
                      <m:sub>
                        <m:r>
                          <a:rPr lang="en-US" sz="2200" i="1">
                            <a:solidFill>
                              <a:srgbClr val="0070C0"/>
                            </a:solidFill>
                            <a:latin typeface="Cambria Math" panose="02040503050406030204" pitchFamily="18" charset="0"/>
                          </a:rPr>
                          <m:t>0</m:t>
                        </m:r>
                      </m:sub>
                    </m:sSub>
                    <m:d>
                      <m:dPr>
                        <m:ctrlPr>
                          <a:rPr lang="en-US" altLang="zh-CN" sz="2200" i="1">
                            <a:solidFill>
                              <a:srgbClr val="0070C0"/>
                            </a:solidFill>
                            <a:latin typeface="Cambria Math" panose="02040503050406030204" pitchFamily="18" charset="0"/>
                          </a:rPr>
                        </m:ctrlPr>
                      </m:dPr>
                      <m:e>
                        <m:r>
                          <a:rPr lang="en-US" altLang="zh-CN" sz="2200" i="1">
                            <a:solidFill>
                              <a:srgbClr val="0070C0"/>
                            </a:solidFill>
                            <a:latin typeface="Cambria Math" panose="02040503050406030204" pitchFamily="18" charset="0"/>
                          </a:rPr>
                          <m:t>1+</m:t>
                        </m:r>
                        <m:f>
                          <m:fPr>
                            <m:ctrlPr>
                              <a:rPr lang="en-US" altLang="zh-CN" sz="2200" i="1">
                                <a:solidFill>
                                  <a:srgbClr val="0070C0"/>
                                </a:solidFill>
                                <a:latin typeface="Cambria Math" panose="02040503050406030204" pitchFamily="18" charset="0"/>
                              </a:rPr>
                            </m:ctrlPr>
                          </m:fPr>
                          <m:num>
                            <m:r>
                              <a:rPr lang="en-US" altLang="zh-CN" sz="2200" i="1">
                                <a:solidFill>
                                  <a:srgbClr val="0070C0"/>
                                </a:solidFill>
                                <a:latin typeface="Cambria Math" panose="02040503050406030204" pitchFamily="18" charset="0"/>
                              </a:rPr>
                              <m:t>𝑣</m:t>
                            </m:r>
                          </m:num>
                          <m:den>
                            <m:r>
                              <a:rPr lang="en-US" altLang="zh-CN" sz="2200" b="0" i="1" smtClean="0">
                                <a:solidFill>
                                  <a:srgbClr val="0070C0"/>
                                </a:solidFill>
                                <a:latin typeface="Cambria Math" panose="02040503050406030204" pitchFamily="18" charset="0"/>
                              </a:rPr>
                              <m:t>𝑢</m:t>
                            </m:r>
                          </m:den>
                        </m:f>
                      </m:e>
                    </m:d>
                    <m:r>
                      <a:rPr lang="zh-CN" altLang="en-US" sz="2200" i="1" smtClean="0">
                        <a:solidFill>
                          <a:srgbClr val="0070C0"/>
                        </a:solidFill>
                        <a:latin typeface="Cambria Math" panose="02040503050406030204" pitchFamily="18" charset="0"/>
                      </a:rPr>
                      <m:t>，</m:t>
                    </m:r>
                  </m:oMath>
                </a14:m>
                <a:endParaRPr lang="en-US" altLang="zh-CN" sz="2200" i="1" dirty="0">
                  <a:solidFill>
                    <a:srgbClr val="0070C0"/>
                  </a:solidFill>
                  <a:latin typeface="Cambria Math" panose="02040503050406030204" pitchFamily="18" charset="0"/>
                </a:endParaRPr>
              </a:p>
              <a:p>
                <a14:m>
                  <m:oMath xmlns:m="http://schemas.openxmlformats.org/officeDocument/2006/math">
                    <m:r>
                      <a:rPr lang="en-US" altLang="zh-CN" sz="2200" b="0" i="1" smtClean="0">
                        <a:solidFill>
                          <a:schemeClr val="tx1"/>
                        </a:solidFill>
                        <a:latin typeface="Cambria Math" panose="02040503050406030204" pitchFamily="18" charset="0"/>
                      </a:rPr>
                      <m:t>𝑢</m:t>
                    </m:r>
                    <m:r>
                      <a:rPr lang="en-US" altLang="zh-CN" sz="2200" i="1" smtClean="0">
                        <a:solidFill>
                          <a:schemeClr val="tx1"/>
                        </a:solidFill>
                        <a:latin typeface="Cambria Math" panose="02040503050406030204" pitchFamily="18" charset="0"/>
                      </a:rPr>
                      <m:t>:</m:t>
                    </m:r>
                  </m:oMath>
                </a14:m>
                <a:r>
                  <a:rPr lang="en-US" altLang="zh-CN" sz="2200" dirty="0">
                    <a:solidFill>
                      <a:schemeClr val="tx1"/>
                    </a:solidFill>
                    <a:latin typeface="Times New Roman" panose="02020603050405020304" pitchFamily="18" charset="0"/>
                    <a:cs typeface="Times New Roman" panose="02020603050405020304" pitchFamily="18" charset="0"/>
                  </a:rPr>
                  <a:t> speed of sound</a:t>
                </a:r>
              </a:p>
              <a:p>
                <a14:m>
                  <m:oMath xmlns:m="http://schemas.openxmlformats.org/officeDocument/2006/math">
                    <m:sSub>
                      <m:sSubPr>
                        <m:ctrlPr>
                          <a:rPr lang="en-US" altLang="zh-CN" sz="2200" i="1" smtClean="0">
                            <a:solidFill>
                              <a:schemeClr val="tx1"/>
                            </a:solidFill>
                            <a:latin typeface="Cambria Math" panose="02040503050406030204" pitchFamily="18" charset="0"/>
                          </a:rPr>
                        </m:ctrlPr>
                      </m:sSubPr>
                      <m:e>
                        <m:r>
                          <a:rPr lang="en-US" altLang="zh-CN" sz="2200" i="1">
                            <a:solidFill>
                              <a:schemeClr val="tx1"/>
                            </a:solidFill>
                            <a:latin typeface="Cambria Math" panose="02040503050406030204" pitchFamily="18" charset="0"/>
                          </a:rPr>
                          <m:t>𝑣</m:t>
                        </m:r>
                      </m:e>
                      <m:sub>
                        <m:r>
                          <m:rPr>
                            <m:sty m:val="p"/>
                          </m:rPr>
                          <a:rPr lang="en-US" altLang="zh-CN" sz="2200" b="0" i="0" smtClean="0">
                            <a:solidFill>
                              <a:schemeClr val="tx1"/>
                            </a:solidFill>
                            <a:latin typeface="Cambria Math" panose="02040503050406030204" pitchFamily="18" charset="0"/>
                          </a:rPr>
                          <m:t>R</m:t>
                        </m:r>
                      </m:sub>
                    </m:sSub>
                    <m:r>
                      <a:rPr lang="en-US" altLang="zh-CN" sz="2200" i="1">
                        <a:solidFill>
                          <a:schemeClr val="tx1"/>
                        </a:solidFill>
                        <a:latin typeface="Cambria Math" panose="02040503050406030204" pitchFamily="18" charset="0"/>
                      </a:rPr>
                      <m:t>,</m:t>
                    </m:r>
                    <m:sSub>
                      <m:sSubPr>
                        <m:ctrlPr>
                          <a:rPr lang="en-US" altLang="zh-CN" sz="2200" i="1">
                            <a:latin typeface="Cambria Math" panose="02040503050406030204" pitchFamily="18" charset="0"/>
                          </a:rPr>
                        </m:ctrlPr>
                      </m:sSubPr>
                      <m:e>
                        <m:r>
                          <a:rPr lang="en-US" altLang="zh-CN" sz="2200" i="1">
                            <a:latin typeface="Cambria Math" panose="02040503050406030204" pitchFamily="18" charset="0"/>
                          </a:rPr>
                          <m:t>𝑣</m:t>
                        </m:r>
                      </m:e>
                      <m:sub>
                        <m:r>
                          <m:rPr>
                            <m:sty m:val="p"/>
                          </m:rPr>
                          <a:rPr lang="en-US" altLang="zh-CN" sz="2200" b="0" i="0" smtClean="0">
                            <a:latin typeface="Cambria Math" panose="02040503050406030204" pitchFamily="18" charset="0"/>
                          </a:rPr>
                          <m:t>S</m:t>
                        </m:r>
                      </m:sub>
                    </m:sSub>
                  </m:oMath>
                </a14:m>
                <a:r>
                  <a:rPr lang="en-US" altLang="zh-CN" sz="2200" dirty="0">
                    <a:latin typeface="Times New Roman" panose="02020603050405020304" pitchFamily="18" charset="0"/>
                    <a:cs typeface="Times New Roman" panose="02020603050405020304" pitchFamily="18" charset="0"/>
                  </a:rPr>
                  <a:t>: speed of the Receiver and the Source relative to the medium</a:t>
                </a:r>
              </a:p>
              <a:p>
                <a14:m>
                  <m:oMath xmlns:m="http://schemas.openxmlformats.org/officeDocument/2006/math">
                    <m:r>
                      <a:rPr lang="en-US" altLang="zh-CN" sz="2200" i="1" smtClean="0">
                        <a:latin typeface="Cambria Math" panose="02040503050406030204" pitchFamily="18" charset="0"/>
                      </a:rPr>
                      <m:t>𝑣</m:t>
                    </m:r>
                    <m:r>
                      <a:rPr lang="en-US" altLang="zh-CN" sz="2200" i="1" smtClean="0">
                        <a:latin typeface="Cambria Math" panose="02040503050406030204" pitchFamily="18" charset="0"/>
                      </a:rPr>
                      <m:t>:</m:t>
                    </m:r>
                  </m:oMath>
                </a14:m>
                <a:r>
                  <a:rPr lang="en-US" altLang="zh-CN" sz="2200" b="0" dirty="0">
                    <a:latin typeface="Times New Roman" panose="02020603050405020304" pitchFamily="18" charset="0"/>
                    <a:cs typeface="Times New Roman" panose="02020603050405020304" pitchFamily="18" charset="0"/>
                  </a:rPr>
                  <a:t> relative speed between the Receiver and Source </a:t>
                </a:r>
                <a:r>
                  <a:rPr lang="en-US" altLang="zh-CN" sz="2200" dirty="0">
                    <a:latin typeface="Times New Roman" panose="02020603050405020304" pitchFamily="18" charset="0"/>
                    <a:cs typeface="Times New Roman" panose="02020603050405020304" pitchFamily="18" charset="0"/>
                  </a:rPr>
                  <a:t>(+ for getting close</a:t>
                </a:r>
                <a:r>
                  <a:rPr lang="zh-CN" altLang="en-US" sz="22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2200" b="0" i="1" smtClean="0">
                        <a:latin typeface="Cambria Math" panose="02040503050406030204" pitchFamily="18" charset="0"/>
                      </a:rPr>
                      <m:t>−</m:t>
                    </m:r>
                  </m:oMath>
                </a14:m>
                <a:r>
                  <a:rPr lang="zh-CN" altLang="en-US" sz="2200" dirty="0">
                    <a:latin typeface="Times New Roman" panose="02020603050405020304" pitchFamily="18" charset="0"/>
                    <a:cs typeface="Times New Roman" panose="02020603050405020304" pitchFamily="18" charset="0"/>
                  </a:rPr>
                  <a:t> </a:t>
                </a:r>
                <a:r>
                  <a:rPr lang="en-US" altLang="zh-CN" sz="2200" dirty="0">
                    <a:latin typeface="Times New Roman" panose="02020603050405020304" pitchFamily="18" charset="0"/>
                    <a:cs typeface="Times New Roman" panose="02020603050405020304" pitchFamily="18" charset="0"/>
                  </a:rPr>
                  <a:t>for getting apart )</a:t>
                </a:r>
                <a:endParaRPr lang="en-US" altLang="zh-CN" sz="2200" b="0" dirty="0">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9806E39C-0830-4917-AD47-1ECEA0268019}"/>
                  </a:ext>
                </a:extLst>
              </p:cNvPr>
              <p:cNvSpPr txBox="1">
                <a:spLocks noRot="1" noChangeAspect="1" noMove="1" noResize="1" noEditPoints="1" noAdjustHandles="1" noChangeArrowheads="1" noChangeShapeType="1" noTextEdit="1"/>
              </p:cNvSpPr>
              <p:nvPr/>
            </p:nvSpPr>
            <p:spPr>
              <a:xfrm>
                <a:off x="914399" y="4698934"/>
                <a:ext cx="10722543" cy="1679114"/>
              </a:xfrm>
              <a:prstGeom prst="rect">
                <a:avLst/>
              </a:prstGeom>
              <a:blipFill>
                <a:blip r:embed="rId3"/>
                <a:stretch>
                  <a:fillRect l="-739" b="-690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193F099F-FCFF-49F8-B9E3-15B837A7D022}"/>
              </a:ext>
            </a:extLst>
          </p:cNvPr>
          <p:cNvGrpSpPr/>
          <p:nvPr/>
        </p:nvGrpSpPr>
        <p:grpSpPr>
          <a:xfrm>
            <a:off x="2377787" y="163630"/>
            <a:ext cx="6279236" cy="4215866"/>
            <a:chOff x="2377787" y="163630"/>
            <a:chExt cx="6279236" cy="4215866"/>
          </a:xfrm>
        </p:grpSpPr>
        <p:pic>
          <p:nvPicPr>
            <p:cNvPr id="12" name="Picture 11">
              <a:extLst>
                <a:ext uri="{FF2B5EF4-FFF2-40B4-BE49-F238E27FC236}">
                  <a16:creationId xmlns:a16="http://schemas.microsoft.com/office/drawing/2014/main" id="{674465D5-5AA3-4714-BDE5-C74D9A3E65D8}"/>
                </a:ext>
              </a:extLst>
            </p:cNvPr>
            <p:cNvPicPr>
              <a:picLocks noChangeAspect="1"/>
            </p:cNvPicPr>
            <p:nvPr/>
          </p:nvPicPr>
          <p:blipFill rotWithShape="1">
            <a:blip r:embed="rId4"/>
            <a:srcRect t="7137" b="3309"/>
            <a:stretch/>
          </p:blipFill>
          <p:spPr>
            <a:xfrm>
              <a:off x="2377787" y="163630"/>
              <a:ext cx="6279236" cy="4215866"/>
            </a:xfrm>
            <a:prstGeom prst="rect">
              <a:avLst/>
            </a:prstGeom>
          </p:spPr>
        </p:pic>
        <p:sp>
          <p:nvSpPr>
            <p:cNvPr id="3" name="Oval 2">
              <a:extLst>
                <a:ext uri="{FF2B5EF4-FFF2-40B4-BE49-F238E27FC236}">
                  <a16:creationId xmlns:a16="http://schemas.microsoft.com/office/drawing/2014/main" id="{0812D2C9-CB63-4DAB-A4E8-5FB9198E906C}"/>
                </a:ext>
              </a:extLst>
            </p:cNvPr>
            <p:cNvSpPr/>
            <p:nvPr/>
          </p:nvSpPr>
          <p:spPr>
            <a:xfrm>
              <a:off x="5709306" y="2271563"/>
              <a:ext cx="266401" cy="28790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a:t>
              </a:r>
              <a:endParaRPr lang="zh-CN" altLang="en-US" dirty="0"/>
            </a:p>
          </p:txBody>
        </p:sp>
        <p:sp>
          <p:nvSpPr>
            <p:cNvPr id="9" name="Oval 8">
              <a:extLst>
                <a:ext uri="{FF2B5EF4-FFF2-40B4-BE49-F238E27FC236}">
                  <a16:creationId xmlns:a16="http://schemas.microsoft.com/office/drawing/2014/main" id="{E71DFEA2-3001-4122-8F91-86CDEDFE4A67}"/>
                </a:ext>
              </a:extLst>
            </p:cNvPr>
            <p:cNvSpPr/>
            <p:nvPr/>
          </p:nvSpPr>
          <p:spPr>
            <a:xfrm>
              <a:off x="2937989" y="2486582"/>
              <a:ext cx="266401" cy="28790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a:t>
              </a:r>
              <a:endParaRPr lang="zh-CN" altLang="en-US" dirty="0"/>
            </a:p>
          </p:txBody>
        </p:sp>
        <p:sp>
          <p:nvSpPr>
            <p:cNvPr id="10" name="Oval 9">
              <a:extLst>
                <a:ext uri="{FF2B5EF4-FFF2-40B4-BE49-F238E27FC236}">
                  <a16:creationId xmlns:a16="http://schemas.microsoft.com/office/drawing/2014/main" id="{7BE3CEEE-6022-4528-B909-1EC00D179E13}"/>
                </a:ext>
              </a:extLst>
            </p:cNvPr>
            <p:cNvSpPr/>
            <p:nvPr/>
          </p:nvSpPr>
          <p:spPr>
            <a:xfrm>
              <a:off x="7669589" y="2486582"/>
              <a:ext cx="266401" cy="28790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R</a:t>
              </a:r>
              <a:endParaRPr lang="zh-CN" altLang="en-US" dirty="0"/>
            </a:p>
          </p:txBody>
        </p:sp>
      </p:grpSp>
    </p:spTree>
    <p:extLst>
      <p:ext uri="{BB962C8B-B14F-4D97-AF65-F5344CB8AC3E}">
        <p14:creationId xmlns:p14="http://schemas.microsoft.com/office/powerpoint/2010/main" val="1198158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9D97F0B-E28C-42C0-BDDD-DCF3EA0DE3C4}"/>
                  </a:ext>
                </a:extLst>
              </p:cNvPr>
              <p:cNvSpPr txBox="1"/>
              <p:nvPr/>
            </p:nvSpPr>
            <p:spPr>
              <a:xfrm>
                <a:off x="1093311" y="615597"/>
                <a:ext cx="9903553" cy="102643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Light wave (no medium</a:t>
                </a:r>
                <a:r>
                  <a:rPr lang="en-US" altLang="zh-CN" sz="2000" dirty="0">
                    <a:latin typeface="Times New Roman" panose="02020603050405020304" pitchFamily="18" charset="0"/>
                    <a:cs typeface="Times New Roman" panose="02020603050405020304" pitchFamily="18" charset="0"/>
                  </a:rPr>
                  <a:t>):</a:t>
                </a:r>
                <a:r>
                  <a:rPr lang="en-US" altLang="zh-CN" sz="2000" i="1" dirty="0">
                    <a:latin typeface="Times New Roman" panose="02020603050405020304" pitchFamily="18" charset="0"/>
                    <a:cs typeface="Times New Roman" panose="02020603050405020304" pitchFamily="18" charset="0"/>
                  </a:rPr>
                  <a:t> 	</a:t>
                </a:r>
                <a14:m>
                  <m:oMath xmlns:m="http://schemas.openxmlformats.org/officeDocument/2006/math">
                    <m:r>
                      <a:rPr lang="en-US" sz="2000" b="0" i="1" smtClean="0">
                        <a:solidFill>
                          <a:schemeClr val="tx1"/>
                        </a:solidFill>
                        <a:latin typeface="Cambria Math" panose="02040503050406030204" pitchFamily="18" charset="0"/>
                      </a:rPr>
                      <m:t>𝜔</m:t>
                    </m:r>
                    <m:r>
                      <a:rPr lang="en-US" altLang="zh-CN" sz="2000" i="1">
                        <a:solidFill>
                          <a:schemeClr val="tx1"/>
                        </a:solidFill>
                        <a:latin typeface="Cambria Math" panose="02040503050406030204" pitchFamily="18" charset="0"/>
                      </a:rPr>
                      <m:t>=</m:t>
                    </m:r>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𝜔</m:t>
                        </m:r>
                      </m:e>
                      <m:sub>
                        <m:r>
                          <a:rPr lang="en-US" altLang="zh-CN" sz="2000" b="0" i="1" smtClean="0">
                            <a:solidFill>
                              <a:schemeClr val="tx1"/>
                            </a:solidFill>
                            <a:latin typeface="Cambria Math" panose="02040503050406030204" pitchFamily="18" charset="0"/>
                          </a:rPr>
                          <m:t>0</m:t>
                        </m:r>
                      </m:sub>
                    </m:sSub>
                    <m:rad>
                      <m:radPr>
                        <m:degHide m:val="on"/>
                        <m:ctrlPr>
                          <a:rPr lang="en-US" altLang="zh-CN" sz="2000" b="0" i="1" smtClean="0">
                            <a:solidFill>
                              <a:schemeClr val="tx1"/>
                            </a:solidFill>
                            <a:latin typeface="Cambria Math" panose="02040503050406030204" pitchFamily="18" charset="0"/>
                          </a:rPr>
                        </m:ctrlPr>
                      </m:radPr>
                      <m:deg/>
                      <m:e>
                        <m:f>
                          <m:fPr>
                            <m:ctrlPr>
                              <a:rPr lang="en-US" altLang="zh-CN" sz="2000" b="0" i="1" smtClean="0">
                                <a:solidFill>
                                  <a:schemeClr val="tx1"/>
                                </a:solidFill>
                                <a:latin typeface="Cambria Math" panose="02040503050406030204" pitchFamily="18" charset="0"/>
                              </a:rPr>
                            </m:ctrlPr>
                          </m:fPr>
                          <m:num>
                            <m:r>
                              <a:rPr lang="en-US" altLang="zh-CN" sz="2000" i="1">
                                <a:solidFill>
                                  <a:schemeClr val="tx1"/>
                                </a:solidFill>
                                <a:latin typeface="Cambria Math" panose="02040503050406030204" pitchFamily="18" charset="0"/>
                              </a:rPr>
                              <m:t>1+</m:t>
                            </m:r>
                            <m:r>
                              <a:rPr lang="en-US" altLang="zh-CN" sz="2000" b="0" i="1" smtClean="0">
                                <a:solidFill>
                                  <a:schemeClr val="tx1"/>
                                </a:solidFill>
                                <a:latin typeface="Cambria Math" panose="02040503050406030204" pitchFamily="18" charset="0"/>
                              </a:rPr>
                              <m:t>𝑣</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𝑐</m:t>
                            </m:r>
                          </m:num>
                          <m:den>
                            <m:r>
                              <a:rPr lang="en-US" altLang="zh-CN" sz="2000" b="0" i="1" smtClean="0">
                                <a:solidFill>
                                  <a:schemeClr val="tx1"/>
                                </a:solidFill>
                                <a:latin typeface="Cambria Math" panose="02040503050406030204" pitchFamily="18" charset="0"/>
                              </a:rPr>
                              <m:t>1−</m:t>
                            </m:r>
                            <m:r>
                              <a:rPr lang="en-US" altLang="zh-CN" sz="2000" b="0" i="1" smtClean="0">
                                <a:solidFill>
                                  <a:schemeClr val="tx1"/>
                                </a:solidFill>
                                <a:latin typeface="Cambria Math" panose="02040503050406030204" pitchFamily="18" charset="0"/>
                              </a:rPr>
                              <m:t>𝑣</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𝑐</m:t>
                            </m:r>
                          </m:den>
                        </m:f>
                      </m:e>
                    </m:rad>
                    <m:r>
                      <a:rPr lang="en-US" altLang="zh-CN" sz="2000" b="0" i="1" smtClean="0">
                        <a:solidFill>
                          <a:schemeClr val="tx1"/>
                        </a:solidFill>
                        <a:latin typeface="Cambria Math" panose="02040503050406030204" pitchFamily="18" charset="0"/>
                      </a:rPr>
                      <m:t>  </m:t>
                    </m:r>
                    <m:groupChr>
                      <m:groupChrPr>
                        <m:chr m:val="→"/>
                        <m:vertJc m:val="bot"/>
                        <m:ctrlPr>
                          <a:rPr lang="en-US" sz="2000" i="1">
                            <a:latin typeface="Cambria Math" panose="02040503050406030204" pitchFamily="18" charset="0"/>
                          </a:rPr>
                        </m:ctrlPr>
                      </m:groupChrPr>
                      <m:e>
                        <m:r>
                          <m:rPr>
                            <m:brk m:alnAt="2"/>
                          </m:rPr>
                          <a:rPr lang="en-US" sz="2000" b="0" i="1" smtClean="0">
                            <a:latin typeface="Cambria Math" panose="02040503050406030204" pitchFamily="18" charset="0"/>
                          </a:rPr>
                          <m:t> </m:t>
                        </m:r>
                        <m:r>
                          <a:rPr lang="en-US" sz="2000" b="0" i="1" smtClean="0">
                            <a:latin typeface="Cambria Math" panose="02040503050406030204" pitchFamily="18" charset="0"/>
                          </a:rPr>
                          <m:t>  </m:t>
                        </m:r>
                        <m:r>
                          <a:rPr lang="en-US" sz="2000" b="0" i="1" smtClean="0">
                            <a:latin typeface="Cambria Math" panose="02040503050406030204" pitchFamily="18" charset="0"/>
                          </a:rPr>
                          <m:t>𝑣</m:t>
                        </m:r>
                        <m:r>
                          <a:rPr lang="en-US" sz="2000" i="1" smtClean="0">
                            <a:latin typeface="Cambria Math" panose="02040503050406030204" pitchFamily="18" charset="0"/>
                          </a:rPr>
                          <m:t> </m:t>
                        </m:r>
                        <m:r>
                          <a:rPr lang="en-US" sz="2000" i="1">
                            <a:latin typeface="Cambria Math" panose="02040503050406030204" pitchFamily="18" charset="0"/>
                          </a:rPr>
                          <m:t>≪</m:t>
                        </m:r>
                        <m:r>
                          <a:rPr lang="en-US" sz="2000" i="1">
                            <a:latin typeface="Cambria Math" panose="02040503050406030204" pitchFamily="18" charset="0"/>
                          </a:rPr>
                          <m:t>𝑐</m:t>
                        </m:r>
                        <m:r>
                          <a:rPr lang="en-US" sz="2000" b="0" i="1" smtClean="0">
                            <a:latin typeface="Cambria Math" panose="02040503050406030204" pitchFamily="18" charset="0"/>
                          </a:rPr>
                          <m:t>   </m:t>
                        </m:r>
                      </m:e>
                    </m:groupChr>
                    <m:r>
                      <a:rPr lang="en-US" sz="2000" b="0" i="1" smtClean="0">
                        <a:latin typeface="Cambria Math" panose="02040503050406030204" pitchFamily="18" charset="0"/>
                      </a:rPr>
                      <m:t>  </m:t>
                    </m:r>
                    <m:r>
                      <a:rPr lang="en-US" sz="2000" b="0" i="1" smtClean="0">
                        <a:solidFill>
                          <a:srgbClr val="0070C0"/>
                        </a:solidFill>
                        <a:latin typeface="Cambria Math" panose="02040503050406030204" pitchFamily="18" charset="0"/>
                      </a:rPr>
                      <m:t>𝜔</m:t>
                    </m:r>
                    <m:r>
                      <a:rPr lang="en-US" sz="2000" b="0" i="1" smtClean="0">
                        <a:solidFill>
                          <a:srgbClr val="0070C0"/>
                        </a:solidFill>
                        <a:latin typeface="Cambria Math" panose="02040503050406030204" pitchFamily="18" charset="0"/>
                      </a:rPr>
                      <m:t>=</m:t>
                    </m:r>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𝜔</m:t>
                        </m:r>
                      </m:e>
                      <m:sub>
                        <m:r>
                          <a:rPr lang="en-US" sz="2000" b="0" i="1" smtClean="0">
                            <a:solidFill>
                              <a:srgbClr val="0070C0"/>
                            </a:solidFill>
                            <a:latin typeface="Cambria Math" panose="02040503050406030204" pitchFamily="18" charset="0"/>
                          </a:rPr>
                          <m:t>0</m:t>
                        </m:r>
                      </m:sub>
                    </m:sSub>
                    <m:d>
                      <m:dPr>
                        <m:ctrlPr>
                          <a:rPr lang="en-US" altLang="zh-CN" sz="2000" b="0" i="1" smtClean="0">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1+</m:t>
                        </m:r>
                        <m:f>
                          <m:fPr>
                            <m:ctrlPr>
                              <a:rPr lang="en-US" altLang="zh-CN" sz="2000" b="0" i="1" smtClean="0">
                                <a:solidFill>
                                  <a:srgbClr val="0070C0"/>
                                </a:solidFill>
                                <a:latin typeface="Cambria Math" panose="02040503050406030204" pitchFamily="18" charset="0"/>
                              </a:rPr>
                            </m:ctrlPr>
                          </m:fPr>
                          <m:num>
                            <m:r>
                              <a:rPr lang="en-US" altLang="zh-CN" sz="2000" b="0" i="1" smtClean="0">
                                <a:solidFill>
                                  <a:srgbClr val="0070C0"/>
                                </a:solidFill>
                                <a:latin typeface="Cambria Math" panose="02040503050406030204" pitchFamily="18" charset="0"/>
                              </a:rPr>
                              <m:t>𝑣</m:t>
                            </m:r>
                          </m:num>
                          <m:den>
                            <m:r>
                              <a:rPr lang="en-US" altLang="zh-CN" sz="2000" b="0" i="1" smtClean="0">
                                <a:solidFill>
                                  <a:srgbClr val="0070C0"/>
                                </a:solidFill>
                                <a:latin typeface="Cambria Math" panose="02040503050406030204" pitchFamily="18" charset="0"/>
                              </a:rPr>
                              <m:t>𝑐</m:t>
                            </m:r>
                          </m:den>
                        </m:f>
                      </m:e>
                    </m:d>
                    <m:r>
                      <a:rPr lang="en-US" sz="2000" b="0" i="1" smtClean="0">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  </m:t>
                    </m:r>
                  </m:oMath>
                </a14:m>
                <a:endParaRPr lang="en-US" sz="2000" b="1" i="1" dirty="0">
                  <a:solidFill>
                    <a:schemeClr val="tx1"/>
                  </a:solidFill>
                  <a:latin typeface="Times New Roman" panose="02020603050405020304" pitchFamily="18" charset="0"/>
                  <a:cs typeface="Times New Roman" panose="02020603050405020304" pitchFamily="18" charset="0"/>
                </a:endParaRPr>
              </a:p>
              <a:p>
                <a14:m>
                  <m:oMath xmlns:m="http://schemas.openxmlformats.org/officeDocument/2006/math">
                    <m:r>
                      <a:rPr lang="en-US" sz="2000" b="0" i="1" smtClean="0">
                        <a:solidFill>
                          <a:schemeClr val="tx1"/>
                        </a:solidFill>
                        <a:latin typeface="Cambria Math" panose="02040503050406030204" pitchFamily="18" charset="0"/>
                      </a:rPr>
                      <m:t>𝑣</m:t>
                    </m:r>
                  </m:oMath>
                </a14:m>
                <a:r>
                  <a:rPr lang="en-US" sz="2000" dirty="0">
                    <a:solidFill>
                      <a:schemeClr val="tx1"/>
                    </a:solidFill>
                    <a:latin typeface="Times New Roman" panose="02020603050405020304" pitchFamily="18" charset="0"/>
                    <a:cs typeface="Times New Roman" panose="02020603050405020304" pitchFamily="18" charset="0"/>
                  </a:rPr>
                  <a:t>: th</a:t>
                </a:r>
                <a:r>
                  <a:rPr lang="en-US" sz="2000" dirty="0">
                    <a:latin typeface="Times New Roman" panose="02020603050405020304" pitchFamily="18" charset="0"/>
                    <a:cs typeface="Times New Roman" panose="02020603050405020304" pitchFamily="18" charset="0"/>
                  </a:rPr>
                  <a:t>e relative speed between the observer and the source </a:t>
                </a:r>
                <a:r>
                  <a:rPr lang="en-US" altLang="zh-CN" sz="2000" dirty="0">
                    <a:latin typeface="Times New Roman" panose="02020603050405020304" pitchFamily="18" charset="0"/>
                    <a:cs typeface="Times New Roman" panose="02020603050405020304" pitchFamily="18" charset="0"/>
                  </a:rPr>
                  <a:t>(positive for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m:t>
                    </m:r>
                  </m:oMath>
                </a14:m>
                <a:r>
                  <a:rPr lang="en-US" altLang="zh-CN" sz="2000" dirty="0">
                    <a:latin typeface="Times New Roman" panose="02020603050405020304" pitchFamily="18" charset="0"/>
                    <a:cs typeface="Times New Roman" panose="02020603050405020304" pitchFamily="18" charset="0"/>
                  </a:rPr>
                  <a:t>, negative for </a:t>
                </a:r>
                <a14:m>
                  <m:oMath xmlns:m="http://schemas.openxmlformats.org/officeDocument/2006/math">
                    <m:r>
                      <a:rPr lang="en-US" altLang="zh-CN" sz="2000" i="1">
                        <a:latin typeface="Cambria Math" panose="02040503050406030204" pitchFamily="18" charset="0"/>
                        <a:ea typeface="Cambria Math" panose="02040503050406030204" pitchFamily="18" charset="0"/>
                      </a:rPr>
                      <m:t>→→</m:t>
                    </m:r>
                  </m:oMath>
                </a14:m>
                <a:r>
                  <a:rPr lang="en-US" altLang="zh-CN" sz="2000" dirty="0">
                    <a:latin typeface="Times New Roman" panose="02020603050405020304" pitchFamily="18" charset="0"/>
                    <a:cs typeface="Times New Roman" panose="02020603050405020304" pitchFamily="18" charset="0"/>
                  </a:rPr>
                  <a:t>)</a:t>
                </a:r>
                <a:endParaRPr lang="en-US" sz="20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99D97F0B-E28C-42C0-BDDD-DCF3EA0DE3C4}"/>
                  </a:ext>
                </a:extLst>
              </p:cNvPr>
              <p:cNvSpPr txBox="1">
                <a:spLocks noRot="1" noChangeAspect="1" noMove="1" noResize="1" noEditPoints="1" noAdjustHandles="1" noChangeArrowheads="1" noChangeShapeType="1" noTextEdit="1"/>
              </p:cNvSpPr>
              <p:nvPr/>
            </p:nvSpPr>
            <p:spPr>
              <a:xfrm>
                <a:off x="1093311" y="615597"/>
                <a:ext cx="9903553" cy="1026435"/>
              </a:xfrm>
              <a:prstGeom prst="rect">
                <a:avLst/>
              </a:prstGeom>
              <a:blipFill>
                <a:blip r:embed="rId3"/>
                <a:stretch>
                  <a:fillRect l="-615" b="-10119"/>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C4CB5C4C-E739-40FB-B129-31BB8C676EDF}"/>
              </a:ext>
            </a:extLst>
          </p:cNvPr>
          <p:cNvSpPr txBox="1"/>
          <p:nvPr/>
        </p:nvSpPr>
        <p:spPr>
          <a:xfrm>
            <a:off x="910570" y="57925"/>
            <a:ext cx="10370859" cy="523220"/>
          </a:xfrm>
          <a:prstGeom prst="rect">
            <a:avLst/>
          </a:prstGeom>
          <a:noFill/>
        </p:spPr>
        <p:txBody>
          <a:bodyPr wrap="square" rtlCol="0">
            <a:spAutoFit/>
          </a:bodyPr>
          <a:lstStyle/>
          <a:p>
            <a:r>
              <a:rPr lang="en-US" altLang="zh-CN" sz="2800" b="1" dirty="0">
                <a:latin typeface="Times New Roman" panose="02020603050405020304" pitchFamily="18" charset="0"/>
                <a:cs typeface="Times New Roman" panose="02020603050405020304" pitchFamily="18" charset="0"/>
              </a:rPr>
              <a:t>Doppler shift and Doppler broadening of spectrum</a:t>
            </a:r>
            <a:endParaRPr lang="en-US" sz="28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4C31971-C17C-46DC-901D-B913B797A18F}"/>
              </a:ext>
            </a:extLst>
          </p:cNvPr>
          <p:cNvSpPr txBox="1"/>
          <p:nvPr/>
        </p:nvSpPr>
        <p:spPr>
          <a:xfrm>
            <a:off x="769802" y="5858055"/>
            <a:ext cx="10370859" cy="923330"/>
          </a:xfrm>
          <a:prstGeom prst="rect">
            <a:avLst/>
          </a:prstGeom>
          <a:noFill/>
        </p:spPr>
        <p:txBody>
          <a:bodyPr wrap="square">
            <a:spAutoFit/>
          </a:bodyPr>
          <a:lstStyle/>
          <a:p>
            <a:r>
              <a:rPr lang="en-US" altLang="zh-CN" dirty="0"/>
              <a:t>The same transition in atoms of different velocities emit light of different frequencies. And the thermal velocity distribution of atoms causes the Doppler broadening of the spectrum. Doppler broadening is also called </a:t>
            </a:r>
            <a:r>
              <a:rPr lang="en-US" altLang="zh-CN"/>
              <a:t>inhomogeneous broadening.</a:t>
            </a:r>
            <a:endParaRPr lang="en-US" altLang="zh-CN" dirty="0"/>
          </a:p>
        </p:txBody>
      </p:sp>
      <p:graphicFrame>
        <p:nvGraphicFramePr>
          <p:cNvPr id="23" name="Object 22">
            <a:extLst>
              <a:ext uri="{FF2B5EF4-FFF2-40B4-BE49-F238E27FC236}">
                <a16:creationId xmlns:a16="http://schemas.microsoft.com/office/drawing/2014/main" id="{EAD3657B-2EB6-4141-ADCF-8F924A8627A3}"/>
              </a:ext>
            </a:extLst>
          </p:cNvPr>
          <p:cNvGraphicFramePr>
            <a:graphicFrameLocks noChangeAspect="1"/>
          </p:cNvGraphicFramePr>
          <p:nvPr>
            <p:extLst>
              <p:ext uri="{D42A27DB-BD31-4B8C-83A1-F6EECF244321}">
                <p14:modId xmlns:p14="http://schemas.microsoft.com/office/powerpoint/2010/main" val="2033517632"/>
              </p:ext>
            </p:extLst>
          </p:nvPr>
        </p:nvGraphicFramePr>
        <p:xfrm>
          <a:off x="7102998" y="3843822"/>
          <a:ext cx="4222527" cy="871315"/>
        </p:xfrm>
        <a:graphic>
          <a:graphicData uri="http://schemas.openxmlformats.org/presentationml/2006/ole">
            <mc:AlternateContent xmlns:mc="http://schemas.openxmlformats.org/markup-compatibility/2006">
              <mc:Choice xmlns:v="urn:schemas-microsoft-com:vml" Requires="v">
                <p:oleObj spid="_x0000_s13466" name="Equation" r:id="rId4" imgW="2400120" imgH="495000" progId="Equation.DSMT4">
                  <p:embed/>
                </p:oleObj>
              </mc:Choice>
              <mc:Fallback>
                <p:oleObj name="Equation" r:id="rId4" imgW="2400120" imgH="495000" progId="Equation.DSMT4">
                  <p:embed/>
                  <p:pic>
                    <p:nvPicPr>
                      <p:cNvPr id="0" name=""/>
                      <p:cNvPicPr/>
                      <p:nvPr/>
                    </p:nvPicPr>
                    <p:blipFill>
                      <a:blip r:embed="rId5"/>
                      <a:stretch>
                        <a:fillRect/>
                      </a:stretch>
                    </p:blipFill>
                    <p:spPr>
                      <a:xfrm>
                        <a:off x="7102998" y="3843822"/>
                        <a:ext cx="4222527" cy="871315"/>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4861832D-72FB-44AE-A93B-33B44209A0C2}"/>
              </a:ext>
            </a:extLst>
          </p:cNvPr>
          <p:cNvGraphicFramePr>
            <a:graphicFrameLocks noChangeAspect="1"/>
          </p:cNvGraphicFramePr>
          <p:nvPr>
            <p:extLst>
              <p:ext uri="{D42A27DB-BD31-4B8C-83A1-F6EECF244321}">
                <p14:modId xmlns:p14="http://schemas.microsoft.com/office/powerpoint/2010/main" val="3827766675"/>
              </p:ext>
            </p:extLst>
          </p:nvPr>
        </p:nvGraphicFramePr>
        <p:xfrm>
          <a:off x="5872731" y="1897688"/>
          <a:ext cx="5311775" cy="1225550"/>
        </p:xfrm>
        <a:graphic>
          <a:graphicData uri="http://schemas.openxmlformats.org/presentationml/2006/ole">
            <mc:AlternateContent xmlns:mc="http://schemas.openxmlformats.org/markup-compatibility/2006">
              <mc:Choice xmlns:v="urn:schemas-microsoft-com:vml" Requires="v">
                <p:oleObj spid="_x0000_s13467" name="Equation" r:id="rId6" imgW="3238200" imgH="672840" progId="Equation.DSMT4">
                  <p:embed/>
                </p:oleObj>
              </mc:Choice>
              <mc:Fallback>
                <p:oleObj name="Equation" r:id="rId6" imgW="3238200" imgH="672840" progId="Equation.DSMT4">
                  <p:embed/>
                  <p:pic>
                    <p:nvPicPr>
                      <p:cNvPr id="0" name=""/>
                      <p:cNvPicPr/>
                      <p:nvPr/>
                    </p:nvPicPr>
                    <p:blipFill>
                      <a:blip r:embed="rId7"/>
                      <a:stretch>
                        <a:fillRect/>
                      </a:stretch>
                    </p:blipFill>
                    <p:spPr>
                      <a:xfrm>
                        <a:off x="5872731" y="1897688"/>
                        <a:ext cx="5311775" cy="1225550"/>
                      </a:xfrm>
                      <a:prstGeom prst="rect">
                        <a:avLst/>
                      </a:prstGeom>
                    </p:spPr>
                  </p:pic>
                </p:oleObj>
              </mc:Fallback>
            </mc:AlternateContent>
          </a:graphicData>
        </a:graphic>
      </p:graphicFrame>
      <p:grpSp>
        <p:nvGrpSpPr>
          <p:cNvPr id="3" name="Group 2">
            <a:extLst>
              <a:ext uri="{FF2B5EF4-FFF2-40B4-BE49-F238E27FC236}">
                <a16:creationId xmlns:a16="http://schemas.microsoft.com/office/drawing/2014/main" id="{F22E5B19-B4E1-4239-A2F6-32F4EFAE58A0}"/>
              </a:ext>
            </a:extLst>
          </p:cNvPr>
          <p:cNvGrpSpPr/>
          <p:nvPr/>
        </p:nvGrpSpPr>
        <p:grpSpPr>
          <a:xfrm>
            <a:off x="1624365" y="1742112"/>
            <a:ext cx="3954782" cy="1784589"/>
            <a:chOff x="1638804" y="1746925"/>
            <a:chExt cx="3954782" cy="1784589"/>
          </a:xfrm>
        </p:grpSpPr>
        <p:grpSp>
          <p:nvGrpSpPr>
            <p:cNvPr id="29" name="Group 28">
              <a:extLst>
                <a:ext uri="{FF2B5EF4-FFF2-40B4-BE49-F238E27FC236}">
                  <a16:creationId xmlns:a16="http://schemas.microsoft.com/office/drawing/2014/main" id="{E51FA963-12B0-40FA-98FB-464737A8877B}"/>
                </a:ext>
              </a:extLst>
            </p:cNvPr>
            <p:cNvGrpSpPr/>
            <p:nvPr/>
          </p:nvGrpSpPr>
          <p:grpSpPr>
            <a:xfrm>
              <a:off x="1638804" y="1746925"/>
              <a:ext cx="3954782" cy="1784589"/>
              <a:chOff x="1638804" y="1746925"/>
              <a:chExt cx="3954782" cy="1784589"/>
            </a:xfrm>
          </p:grpSpPr>
          <p:grpSp>
            <p:nvGrpSpPr>
              <p:cNvPr id="14" name="Group 13">
                <a:extLst>
                  <a:ext uri="{FF2B5EF4-FFF2-40B4-BE49-F238E27FC236}">
                    <a16:creationId xmlns:a16="http://schemas.microsoft.com/office/drawing/2014/main" id="{E78A5E7B-203D-4EDB-BBB9-649910D9D471}"/>
                  </a:ext>
                </a:extLst>
              </p:cNvPr>
              <p:cNvGrpSpPr/>
              <p:nvPr/>
            </p:nvGrpSpPr>
            <p:grpSpPr>
              <a:xfrm>
                <a:off x="1638804" y="1746925"/>
                <a:ext cx="3954782" cy="1784589"/>
                <a:chOff x="4802586" y="689779"/>
                <a:chExt cx="4142683" cy="2239740"/>
              </a:xfrm>
            </p:grpSpPr>
            <p:grpSp>
              <p:nvGrpSpPr>
                <p:cNvPr id="15" name="Group 14">
                  <a:extLst>
                    <a:ext uri="{FF2B5EF4-FFF2-40B4-BE49-F238E27FC236}">
                      <a16:creationId xmlns:a16="http://schemas.microsoft.com/office/drawing/2014/main" id="{6EBFC0F9-26A1-4AEB-8BAD-6D8E368A261B}"/>
                    </a:ext>
                  </a:extLst>
                </p:cNvPr>
                <p:cNvGrpSpPr/>
                <p:nvPr/>
              </p:nvGrpSpPr>
              <p:grpSpPr>
                <a:xfrm>
                  <a:off x="4802586" y="689779"/>
                  <a:ext cx="4051514" cy="2030255"/>
                  <a:chOff x="4922299" y="684378"/>
                  <a:chExt cx="4213781" cy="2109692"/>
                </a:xfrm>
              </p:grpSpPr>
              <p:pic>
                <p:nvPicPr>
                  <p:cNvPr id="18" name="Picture 17">
                    <a:extLst>
                      <a:ext uri="{FF2B5EF4-FFF2-40B4-BE49-F238E27FC236}">
                        <a16:creationId xmlns:a16="http://schemas.microsoft.com/office/drawing/2014/main" id="{97AED177-31A8-4295-8BE8-853541276B7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4493" b="96232" l="636" r="96716">
                                <a14:foregroundMark x1="48517" y1="7391" x2="48517" y2="7391"/>
                                <a14:foregroundMark x1="33581" y1="94783" x2="33581" y2="94783"/>
                                <a14:foregroundMark x1="69174" y1="95652" x2="69174" y2="95652"/>
                                <a14:foregroundMark x1="30826" y1="96232" x2="30826" y2="96232"/>
                                <a14:foregroundMark x1="50847" y1="4493" x2="50847" y2="4493"/>
                                <a14:foregroundMark x1="32627" y1="22754" x2="32627" y2="22754"/>
                                <a14:foregroundMark x1="19280" y1="27536" x2="19280" y2="27536"/>
                                <a14:foregroundMark x1="23305" y1="20870" x2="23305" y2="20870"/>
                                <a14:foregroundMark x1="4131" y1="15507" x2="29449" y2="35507"/>
                                <a14:foregroundMark x1="29449" y1="35507" x2="3602" y2="44638"/>
                                <a14:foregroundMark x1="3602" y1="44638" x2="4343" y2="15507"/>
                                <a14:foregroundMark x1="27648" y1="17391" x2="28708" y2="49565"/>
                                <a14:foregroundMark x1="28708" y1="49565" x2="15148" y2="53478"/>
                                <a14:foregroundMark x1="15148" y1="53478" x2="14195" y2="49565"/>
                                <a14:foregroundMark x1="68008" y1="24203" x2="94809" y2="59275"/>
                                <a14:foregroundMark x1="94809" y1="59275" x2="96822" y2="58696"/>
                                <a14:foregroundMark x1="47352" y1="70290" x2="47352" y2="70290"/>
                                <a14:foregroundMark x1="52013" y1="88986" x2="52013" y2="88986"/>
                                <a14:foregroundMark x1="50742" y1="89420" x2="50742" y2="89420"/>
                                <a14:foregroundMark x1="50847" y1="89420" x2="50847" y2="89420"/>
                                <a14:foregroundMark x1="43432" y1="90000" x2="43432" y2="90000"/>
                                <a14:foregroundMark x1="43432" y1="90000" x2="43432" y2="90000"/>
                                <a14:foregroundMark x1="49047" y1="44783" x2="49047" y2="44783"/>
                                <a14:foregroundMark x1="48835" y1="44783" x2="48835" y2="44783"/>
                                <a14:foregroundMark x1="40678" y1="57246" x2="40678" y2="57246"/>
                                <a14:foregroundMark x1="37818" y1="74058" x2="37818" y2="74058"/>
                                <a14:foregroundMark x1="60169" y1="59710" x2="60169" y2="59710"/>
                                <a14:foregroundMark x1="63347" y1="74058" x2="63347" y2="74058"/>
                                <a14:foregroundMark x1="55508" y1="90435" x2="55508" y2="90435"/>
                                <a14:foregroundMark x1="636" y1="41884" x2="636" y2="41884"/>
                                <a14:foregroundMark x1="52966" y1="82754" x2="52966" y2="82754"/>
                                <a14:foregroundMark x1="33792" y1="85217" x2="33792" y2="85217"/>
                                <a14:foregroundMark x1="78708" y1="86522" x2="78708" y2="86522"/>
                                <a14:foregroundMark x1="84216" y1="91014" x2="84216" y2="91014"/>
                                <a14:foregroundMark x1="14195" y1="91159" x2="14195" y2="91159"/>
                                <a14:backgroundMark x1="40254" y1="52464" x2="40254" y2="52464"/>
                                <a14:backgroundMark x1="37818" y1="67826" x2="37818" y2="67826"/>
                                <a14:backgroundMark x1="22034" y1="83188" x2="22034" y2="83188"/>
                                <a14:backgroundMark x1="19280" y1="84203" x2="19280" y2="84203"/>
                                <a14:backgroundMark x1="50742" y1="52464" x2="50742" y2="52464"/>
                                <a14:backgroundMark x1="61335" y1="65507" x2="61335" y2="65507"/>
                                <a14:backgroundMark x1="73623" y1="86667" x2="73623" y2="86667"/>
                                <a14:backgroundMark x1="27648" y1="85217" x2="27648" y2="85217"/>
                                <a14:backgroundMark x1="23517" y1="82319" x2="23517" y2="82319"/>
                                <a14:backgroundMark x1="27860" y1="80870" x2="27860" y2="80870"/>
                                <a14:backgroundMark x1="46822" y1="75507" x2="46822" y2="75507"/>
                                <a14:backgroundMark x1="47564" y1="76522" x2="47564" y2="76522"/>
                                <a14:backgroundMark x1="48305" y1="75507" x2="48305" y2="75507"/>
                                <a14:backgroundMark x1="49364" y1="76957" x2="49364" y2="76957"/>
                                <a14:backgroundMark x1="51271" y1="76087" x2="51271" y2="76087"/>
                                <a14:backgroundMark x1="54025" y1="76087" x2="54025" y2="76087"/>
                                <a14:backgroundMark x1="58369" y1="76522" x2="58369" y2="76522"/>
                                <a14:backgroundMark x1="65996" y1="77971" x2="65996" y2="77971"/>
                                <a14:backgroundMark x1="37288" y1="77536" x2="37288" y2="77536"/>
                                <a14:backgroundMark x1="47034" y1="53913" x2="47034" y2="53913"/>
                                <a14:backgroundMark x1="39195" y1="56377" x2="39195" y2="56377"/>
                                <a14:backgroundMark x1="80720" y1="83768" x2="80720" y2="83768"/>
                                <a14:backgroundMark x1="39195" y1="57246" x2="39195" y2="57246"/>
                                <a14:backgroundMark x1="39195" y1="57246" x2="39195" y2="57246"/>
                                <a14:backgroundMark x1="39195" y1="57246" x2="39195" y2="57246"/>
                                <a14:backgroundMark x1="37288" y1="63043" x2="37288" y2="63043"/>
                                <a14:backgroundMark x1="50530" y1="52029" x2="50530" y2="52029"/>
                                <a14:backgroundMark x1="48623" y1="52464" x2="48623" y2="52464"/>
                                <a14:backgroundMark x1="45127" y1="55942" x2="45127" y2="55942"/>
                                <a14:backgroundMark x1="54661" y1="54783" x2="54661" y2="54783"/>
                                <a14:backgroundMark x1="54025" y1="53333" x2="54025" y2="53333"/>
                                <a14:backgroundMark x1="53390" y1="53913" x2="53390" y2="53913"/>
                                <a14:backgroundMark x1="44068" y1="76087" x2="44068" y2="76087"/>
                                <a14:backgroundMark x1="34110" y1="78406" x2="35275" y2="78116"/>
                                <a14:backgroundMark x1="37500" y1="77681" x2="37500" y2="77681"/>
                                <a14:backgroundMark x1="33051" y1="78406" x2="33051" y2="78406"/>
                                <a14:backgroundMark x1="32521" y1="78696" x2="32521" y2="78696"/>
                                <a14:backgroundMark x1="25106" y1="81449" x2="25106" y2="81449"/>
                                <a14:backgroundMark x1="20975" y1="83333" x2="20975" y2="83333"/>
                                <a14:backgroundMark x1="17479" y1="84783" x2="17479" y2="84783"/>
                                <a14:backgroundMark x1="15360" y1="85072" x2="15360" y2="85072"/>
                                <a14:backgroundMark x1="11335" y1="86522" x2="11335" y2="86522"/>
                                <a14:backgroundMark x1="9004" y1="87536" x2="9004" y2="87536"/>
                                <a14:backgroundMark x1="38242" y1="60000" x2="38242" y2="60000"/>
                                <a14:backgroundMark x1="38453" y1="58986" x2="38453" y2="58986"/>
                                <a14:backgroundMark x1="39195" y1="56087" x2="41102" y2="49855"/>
                                <a14:backgroundMark x1="33157" y1="75797" x2="39831" y2="61739"/>
                                <a14:backgroundMark x1="41102" y1="49275" x2="41102" y2="49275"/>
                                <a14:backgroundMark x1="41737" y1="47971" x2="41737" y2="47971"/>
                                <a14:backgroundMark x1="42373" y1="46232" x2="42373" y2="46232"/>
                                <a14:backgroundMark x1="42585" y1="45072" x2="42585" y2="45072"/>
                                <a14:backgroundMark x1="43538" y1="42609" x2="43538" y2="42609"/>
                                <a14:backgroundMark x1="44492" y1="39855" x2="44492" y2="39855"/>
                                <a14:backgroundMark x1="45445" y1="37536" x2="45445" y2="37536"/>
                                <a14:backgroundMark x1="45339" y1="37826" x2="45339" y2="37826"/>
                                <a14:backgroundMark x1="47140" y1="33913" x2="47140" y2="33913"/>
                                <a14:backgroundMark x1="47140" y1="33913" x2="47140" y2="33913"/>
                                <a14:backgroundMark x1="47140" y1="33913" x2="47140" y2="33913"/>
                                <a14:backgroundMark x1="51271" y1="30725" x2="51271" y2="30725"/>
                                <a14:backgroundMark x1="51271" y1="30725" x2="51271" y2="30725"/>
                                <a14:backgroundMark x1="54979" y1="36667" x2="54979" y2="36667"/>
                                <a14:backgroundMark x1="54979" y1="36667" x2="54979" y2="36667"/>
                                <a14:backgroundMark x1="54979" y1="36667" x2="54979" y2="36667"/>
                                <a14:backgroundMark x1="53602" y1="33913" x2="53602" y2="33913"/>
                                <a14:backgroundMark x1="54979" y1="35942" x2="54979" y2="35942"/>
                                <a14:backgroundMark x1="54979" y1="35942" x2="54979" y2="35942"/>
                                <a14:backgroundMark x1="56992" y1="41304" x2="56992" y2="41304"/>
                                <a14:backgroundMark x1="56992" y1="41304" x2="56992" y2="41304"/>
                                <a14:backgroundMark x1="59428" y1="48841" x2="59428" y2="48841"/>
                                <a14:backgroundMark x1="59428" y1="48841" x2="59428" y2="48841"/>
                                <a14:backgroundMark x1="59640" y1="50290" x2="59640" y2="50290"/>
                                <a14:backgroundMark x1="58581" y1="46232" x2="58581" y2="46232"/>
                                <a14:backgroundMark x1="58581" y1="46232" x2="58581" y2="46232"/>
                                <a14:backgroundMark x1="57945" y1="43768" x2="57945" y2="43768"/>
                                <a14:backgroundMark x1="57945" y1="43768" x2="57945" y2="43768"/>
                                <a14:backgroundMark x1="60699" y1="52754" x2="60699" y2="52754"/>
                                <a14:backgroundMark x1="61864" y1="57971" x2="61864" y2="57971"/>
                                <a14:backgroundMark x1="63242" y1="62174" x2="63453" y2="62174"/>
                                <a14:backgroundMark x1="64513" y1="66377" x2="64725" y2="66667"/>
                                <a14:backgroundMark x1="79131" y1="95072" x2="79131" y2="95072"/>
                                <a14:backgroundMark x1="77119" y1="93188" x2="77119" y2="93188"/>
                                <a14:backgroundMark x1="76059" y1="92319" x2="76059" y2="92319"/>
                                <a14:backgroundMark x1="72881" y1="88261" x2="72881" y2="88261"/>
                                <a14:backgroundMark x1="73305" y1="85797" x2="73305" y2="85797"/>
                                <a14:backgroundMark x1="74682" y1="87826" x2="74682" y2="87826"/>
                                <a14:backgroundMark x1="76271" y1="89275" x2="76271" y2="89275"/>
                                <a14:backgroundMark x1="77119" y1="90000" x2="77119" y2="90000"/>
                                <a14:backgroundMark x1="78814" y1="91739" x2="78814" y2="91739"/>
                                <a14:backgroundMark x1="82521" y1="94493" x2="82521" y2="94493"/>
                                <a14:backgroundMark x1="63347" y1="68841" x2="63347" y2="68841"/>
                                <a14:backgroundMark x1="62182" y1="66232" x2="62182" y2="66232"/>
                                <a14:backgroundMark x1="56038" y1="55942" x2="56038" y2="55942"/>
                                <a14:backgroundMark x1="57203" y1="57101" x2="57203" y2="57101"/>
                                <a14:backgroundMark x1="57203" y1="57101" x2="57203" y2="57101"/>
                                <a14:backgroundMark x1="64725" y1="78261" x2="64725" y2="78261"/>
                                <a14:backgroundMark x1="64195" y1="77826" x2="64195" y2="77826"/>
                                <a14:backgroundMark x1="63242" y1="77826" x2="63242" y2="77826"/>
                                <a14:backgroundMark x1="61864" y1="77826" x2="61864" y2="77826"/>
                                <a14:backgroundMark x1="74258" y1="81014" x2="74258" y2="81014"/>
                                <a14:backgroundMark x1="79555" y1="82899" x2="79555" y2="82899"/>
                                <a14:backgroundMark x1="92373" y1="88116" x2="92373" y2="88116"/>
                                <a14:backgroundMark x1="92267" y1="88116" x2="92267" y2="88116"/>
                                <a14:backgroundMark x1="94068" y1="88986" x2="69915" y2="79420"/>
                                <a14:backgroundMark x1="37500" y1="77391" x2="37500" y2="77391"/>
                                <a14:backgroundMark x1="38877" y1="77101" x2="38877" y2="77101"/>
                                <a14:backgroundMark x1="41208" y1="76377" x2="41208" y2="76377"/>
                                <a14:backgroundMark x1="31674" y1="79855" x2="31674" y2="79855"/>
                                <a14:backgroundMark x1="31144" y1="82319" x2="31144" y2="82319"/>
                                <a14:backgroundMark x1="30403" y1="83333" x2="30403" y2="83333"/>
                                <a14:backgroundMark x1="29449" y1="85362" x2="29449" y2="85362"/>
                                <a14:backgroundMark x1="28178" y1="87101" x2="28178" y2="87101"/>
                                <a14:backgroundMark x1="26907" y1="89420" x2="26907" y2="89420"/>
                                <a14:backgroundMark x1="24788" y1="92899" x2="24788" y2="92899"/>
                                <a14:backgroundMark x1="22034" y1="95217" x2="22034" y2="95217"/>
                                <a14:backgroundMark x1="19068" y1="95942" x2="19068" y2="95942"/>
                                <a14:backgroundMark x1="47775" y1="53043" x2="47775" y2="53043"/>
                                <a14:backgroundMark x1="52436" y1="53188" x2="52436" y2="53188"/>
                                <a14:backgroundMark x1="63347" y1="68116" x2="63347" y2="68116"/>
                                <a14:backgroundMark x1="61017" y1="63768" x2="61017" y2="63768"/>
                                <a14:backgroundMark x1="60699" y1="62754" x2="60699" y2="62754"/>
                                <a14:backgroundMark x1="64301" y1="70145" x2="64301" y2="70145"/>
                                <a14:backgroundMark x1="80191" y1="92899" x2="80191" y2="92899"/>
                                <a14:backgroundMark x1="79555" y1="92899" x2="79555" y2="92899"/>
                                <a14:backgroundMark x1="81992" y1="94348" x2="81992" y2="94348"/>
                                <a14:backgroundMark x1="84110" y1="95942" x2="84110" y2="95942"/>
                                <a14:backgroundMark x1="25847" y1="87971" x2="25847" y2="87971"/>
                                <a14:backgroundMark x1="21081" y1="92174" x2="21081" y2="92174"/>
                                <a14:backgroundMark x1="20127" y1="93188" x2="20127" y2="93188"/>
                                <a14:backgroundMark x1="19174" y1="93768" x2="19174" y2="93768"/>
                                <a14:backgroundMark x1="17797" y1="94493" x2="17797" y2="94493"/>
                                <a14:backgroundMark x1="24576" y1="89855" x2="24576" y2="89855"/>
                                <a14:backgroundMark x1="22246" y1="91304" x2="22246" y2="91304"/>
                                <a14:backgroundMark x1="14089" y1="85797" x2="14089" y2="85797"/>
                                <a14:backgroundMark x1="7627" y1="88406" x2="7627" y2="88406"/>
                                <a14:backgroundMark x1="57203" y1="76377" x2="57203" y2="76377"/>
                                <a14:backgroundMark x1="57203" y1="76377" x2="57203" y2="76377"/>
                                <a14:backgroundMark x1="62924" y1="59855" x2="62924" y2="59855"/>
                                <a14:backgroundMark x1="17585" y1="84348" x2="17585" y2="84348"/>
                                <a14:backgroundMark x1="16631" y1="95362" x2="16631" y2="95362"/>
                              </a14:backgroundRemoval>
                            </a14:imgEffect>
                          </a14:imgLayer>
                        </a14:imgProps>
                      </a:ext>
                    </a:extLst>
                  </a:blip>
                  <a:stretch>
                    <a:fillRect/>
                  </a:stretch>
                </p:blipFill>
                <p:spPr>
                  <a:xfrm>
                    <a:off x="4922299" y="684378"/>
                    <a:ext cx="4213781" cy="1955701"/>
                  </a:xfrm>
                  <a:prstGeom prst="rect">
                    <a:avLst/>
                  </a:prstGeom>
                </p:spPr>
              </p:pic>
              <p:cxnSp>
                <p:nvCxnSpPr>
                  <p:cNvPr id="19" name="Straight Connector 18">
                    <a:extLst>
                      <a:ext uri="{FF2B5EF4-FFF2-40B4-BE49-F238E27FC236}">
                        <a16:creationId xmlns:a16="http://schemas.microsoft.com/office/drawing/2014/main" id="{C8AB77F7-57AA-41BE-812F-CB6807574C40}"/>
                      </a:ext>
                    </a:extLst>
                  </p:cNvPr>
                  <p:cNvCxnSpPr>
                    <a:cxnSpLocks/>
                  </p:cNvCxnSpPr>
                  <p:nvPr/>
                </p:nvCxnSpPr>
                <p:spPr>
                  <a:xfrm>
                    <a:off x="7018623" y="838369"/>
                    <a:ext cx="0" cy="195570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E7810CD-EF09-49BE-B30A-D1A0C4F6951B}"/>
                        </a:ext>
                      </a:extLst>
                    </p:cNvPr>
                    <p:cNvSpPr txBox="1"/>
                    <p:nvPr/>
                  </p:nvSpPr>
                  <p:spPr>
                    <a:xfrm>
                      <a:off x="6737773" y="2652520"/>
                      <a:ext cx="1811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7" name="TextBox 26">
                      <a:extLst>
                        <a:ext uri="{FF2B5EF4-FFF2-40B4-BE49-F238E27FC236}">
                          <a16:creationId xmlns:a16="http://schemas.microsoft.com/office/drawing/2014/main" id="{426DE80B-3FCF-4D5D-9C2F-39A7C4897046}"/>
                        </a:ext>
                      </a:extLst>
                    </p:cNvPr>
                    <p:cNvSpPr txBox="1">
                      <a:spLocks noRot="1" noChangeAspect="1" noMove="1" noResize="1" noEditPoints="1" noAdjustHandles="1" noChangeArrowheads="1" noChangeShapeType="1" noTextEdit="1"/>
                    </p:cNvSpPr>
                    <p:nvPr/>
                  </p:nvSpPr>
                  <p:spPr>
                    <a:xfrm>
                      <a:off x="6737773" y="2652520"/>
                      <a:ext cx="181140" cy="276999"/>
                    </a:xfrm>
                    <a:prstGeom prst="rect">
                      <a:avLst/>
                    </a:prstGeom>
                    <a:blipFill>
                      <a:blip r:embed="rId12"/>
                      <a:stretch>
                        <a:fillRect l="-30000" r="-30000"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24D5E0A-84E8-46B2-AA09-1D006383B749}"/>
                        </a:ext>
                      </a:extLst>
                    </p:cNvPr>
                    <p:cNvSpPr txBox="1"/>
                    <p:nvPr/>
                  </p:nvSpPr>
                  <p:spPr>
                    <a:xfrm>
                      <a:off x="8667437" y="2571841"/>
                      <a:ext cx="27783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𝑥</m:t>
                                </m:r>
                              </m:sub>
                            </m:sSub>
                          </m:oMath>
                        </m:oMathPara>
                      </a14:m>
                      <a:endParaRPr lang="en-US" dirty="0"/>
                    </a:p>
                  </p:txBody>
                </p:sp>
              </mc:Choice>
              <mc:Fallback xmlns="">
                <p:sp>
                  <p:nvSpPr>
                    <p:cNvPr id="30" name="TextBox 29">
                      <a:extLst>
                        <a:ext uri="{FF2B5EF4-FFF2-40B4-BE49-F238E27FC236}">
                          <a16:creationId xmlns:a16="http://schemas.microsoft.com/office/drawing/2014/main" id="{1DF3312D-BB89-4F22-9516-7C4868B70C34}"/>
                        </a:ext>
                      </a:extLst>
                    </p:cNvPr>
                    <p:cNvSpPr txBox="1">
                      <a:spLocks noRot="1" noChangeAspect="1" noMove="1" noResize="1" noEditPoints="1" noAdjustHandles="1" noChangeArrowheads="1" noChangeShapeType="1" noTextEdit="1"/>
                    </p:cNvSpPr>
                    <p:nvPr/>
                  </p:nvSpPr>
                  <p:spPr>
                    <a:xfrm>
                      <a:off x="8667437" y="2571841"/>
                      <a:ext cx="277832" cy="276999"/>
                    </a:xfrm>
                    <a:prstGeom prst="rect">
                      <a:avLst/>
                    </a:prstGeom>
                    <a:blipFill>
                      <a:blip r:embed="rId13"/>
                      <a:stretch>
                        <a:fillRect l="-11111" r="-4444" b="-11111"/>
                      </a:stretch>
                    </a:blipFill>
                  </p:spPr>
                  <p:txBody>
                    <a:bodyPr/>
                    <a:lstStyle/>
                    <a:p>
                      <a:r>
                        <a:rPr lang="en-US">
                          <a:noFill/>
                        </a:rPr>
                        <a:t> </a:t>
                      </a:r>
                    </a:p>
                  </p:txBody>
                </p:sp>
              </mc:Fallback>
            </mc:AlternateContent>
          </p:grpSp>
          <p:cxnSp>
            <p:nvCxnSpPr>
              <p:cNvPr id="26" name="Straight Arrow Connector 25">
                <a:extLst>
                  <a:ext uri="{FF2B5EF4-FFF2-40B4-BE49-F238E27FC236}">
                    <a16:creationId xmlns:a16="http://schemas.microsoft.com/office/drawing/2014/main" id="{D08C891F-8CA7-4D7E-98B3-4577CEE189FF}"/>
                  </a:ext>
                </a:extLst>
              </p:cNvPr>
              <p:cNvCxnSpPr/>
              <p:nvPr/>
            </p:nvCxnSpPr>
            <p:spPr>
              <a:xfrm>
                <a:off x="2455200" y="2709048"/>
                <a:ext cx="7416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7" name="Straight Arrow Connector 26">
                <a:extLst>
                  <a:ext uri="{FF2B5EF4-FFF2-40B4-BE49-F238E27FC236}">
                    <a16:creationId xmlns:a16="http://schemas.microsoft.com/office/drawing/2014/main" id="{643B3FF5-D863-4114-A65B-9FC803E90E0F}"/>
                  </a:ext>
                </a:extLst>
              </p:cNvPr>
              <p:cNvCxnSpPr>
                <a:cxnSpLocks/>
              </p:cNvCxnSpPr>
              <p:nvPr/>
            </p:nvCxnSpPr>
            <p:spPr>
              <a:xfrm flipH="1">
                <a:off x="3981600" y="2697324"/>
                <a:ext cx="728785"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mc:AlternateContent xmlns:mc="http://schemas.openxmlformats.org/markup-compatibility/2006" xmlns:a14="http://schemas.microsoft.com/office/drawing/2010/main">
          <mc:Choice Requires="a14">
            <p:graphicFrame>
              <p:nvGraphicFramePr>
                <p:cNvPr id="30" name="Object 29">
                  <a:extLst>
                    <a:ext uri="{FF2B5EF4-FFF2-40B4-BE49-F238E27FC236}">
                      <a16:creationId xmlns:a16="http://schemas.microsoft.com/office/drawing/2014/main" id="{2E418EF0-2E6C-49F0-BAA7-02B3D7D783C0}"/>
                    </a:ext>
                  </a:extLst>
                </p:cNvPr>
                <p:cNvGraphicFramePr>
                  <a:graphicFrameLocks noChangeAspect="1"/>
                </p:cNvGraphicFramePr>
                <p:nvPr>
                  <p:extLst>
                    <p:ext uri="{D42A27DB-BD31-4B8C-83A1-F6EECF244321}">
                      <p14:modId xmlns:p14="http://schemas.microsoft.com/office/powerpoint/2010/main" val="1983028197"/>
                    </p:ext>
                  </p:extLst>
                </p:nvPr>
              </p:nvGraphicFramePr>
              <p:xfrm>
                <a:off x="4111625" y="2359025"/>
                <a:ext cx="314325" cy="269875"/>
              </p:xfrm>
              <a:graphic>
                <a:graphicData uri="http://schemas.openxmlformats.org/presentationml/2006/ole">
                  <mc:AlternateContent>
                    <mc:Choice xmlns:v="urn:schemas-microsoft-com:vml" Requires="v">
                      <p:oleObj spid="_x0000_s13468" name="Equation" r:id="rId14" imgW="177480" imgH="152280" progId="Equation.DSMT4">
                        <p:embed/>
                      </p:oleObj>
                    </mc:Choice>
                    <mc:Fallback>
                      <p:oleObj name="Equation" r:id="rId14" imgW="177480" imgH="152280" progId="Equation.DSMT4">
                        <p:embed/>
                        <p:pic>
                          <p:nvPicPr>
                            <p:cNvPr id="0" name=""/>
                            <p:cNvPicPr/>
                            <p:nvPr/>
                          </p:nvPicPr>
                          <p:blipFill>
                            <a:blip r:embed="rId15"/>
                            <a:stretch>
                              <a:fillRect/>
                            </a:stretch>
                          </p:blipFill>
                          <p:spPr>
                            <a:xfrm>
                              <a:off x="4111625" y="2359025"/>
                              <a:ext cx="314325" cy="269875"/>
                            </a:xfrm>
                            <a:prstGeom prst="rect">
                              <a:avLst/>
                            </a:prstGeom>
                          </p:spPr>
                        </p:pic>
                      </p:oleObj>
                    </mc:Fallback>
                  </mc:AlternateContent>
                </a:graphicData>
              </a:graphic>
            </p:graphicFrame>
          </mc:Choice>
          <mc:Fallback xmlns="">
            <p:graphicFrame>
              <p:nvGraphicFramePr>
                <p:cNvPr id="30" name="Object 29">
                  <a:extLst>
                    <a:ext uri="{FF2B5EF4-FFF2-40B4-BE49-F238E27FC236}">
                      <a16:creationId xmlns:a16="http://schemas.microsoft.com/office/drawing/2014/main" id="{2E418EF0-2E6C-49F0-BAA7-02B3D7D783C0}"/>
                    </a:ext>
                  </a:extLst>
                </p:cNvPr>
                <p:cNvGraphicFramePr>
                  <a:graphicFrameLocks noChangeAspect="1"/>
                </p:cNvGraphicFramePr>
                <p:nvPr>
                  <p:extLst>
                    <p:ext uri="{D42A27DB-BD31-4B8C-83A1-F6EECF244321}">
                      <p14:modId xmlns:p14="http://schemas.microsoft.com/office/powerpoint/2010/main" val="1983028197"/>
                    </p:ext>
                  </p:extLst>
                </p:nvPr>
              </p:nvGraphicFramePr>
              <p:xfrm>
                <a:off x="4111625" y="2359025"/>
                <a:ext cx="314325" cy="269875"/>
              </p:xfrm>
              <a:graphic>
                <a:graphicData uri="http://schemas.openxmlformats.org/presentationml/2006/ole">
                  <mc:AlternateContent>
                    <mc:Choice xmlns:v="urn:schemas-microsoft-com:vml" Requires="v">
                      <p:oleObj spid="_x0000_s13360" name="Equation" r:id="rId16" imgW="177480" imgH="152280" progId="Equation.DSMT4">
                        <p:embed/>
                      </p:oleObj>
                    </mc:Choice>
                    <mc:Fallback>
                      <p:oleObj name="Equation" r:id="rId16" imgW="177480" imgH="152280" progId="Equation.DSMT4">
                        <p:embed/>
                        <p:pic>
                          <p:nvPicPr>
                            <p:cNvPr id="0" name=""/>
                            <p:cNvPicPr/>
                            <p:nvPr/>
                          </p:nvPicPr>
                          <p:blipFill>
                            <a:blip r:embed="rId17"/>
                            <a:stretch>
                              <a:fillRect/>
                            </a:stretch>
                          </p:blipFill>
                          <p:spPr>
                            <a:xfrm>
                              <a:off x="4111625" y="2359025"/>
                              <a:ext cx="314325" cy="269875"/>
                            </a:xfrm>
                            <a:prstGeom prst="rect">
                              <a:avLst/>
                            </a:prstGeom>
                          </p:spPr>
                        </p:pic>
                      </p:oleObj>
                    </mc:Fallback>
                  </mc:AlternateContent>
                </a:graphicData>
              </a:graphic>
            </p:graphicFrame>
          </mc:Fallback>
        </mc:AlternateContent>
      </p:grpSp>
      <p:grpSp>
        <p:nvGrpSpPr>
          <p:cNvPr id="2" name="Group 1">
            <a:extLst>
              <a:ext uri="{FF2B5EF4-FFF2-40B4-BE49-F238E27FC236}">
                <a16:creationId xmlns:a16="http://schemas.microsoft.com/office/drawing/2014/main" id="{C6D098AF-FD7A-4A0A-94FB-935399BE456C}"/>
              </a:ext>
            </a:extLst>
          </p:cNvPr>
          <p:cNvGrpSpPr/>
          <p:nvPr/>
        </p:nvGrpSpPr>
        <p:grpSpPr>
          <a:xfrm>
            <a:off x="498263" y="3786588"/>
            <a:ext cx="9152887" cy="2050881"/>
            <a:chOff x="464573" y="3531514"/>
            <a:chExt cx="9152887" cy="2050881"/>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81DE18D-B79F-4361-8DF0-2D3529FBF228}"/>
                    </a:ext>
                  </a:extLst>
                </p:cNvPr>
                <p:cNvSpPr txBox="1"/>
                <p:nvPr/>
              </p:nvSpPr>
              <p:spPr>
                <a:xfrm>
                  <a:off x="8196815" y="4756040"/>
                  <a:ext cx="1420645" cy="6195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Δ</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𝜔</m:t>
                            </m:r>
                          </m:e>
                          <m:sub>
                            <m:r>
                              <m:rPr>
                                <m:sty m:val="p"/>
                              </m:rPr>
                              <a:rPr lang="en-US" sz="2000" b="0" i="0" smtClean="0">
                                <a:latin typeface="Cambria Math" panose="02040503050406030204" pitchFamily="18" charset="0"/>
                              </a:rPr>
                              <m:t>D</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𝜔</m:t>
                            </m:r>
                          </m:e>
                          <m:sub>
                            <m:r>
                              <a:rPr lang="en-US" sz="2000" b="0" i="1" smtClean="0">
                                <a:latin typeface="Cambria Math" panose="02040503050406030204" pitchFamily="18" charset="0"/>
                              </a:rPr>
                              <m:t>0</m:t>
                            </m:r>
                          </m:sub>
                        </m:sSub>
                        <m:f>
                          <m:fPr>
                            <m:ctrlPr>
                              <a:rPr lang="en-US" sz="2000" b="0" i="1" smtClean="0">
                                <a:latin typeface="Cambria Math" panose="02040503050406030204" pitchFamily="18" charset="0"/>
                              </a:rPr>
                            </m:ctrlPr>
                          </m:fPr>
                          <m:num>
                            <m:r>
                              <a:rPr lang="en-US" sz="2000" i="1" smtClean="0">
                                <a:latin typeface="Cambria Math" panose="02040503050406030204" pitchFamily="18" charset="0"/>
                              </a:rPr>
                              <m:t>𝑢</m:t>
                            </m:r>
                          </m:num>
                          <m:den>
                            <m:r>
                              <a:rPr lang="en-US" sz="2000" b="0" i="1" smtClean="0">
                                <a:latin typeface="Cambria Math" panose="02040503050406030204" pitchFamily="18" charset="0"/>
                              </a:rPr>
                              <m:t>𝑐</m:t>
                            </m:r>
                          </m:den>
                        </m:f>
                      </m:oMath>
                    </m:oMathPara>
                  </a14:m>
                  <a:endParaRPr lang="en-US" sz="2000" b="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981DE18D-B79F-4361-8DF0-2D3529FBF228}"/>
                    </a:ext>
                  </a:extLst>
                </p:cNvPr>
                <p:cNvSpPr txBox="1">
                  <a:spLocks noRot="1" noChangeAspect="1" noMove="1" noResize="1" noEditPoints="1" noAdjustHandles="1" noChangeArrowheads="1" noChangeShapeType="1" noTextEdit="1"/>
                </p:cNvSpPr>
                <p:nvPr/>
              </p:nvSpPr>
              <p:spPr>
                <a:xfrm>
                  <a:off x="8196815" y="4756040"/>
                  <a:ext cx="1420645" cy="619593"/>
                </a:xfrm>
                <a:prstGeom prst="rect">
                  <a:avLst/>
                </a:prstGeom>
                <a:blipFill>
                  <a:blip r:embed="rId18"/>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D589B55D-2601-47F1-8D37-B9F13B4B9751}"/>
                </a:ext>
              </a:extLst>
            </p:cNvPr>
            <p:cNvPicPr>
              <a:picLocks noChangeAspect="1"/>
            </p:cNvPicPr>
            <p:nvPr/>
          </p:nvPicPr>
          <p:blipFill>
            <a:blip r:embed="rId19"/>
            <a:stretch>
              <a:fillRect/>
            </a:stretch>
          </p:blipFill>
          <p:spPr>
            <a:xfrm>
              <a:off x="464573" y="3531514"/>
              <a:ext cx="6277478" cy="2050881"/>
            </a:xfrm>
            <a:prstGeom prst="rect">
              <a:avLst/>
            </a:prstGeom>
          </p:spPr>
        </p:pic>
        <mc:AlternateContent xmlns:mc="http://schemas.openxmlformats.org/markup-compatibility/2006" xmlns:a14="http://schemas.microsoft.com/office/drawing/2010/main">
          <mc:Choice Requires="a14">
            <p:graphicFrame>
              <p:nvGraphicFramePr>
                <p:cNvPr id="31" name="Object 30">
                  <a:extLst>
                    <a:ext uri="{FF2B5EF4-FFF2-40B4-BE49-F238E27FC236}">
                      <a16:creationId xmlns:a16="http://schemas.microsoft.com/office/drawing/2014/main" id="{FE4903FC-9DCC-4BBE-9D7E-0272FC22A64D}"/>
                    </a:ext>
                  </a:extLst>
                </p:cNvPr>
                <p:cNvGraphicFramePr>
                  <a:graphicFrameLocks noChangeAspect="1"/>
                </p:cNvGraphicFramePr>
                <p:nvPr>
                  <p:extLst>
                    <p:ext uri="{D42A27DB-BD31-4B8C-83A1-F6EECF244321}">
                      <p14:modId xmlns:p14="http://schemas.microsoft.com/office/powerpoint/2010/main" val="1704879394"/>
                    </p:ext>
                  </p:extLst>
                </p:nvPr>
              </p:nvGraphicFramePr>
              <p:xfrm>
                <a:off x="2667600" y="4135098"/>
                <a:ext cx="574283" cy="307651"/>
              </p:xfrm>
              <a:graphic>
                <a:graphicData uri="http://schemas.openxmlformats.org/presentationml/2006/ole">
                  <mc:AlternateContent>
                    <mc:Choice xmlns:v="urn:schemas-microsoft-com:vml" Requires="v">
                      <p:oleObj spid="_x0000_s13469" name="Equation" r:id="rId20" imgW="355320" imgH="190440" progId="Equation.DSMT4">
                        <p:embed/>
                      </p:oleObj>
                    </mc:Choice>
                    <mc:Fallback>
                      <p:oleObj name="Equation" r:id="rId20" imgW="355320" imgH="190440" progId="Equation.DSMT4">
                        <p:embed/>
                        <p:pic>
                          <p:nvPicPr>
                            <p:cNvPr id="0" name=""/>
                            <p:cNvPicPr/>
                            <p:nvPr/>
                          </p:nvPicPr>
                          <p:blipFill>
                            <a:blip r:embed="rId21"/>
                            <a:stretch>
                              <a:fillRect/>
                            </a:stretch>
                          </p:blipFill>
                          <p:spPr>
                            <a:xfrm>
                              <a:off x="2667600" y="4135098"/>
                              <a:ext cx="574283" cy="307651"/>
                            </a:xfrm>
                            <a:prstGeom prst="rect">
                              <a:avLst/>
                            </a:prstGeom>
                          </p:spPr>
                        </p:pic>
                      </p:oleObj>
                    </mc:Fallback>
                  </mc:AlternateContent>
                </a:graphicData>
              </a:graphic>
            </p:graphicFrame>
          </mc:Choice>
          <mc:Fallback xmlns="">
            <p:graphicFrame>
              <p:nvGraphicFramePr>
                <p:cNvPr id="31" name="Object 30">
                  <a:extLst>
                    <a:ext uri="{FF2B5EF4-FFF2-40B4-BE49-F238E27FC236}">
                      <a16:creationId xmlns:a16="http://schemas.microsoft.com/office/drawing/2014/main" id="{FE4903FC-9DCC-4BBE-9D7E-0272FC22A64D}"/>
                    </a:ext>
                  </a:extLst>
                </p:cNvPr>
                <p:cNvGraphicFramePr>
                  <a:graphicFrameLocks noChangeAspect="1"/>
                </p:cNvGraphicFramePr>
                <p:nvPr>
                  <p:extLst>
                    <p:ext uri="{D42A27DB-BD31-4B8C-83A1-F6EECF244321}">
                      <p14:modId xmlns:p14="http://schemas.microsoft.com/office/powerpoint/2010/main" val="1704879394"/>
                    </p:ext>
                  </p:extLst>
                </p:nvPr>
              </p:nvGraphicFramePr>
              <p:xfrm>
                <a:off x="2667600" y="4135098"/>
                <a:ext cx="574283" cy="307651"/>
              </p:xfrm>
              <a:graphic>
                <a:graphicData uri="http://schemas.openxmlformats.org/presentationml/2006/ole">
                  <mc:AlternateContent>
                    <mc:Choice xmlns:v="urn:schemas-microsoft-com:vml" Requires="v">
                      <p:oleObj spid="_x0000_s13361" name="Equation" r:id="rId22" imgW="355320" imgH="190440" progId="Equation.DSMT4">
                        <p:embed/>
                      </p:oleObj>
                    </mc:Choice>
                    <mc:Fallback>
                      <p:oleObj name="Equation" r:id="rId22" imgW="355320" imgH="190440" progId="Equation.DSMT4">
                        <p:embed/>
                        <p:pic>
                          <p:nvPicPr>
                            <p:cNvPr id="0" name=""/>
                            <p:cNvPicPr/>
                            <p:nvPr/>
                          </p:nvPicPr>
                          <p:blipFill>
                            <a:blip r:embed="rId23"/>
                            <a:stretch>
                              <a:fillRect/>
                            </a:stretch>
                          </p:blipFill>
                          <p:spPr>
                            <a:xfrm>
                              <a:off x="2667600" y="4135098"/>
                              <a:ext cx="574283" cy="307651"/>
                            </a:xfrm>
                            <a:prstGeom prst="rect">
                              <a:avLst/>
                            </a:prstGeom>
                          </p:spPr>
                        </p:pic>
                      </p:oleObj>
                    </mc:Fallback>
                  </mc:AlternateContent>
                </a:graphicData>
              </a:graphic>
            </p:graphicFrame>
          </mc:Fallback>
        </mc:AlternateContent>
        <p:cxnSp>
          <p:nvCxnSpPr>
            <p:cNvPr id="32" name="Straight Arrow Connector 31">
              <a:extLst>
                <a:ext uri="{FF2B5EF4-FFF2-40B4-BE49-F238E27FC236}">
                  <a16:creationId xmlns:a16="http://schemas.microsoft.com/office/drawing/2014/main" id="{54812A85-971C-4B7D-96B1-8844C0F72059}"/>
                </a:ext>
              </a:extLst>
            </p:cNvPr>
            <p:cNvCxnSpPr>
              <a:cxnSpLocks/>
            </p:cNvCxnSpPr>
            <p:nvPr/>
          </p:nvCxnSpPr>
          <p:spPr>
            <a:xfrm flipH="1">
              <a:off x="4059292" y="4528296"/>
              <a:ext cx="440517"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3" name="Straight Arrow Connector 32">
              <a:extLst>
                <a:ext uri="{FF2B5EF4-FFF2-40B4-BE49-F238E27FC236}">
                  <a16:creationId xmlns:a16="http://schemas.microsoft.com/office/drawing/2014/main" id="{63858C1F-2C18-4864-868D-7775BC3E791D}"/>
                </a:ext>
              </a:extLst>
            </p:cNvPr>
            <p:cNvCxnSpPr>
              <a:cxnSpLocks/>
            </p:cNvCxnSpPr>
            <p:nvPr/>
          </p:nvCxnSpPr>
          <p:spPr>
            <a:xfrm>
              <a:off x="2777871" y="4528296"/>
              <a:ext cx="361329"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3611969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4146A-D283-4BAD-B8D4-07D80051E918}"/>
              </a:ext>
            </a:extLst>
          </p:cNvPr>
          <p:cNvSpPr>
            <a:spLocks noGrp="1"/>
          </p:cNvSpPr>
          <p:nvPr>
            <p:ph type="title"/>
          </p:nvPr>
        </p:nvSpPr>
        <p:spPr>
          <a:xfrm>
            <a:off x="1482291" y="31685"/>
            <a:ext cx="8674836" cy="933978"/>
          </a:xfrm>
        </p:spPr>
        <p:txBody>
          <a:bodyPr/>
          <a:lstStyle/>
          <a:p>
            <a:r>
              <a:rPr lang="en-US" altLang="zh-CN" sz="2800" dirty="0"/>
              <a:t>The spectrum of a double-star</a:t>
            </a:r>
            <a:r>
              <a:rPr lang="zh-CN" altLang="en-US" sz="2800" dirty="0"/>
              <a:t>（</a:t>
            </a:r>
            <a:r>
              <a:rPr lang="en-US" altLang="zh-CN" sz="2800" dirty="0"/>
              <a:t>Doppler effect</a:t>
            </a:r>
            <a:r>
              <a:rPr lang="zh-CN" altLang="en-US" sz="2800" dirty="0"/>
              <a:t>）</a:t>
            </a:r>
            <a:endParaRPr lang="en-US" sz="2800" dirty="0"/>
          </a:p>
        </p:txBody>
      </p:sp>
      <p:grpSp>
        <p:nvGrpSpPr>
          <p:cNvPr id="25" name="Group 24">
            <a:extLst>
              <a:ext uri="{FF2B5EF4-FFF2-40B4-BE49-F238E27FC236}">
                <a16:creationId xmlns:a16="http://schemas.microsoft.com/office/drawing/2014/main" id="{09CA3D43-C0F5-449B-9654-90D2D7A8B458}"/>
              </a:ext>
            </a:extLst>
          </p:cNvPr>
          <p:cNvGrpSpPr/>
          <p:nvPr/>
        </p:nvGrpSpPr>
        <p:grpSpPr>
          <a:xfrm>
            <a:off x="1280669" y="1032717"/>
            <a:ext cx="8810701" cy="5351865"/>
            <a:chOff x="2454794" y="454370"/>
            <a:chExt cx="8810701" cy="5351865"/>
          </a:xfrm>
        </p:grpSpPr>
        <p:grpSp>
          <p:nvGrpSpPr>
            <p:cNvPr id="21" name="Group 20">
              <a:extLst>
                <a:ext uri="{FF2B5EF4-FFF2-40B4-BE49-F238E27FC236}">
                  <a16:creationId xmlns:a16="http://schemas.microsoft.com/office/drawing/2014/main" id="{D2089EB8-6886-433A-B197-F26DE93B4FE0}"/>
                </a:ext>
              </a:extLst>
            </p:cNvPr>
            <p:cNvGrpSpPr/>
            <p:nvPr/>
          </p:nvGrpSpPr>
          <p:grpSpPr>
            <a:xfrm>
              <a:off x="2454794" y="454370"/>
              <a:ext cx="8810701" cy="5351865"/>
              <a:chOff x="2640648" y="633627"/>
              <a:chExt cx="8810701" cy="5351865"/>
            </a:xfrm>
          </p:grpSpPr>
          <p:grpSp>
            <p:nvGrpSpPr>
              <p:cNvPr id="17" name="Group 16">
                <a:extLst>
                  <a:ext uri="{FF2B5EF4-FFF2-40B4-BE49-F238E27FC236}">
                    <a16:creationId xmlns:a16="http://schemas.microsoft.com/office/drawing/2014/main" id="{B347B571-30CE-4C25-805E-B6502C17DBFB}"/>
                  </a:ext>
                </a:extLst>
              </p:cNvPr>
              <p:cNvGrpSpPr/>
              <p:nvPr/>
            </p:nvGrpSpPr>
            <p:grpSpPr>
              <a:xfrm>
                <a:off x="3905363" y="633627"/>
                <a:ext cx="7545986" cy="5351865"/>
                <a:chOff x="1798244" y="890172"/>
                <a:chExt cx="7545986" cy="5351865"/>
              </a:xfrm>
            </p:grpSpPr>
            <p:grpSp>
              <p:nvGrpSpPr>
                <p:cNvPr id="15" name="Group 14">
                  <a:extLst>
                    <a:ext uri="{FF2B5EF4-FFF2-40B4-BE49-F238E27FC236}">
                      <a16:creationId xmlns:a16="http://schemas.microsoft.com/office/drawing/2014/main" id="{A04CBD74-F79D-4C68-9050-BB82C58A2B41}"/>
                    </a:ext>
                  </a:extLst>
                </p:cNvPr>
                <p:cNvGrpSpPr/>
                <p:nvPr/>
              </p:nvGrpSpPr>
              <p:grpSpPr>
                <a:xfrm>
                  <a:off x="2471046" y="890172"/>
                  <a:ext cx="6873184" cy="5351865"/>
                  <a:chOff x="1110781" y="708803"/>
                  <a:chExt cx="6873184" cy="5351865"/>
                </a:xfrm>
              </p:grpSpPr>
              <p:pic>
                <p:nvPicPr>
                  <p:cNvPr id="14" name="Picture 13">
                    <a:extLst>
                      <a:ext uri="{FF2B5EF4-FFF2-40B4-BE49-F238E27FC236}">
                        <a16:creationId xmlns:a16="http://schemas.microsoft.com/office/drawing/2014/main" id="{93D31E1C-2EC7-4CA1-BF67-F3DE07E2F9CC}"/>
                      </a:ext>
                    </a:extLst>
                  </p:cNvPr>
                  <p:cNvPicPr>
                    <a:picLocks noChangeAspect="1"/>
                  </p:cNvPicPr>
                  <p:nvPr/>
                </p:nvPicPr>
                <p:blipFill>
                  <a:blip r:embed="rId3"/>
                  <a:stretch>
                    <a:fillRect/>
                  </a:stretch>
                </p:blipFill>
                <p:spPr>
                  <a:xfrm>
                    <a:off x="2433026" y="709413"/>
                    <a:ext cx="5550939" cy="5348563"/>
                  </a:xfrm>
                  <a:prstGeom prst="rect">
                    <a:avLst/>
                  </a:prstGeom>
                </p:spPr>
              </p:pic>
              <p:pic>
                <p:nvPicPr>
                  <p:cNvPr id="9" name="Picture 8">
                    <a:extLst>
                      <a:ext uri="{FF2B5EF4-FFF2-40B4-BE49-F238E27FC236}">
                        <a16:creationId xmlns:a16="http://schemas.microsoft.com/office/drawing/2014/main" id="{F23E0967-AB4E-4833-AACA-C547B7E41874}"/>
                      </a:ext>
                    </a:extLst>
                  </p:cNvPr>
                  <p:cNvPicPr>
                    <a:picLocks noChangeAspect="1"/>
                  </p:cNvPicPr>
                  <p:nvPr/>
                </p:nvPicPr>
                <p:blipFill>
                  <a:blip r:embed="rId4"/>
                  <a:stretch>
                    <a:fillRect/>
                  </a:stretch>
                </p:blipFill>
                <p:spPr>
                  <a:xfrm>
                    <a:off x="1110781" y="4710909"/>
                    <a:ext cx="1328865" cy="1349759"/>
                  </a:xfrm>
                  <a:prstGeom prst="rect">
                    <a:avLst/>
                  </a:prstGeom>
                </p:spPr>
              </p:pic>
              <p:pic>
                <p:nvPicPr>
                  <p:cNvPr id="11" name="Picture 10">
                    <a:extLst>
                      <a:ext uri="{FF2B5EF4-FFF2-40B4-BE49-F238E27FC236}">
                        <a16:creationId xmlns:a16="http://schemas.microsoft.com/office/drawing/2014/main" id="{547C710E-324E-49A3-9EE1-462DF32AD624}"/>
                      </a:ext>
                    </a:extLst>
                  </p:cNvPr>
                  <p:cNvPicPr>
                    <a:picLocks noChangeAspect="1"/>
                  </p:cNvPicPr>
                  <p:nvPr/>
                </p:nvPicPr>
                <p:blipFill>
                  <a:blip r:embed="rId4"/>
                  <a:stretch>
                    <a:fillRect/>
                  </a:stretch>
                </p:blipFill>
                <p:spPr>
                  <a:xfrm rot="5400000">
                    <a:off x="1121228" y="698356"/>
                    <a:ext cx="1328865" cy="1349759"/>
                  </a:xfrm>
                  <a:prstGeom prst="rect">
                    <a:avLst/>
                  </a:prstGeom>
                </p:spPr>
              </p:pic>
              <p:pic>
                <p:nvPicPr>
                  <p:cNvPr id="12" name="Picture 11">
                    <a:extLst>
                      <a:ext uri="{FF2B5EF4-FFF2-40B4-BE49-F238E27FC236}">
                        <a16:creationId xmlns:a16="http://schemas.microsoft.com/office/drawing/2014/main" id="{20C69FA1-8C94-46D3-8529-096A9EF26EBF}"/>
                      </a:ext>
                    </a:extLst>
                  </p:cNvPr>
                  <p:cNvPicPr>
                    <a:picLocks noChangeAspect="1"/>
                  </p:cNvPicPr>
                  <p:nvPr/>
                </p:nvPicPr>
                <p:blipFill>
                  <a:blip r:embed="rId4"/>
                  <a:stretch>
                    <a:fillRect/>
                  </a:stretch>
                </p:blipFill>
                <p:spPr>
                  <a:xfrm rot="10800000">
                    <a:off x="1110781" y="2034976"/>
                    <a:ext cx="1328865" cy="1349759"/>
                  </a:xfrm>
                  <a:prstGeom prst="rect">
                    <a:avLst/>
                  </a:prstGeom>
                </p:spPr>
              </p:pic>
              <p:pic>
                <p:nvPicPr>
                  <p:cNvPr id="13" name="Picture 12">
                    <a:extLst>
                      <a:ext uri="{FF2B5EF4-FFF2-40B4-BE49-F238E27FC236}">
                        <a16:creationId xmlns:a16="http://schemas.microsoft.com/office/drawing/2014/main" id="{FAD46A01-6A2A-43FD-827A-F7873026455E}"/>
                      </a:ext>
                    </a:extLst>
                  </p:cNvPr>
                  <p:cNvPicPr>
                    <a:picLocks noChangeAspect="1"/>
                  </p:cNvPicPr>
                  <p:nvPr/>
                </p:nvPicPr>
                <p:blipFill>
                  <a:blip r:embed="rId4"/>
                  <a:stretch>
                    <a:fillRect/>
                  </a:stretch>
                </p:blipFill>
                <p:spPr>
                  <a:xfrm rot="16200000">
                    <a:off x="1121228" y="3374289"/>
                    <a:ext cx="1328865" cy="1349759"/>
                  </a:xfrm>
                  <a:prstGeom prst="rect">
                    <a:avLst/>
                  </a:prstGeom>
                </p:spPr>
              </p:pic>
            </p:grpSp>
            <p:pic>
              <p:nvPicPr>
                <p:cNvPr id="16" name="Picture 15">
                  <a:extLst>
                    <a:ext uri="{FF2B5EF4-FFF2-40B4-BE49-F238E27FC236}">
                      <a16:creationId xmlns:a16="http://schemas.microsoft.com/office/drawing/2014/main" id="{BCD53DEB-AD8C-4EC1-8972-89D8F89776B8}"/>
                    </a:ext>
                  </a:extLst>
                </p:cNvPr>
                <p:cNvPicPr>
                  <a:picLocks noChangeAspect="1"/>
                </p:cNvPicPr>
                <p:nvPr/>
              </p:nvPicPr>
              <p:blipFill>
                <a:blip r:embed="rId5"/>
                <a:stretch>
                  <a:fillRect/>
                </a:stretch>
              </p:blipFill>
              <p:spPr>
                <a:xfrm rot="5400000">
                  <a:off x="1805865" y="2597437"/>
                  <a:ext cx="594412" cy="609653"/>
                </a:xfrm>
                <a:prstGeom prst="rect">
                  <a:avLst/>
                </a:prstGeom>
              </p:spPr>
            </p:pic>
          </p:grpSp>
          <p:pic>
            <p:nvPicPr>
              <p:cNvPr id="18" name="Picture 17">
                <a:extLst>
                  <a:ext uri="{FF2B5EF4-FFF2-40B4-BE49-F238E27FC236}">
                    <a16:creationId xmlns:a16="http://schemas.microsoft.com/office/drawing/2014/main" id="{433EADDA-58A9-4B62-A80A-BFB71157351E}"/>
                  </a:ext>
                </a:extLst>
              </p:cNvPr>
              <p:cNvPicPr>
                <a:picLocks noChangeAspect="1"/>
              </p:cNvPicPr>
              <p:nvPr/>
            </p:nvPicPr>
            <p:blipFill>
              <a:blip r:embed="rId6"/>
              <a:stretch>
                <a:fillRect/>
              </a:stretch>
            </p:blipFill>
            <p:spPr>
              <a:xfrm>
                <a:off x="2640648" y="671434"/>
                <a:ext cx="703900" cy="786108"/>
              </a:xfrm>
              <a:prstGeom prst="rect">
                <a:avLst/>
              </a:prstGeom>
            </p:spPr>
          </p:pic>
        </p:grpSp>
        <p:pic>
          <p:nvPicPr>
            <p:cNvPr id="22" name="Picture 21">
              <a:extLst>
                <a:ext uri="{FF2B5EF4-FFF2-40B4-BE49-F238E27FC236}">
                  <a16:creationId xmlns:a16="http://schemas.microsoft.com/office/drawing/2014/main" id="{CAF9423B-24C2-49B4-8E57-644A1C10D465}"/>
                </a:ext>
              </a:extLst>
            </p:cNvPr>
            <p:cNvPicPr>
              <a:picLocks noChangeAspect="1"/>
            </p:cNvPicPr>
            <p:nvPr/>
          </p:nvPicPr>
          <p:blipFill>
            <a:blip r:embed="rId5"/>
            <a:stretch>
              <a:fillRect/>
            </a:stretch>
          </p:blipFill>
          <p:spPr>
            <a:xfrm rot="5400000">
              <a:off x="3727131" y="907752"/>
              <a:ext cx="594412" cy="609653"/>
            </a:xfrm>
            <a:prstGeom prst="rect">
              <a:avLst/>
            </a:prstGeom>
          </p:spPr>
        </p:pic>
        <p:pic>
          <p:nvPicPr>
            <p:cNvPr id="23" name="Picture 22">
              <a:extLst>
                <a:ext uri="{FF2B5EF4-FFF2-40B4-BE49-F238E27FC236}">
                  <a16:creationId xmlns:a16="http://schemas.microsoft.com/office/drawing/2014/main" id="{5CDB6FF6-197A-450A-B891-9AD8B0F28F29}"/>
                </a:ext>
              </a:extLst>
            </p:cNvPr>
            <p:cNvPicPr>
              <a:picLocks noChangeAspect="1"/>
            </p:cNvPicPr>
            <p:nvPr/>
          </p:nvPicPr>
          <p:blipFill>
            <a:blip r:embed="rId5"/>
            <a:stretch>
              <a:fillRect/>
            </a:stretch>
          </p:blipFill>
          <p:spPr>
            <a:xfrm rot="5400000">
              <a:off x="3727129" y="3492301"/>
              <a:ext cx="594412" cy="609653"/>
            </a:xfrm>
            <a:prstGeom prst="rect">
              <a:avLst/>
            </a:prstGeom>
          </p:spPr>
        </p:pic>
        <p:pic>
          <p:nvPicPr>
            <p:cNvPr id="24" name="Picture 23">
              <a:extLst>
                <a:ext uri="{FF2B5EF4-FFF2-40B4-BE49-F238E27FC236}">
                  <a16:creationId xmlns:a16="http://schemas.microsoft.com/office/drawing/2014/main" id="{B52E0EA9-5C00-4D07-A048-BF7A1B1C33C0}"/>
                </a:ext>
              </a:extLst>
            </p:cNvPr>
            <p:cNvPicPr>
              <a:picLocks noChangeAspect="1"/>
            </p:cNvPicPr>
            <p:nvPr/>
          </p:nvPicPr>
          <p:blipFill>
            <a:blip r:embed="rId5"/>
            <a:stretch>
              <a:fillRect/>
            </a:stretch>
          </p:blipFill>
          <p:spPr>
            <a:xfrm rot="5400000">
              <a:off x="3727128" y="4839668"/>
              <a:ext cx="594412" cy="609653"/>
            </a:xfrm>
            <a:prstGeom prst="rect">
              <a:avLst/>
            </a:prstGeom>
          </p:spPr>
        </p:pic>
      </p:grpSp>
    </p:spTree>
    <p:extLst>
      <p:ext uri="{BB962C8B-B14F-4D97-AF65-F5344CB8AC3E}">
        <p14:creationId xmlns:p14="http://schemas.microsoft.com/office/powerpoint/2010/main" val="147200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0783"/>
            <a:ext cx="10972800" cy="576064"/>
          </a:xfrm>
        </p:spPr>
        <p:txBody>
          <a:bodyPr/>
          <a:lstStyle/>
          <a:p>
            <a:r>
              <a:rPr lang="en-US" altLang="zh-CN" dirty="0"/>
              <a:t>How transition process</a:t>
            </a:r>
            <a:endParaRPr lang="en-US" dirty="0"/>
          </a:p>
        </p:txBody>
      </p:sp>
      <p:sp>
        <p:nvSpPr>
          <p:cNvPr id="3" name="Content Placeholder 2"/>
          <p:cNvSpPr>
            <a:spLocks noGrp="1"/>
          </p:cNvSpPr>
          <p:nvPr>
            <p:ph idx="1"/>
          </p:nvPr>
        </p:nvSpPr>
        <p:spPr>
          <a:xfrm>
            <a:off x="1246414" y="1121789"/>
            <a:ext cx="8879545" cy="4553146"/>
          </a:xfrm>
        </p:spPr>
        <p:txBody>
          <a:bodyPr>
            <a:normAutofit/>
          </a:bodyPr>
          <a:lstStyle/>
          <a:p>
            <a:r>
              <a:rPr lang="en-US" altLang="zh-CN" sz="2800" dirty="0"/>
              <a:t>1917, using the Bohr model, Einstein re-derived the blackbody radiation. </a:t>
            </a:r>
          </a:p>
          <a:p>
            <a:endParaRPr lang="en-US" altLang="zh-CN" sz="2800" dirty="0"/>
          </a:p>
          <a:p>
            <a:r>
              <a:rPr lang="en-US" altLang="zh-CN" sz="2800" dirty="0"/>
              <a:t>He found three microscopic mechanisms of atomic transitions, </a:t>
            </a:r>
          </a:p>
          <a:p>
            <a:pPr lvl="1"/>
            <a:r>
              <a:rPr lang="en-US" altLang="zh-CN" sz="2400" dirty="0"/>
              <a:t>spontaneous emission</a:t>
            </a:r>
          </a:p>
          <a:p>
            <a:pPr lvl="1"/>
            <a:r>
              <a:rPr lang="en-US" altLang="zh-CN" sz="2400" dirty="0"/>
              <a:t>stimulated absorption</a:t>
            </a:r>
          </a:p>
          <a:p>
            <a:pPr lvl="1"/>
            <a:r>
              <a:rPr lang="en-US" altLang="zh-CN" sz="2400" dirty="0"/>
              <a:t>stimulated emission</a:t>
            </a:r>
          </a:p>
          <a:p>
            <a:r>
              <a:rPr lang="en-US" altLang="zh-CN" sz="2800" dirty="0"/>
              <a:t>And the relation of their rates.</a:t>
            </a:r>
          </a:p>
        </p:txBody>
      </p:sp>
    </p:spTree>
    <p:extLst>
      <p:ext uri="{BB962C8B-B14F-4D97-AF65-F5344CB8AC3E}">
        <p14:creationId xmlns:p14="http://schemas.microsoft.com/office/powerpoint/2010/main" val="352539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7D691-B84E-4B84-82E8-C58635D9B8E7}"/>
              </a:ext>
            </a:extLst>
          </p:cNvPr>
          <p:cNvSpPr>
            <a:spLocks noGrp="1"/>
          </p:cNvSpPr>
          <p:nvPr>
            <p:ph type="title"/>
          </p:nvPr>
        </p:nvSpPr>
        <p:spPr/>
        <p:txBody>
          <a:bodyPr/>
          <a:lstStyle/>
          <a:p>
            <a:r>
              <a:rPr lang="en-US" altLang="zh-CN" dirty="0"/>
              <a:t>spontaneous emission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0D37A1-22FE-4E37-A3BC-BEB48CD228E3}"/>
                  </a:ext>
                </a:extLst>
              </p:cNvPr>
              <p:cNvSpPr>
                <a:spLocks noGrp="1"/>
              </p:cNvSpPr>
              <p:nvPr>
                <p:ph idx="1"/>
              </p:nvPr>
            </p:nvSpPr>
            <p:spPr>
              <a:xfrm>
                <a:off x="609600" y="828136"/>
                <a:ext cx="10972800" cy="5697208"/>
              </a:xfrm>
            </p:spPr>
            <p:txBody>
              <a:bodyPr>
                <a:normAutofit/>
              </a:bodyPr>
              <a:lstStyle/>
              <a:p>
                <a:pPr>
                  <a:spcBef>
                    <a:spcPts val="1200"/>
                  </a:spcBef>
                </a:pPr>
                <a:r>
                  <a:rPr lang="en-US" altLang="zh-CN" sz="2800" dirty="0">
                    <a:ea typeface="黑体" panose="02010609060101010101" pitchFamily="49" charset="-122"/>
                  </a:rPr>
                  <a:t>People found that atoms in excited states will spontaneously decay to the ground state in the absence of external perturbations, emitting light of any polarization in any directions with equal probability. This process is known as the spontaneous emission.</a:t>
                </a:r>
                <a:r>
                  <a:rPr lang="zh-CN" altLang="en-US" sz="2800" dirty="0">
                    <a:ea typeface="黑体" panose="02010609060101010101" pitchFamily="49" charset="-122"/>
                  </a:rPr>
                  <a:t>。</a:t>
                </a:r>
                <a:endParaRPr lang="en-US" altLang="zh-CN" sz="2800" dirty="0">
                  <a:ea typeface="黑体" panose="02010609060101010101" pitchFamily="49" charset="-122"/>
                </a:endParaRPr>
              </a:p>
              <a:p>
                <a:pPr>
                  <a:spcBef>
                    <a:spcPts val="1200"/>
                  </a:spcBef>
                </a:pPr>
                <a:r>
                  <a:rPr lang="en-US" altLang="zh-CN" sz="2800" dirty="0">
                    <a:ea typeface="黑体" panose="02010609060101010101" pitchFamily="49" charset="-122"/>
                  </a:rPr>
                  <a:t>The average spontaneous emission rate of an atom is a constant </a:t>
                </a:r>
                <a14:m>
                  <m:oMath xmlns:m="http://schemas.openxmlformats.org/officeDocument/2006/math">
                    <m:r>
                      <a:rPr lang="en-US" altLang="zh-CN" sz="2800" i="1" dirty="0" smtClean="0">
                        <a:latin typeface="Cambria Math" panose="02040503050406030204" pitchFamily="18" charset="0"/>
                        <a:ea typeface="黑体" panose="02010609060101010101" pitchFamily="49" charset="-122"/>
                      </a:rPr>
                      <m:t>𝐴</m:t>
                    </m:r>
                  </m:oMath>
                </a14:m>
                <a:r>
                  <a:rPr lang="en-US" altLang="zh-CN" sz="2800" dirty="0">
                    <a:ea typeface="黑体" panose="02010609060101010101" pitchFamily="49" charset="-122"/>
                  </a:rPr>
                  <a:t>, independent of its history. Thus, the probability of an atom, which is in the excited state at time zero, to remain in that state at time </a:t>
                </a:r>
                <a:r>
                  <a:rPr lang="zh-CN" altLang="en-US" sz="2800" dirty="0">
                    <a:ea typeface="黑体" panose="02010609060101010101" pitchFamily="49" charset="-122"/>
                  </a:rPr>
                  <a:t>𝑡 </a:t>
                </a:r>
                <a:r>
                  <a:rPr lang="en-US" altLang="zh-CN" sz="2800" dirty="0">
                    <a:ea typeface="黑体" panose="02010609060101010101" pitchFamily="49" charset="-122"/>
                  </a:rPr>
                  <a:t>is</a:t>
                </a:r>
                <a:endParaRPr lang="en-US" sz="2800" i="1" dirty="0">
                  <a:latin typeface="Cambria Math" panose="02040503050406030204" pitchFamily="18" charset="0"/>
                </a:endParaRPr>
              </a:p>
              <a:p>
                <a:pPr marL="0" indent="0">
                  <a:spcBef>
                    <a:spcPts val="1200"/>
                  </a:spcBef>
                  <a:buNone/>
                </a:pPr>
                <a14:m>
                  <m:oMathPara xmlns:m="http://schemas.openxmlformats.org/officeDocument/2006/math">
                    <m:oMathParaPr>
                      <m:jc m:val="centerGroup"/>
                    </m:oMathParaPr>
                    <m:oMath xmlns:m="http://schemas.openxmlformats.org/officeDocument/2006/math">
                      <m:func>
                        <m:funcPr>
                          <m:ctrlPr>
                            <a:rPr lang="en-US" sz="2800" i="1">
                              <a:latin typeface="Cambria Math" panose="02040503050406030204" pitchFamily="18" charset="0"/>
                            </a:rPr>
                          </m:ctrlPr>
                        </m:funcPr>
                        <m:fName>
                          <m:limLow>
                            <m:limLowPr>
                              <m:ctrlPr>
                                <a:rPr lang="en-US" sz="2800" i="1">
                                  <a:latin typeface="Cambria Math" panose="02040503050406030204" pitchFamily="18" charset="0"/>
                                </a:rPr>
                              </m:ctrlPr>
                            </m:limLowPr>
                            <m:e>
                              <m:r>
                                <m:rPr>
                                  <m:sty m:val="p"/>
                                </m:rPr>
                                <a:rPr lang="en-US" sz="2800">
                                  <a:latin typeface="Cambria Math" panose="02040503050406030204" pitchFamily="18" charset="0"/>
                                </a:rPr>
                                <m:t>lim</m:t>
                              </m:r>
                            </m:e>
                            <m:lim>
                              <m:r>
                                <m:rPr>
                                  <m:sty m:val="p"/>
                                </m:rPr>
                                <a:rPr lang="en-US" sz="2800">
                                  <a:latin typeface="Cambria Math" panose="02040503050406030204" pitchFamily="18" charset="0"/>
                                </a:rPr>
                                <m:t>n</m:t>
                              </m:r>
                              <m:r>
                                <a:rPr lang="en-US" sz="2800">
                                  <a:latin typeface="Cambria Math" panose="02040503050406030204" pitchFamily="18" charset="0"/>
                                </a:rPr>
                                <m:t>→∞</m:t>
                              </m:r>
                            </m:lim>
                          </m:limLow>
                        </m:fName>
                        <m:e>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a:latin typeface="Cambria Math" panose="02040503050406030204" pitchFamily="18" charset="0"/>
                                    </a:rPr>
                                    <m:t>1−</m:t>
                                  </m:r>
                                  <m:r>
                                    <a:rPr lang="en-US" sz="2800" i="1">
                                      <a:latin typeface="Cambria Math" panose="02040503050406030204" pitchFamily="18" charset="0"/>
                                    </a:rPr>
                                    <m:t>𝐴</m:t>
                                  </m:r>
                                  <m:f>
                                    <m:fPr>
                                      <m:ctrlPr>
                                        <a:rPr lang="en-US" sz="2800" i="1">
                                          <a:latin typeface="Cambria Math" panose="02040503050406030204" pitchFamily="18" charset="0"/>
                                        </a:rPr>
                                      </m:ctrlPr>
                                    </m:fPr>
                                    <m:num>
                                      <m:r>
                                        <a:rPr lang="en-US" sz="2800" i="1">
                                          <a:latin typeface="Cambria Math" panose="02040503050406030204" pitchFamily="18" charset="0"/>
                                        </a:rPr>
                                        <m:t>𝑡</m:t>
                                      </m:r>
                                    </m:num>
                                    <m:den>
                                      <m:r>
                                        <a:rPr lang="en-US" sz="2800" i="1">
                                          <a:latin typeface="Cambria Math" panose="02040503050406030204" pitchFamily="18" charset="0"/>
                                        </a:rPr>
                                        <m:t>𝑛</m:t>
                                      </m:r>
                                    </m:den>
                                  </m:f>
                                </m:e>
                              </m:d>
                            </m:e>
                            <m:sup>
                              <m:r>
                                <a:rPr lang="en-US" sz="2800" i="1">
                                  <a:latin typeface="Cambria Math" panose="02040503050406030204" pitchFamily="18" charset="0"/>
                                </a:rPr>
                                <m:t>𝑛</m:t>
                              </m:r>
                            </m:sup>
                          </m:sSup>
                        </m:e>
                      </m:func>
                      <m:r>
                        <a:rPr lang="en-US" sz="2800" b="0" i="1" smtClean="0">
                          <a:latin typeface="Cambria Math" panose="02040503050406030204" pitchFamily="18" charset="0"/>
                        </a:rPr>
                        <m:t>=</m:t>
                      </m:r>
                      <m:func>
                        <m:funcPr>
                          <m:ctrlPr>
                            <a:rPr lang="en-US" altLang="zh-CN" sz="2800" b="0" i="1" smtClean="0">
                              <a:latin typeface="Cambria Math" panose="02040503050406030204" pitchFamily="18" charset="0"/>
                            </a:rPr>
                          </m:ctrlPr>
                        </m:funcPr>
                        <m:fName>
                          <m:r>
                            <m:rPr>
                              <m:sty m:val="p"/>
                            </m:rPr>
                            <a:rPr lang="en-US" altLang="zh-CN" sz="2800" b="0" i="0" smtClean="0">
                              <a:latin typeface="Cambria Math" panose="02040503050406030204" pitchFamily="18" charset="0"/>
                            </a:rPr>
                            <m:t>exp</m:t>
                          </m:r>
                        </m:fName>
                        <m:e>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𝐴𝑡</m:t>
                          </m:r>
                          <m:r>
                            <a:rPr lang="en-US" altLang="zh-CN" sz="2800" b="0" i="1" smtClean="0">
                              <a:latin typeface="Cambria Math" panose="02040503050406030204" pitchFamily="18" charset="0"/>
                            </a:rPr>
                            <m:t>)</m:t>
                          </m:r>
                        </m:e>
                      </m:func>
                    </m:oMath>
                  </m:oMathPara>
                </a14:m>
                <a:endParaRPr lang="en-US" altLang="zh-CN" sz="2800" dirty="0">
                  <a:ea typeface="黑体" panose="02010609060101010101" pitchFamily="49" charset="-122"/>
                </a:endParaRPr>
              </a:p>
              <a:p>
                <a:pPr>
                  <a:spcBef>
                    <a:spcPts val="1200"/>
                  </a:spcBef>
                </a:pPr>
                <a:r>
                  <a:rPr lang="en-US" altLang="zh-CN" sz="2800" dirty="0">
                    <a:ea typeface="黑体" panose="02010609060101010101" pitchFamily="49" charset="-122"/>
                  </a:rPr>
                  <a:t>The (average) life time of an atom in a exited state is </a:t>
                </a:r>
                <a14:m>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𝑇</m:t>
                        </m:r>
                      </m:e>
                      <m:sub>
                        <m:r>
                          <m:rPr>
                            <m:sty m:val="p"/>
                          </m:rPr>
                          <a:rPr lang="en-US" altLang="zh-CN" sz="2800" b="0" i="0" smtClean="0">
                            <a:latin typeface="Cambria Math" panose="02040503050406030204" pitchFamily="18" charset="0"/>
                          </a:rPr>
                          <m:t>e</m:t>
                        </m:r>
                      </m:sub>
                    </m:sSub>
                    <m:r>
                      <a:rPr lang="en-US" altLang="zh-CN" sz="2800" b="0" i="0" smtClean="0">
                        <a:latin typeface="Cambria Math" panose="02040503050406030204" pitchFamily="18" charset="0"/>
                      </a:rPr>
                      <m:t>=</m:t>
                    </m:r>
                    <m:r>
                      <a:rPr lang="en-US" altLang="zh-CN" sz="2800" b="0" i="1" smtClean="0">
                        <a:latin typeface="Cambria Math" panose="02040503050406030204" pitchFamily="18" charset="0"/>
                      </a:rPr>
                      <m:t>1/</m:t>
                    </m:r>
                    <m:r>
                      <a:rPr lang="en-US" altLang="zh-CN" sz="2800" b="0" i="1" smtClean="0">
                        <a:latin typeface="Cambria Math" panose="02040503050406030204" pitchFamily="18" charset="0"/>
                      </a:rPr>
                      <m:t>𝐴</m:t>
                    </m:r>
                  </m:oMath>
                </a14:m>
                <a:endParaRPr lang="en-US" altLang="zh-CN" sz="2800" dirty="0">
                  <a:ea typeface="黑体" panose="02010609060101010101" pitchFamily="49" charset="-122"/>
                </a:endParaRPr>
              </a:p>
              <a:p>
                <a:pPr>
                  <a:spcBef>
                    <a:spcPts val="1200"/>
                  </a:spcBef>
                </a:pPr>
                <a:r>
                  <a:rPr lang="en-US" altLang="zh-CN" sz="2800" dirty="0">
                    <a:ea typeface="黑体" panose="02010609060101010101" pitchFamily="49" charset="-122"/>
                  </a:rPr>
                  <a:t>Different exited states usually have different As.</a:t>
                </a:r>
              </a:p>
              <a:p>
                <a:pPr>
                  <a:spcBef>
                    <a:spcPts val="1200"/>
                  </a:spcBef>
                </a:pPr>
                <a:endParaRPr lang="en-US" altLang="zh-CN" sz="2800" dirty="0">
                  <a:ea typeface="黑体" panose="02010609060101010101" pitchFamily="49" charset="-122"/>
                </a:endParaRPr>
              </a:p>
              <a:p>
                <a:pPr marL="0" indent="0">
                  <a:buNone/>
                </a:pPr>
                <a:endParaRPr lang="en-US" altLang="zh-CN"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E80D37A1-22FE-4E37-A3BC-BEB48CD228E3}"/>
                  </a:ext>
                </a:extLst>
              </p:cNvPr>
              <p:cNvSpPr>
                <a:spLocks noGrp="1" noRot="1" noChangeAspect="1" noMove="1" noResize="1" noEditPoints="1" noAdjustHandles="1" noChangeArrowheads="1" noChangeShapeType="1" noTextEdit="1"/>
              </p:cNvSpPr>
              <p:nvPr>
                <p:ph idx="1"/>
              </p:nvPr>
            </p:nvSpPr>
            <p:spPr>
              <a:xfrm>
                <a:off x="609600" y="828136"/>
                <a:ext cx="10972800" cy="5697208"/>
              </a:xfrm>
              <a:blipFill>
                <a:blip r:embed="rId2"/>
                <a:stretch>
                  <a:fillRect l="-1000" t="-1178" r="-11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4834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34743" y="1409824"/>
            <a:ext cx="4438095" cy="2422471"/>
          </a:xfrm>
          <a:prstGeom prst="rect">
            <a:avLst/>
          </a:prstGeom>
          <a:noFill/>
        </p:spPr>
        <p:txBody>
          <a:bodyPr wrap="square" rtlCol="0">
            <a:noAutofit/>
          </a:bodyPr>
          <a:lstStyle/>
          <a:p>
            <a:endParaRPr lang="en-US" sz="1600" b="1" dirty="0"/>
          </a:p>
        </p:txBody>
      </p:sp>
      <p:sp>
        <p:nvSpPr>
          <p:cNvPr id="2" name="Title 1"/>
          <p:cNvSpPr>
            <a:spLocks noGrp="1"/>
          </p:cNvSpPr>
          <p:nvPr>
            <p:ph type="title"/>
          </p:nvPr>
        </p:nvSpPr>
        <p:spPr>
          <a:xfrm>
            <a:off x="623392" y="149312"/>
            <a:ext cx="10801692" cy="576064"/>
          </a:xfrm>
        </p:spPr>
        <p:txBody>
          <a:bodyPr/>
          <a:lstStyle/>
          <a:p>
            <a:r>
              <a:rPr lang="en-US" altLang="zh-CN" sz="2800" dirty="0"/>
              <a:t>Einstein’s derivation of Planck’s formula</a:t>
            </a:r>
            <a:endParaRPr lang="zh-CN" altLang="en-US" sz="2800" dirty="0"/>
          </a:p>
        </p:txBody>
      </p:sp>
      <p:pic>
        <p:nvPicPr>
          <p:cNvPr id="3277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4401" y="1830372"/>
            <a:ext cx="2341322" cy="7651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8363" y="2832576"/>
            <a:ext cx="2292475" cy="8227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873780" y="1796469"/>
            <a:ext cx="2341322" cy="923330"/>
          </a:xfrm>
          <a:prstGeom prst="rect">
            <a:avLst/>
          </a:prstGeom>
          <a:noFill/>
        </p:spPr>
        <p:txBody>
          <a:bodyPr wrap="square" rtlCol="0">
            <a:spAutoFit/>
          </a:bodyPr>
          <a:lstStyle/>
          <a:p>
            <a:r>
              <a:rPr lang="en-US" altLang="zh-CN" dirty="0">
                <a:solidFill>
                  <a:srgbClr val="0070C0"/>
                </a:solidFill>
              </a:rPr>
              <a:t>Spontaneous emission</a:t>
            </a:r>
          </a:p>
          <a:p>
            <a:r>
              <a:rPr lang="en-US" altLang="zh-CN" dirty="0"/>
              <a:t>Random direction &amp; polarization</a:t>
            </a:r>
            <a:endParaRPr lang="en-US" dirty="0">
              <a:solidFill>
                <a:srgbClr val="0070C0"/>
              </a:solidFill>
            </a:endParaRPr>
          </a:p>
        </p:txBody>
      </p:sp>
      <p:sp>
        <p:nvSpPr>
          <p:cNvPr id="17" name="TextBox 16"/>
          <p:cNvSpPr txBox="1"/>
          <p:nvPr/>
        </p:nvSpPr>
        <p:spPr>
          <a:xfrm>
            <a:off x="873780" y="3029087"/>
            <a:ext cx="2292475" cy="369332"/>
          </a:xfrm>
          <a:prstGeom prst="rect">
            <a:avLst/>
          </a:prstGeom>
          <a:noFill/>
        </p:spPr>
        <p:txBody>
          <a:bodyPr wrap="square" rtlCol="0">
            <a:spAutoFit/>
          </a:bodyPr>
          <a:lstStyle/>
          <a:p>
            <a:r>
              <a:rPr lang="en-US" altLang="zh-CN" dirty="0">
                <a:solidFill>
                  <a:srgbClr val="0070C0"/>
                </a:solidFill>
              </a:rPr>
              <a:t>Stimulated absorption</a:t>
            </a:r>
            <a:endParaRPr lang="en-US" dirty="0">
              <a:solidFill>
                <a:srgbClr val="0070C0"/>
              </a:solidFill>
            </a:endParaRPr>
          </a:p>
        </p:txBody>
      </p:sp>
      <mc:AlternateContent xmlns:mc="http://schemas.openxmlformats.org/markup-compatibility/2006" xmlns:a14="http://schemas.microsoft.com/office/drawing/2010/main">
        <mc:Choice Requires="a14">
          <p:sp>
            <p:nvSpPr>
              <p:cNvPr id="25" name="TextBox 24"/>
              <p:cNvSpPr txBox="1"/>
              <p:nvPr/>
            </p:nvSpPr>
            <p:spPr>
              <a:xfrm>
                <a:off x="750876" y="737952"/>
                <a:ext cx="10929600" cy="646331"/>
              </a:xfrm>
              <a:prstGeom prst="rect">
                <a:avLst/>
              </a:prstGeom>
              <a:noFill/>
              <a:ln w="19050">
                <a:solidFill>
                  <a:schemeClr val="bg1"/>
                </a:solidFill>
              </a:ln>
            </p:spPr>
            <p:txBody>
              <a:bodyPr wrap="square" rtlCol="0">
                <a:spAutoFit/>
              </a:bodyPr>
              <a:lstStyle/>
              <a:p>
                <a:r>
                  <a:rPr lang="en-US" altLang="zh-CN" dirty="0"/>
                  <a:t>Every monochromatic radiation corresponds to two energy levels of the atoms on the cavity walls: </a:t>
                </a:r>
                <a14:m>
                  <m:oMath xmlns:m="http://schemas.openxmlformats.org/officeDocument/2006/math">
                    <m:r>
                      <a:rPr lang="en-US" altLang="zh-CN" i="1" smtClean="0">
                        <a:solidFill>
                          <a:srgbClr val="C00000"/>
                        </a:solidFill>
                        <a:latin typeface="Cambria Math"/>
                      </a:rPr>
                      <m:t>h</m:t>
                    </m:r>
                    <m:r>
                      <a:rPr lang="en-US" altLang="zh-CN" i="1" smtClean="0">
                        <a:solidFill>
                          <a:srgbClr val="C00000"/>
                        </a:solidFill>
                        <a:latin typeface="Cambria Math"/>
                      </a:rPr>
                      <m:t>𝜈</m:t>
                    </m:r>
                    <m:r>
                      <a:rPr lang="en-US" altLang="zh-CN" i="1" smtClean="0">
                        <a:solidFill>
                          <a:srgbClr val="C00000"/>
                        </a:solidFill>
                        <a:latin typeface="Cambria Math"/>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a:rPr>
                          <m:t>𝐸</m:t>
                        </m:r>
                      </m:e>
                      <m:sub>
                        <m:r>
                          <a:rPr lang="en-US" altLang="zh-CN" i="1">
                            <a:solidFill>
                              <a:srgbClr val="C00000"/>
                            </a:solidFill>
                            <a:latin typeface="Cambria Math"/>
                          </a:rPr>
                          <m:t>2</m:t>
                        </m:r>
                      </m:sub>
                    </m:sSub>
                    <m:r>
                      <a:rPr lang="en-US" altLang="zh-CN" i="1">
                        <a:solidFill>
                          <a:srgbClr val="C00000"/>
                        </a:solidFill>
                        <a:latin typeface="Cambria Math"/>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a:rPr>
                          <m:t>𝐸</m:t>
                        </m:r>
                      </m:e>
                      <m:sub>
                        <m:r>
                          <a:rPr lang="en-US" altLang="zh-CN" i="1">
                            <a:solidFill>
                              <a:srgbClr val="C00000"/>
                            </a:solidFill>
                            <a:latin typeface="Cambria Math"/>
                          </a:rPr>
                          <m:t>1</m:t>
                        </m:r>
                      </m:sub>
                    </m:sSub>
                  </m:oMath>
                </a14:m>
                <a:r>
                  <a:rPr lang="en-US" altLang="zh-CN" dirty="0"/>
                  <a:t>.</a:t>
                </a:r>
              </a:p>
              <a:p>
                <a:r>
                  <a:rPr lang="en-US" altLang="zh-CN" dirty="0"/>
                  <a:t>Suppose there are two processes involved in the transition.</a:t>
                </a:r>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50876" y="737952"/>
                <a:ext cx="10929600" cy="646331"/>
              </a:xfrm>
              <a:prstGeom prst="rect">
                <a:avLst/>
              </a:prstGeom>
              <a:blipFill>
                <a:blip r:embed="rId6"/>
                <a:stretch>
                  <a:fillRect l="-390" t="-3670" b="-11927"/>
                </a:stretch>
              </a:blipFill>
              <a:ln w="19050">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719758" y="1796469"/>
                <a:ext cx="3982309" cy="800219"/>
              </a:xfrm>
              <a:prstGeom prst="rect">
                <a:avLst/>
              </a:prstGeom>
              <a:solidFill>
                <a:schemeClr val="accent6">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b="0" i="1">
                              <a:latin typeface="Cambria Math" panose="02040503050406030204" pitchFamily="18" charset="0"/>
                            </a:rPr>
                            <m:t>𝑁</m:t>
                          </m:r>
                        </m:e>
                        <m:sub>
                          <m:r>
                            <a:rPr lang="en-US" altLang="zh-CN" b="0" i="1">
                              <a:latin typeface="Cambria Math" panose="02040503050406030204" pitchFamily="18" charset="0"/>
                            </a:rPr>
                            <m:t>21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i="1">
                          <a:latin typeface="Cambria Math" panose="02040503050406030204" pitchFamily="18" charset="0"/>
                        </a:rPr>
                        <m:t>𝑑𝑡</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𝐴</m:t>
                      </m:r>
                    </m:oMath>
                  </m:oMathPara>
                </a14:m>
                <a:endParaRPr lang="en-US" altLang="zh-CN" sz="1400" i="1"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sz="1400" b="0" i="1">
                        <a:latin typeface="Cambria Math"/>
                      </a:rPr>
                      <m:t>𝐴</m:t>
                    </m:r>
                    <m:r>
                      <a:rPr lang="en-US" altLang="zh-CN" sz="1400" b="0" i="1">
                        <a:latin typeface="Cambria Math"/>
                      </a:rPr>
                      <m:t>:</m:t>
                    </m:r>
                  </m:oMath>
                </a14:m>
                <a:r>
                  <a:rPr lang="zh-CN" altLang="en-US" sz="1400" dirty="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the rate of spontaneous emission of a single atom </a:t>
                </a:r>
              </a:p>
              <a:p>
                <a14:m>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a:rPr>
                          <m:t>𝑁</m:t>
                        </m:r>
                      </m:e>
                      <m:sub>
                        <m:r>
                          <a:rPr lang="en-US" altLang="zh-CN" sz="1400" b="0" i="1">
                            <a:latin typeface="Cambria Math"/>
                          </a:rPr>
                          <m:t>2</m:t>
                        </m:r>
                      </m:sub>
                    </m:sSub>
                    <m:r>
                      <a:rPr lang="en-US" altLang="zh-CN" sz="1400" b="0" i="1">
                        <a:latin typeface="Cambria Math"/>
                      </a:rPr>
                      <m:t>:</m:t>
                    </m:r>
                  </m:oMath>
                </a14:m>
                <a:r>
                  <a:rPr lang="zh-CN" altLang="en-US" sz="1400" dirty="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number of atoms in the upper level</a:t>
                </a: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719758" y="1796469"/>
                <a:ext cx="3982309" cy="800219"/>
              </a:xfrm>
              <a:prstGeom prst="rect">
                <a:avLst/>
              </a:prstGeom>
              <a:blipFill>
                <a:blip r:embed="rId7"/>
                <a:stretch>
                  <a:fillRect b="-6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5719758" y="2832986"/>
                <a:ext cx="5705326" cy="828432"/>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b="0" i="1">
                              <a:latin typeface="Cambria Math" panose="02040503050406030204" pitchFamily="18" charset="0"/>
                            </a:rPr>
                            <m:t>𝑁</m:t>
                          </m:r>
                        </m:e>
                        <m:sub>
                          <m:r>
                            <a:rPr lang="en-US" altLang="zh-CN" b="0" i="1">
                              <a:latin typeface="Cambria Math" panose="02040503050406030204" pitchFamily="18" charset="0"/>
                            </a:rPr>
                            <m:t>12</m:t>
                          </m:r>
                        </m:sub>
                        <m:sup/>
                      </m:sSubSup>
                      <m:r>
                        <a:rPr lang="en-US" altLang="zh-CN" i="1">
                          <a:latin typeface="Cambria Math" panose="02040503050406030204" pitchFamily="18" charset="0"/>
                        </a:rPr>
                        <m:t>/</m:t>
                      </m:r>
                      <m:r>
                        <a:rPr lang="en-US" altLang="zh-CN" i="1">
                          <a:latin typeface="Cambria Math" panose="02040503050406030204" pitchFamily="18" charset="0"/>
                        </a:rPr>
                        <m:t>𝑑𝑡</m:t>
                      </m:r>
                      <m:r>
                        <a:rPr lang="en-US" altLang="zh-CN" b="0"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𝑢</m:t>
                      </m:r>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𝜈</m:t>
                          </m:r>
                        </m:e>
                      </m:d>
                    </m:oMath>
                  </m:oMathPara>
                </a14:m>
                <a:endParaRPr lang="en-US" altLang="zh-CN" i="1"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a:latin typeface="Cambria Math"/>
                          </a:rPr>
                          <m:t>𝐵</m:t>
                        </m:r>
                      </m:e>
                      <m:sub>
                        <m:r>
                          <a:rPr lang="en-US" altLang="zh-CN" sz="1400" b="0" i="1">
                            <a:latin typeface="Cambria Math"/>
                          </a:rPr>
                          <m:t>12</m:t>
                        </m:r>
                      </m:sub>
                    </m:sSub>
                    <m:r>
                      <a:rPr lang="en-US" altLang="zh-CN" sz="1400" b="0" i="1">
                        <a:latin typeface="Cambria Math"/>
                      </a:rPr>
                      <m:t>𝑢</m:t>
                    </m:r>
                    <m:d>
                      <m:dPr>
                        <m:ctrlPr>
                          <a:rPr lang="en-US" altLang="zh-CN" sz="1400" i="1">
                            <a:latin typeface="Cambria Math" panose="02040503050406030204" pitchFamily="18" charset="0"/>
                          </a:rPr>
                        </m:ctrlPr>
                      </m:dPr>
                      <m:e>
                        <m:r>
                          <a:rPr lang="en-US" altLang="zh-CN" sz="1400" b="0" i="1">
                            <a:latin typeface="Cambria Math"/>
                          </a:rPr>
                          <m:t>𝜈</m:t>
                        </m:r>
                      </m:e>
                    </m:d>
                    <m:r>
                      <a:rPr lang="en-US" altLang="zh-CN" sz="1400" b="0" i="1">
                        <a:latin typeface="Cambria Math"/>
                      </a:rPr>
                      <m:t>:</m:t>
                    </m:r>
                  </m:oMath>
                </a14:m>
                <a:r>
                  <a:rPr lang="zh-CN" altLang="en-US" sz="1400" dirty="0">
                    <a:latin typeface="Times New Roman" panose="02020603050405020304" pitchFamily="18" charset="0"/>
                    <a:cs typeface="Times New Roman" panose="02020603050405020304" pitchFamily="18" charset="0"/>
                  </a:rPr>
                  <a:t> </a:t>
                </a:r>
                <a:r>
                  <a:rPr lang="en-US" altLang="zh-CN" sz="1400" dirty="0">
                    <a:latin typeface="Times New Roman" panose="02020603050405020304" pitchFamily="18" charset="0"/>
                    <a:cs typeface="Times New Roman" panose="02020603050405020304" pitchFamily="18" charset="0"/>
                  </a:rPr>
                  <a:t>the rate of stimulated absorption of a single atom in the lower level</a:t>
                </a:r>
              </a:p>
              <a:p>
                <a14:m>
                  <m:oMath xmlns:m="http://schemas.openxmlformats.org/officeDocument/2006/math">
                    <m:sSub>
                      <m:sSubPr>
                        <m:ctrlPr>
                          <a:rPr lang="en-US" altLang="zh-CN" sz="1400" i="1">
                            <a:latin typeface="Cambria Math" panose="02040503050406030204" pitchFamily="18" charset="0"/>
                          </a:rPr>
                        </m:ctrlPr>
                      </m:sSubPr>
                      <m:e>
                        <m:r>
                          <a:rPr lang="en-US" altLang="zh-CN" sz="1400" b="0" i="1">
                            <a:latin typeface="Cambria Math"/>
                          </a:rPr>
                          <m:t>𝑁</m:t>
                        </m:r>
                      </m:e>
                      <m:sub>
                        <m:r>
                          <a:rPr lang="en-US" altLang="zh-CN" sz="1400" b="0" i="1">
                            <a:latin typeface="Cambria Math"/>
                          </a:rPr>
                          <m:t>1</m:t>
                        </m:r>
                      </m:sub>
                    </m:sSub>
                  </m:oMath>
                </a14:m>
                <a:r>
                  <a:rPr lang="en-US" altLang="zh-CN" sz="1400" dirty="0">
                    <a:latin typeface="Times New Roman" panose="02020603050405020304" pitchFamily="18" charset="0"/>
                    <a:cs typeface="Times New Roman" panose="02020603050405020304" pitchFamily="18" charset="0"/>
                  </a:rPr>
                  <a:t>: number of atoms in the lower level</a:t>
                </a:r>
                <a:endParaRPr lang="zh-CN" altLang="en-US" sz="1400" dirty="0">
                  <a:latin typeface="Times New Roman" panose="02020603050405020304" pitchFamily="18" charset="0"/>
                  <a:cs typeface="Times New Roman" panose="02020603050405020304" pitchFamily="18" charset="0"/>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5719758" y="2832986"/>
                <a:ext cx="5705326" cy="828432"/>
              </a:xfrm>
              <a:prstGeom prst="rect">
                <a:avLst/>
              </a:prstGeom>
              <a:blipFill>
                <a:blip r:embed="rId8"/>
                <a:stretch>
                  <a:fillRect b="-6618"/>
                </a:stretch>
              </a:blipFill>
            </p:spPr>
            <p:txBody>
              <a:bodyPr/>
              <a:lstStyle/>
              <a:p>
                <a:r>
                  <a:rPr lang="zh-CN" altLang="en-US">
                    <a:noFill/>
                  </a:rPr>
                  <a:t> </a:t>
                </a:r>
              </a:p>
            </p:txBody>
          </p:sp>
        </mc:Fallback>
      </mc:AlternateContent>
      <p:pic>
        <p:nvPicPr>
          <p:cNvPr id="34"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57746" y="4238215"/>
            <a:ext cx="3125407" cy="752103"/>
          </a:xfrm>
          <a:prstGeom prst="rect">
            <a:avLst/>
          </a:prstGeom>
          <a:noFill/>
          <a:ln w="25400">
            <a:solidFill>
              <a:srgbClr val="C00000"/>
            </a:solidFill>
            <a:miter lim="800000"/>
            <a:headEnd/>
            <a:tailEnd/>
          </a:ln>
          <a:extLst>
            <a:ext uri="{909E8E84-426E-40DD-AFC4-6F175D3DCCD1}">
              <a14:hiddenFill xmlns:a14="http://schemas.microsoft.com/office/drawing/2010/main">
                <a:solidFill>
                  <a:schemeClr val="accent1"/>
                </a:solidFill>
              </a14:hiddenFill>
            </a:ext>
          </a:extLst>
        </p:spPr>
      </p:pic>
      <p:sp>
        <p:nvSpPr>
          <p:cNvPr id="12" name="TextBox 11"/>
          <p:cNvSpPr txBox="1"/>
          <p:nvPr/>
        </p:nvSpPr>
        <p:spPr>
          <a:xfrm>
            <a:off x="750876" y="5448176"/>
            <a:ext cx="10567734" cy="923330"/>
          </a:xfrm>
          <a:prstGeom prst="rect">
            <a:avLst/>
          </a:prstGeom>
          <a:noFill/>
        </p:spPr>
        <p:txBody>
          <a:bodyPr wrap="square" rtlCol="0">
            <a:spAutoFit/>
          </a:bodyPr>
          <a:lstStyle/>
          <a:p>
            <a:r>
              <a:rPr lang="en-US" altLang="zh-CN" dirty="0"/>
              <a:t>Since the A, B coefficients are solely related to the microscopic mechanisms of the atom and are independent of macroscopic statistical quantities such as temperature, this result cannot be manipulated to agree with the Planck formula.</a:t>
            </a:r>
            <a:endParaRPr lang="zh-CN" altLang="en-US" dirty="0"/>
          </a:p>
        </p:txBody>
      </p:sp>
      <p:sp>
        <p:nvSpPr>
          <p:cNvPr id="26" name="TextBox 25">
            <a:extLst>
              <a:ext uri="{FF2B5EF4-FFF2-40B4-BE49-F238E27FC236}">
                <a16:creationId xmlns:a16="http://schemas.microsoft.com/office/drawing/2014/main" id="{350563C2-28DC-4902-97AB-3555AB48E4EE}"/>
              </a:ext>
            </a:extLst>
          </p:cNvPr>
          <p:cNvSpPr txBox="1"/>
          <p:nvPr/>
        </p:nvSpPr>
        <p:spPr>
          <a:xfrm>
            <a:off x="6851717" y="1422455"/>
            <a:ext cx="1886029" cy="396252"/>
          </a:xfrm>
          <a:prstGeom prst="rect">
            <a:avLst/>
          </a:prstGeom>
          <a:noFill/>
        </p:spPr>
        <p:txBody>
          <a:bodyPr wrap="square" rtlCol="0">
            <a:noAutofit/>
          </a:bodyPr>
          <a:lstStyle/>
          <a:p>
            <a:r>
              <a:rPr lang="en-US" altLang="zh-CN" dirty="0">
                <a:latin typeface="Times New Roman" panose="02020603050405020304" pitchFamily="18" charset="0"/>
                <a:cs typeface="Times New Roman" panose="02020603050405020304" pitchFamily="18" charset="0"/>
              </a:rPr>
              <a:t>Rate of transitions</a:t>
            </a:r>
            <a:endParaRPr lang="en-US"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7867D69D-3070-470D-B4BC-F7A3DD7565E1}"/>
              </a:ext>
            </a:extLst>
          </p:cNvPr>
          <p:cNvGrpSpPr/>
          <p:nvPr/>
        </p:nvGrpSpPr>
        <p:grpSpPr>
          <a:xfrm>
            <a:off x="691834" y="3935643"/>
            <a:ext cx="7272654" cy="1386760"/>
            <a:chOff x="691834" y="3935643"/>
            <a:chExt cx="7272654" cy="1386760"/>
          </a:xfrm>
        </p:grpSpPr>
        <p:grpSp>
          <p:nvGrpSpPr>
            <p:cNvPr id="8" name="Group 7">
              <a:extLst>
                <a:ext uri="{FF2B5EF4-FFF2-40B4-BE49-F238E27FC236}">
                  <a16:creationId xmlns:a16="http://schemas.microsoft.com/office/drawing/2014/main" id="{5A4F4277-710B-45C0-B30F-CE693059ADDA}"/>
                </a:ext>
              </a:extLst>
            </p:cNvPr>
            <p:cNvGrpSpPr/>
            <p:nvPr/>
          </p:nvGrpSpPr>
          <p:grpSpPr>
            <a:xfrm>
              <a:off x="691834" y="3950395"/>
              <a:ext cx="7272654" cy="1372008"/>
              <a:chOff x="1685434" y="3950395"/>
              <a:chExt cx="7272654" cy="1372008"/>
            </a:xfrm>
          </p:grpSpPr>
          <p:sp>
            <p:nvSpPr>
              <p:cNvPr id="11" name="Right Brace 10"/>
              <p:cNvSpPr/>
              <p:nvPr/>
            </p:nvSpPr>
            <p:spPr>
              <a:xfrm>
                <a:off x="6681410" y="4245120"/>
                <a:ext cx="266868" cy="712922"/>
              </a:xfrm>
              <a:prstGeom prst="rightBrace">
                <a:avLst/>
              </a:prstGeom>
              <a:ln w="19050"/>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1310362963"/>
                  </p:ext>
                </p:extLst>
              </p:nvPr>
            </p:nvGraphicFramePr>
            <p:xfrm>
              <a:off x="2990201" y="3950395"/>
              <a:ext cx="2779712" cy="657225"/>
            </p:xfrm>
            <a:graphic>
              <a:graphicData uri="http://schemas.openxmlformats.org/presentationml/2006/ole">
                <mc:AlternateContent xmlns:mc="http://schemas.openxmlformats.org/markup-compatibility/2006">
                  <mc:Choice xmlns:v="urn:schemas-microsoft-com:vml" Requires="v">
                    <p:oleObj spid="_x0000_s12525" name="Equation" r:id="rId10" imgW="1828800" imgH="431640" progId="Equation.DSMT4">
                      <p:embed/>
                    </p:oleObj>
                  </mc:Choice>
                  <mc:Fallback>
                    <p:oleObj name="Equation" r:id="rId10" imgW="1828800" imgH="431640" progId="Equation.DSMT4">
                      <p:embed/>
                      <p:pic>
                        <p:nvPicPr>
                          <p:cNvPr id="7" name="Object 6"/>
                          <p:cNvPicPr/>
                          <p:nvPr/>
                        </p:nvPicPr>
                        <p:blipFill>
                          <a:blip r:embed="rId11"/>
                          <a:stretch>
                            <a:fillRect/>
                          </a:stretch>
                        </p:blipFill>
                        <p:spPr>
                          <a:xfrm>
                            <a:off x="2990201" y="3950395"/>
                            <a:ext cx="2779712" cy="657225"/>
                          </a:xfrm>
                          <a:prstGeom prst="rect">
                            <a:avLst/>
                          </a:prstGeom>
                          <a:noFill/>
                          <a:ln>
                            <a:noFill/>
                          </a:ln>
                        </p:spPr>
                      </p:pic>
                    </p:oleObj>
                  </mc:Fallback>
                </mc:AlternateContent>
              </a:graphicData>
            </a:graphic>
          </p:graphicFrame>
          <p:graphicFrame>
            <p:nvGraphicFramePr>
              <p:cNvPr id="32" name="Object 31"/>
              <p:cNvGraphicFramePr>
                <a:graphicFrameLocks noChangeAspect="1"/>
              </p:cNvGraphicFramePr>
              <p:nvPr>
                <p:extLst>
                  <p:ext uri="{D42A27DB-BD31-4B8C-83A1-F6EECF244321}">
                    <p14:modId xmlns:p14="http://schemas.microsoft.com/office/powerpoint/2010/main" val="2317008256"/>
                  </p:ext>
                </p:extLst>
              </p:nvPr>
            </p:nvGraphicFramePr>
            <p:xfrm>
              <a:off x="7243588" y="4233863"/>
              <a:ext cx="1714500" cy="760412"/>
            </p:xfrm>
            <a:graphic>
              <a:graphicData uri="http://schemas.openxmlformats.org/presentationml/2006/ole">
                <mc:AlternateContent xmlns:mc="http://schemas.openxmlformats.org/markup-compatibility/2006">
                  <mc:Choice xmlns:v="urn:schemas-microsoft-com:vml" Requires="v">
                    <p:oleObj spid="_x0000_s12526" name="Equation" r:id="rId12" imgW="977760" imgH="431640" progId="Equation.DSMT4">
                      <p:embed/>
                    </p:oleObj>
                  </mc:Choice>
                  <mc:Fallback>
                    <p:oleObj name="Equation" r:id="rId12" imgW="977760" imgH="431640" progId="Equation.DSMT4">
                      <p:embed/>
                      <p:pic>
                        <p:nvPicPr>
                          <p:cNvPr id="30" name="Object 29"/>
                          <p:cNvPicPr>
                            <a:picLocks noChangeAspect="1" noChangeArrowheads="1"/>
                          </p:cNvPicPr>
                          <p:nvPr/>
                        </p:nvPicPr>
                        <p:blipFill>
                          <a:blip r:embed="rId13"/>
                          <a:srcRect/>
                          <a:stretch>
                            <a:fillRect/>
                          </a:stretch>
                        </p:blipFill>
                        <p:spPr bwMode="auto">
                          <a:xfrm>
                            <a:off x="7243588" y="4233863"/>
                            <a:ext cx="1714500" cy="760412"/>
                          </a:xfrm>
                          <a:prstGeom prst="rect">
                            <a:avLst/>
                          </a:prstGeom>
                          <a:solidFill>
                            <a:schemeClr val="bg1"/>
                          </a:solidFill>
                          <a:ln w="25400">
                            <a:solidFill>
                              <a:srgbClr val="C00000"/>
                            </a:solidFill>
                            <a:miter lim="800000"/>
                            <a:headEnd/>
                            <a:tailEnd/>
                          </a:ln>
                        </p:spPr>
                      </p:pic>
                    </p:oleObj>
                  </mc:Fallback>
                </mc:AlternateContent>
              </a:graphicData>
            </a:graphic>
          </p:graphicFrame>
          <p:grpSp>
            <p:nvGrpSpPr>
              <p:cNvPr id="14" name="Group 13"/>
              <p:cNvGrpSpPr/>
              <p:nvPr/>
            </p:nvGrpSpPr>
            <p:grpSpPr>
              <a:xfrm>
                <a:off x="1685434" y="4616502"/>
                <a:ext cx="4964896" cy="705901"/>
                <a:chOff x="1746246" y="4643182"/>
                <a:chExt cx="4964896" cy="705901"/>
              </a:xfrm>
            </p:grpSpPr>
            <p:sp>
              <p:nvSpPr>
                <p:cNvPr id="6" name="TextBox 5"/>
                <p:cNvSpPr txBox="1"/>
                <p:nvPr/>
              </p:nvSpPr>
              <p:spPr>
                <a:xfrm>
                  <a:off x="1746246" y="4800056"/>
                  <a:ext cx="2473795" cy="369332"/>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equilibrium distribution </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5" name="Object 34"/>
                <p:cNvGraphicFramePr>
                  <a:graphicFrameLocks noChangeAspect="1"/>
                </p:cNvGraphicFramePr>
                <p:nvPr>
                  <p:extLst>
                    <p:ext uri="{D42A27DB-BD31-4B8C-83A1-F6EECF244321}">
                      <p14:modId xmlns:p14="http://schemas.microsoft.com/office/powerpoint/2010/main" val="1442592975"/>
                    </p:ext>
                  </p:extLst>
                </p:nvPr>
              </p:nvGraphicFramePr>
              <p:xfrm>
                <a:off x="4492597" y="4643182"/>
                <a:ext cx="2218545" cy="705901"/>
              </p:xfrm>
              <a:graphic>
                <a:graphicData uri="http://schemas.openxmlformats.org/presentationml/2006/ole">
                  <mc:AlternateContent xmlns:mc="http://schemas.openxmlformats.org/markup-compatibility/2006">
                    <mc:Choice xmlns:v="urn:schemas-microsoft-com:vml" Requires="v">
                      <p:oleObj spid="_x0000_s12527" name="Equation" r:id="rId14" imgW="1473120" imgH="469800" progId="Equation.DSMT4">
                        <p:embed/>
                      </p:oleObj>
                    </mc:Choice>
                    <mc:Fallback>
                      <p:oleObj name="Equation" r:id="rId14" imgW="1473120" imgH="469800" progId="Equation.DSMT4">
                        <p:embed/>
                        <p:pic>
                          <p:nvPicPr>
                            <p:cNvPr id="12" name="Object 11"/>
                            <p:cNvPicPr/>
                            <p:nvPr/>
                          </p:nvPicPr>
                          <p:blipFill>
                            <a:blip r:embed="rId15"/>
                            <a:stretch>
                              <a:fillRect/>
                            </a:stretch>
                          </p:blipFill>
                          <p:spPr>
                            <a:xfrm>
                              <a:off x="4492597" y="4643182"/>
                              <a:ext cx="2218545" cy="705901"/>
                            </a:xfrm>
                            <a:prstGeom prst="rect">
                              <a:avLst/>
                            </a:prstGeom>
                          </p:spPr>
                        </p:pic>
                      </p:oleObj>
                    </mc:Fallback>
                  </mc:AlternateContent>
                </a:graphicData>
              </a:graphic>
            </p:graphicFrame>
          </p:grpSp>
        </p:grpSp>
        <p:sp>
          <p:nvSpPr>
            <p:cNvPr id="29" name="TextBox 28">
              <a:extLst>
                <a:ext uri="{FF2B5EF4-FFF2-40B4-BE49-F238E27FC236}">
                  <a16:creationId xmlns:a16="http://schemas.microsoft.com/office/drawing/2014/main" id="{370D163C-5F3C-4591-A236-294ADECB56AC}"/>
                </a:ext>
              </a:extLst>
            </p:cNvPr>
            <p:cNvSpPr txBox="1"/>
            <p:nvPr/>
          </p:nvSpPr>
          <p:spPr>
            <a:xfrm>
              <a:off x="691834" y="3935643"/>
              <a:ext cx="1304767" cy="646331"/>
            </a:xfrm>
            <a:prstGeom prst="rect">
              <a:avLst/>
            </a:prstGeom>
            <a:noFill/>
          </p:spPr>
          <p:txBody>
            <a:bodyPr wrap="square">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Equilibrium</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condition</a:t>
              </a:r>
              <a:endParaRPr lang="zh-CN" altLang="en-US" dirty="0"/>
            </a:p>
          </p:txBody>
        </p:sp>
      </p:grpSp>
    </p:spTree>
    <p:extLst>
      <p:ext uri="{BB962C8B-B14F-4D97-AF65-F5344CB8AC3E}">
        <p14:creationId xmlns:p14="http://schemas.microsoft.com/office/powerpoint/2010/main" val="90331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777"/>
                                        </p:tgtEl>
                                        <p:attrNameLst>
                                          <p:attrName>style.visibility</p:attrName>
                                        </p:attrNameLst>
                                      </p:cBhvr>
                                      <p:to>
                                        <p:strVal val="visible"/>
                                      </p:to>
                                    </p:set>
                                    <p:animEffect transition="in" filter="fade">
                                      <p:cBhvr>
                                        <p:cTn id="17" dur="500"/>
                                        <p:tgtEl>
                                          <p:spTgt spid="3277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778"/>
                                        </p:tgtEl>
                                        <p:attrNameLst>
                                          <p:attrName>style.visibility</p:attrName>
                                        </p:attrNameLst>
                                      </p:cBhvr>
                                      <p:to>
                                        <p:strVal val="visible"/>
                                      </p:to>
                                    </p:set>
                                    <p:animEffect transition="in" filter="fade">
                                      <p:cBhvr>
                                        <p:cTn id="27" dur="500"/>
                                        <p:tgtEl>
                                          <p:spTgt spid="3277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nodePh="1">
                                  <p:stCondLst>
                                    <p:cond delay="0"/>
                                  </p:stCondLst>
                                  <p:endCondLst>
                                    <p:cond evt="begin" delay="0">
                                      <p:tn val="35"/>
                                    </p:cond>
                                  </p:end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fade">
                                      <p:cBhvr>
                                        <p:cTn id="57" dur="500"/>
                                        <p:tgtEl>
                                          <p:spTgt spid="3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17" grpId="0"/>
      <p:bldP spid="25" grpId="0" animBg="1"/>
      <p:bldP spid="10" grpId="0" animBg="1"/>
      <p:bldP spid="27" grpId="0" animBg="1"/>
      <p:bldP spid="12"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9897" y="99979"/>
            <a:ext cx="10972800" cy="576064"/>
          </a:xfrm>
        </p:spPr>
        <p:txBody>
          <a:bodyPr/>
          <a:lstStyle/>
          <a:p>
            <a:r>
              <a:rPr lang="en-US" altLang="zh-CN" sz="2800" dirty="0"/>
              <a:t>The third mechanism</a:t>
            </a:r>
            <a:endParaRPr lang="zh-CN" altLang="en-US" sz="2800" dirty="0"/>
          </a:p>
        </p:txBody>
      </p:sp>
      <p:grpSp>
        <p:nvGrpSpPr>
          <p:cNvPr id="15" name="Group 14"/>
          <p:cNvGrpSpPr/>
          <p:nvPr/>
        </p:nvGrpSpPr>
        <p:grpSpPr>
          <a:xfrm>
            <a:off x="623392" y="3492803"/>
            <a:ext cx="5450834" cy="1103597"/>
            <a:chOff x="623392" y="3608003"/>
            <a:chExt cx="5450834" cy="1103597"/>
          </a:xfrm>
        </p:grpSpPr>
        <p:pic>
          <p:nvPicPr>
            <p:cNvPr id="3277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830" y="3608003"/>
              <a:ext cx="3025396" cy="635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p:cNvSpPr txBox="1"/>
            <p:nvPr/>
          </p:nvSpPr>
          <p:spPr>
            <a:xfrm>
              <a:off x="957288" y="3624766"/>
              <a:ext cx="2257592" cy="369332"/>
            </a:xfrm>
            <a:prstGeom prst="rect">
              <a:avLst/>
            </a:prstGeom>
            <a:noFill/>
          </p:spPr>
          <p:txBody>
            <a:bodyPr wrap="square" rtlCol="0">
              <a:spAutoFit/>
            </a:bodyPr>
            <a:lstStyle/>
            <a:p>
              <a:r>
                <a:rPr lang="en-US" altLang="zh-CN" dirty="0">
                  <a:solidFill>
                    <a:srgbClr val="C00000"/>
                  </a:solidFill>
                  <a:latin typeface="Times New Roman" panose="02020603050405020304" pitchFamily="18" charset="0"/>
                  <a:cs typeface="Times New Roman" panose="02020603050405020304" pitchFamily="18" charset="0"/>
                </a:rPr>
                <a:t>Stimulated emission</a:t>
              </a:r>
              <a:endParaRPr lang="en-US" dirty="0">
                <a:solidFill>
                  <a:srgbClr val="C00000"/>
                </a:solidFill>
                <a:latin typeface="Times New Roman" panose="02020603050405020304" pitchFamily="18" charset="0"/>
                <a:cs typeface="Times New Roman" panose="02020603050405020304" pitchFamily="18" charset="0"/>
              </a:endParaRPr>
            </a:p>
          </p:txBody>
        </p:sp>
        <p:sp>
          <p:nvSpPr>
            <p:cNvPr id="9" name="Rectangle 8"/>
            <p:cNvSpPr/>
            <p:nvPr/>
          </p:nvSpPr>
          <p:spPr>
            <a:xfrm>
              <a:off x="623392" y="3972936"/>
              <a:ext cx="3604837" cy="738664"/>
            </a:xfrm>
            <a:prstGeom prst="rect">
              <a:avLst/>
            </a:prstGeom>
          </p:spPr>
          <p:txBody>
            <a:bodyPr wrap="square">
              <a:spAutoFit/>
            </a:bodyPr>
            <a:lstStyle/>
            <a:p>
              <a:r>
                <a:rPr lang="en-US" altLang="zh-CN" sz="1400" dirty="0">
                  <a:solidFill>
                    <a:srgbClr val="C00000"/>
                  </a:solidFill>
                  <a:latin typeface="Times New Roman" panose="02020603050405020304" pitchFamily="18" charset="0"/>
                  <a:cs typeface="Times New Roman" panose="02020603050405020304" pitchFamily="18" charset="0"/>
                </a:rPr>
                <a:t>An incident photon stimulates an atom in the exited state to emit a</a:t>
              </a:r>
              <a:r>
                <a:rPr lang="zh-CN" altLang="en-US" sz="1400" dirty="0">
                  <a:solidFill>
                    <a:srgbClr val="C00000"/>
                  </a:solidFill>
                  <a:latin typeface="Times New Roman" panose="02020603050405020304" pitchFamily="18" charset="0"/>
                  <a:cs typeface="Times New Roman" panose="02020603050405020304" pitchFamily="18" charset="0"/>
                </a:rPr>
                <a:t> </a:t>
              </a:r>
              <a:r>
                <a:rPr lang="en-US" altLang="zh-CN" sz="1400" dirty="0">
                  <a:solidFill>
                    <a:srgbClr val="C00000"/>
                  </a:solidFill>
                  <a:latin typeface="Times New Roman" panose="02020603050405020304" pitchFamily="18" charset="0"/>
                  <a:cs typeface="Times New Roman" panose="02020603050405020304" pitchFamily="18" charset="0"/>
                </a:rPr>
                <a:t>photon</a:t>
              </a:r>
              <a:r>
                <a:rPr lang="zh-CN" altLang="en-US" sz="1400" dirty="0">
                  <a:solidFill>
                    <a:srgbClr val="C00000"/>
                  </a:solidFill>
                  <a:latin typeface="Times New Roman" panose="02020603050405020304" pitchFamily="18" charset="0"/>
                  <a:cs typeface="Times New Roman" panose="02020603050405020304" pitchFamily="18" charset="0"/>
                </a:rPr>
                <a:t> </a:t>
              </a:r>
              <a:r>
                <a:rPr lang="en-US" altLang="zh-CN" sz="1400" dirty="0">
                  <a:solidFill>
                    <a:srgbClr val="C00000"/>
                  </a:solidFill>
                  <a:latin typeface="Times New Roman" panose="02020603050405020304" pitchFamily="18" charset="0"/>
                  <a:cs typeface="Times New Roman" panose="02020603050405020304" pitchFamily="18" charset="0"/>
                </a:rPr>
                <a:t>identical (direction,</a:t>
              </a:r>
              <a:r>
                <a:rPr lang="zh-CN" altLang="en-US" sz="1400" dirty="0">
                  <a:solidFill>
                    <a:srgbClr val="C00000"/>
                  </a:solidFill>
                  <a:latin typeface="Times New Roman" panose="02020603050405020304" pitchFamily="18" charset="0"/>
                  <a:cs typeface="Times New Roman" panose="02020603050405020304" pitchFamily="18" charset="0"/>
                </a:rPr>
                <a:t> </a:t>
              </a:r>
              <a:r>
                <a:rPr lang="en-US" altLang="zh-CN" sz="1400" dirty="0">
                  <a:solidFill>
                    <a:srgbClr val="C00000"/>
                  </a:solidFill>
                  <a:latin typeface="Times New Roman" panose="02020603050405020304" pitchFamily="18" charset="0"/>
                  <a:cs typeface="Times New Roman" panose="02020603050405020304" pitchFamily="18" charset="0"/>
                </a:rPr>
                <a:t>frequency,</a:t>
              </a:r>
              <a:r>
                <a:rPr lang="zh-CN" altLang="en-US" sz="1400" dirty="0">
                  <a:solidFill>
                    <a:srgbClr val="C00000"/>
                  </a:solidFill>
                  <a:latin typeface="Times New Roman" panose="02020603050405020304" pitchFamily="18" charset="0"/>
                  <a:cs typeface="Times New Roman" panose="02020603050405020304" pitchFamily="18" charset="0"/>
                </a:rPr>
                <a:t> </a:t>
              </a:r>
              <a:r>
                <a:rPr lang="en-US" altLang="zh-CN" sz="1400" dirty="0">
                  <a:solidFill>
                    <a:srgbClr val="C00000"/>
                  </a:solidFill>
                  <a:latin typeface="Times New Roman" panose="02020603050405020304" pitchFamily="18" charset="0"/>
                  <a:cs typeface="Times New Roman" panose="02020603050405020304" pitchFamily="18" charset="0"/>
                </a:rPr>
                <a:t>phase) to itself</a:t>
              </a:r>
              <a:endParaRPr lang="en-US" sz="1400" dirty="0">
                <a:solidFill>
                  <a:srgbClr val="C00000"/>
                </a:solidFill>
                <a:latin typeface="Times New Roman" panose="02020603050405020304" pitchFamily="18" charset="0"/>
                <a:cs typeface="Times New Roman" panose="02020603050405020304" pitchFamily="18" charset="0"/>
              </a:endParaRPr>
            </a:p>
          </p:txBody>
        </p:sp>
      </p:grpSp>
      <p:sp>
        <p:nvSpPr>
          <p:cNvPr id="25" name="TextBox 24"/>
          <p:cNvSpPr txBox="1"/>
          <p:nvPr/>
        </p:nvSpPr>
        <p:spPr>
          <a:xfrm>
            <a:off x="1595698" y="745926"/>
            <a:ext cx="8229600" cy="369332"/>
          </a:xfrm>
          <a:prstGeom prst="rect">
            <a:avLst/>
          </a:prstGeom>
          <a:noFill/>
          <a:ln w="19050">
            <a:solidFill>
              <a:schemeClr val="accent1"/>
            </a:solidFill>
          </a:ln>
        </p:spPr>
        <p:txBody>
          <a:bodyPr wrap="square" rtlCol="0">
            <a:spAutoFit/>
          </a:bodyPr>
          <a:lstStyle/>
          <a:p>
            <a:r>
              <a:rPr lang="en-US" altLang="zh-CN" dirty="0"/>
              <a:t>Einstein hypothesized the third mechanism,</a:t>
            </a:r>
            <a:r>
              <a:rPr lang="zh-CN" altLang="en-US" dirty="0"/>
              <a:t> </a:t>
            </a:r>
            <a:r>
              <a:rPr lang="en-US" altLang="zh-CN" dirty="0"/>
              <a:t>Stimulated emission</a:t>
            </a:r>
            <a:endParaRPr lang="en-US" dirty="0"/>
          </a:p>
        </p:txBody>
      </p:sp>
      <mc:AlternateContent xmlns:mc="http://schemas.openxmlformats.org/markup-compatibility/2006" xmlns:a14="http://schemas.microsoft.com/office/drawing/2010/main">
        <mc:Choice Requires="a14">
          <p:sp>
            <p:nvSpPr>
              <p:cNvPr id="26" name="TextBox 25"/>
              <p:cNvSpPr txBox="1"/>
              <p:nvPr/>
            </p:nvSpPr>
            <p:spPr>
              <a:xfrm>
                <a:off x="6229851" y="3549488"/>
                <a:ext cx="4397349" cy="792333"/>
              </a:xfrm>
              <a:prstGeom prst="rect">
                <a:avLst/>
              </a:prstGeom>
              <a:solidFill>
                <a:schemeClr val="accent6">
                  <a:lumMod val="20000"/>
                  <a:lumOff val="80000"/>
                </a:schemeClr>
              </a:solidFill>
            </p:spPr>
            <p:txBody>
              <a:bodyPr wrap="square" rtlCol="0">
                <a:spAutoFit/>
              </a:bodyPr>
              <a:lstStyle/>
              <a:p>
                <a:pPr>
                  <a:lnSpc>
                    <a:spcPct val="150000"/>
                  </a:lnSpc>
                </a:pPr>
                <a:r>
                  <a:rPr lang="en-US" altLang="zh-CN" b="0"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b="0" i="1" smtClean="0">
                        <a:solidFill>
                          <a:srgbClr val="C00000"/>
                        </a:solidFill>
                        <a:latin typeface="Cambria Math" panose="02040503050406030204" pitchFamily="18" charset="0"/>
                      </a:rPr>
                      <m:t>𝑑</m:t>
                    </m:r>
                    <m:sSubSup>
                      <m:sSubSupPr>
                        <m:ctrlPr>
                          <a:rPr lang="en-US" altLang="zh-CN" i="1" smtClean="0">
                            <a:solidFill>
                              <a:srgbClr val="C00000"/>
                            </a:solidFill>
                            <a:latin typeface="Cambria Math" panose="02040503050406030204" pitchFamily="18" charset="0"/>
                          </a:rPr>
                        </m:ctrlPr>
                      </m:sSubSupPr>
                      <m:e>
                        <m:r>
                          <a:rPr lang="en-US" altLang="zh-CN" b="0" i="1" smtClean="0">
                            <a:solidFill>
                              <a:srgbClr val="C00000"/>
                            </a:solidFill>
                            <a:latin typeface="Cambria Math" panose="02040503050406030204" pitchFamily="18" charset="0"/>
                          </a:rPr>
                          <m:t>𝑁</m:t>
                        </m:r>
                      </m:e>
                      <m:sub>
                        <m:r>
                          <a:rPr lang="en-US" altLang="zh-CN" b="0" i="1" smtClean="0">
                            <a:solidFill>
                              <a:srgbClr val="C00000"/>
                            </a:solidFill>
                            <a:latin typeface="Cambria Math" panose="02040503050406030204" pitchFamily="18" charset="0"/>
                          </a:rPr>
                          <m:t>21</m:t>
                        </m:r>
                      </m:sub>
                      <m:sup>
                        <m:r>
                          <a:rPr lang="en-US" altLang="zh-CN" b="0" i="1" smtClean="0">
                            <a:solidFill>
                              <a:srgbClr val="C00000"/>
                            </a:solidFill>
                            <a:latin typeface="Cambria Math" panose="02040503050406030204" pitchFamily="18" charset="0"/>
                          </a:rPr>
                          <m:t>′′</m:t>
                        </m:r>
                      </m:sup>
                    </m:sSubSup>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𝑑𝑡</m:t>
                    </m:r>
                    <m:r>
                      <a:rPr lang="en-US" altLang="zh-CN" b="0" i="1" smtClean="0">
                        <a:solidFill>
                          <a:srgbClr val="C00000"/>
                        </a:solidFill>
                        <a:latin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𝑁</m:t>
                        </m:r>
                      </m:e>
                      <m:sub>
                        <m:r>
                          <a:rPr lang="en-US" altLang="zh-CN" i="1">
                            <a:solidFill>
                              <a:srgbClr val="C00000"/>
                            </a:solidFill>
                            <a:latin typeface="Cambria Math" panose="02040503050406030204" pitchFamily="18" charset="0"/>
                          </a:rPr>
                          <m:t>2</m:t>
                        </m:r>
                      </m:sub>
                    </m:sSub>
                    <m:r>
                      <a:rPr lang="en-US" altLang="zh-CN" i="1">
                        <a:solidFill>
                          <a:srgbClr val="C00000"/>
                        </a:solidFill>
                        <a:latin typeface="Cambria Math" panose="02040503050406030204" pitchFamily="18" charset="0"/>
                      </a:rPr>
                      <m:t>(</m:t>
                    </m:r>
                    <m:r>
                      <a:rPr lang="en-US" altLang="zh-CN" i="1">
                        <a:solidFill>
                          <a:srgbClr val="C00000"/>
                        </a:solidFill>
                        <a:latin typeface="Cambria Math" panose="02040503050406030204" pitchFamily="18" charset="0"/>
                      </a:rPr>
                      <m:t>𝑡</m:t>
                    </m:r>
                    <m:r>
                      <a:rPr lang="en-US" altLang="zh-CN" i="1">
                        <a:solidFill>
                          <a:srgbClr val="C00000"/>
                        </a:solidFill>
                        <a:latin typeface="Cambria Math" panose="02040503050406030204" pitchFamily="18" charset="0"/>
                      </a:rPr>
                      <m:t>)</m:t>
                    </m:r>
                    <m:sSub>
                      <m:sSubPr>
                        <m:ctrlPr>
                          <a:rPr lang="en-US" altLang="zh-CN"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𝐵</m:t>
                        </m:r>
                      </m:e>
                      <m:sub>
                        <m:r>
                          <a:rPr lang="en-US" altLang="zh-CN" b="0" i="1" smtClean="0">
                            <a:solidFill>
                              <a:srgbClr val="C00000"/>
                            </a:solidFill>
                            <a:latin typeface="Cambria Math" panose="02040503050406030204" pitchFamily="18" charset="0"/>
                          </a:rPr>
                          <m:t>21</m:t>
                        </m:r>
                      </m:sub>
                    </m:sSub>
                    <m:r>
                      <a:rPr lang="en-US" altLang="zh-CN" b="0" i="1" smtClean="0">
                        <a:solidFill>
                          <a:srgbClr val="C00000"/>
                        </a:solidFill>
                        <a:latin typeface="Cambria Math" panose="02040503050406030204" pitchFamily="18" charset="0"/>
                      </a:rPr>
                      <m:t>𝑢</m:t>
                    </m:r>
                    <m:d>
                      <m:dPr>
                        <m:ctrlPr>
                          <a:rPr lang="en-US" altLang="zh-CN" i="1" smtClean="0">
                            <a:solidFill>
                              <a:srgbClr val="C00000"/>
                            </a:solidFill>
                            <a:latin typeface="Cambria Math" panose="02040503050406030204" pitchFamily="18" charset="0"/>
                          </a:rPr>
                        </m:ctrlPr>
                      </m:dPr>
                      <m:e>
                        <m:r>
                          <a:rPr lang="en-US" altLang="zh-CN" b="0" i="1" smtClean="0">
                            <a:solidFill>
                              <a:srgbClr val="C00000"/>
                            </a:solidFill>
                            <a:latin typeface="Cambria Math" panose="02040503050406030204" pitchFamily="18" charset="0"/>
                          </a:rPr>
                          <m:t>𝑣</m:t>
                        </m:r>
                      </m:e>
                    </m:d>
                  </m:oMath>
                </a14:m>
                <a:endParaRPr lang="en-US" altLang="zh-CN" i="1" dirty="0">
                  <a:solidFill>
                    <a:srgbClr val="C00000"/>
                  </a:solidFill>
                  <a:latin typeface="Times New Roman" panose="02020603050405020304" pitchFamily="18" charset="0"/>
                  <a:cs typeface="Times New Roman" panose="02020603050405020304" pitchFamily="18" charset="0"/>
                </a:endParaRPr>
              </a:p>
              <a:p>
                <a:pPr>
                  <a:lnSpc>
                    <a:spcPct val="150000"/>
                  </a:lnSpc>
                </a:pPr>
                <a14:m>
                  <m:oMath xmlns:m="http://schemas.openxmlformats.org/officeDocument/2006/math">
                    <m:sSub>
                      <m:sSubPr>
                        <m:ctrlPr>
                          <a:rPr lang="en-US" altLang="zh-CN" sz="1400" i="1" smtClean="0">
                            <a:solidFill>
                              <a:srgbClr val="C00000"/>
                            </a:solidFill>
                            <a:latin typeface="Cambria Math" panose="02040503050406030204" pitchFamily="18" charset="0"/>
                          </a:rPr>
                        </m:ctrlPr>
                      </m:sSubPr>
                      <m:e>
                        <m:r>
                          <a:rPr lang="en-US" altLang="zh-CN" sz="1400" b="0" i="1">
                            <a:solidFill>
                              <a:srgbClr val="C00000"/>
                            </a:solidFill>
                            <a:latin typeface="Cambria Math"/>
                          </a:rPr>
                          <m:t>𝐵</m:t>
                        </m:r>
                      </m:e>
                      <m:sub>
                        <m:r>
                          <a:rPr lang="en-US" altLang="zh-CN" sz="1400" b="0" i="1">
                            <a:solidFill>
                              <a:srgbClr val="C00000"/>
                            </a:solidFill>
                            <a:latin typeface="Cambria Math"/>
                          </a:rPr>
                          <m:t>21</m:t>
                        </m:r>
                      </m:sub>
                    </m:sSub>
                    <m:r>
                      <a:rPr lang="en-US" altLang="zh-CN" sz="1400" b="0" i="1">
                        <a:solidFill>
                          <a:srgbClr val="C00000"/>
                        </a:solidFill>
                        <a:latin typeface="Cambria Math"/>
                      </a:rPr>
                      <m:t>𝑢</m:t>
                    </m:r>
                    <m:d>
                      <m:dPr>
                        <m:ctrlPr>
                          <a:rPr lang="en-US" altLang="zh-CN" sz="1400" i="1">
                            <a:solidFill>
                              <a:srgbClr val="C00000"/>
                            </a:solidFill>
                            <a:latin typeface="Cambria Math" panose="02040503050406030204" pitchFamily="18" charset="0"/>
                          </a:rPr>
                        </m:ctrlPr>
                      </m:dPr>
                      <m:e>
                        <m:r>
                          <a:rPr lang="en-US" altLang="zh-CN" sz="1400" b="0" i="1">
                            <a:solidFill>
                              <a:srgbClr val="C00000"/>
                            </a:solidFill>
                            <a:latin typeface="Cambria Math"/>
                          </a:rPr>
                          <m:t>𝜈</m:t>
                        </m:r>
                      </m:e>
                    </m:d>
                    <m:r>
                      <a:rPr lang="en-US" altLang="zh-CN" sz="1400" b="0" i="1">
                        <a:solidFill>
                          <a:srgbClr val="C00000"/>
                        </a:solidFill>
                        <a:latin typeface="Cambria Math"/>
                      </a:rPr>
                      <m:t>:</m:t>
                    </m:r>
                  </m:oMath>
                </a14:m>
                <a:r>
                  <a:rPr lang="zh-CN" altLang="en-US" sz="1400" dirty="0">
                    <a:solidFill>
                      <a:srgbClr val="C00000"/>
                    </a:solidFill>
                    <a:latin typeface="Times New Roman" panose="02020603050405020304" pitchFamily="18" charset="0"/>
                    <a:cs typeface="Times New Roman" panose="02020603050405020304" pitchFamily="18" charset="0"/>
                  </a:rPr>
                  <a:t> </a:t>
                </a:r>
                <a:r>
                  <a:rPr lang="en-US" altLang="zh-CN" sz="1400" dirty="0">
                    <a:solidFill>
                      <a:srgbClr val="C00000"/>
                    </a:solidFill>
                    <a:latin typeface="Times New Roman" panose="02020603050405020304" pitchFamily="18" charset="0"/>
                    <a:cs typeface="Times New Roman" panose="02020603050405020304" pitchFamily="18" charset="0"/>
                  </a:rPr>
                  <a:t>the rate stimulated emission of an exited atom</a:t>
                </a:r>
                <a:endParaRPr lang="zh-CN" altLang="en-US" sz="1400" dirty="0">
                  <a:solidFill>
                    <a:srgbClr val="C00000"/>
                  </a:solidFill>
                  <a:latin typeface="Times New Roman" panose="02020603050405020304" pitchFamily="18" charset="0"/>
                  <a:cs typeface="Times New Roman" panose="02020603050405020304" pitchFamily="18" charset="0"/>
                </a:endParaRPr>
              </a:p>
            </p:txBody>
          </p:sp>
        </mc:Choice>
        <mc:Fallback xmlns="">
          <p:sp>
            <p:nvSpPr>
              <p:cNvPr id="26" name="TextBox 25"/>
              <p:cNvSpPr txBox="1">
                <a:spLocks noRot="1" noChangeAspect="1" noMove="1" noResize="1" noEditPoints="1" noAdjustHandles="1" noChangeArrowheads="1" noChangeShapeType="1" noTextEdit="1"/>
              </p:cNvSpPr>
              <p:nvPr/>
            </p:nvSpPr>
            <p:spPr>
              <a:xfrm>
                <a:off x="6229851" y="3549488"/>
                <a:ext cx="4397349" cy="792333"/>
              </a:xfrm>
              <a:prstGeom prst="rect">
                <a:avLst/>
              </a:prstGeom>
              <a:blipFill>
                <a:blip r:embed="rId5"/>
                <a:stretch>
                  <a:fillRect b="-7692"/>
                </a:stretch>
              </a:blipFill>
            </p:spPr>
            <p:txBody>
              <a:bodyPr/>
              <a:lstStyle/>
              <a:p>
                <a:r>
                  <a:rPr lang="zh-CN" altLang="en-US">
                    <a:noFill/>
                  </a:rPr>
                  <a:t> </a:t>
                </a:r>
              </a:p>
            </p:txBody>
          </p:sp>
        </mc:Fallback>
      </mc:AlternateContent>
      <p:grpSp>
        <p:nvGrpSpPr>
          <p:cNvPr id="14" name="Group 13"/>
          <p:cNvGrpSpPr/>
          <p:nvPr/>
        </p:nvGrpSpPr>
        <p:grpSpPr>
          <a:xfrm>
            <a:off x="1440055" y="1208280"/>
            <a:ext cx="8928588" cy="2016263"/>
            <a:chOff x="1440055" y="1208280"/>
            <a:chExt cx="8928588" cy="2016263"/>
          </a:xfrm>
        </p:grpSpPr>
        <p:sp>
          <p:nvSpPr>
            <p:cNvPr id="4" name="TextBox 3"/>
            <p:cNvSpPr txBox="1"/>
            <p:nvPr/>
          </p:nvSpPr>
          <p:spPr>
            <a:xfrm>
              <a:off x="6229851" y="1208280"/>
              <a:ext cx="4138792" cy="396252"/>
            </a:xfrm>
            <a:prstGeom prst="rect">
              <a:avLst/>
            </a:prstGeom>
            <a:noFill/>
          </p:spPr>
          <p:txBody>
            <a:bodyPr wrap="square" rtlCol="0">
              <a:noAutofit/>
            </a:bodyPr>
            <a:lstStyle/>
            <a:p>
              <a:r>
                <a:rPr lang="en-US" altLang="zh-CN" dirty="0">
                  <a:latin typeface="Times New Roman" panose="02020603050405020304" pitchFamily="18" charset="0"/>
                  <a:cs typeface="Times New Roman" panose="02020603050405020304" pitchFamily="18" charset="0"/>
                </a:rPr>
                <a:t>Rate of transitions</a:t>
              </a:r>
            </a:p>
          </p:txBody>
        </p:sp>
        <p:pic>
          <p:nvPicPr>
            <p:cNvPr id="32777"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81984" y="1660942"/>
              <a:ext cx="2004570" cy="655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8"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0672" y="2511892"/>
              <a:ext cx="1985625" cy="712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1493163" y="1790059"/>
              <a:ext cx="2570300" cy="369332"/>
            </a:xfrm>
            <a:prstGeom prst="rect">
              <a:avLst/>
            </a:prstGeom>
            <a:noFill/>
          </p:spPr>
          <p:txBody>
            <a:bodyPr wrap="square" rtlCol="0">
              <a:spAutoFit/>
            </a:bodyPr>
            <a:lstStyle/>
            <a:p>
              <a:r>
                <a:rPr lang="en-US" altLang="zh-CN" dirty="0">
                  <a:solidFill>
                    <a:srgbClr val="0070C0"/>
                  </a:solidFill>
                </a:rPr>
                <a:t>Spontaneous emission</a:t>
              </a:r>
              <a:endParaRPr lang="en-US" dirty="0">
                <a:solidFill>
                  <a:srgbClr val="0070C0"/>
                </a:solidFill>
              </a:endParaRPr>
            </a:p>
          </p:txBody>
        </p:sp>
        <p:sp>
          <p:nvSpPr>
            <p:cNvPr id="17" name="TextBox 16"/>
            <p:cNvSpPr txBox="1"/>
            <p:nvPr/>
          </p:nvSpPr>
          <p:spPr>
            <a:xfrm>
              <a:off x="1440055" y="2710062"/>
              <a:ext cx="2337063" cy="369332"/>
            </a:xfrm>
            <a:prstGeom prst="rect">
              <a:avLst/>
            </a:prstGeom>
            <a:noFill/>
          </p:spPr>
          <p:txBody>
            <a:bodyPr wrap="square" rtlCol="0">
              <a:spAutoFit/>
            </a:bodyPr>
            <a:lstStyle/>
            <a:p>
              <a:r>
                <a:rPr lang="en-US" altLang="zh-CN" dirty="0">
                  <a:solidFill>
                    <a:srgbClr val="0070C0"/>
                  </a:solidFill>
                </a:rPr>
                <a:t>Stimulated absorption</a:t>
              </a:r>
              <a:endParaRPr lang="en-US" dirty="0">
                <a:solidFill>
                  <a:srgbClr val="0070C0"/>
                </a:solidFill>
              </a:endParaRPr>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6F70968-1D72-4829-A5E0-89D2BB7D9B3D}"/>
                  </a:ext>
                </a:extLst>
              </p:cNvPr>
              <p:cNvSpPr txBox="1"/>
              <p:nvPr/>
            </p:nvSpPr>
            <p:spPr>
              <a:xfrm>
                <a:off x="6229851" y="1728147"/>
                <a:ext cx="2069797" cy="369332"/>
              </a:xfrm>
              <a:prstGeom prst="rect">
                <a:avLst/>
              </a:prstGeom>
              <a:solidFill>
                <a:schemeClr val="accent6">
                  <a:lumMod val="20000"/>
                  <a:lumOff val="80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𝑁</m:t>
                          </m:r>
                        </m:e>
                        <m:sub>
                          <m:r>
                            <a:rPr lang="en-US" altLang="zh-CN" i="1">
                              <a:latin typeface="Cambria Math" panose="02040503050406030204" pitchFamily="18" charset="0"/>
                            </a:rPr>
                            <m:t>21</m:t>
                          </m:r>
                        </m:sub>
                        <m:sup>
                          <m:r>
                            <a:rPr lang="en-US" altLang="zh-CN"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i="1">
                          <a:latin typeface="Cambria Math" panose="02040503050406030204" pitchFamily="18" charset="0"/>
                        </a:rPr>
                        <m:t>𝑑𝑡</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𝐴</m:t>
                      </m:r>
                    </m:oMath>
                  </m:oMathPara>
                </a14:m>
                <a:endParaRPr lang="en-US" altLang="zh-CN" sz="1400" i="1" dirty="0">
                  <a:latin typeface="Cambria Math" panose="02040503050406030204" pitchFamily="18" charset="0"/>
                </a:endParaRPr>
              </a:p>
            </p:txBody>
          </p:sp>
        </mc:Choice>
        <mc:Fallback xmlns="">
          <p:sp>
            <p:nvSpPr>
              <p:cNvPr id="32" name="TextBox 31">
                <a:extLst>
                  <a:ext uri="{FF2B5EF4-FFF2-40B4-BE49-F238E27FC236}">
                    <a16:creationId xmlns:a16="http://schemas.microsoft.com/office/drawing/2014/main" id="{26F70968-1D72-4829-A5E0-89D2BB7D9B3D}"/>
                  </a:ext>
                </a:extLst>
              </p:cNvPr>
              <p:cNvSpPr txBox="1">
                <a:spLocks noRot="1" noChangeAspect="1" noMove="1" noResize="1" noEditPoints="1" noAdjustHandles="1" noChangeArrowheads="1" noChangeShapeType="1" noTextEdit="1"/>
              </p:cNvSpPr>
              <p:nvPr/>
            </p:nvSpPr>
            <p:spPr>
              <a:xfrm>
                <a:off x="6229851" y="1728147"/>
                <a:ext cx="2069797" cy="369332"/>
              </a:xfrm>
              <a:prstGeom prst="rect">
                <a:avLst/>
              </a:prstGeom>
              <a:blipFill>
                <a:blip r:embed="rId8"/>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7793CD2-446A-45BC-83BE-BDA5CBB9CB02}"/>
                  </a:ext>
                </a:extLst>
              </p:cNvPr>
              <p:cNvSpPr txBox="1"/>
              <p:nvPr/>
            </p:nvSpPr>
            <p:spPr>
              <a:xfrm>
                <a:off x="6229851" y="2687717"/>
                <a:ext cx="2633349" cy="397545"/>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𝑁</m:t>
                          </m:r>
                        </m:e>
                        <m:sub>
                          <m:r>
                            <a:rPr lang="en-US" altLang="zh-CN" i="1">
                              <a:latin typeface="Cambria Math" panose="02040503050406030204" pitchFamily="18" charset="0"/>
                            </a:rPr>
                            <m:t>12</m:t>
                          </m:r>
                        </m:sub>
                        <m:sup/>
                      </m:sSubSup>
                      <m:r>
                        <a:rPr lang="en-US" altLang="zh-CN" b="0" i="1" smtClean="0">
                          <a:latin typeface="Cambria Math" panose="02040503050406030204" pitchFamily="18" charset="0"/>
                        </a:rPr>
                        <m:t>/</m:t>
                      </m:r>
                      <m:r>
                        <a:rPr lang="en-US" altLang="zh-CN" i="1">
                          <a:latin typeface="Cambria Math" panose="02040503050406030204" pitchFamily="18" charset="0"/>
                        </a:rPr>
                        <m:t>𝑑𝑡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12</m:t>
                          </m:r>
                        </m:sub>
                      </m:sSub>
                      <m:r>
                        <a:rPr lang="en-US" altLang="zh-CN" b="0" i="1" smtClean="0">
                          <a:latin typeface="Cambria Math" panose="02040503050406030204" pitchFamily="18" charset="0"/>
                        </a:rPr>
                        <m:t>𝑢</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𝜈</m:t>
                          </m:r>
                        </m:e>
                      </m:d>
                    </m:oMath>
                  </m:oMathPara>
                </a14:m>
                <a:endParaRPr lang="en-US" altLang="zh-CN" i="1" dirty="0">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27793CD2-446A-45BC-83BE-BDA5CBB9CB02}"/>
                  </a:ext>
                </a:extLst>
              </p:cNvPr>
              <p:cNvSpPr txBox="1">
                <a:spLocks noRot="1" noChangeAspect="1" noMove="1" noResize="1" noEditPoints="1" noAdjustHandles="1" noChangeArrowheads="1" noChangeShapeType="1" noTextEdit="1"/>
              </p:cNvSpPr>
              <p:nvPr/>
            </p:nvSpPr>
            <p:spPr>
              <a:xfrm>
                <a:off x="6229851" y="2687717"/>
                <a:ext cx="2633349" cy="397545"/>
              </a:xfrm>
              <a:prstGeom prst="rect">
                <a:avLst/>
              </a:prstGeom>
              <a:blipFill>
                <a:blip r:embed="rId9"/>
                <a:stretch>
                  <a:fillRect b="-13846"/>
                </a:stretch>
              </a:blipFill>
            </p:spPr>
            <p:txBody>
              <a:bodyPr/>
              <a:lstStyle/>
              <a:p>
                <a:r>
                  <a:rPr lang="zh-CN" altLang="en-US">
                    <a:noFill/>
                  </a:rPr>
                  <a:t> </a:t>
                </a:r>
              </a:p>
            </p:txBody>
          </p:sp>
        </mc:Fallback>
      </mc:AlternateContent>
      <p:pic>
        <p:nvPicPr>
          <p:cNvPr id="30" name="Picture 8">
            <a:extLst>
              <a:ext uri="{FF2B5EF4-FFF2-40B4-BE49-F238E27FC236}">
                <a16:creationId xmlns:a16="http://schemas.microsoft.com/office/drawing/2014/main" id="{728D039E-D434-4238-B4BF-CD0F1C08A6D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59828" y="5982732"/>
            <a:ext cx="2584481" cy="621934"/>
          </a:xfrm>
          <a:prstGeom prst="rect">
            <a:avLst/>
          </a:prstGeom>
          <a:noFill/>
          <a:ln w="25400">
            <a:solidFill>
              <a:srgbClr val="C00000"/>
            </a:solidFill>
            <a:miter lim="800000"/>
            <a:headEnd/>
            <a:tailEnd/>
          </a:ln>
          <a:extLst>
            <a:ext uri="{909E8E84-426E-40DD-AFC4-6F175D3DCCD1}">
              <a14:hiddenFill xmlns:a14="http://schemas.microsoft.com/office/drawing/2010/main">
                <a:solidFill>
                  <a:schemeClr val="accent1"/>
                </a:solidFill>
              </a14:hiddenFill>
            </a:ext>
          </a:extLst>
        </p:spPr>
      </p:pic>
      <p:grpSp>
        <p:nvGrpSpPr>
          <p:cNvPr id="8" name="Group 7">
            <a:extLst>
              <a:ext uri="{FF2B5EF4-FFF2-40B4-BE49-F238E27FC236}">
                <a16:creationId xmlns:a16="http://schemas.microsoft.com/office/drawing/2014/main" id="{E275E431-DFEA-4983-86D6-5627FD8E9992}"/>
              </a:ext>
            </a:extLst>
          </p:cNvPr>
          <p:cNvGrpSpPr/>
          <p:nvPr/>
        </p:nvGrpSpPr>
        <p:grpSpPr>
          <a:xfrm>
            <a:off x="509897" y="4734426"/>
            <a:ext cx="8097818" cy="1421899"/>
            <a:chOff x="509897" y="4734426"/>
            <a:chExt cx="8097818" cy="1421899"/>
          </a:xfrm>
        </p:grpSpPr>
        <p:grpSp>
          <p:nvGrpSpPr>
            <p:cNvPr id="19" name="Group 18">
              <a:extLst>
                <a:ext uri="{FF2B5EF4-FFF2-40B4-BE49-F238E27FC236}">
                  <a16:creationId xmlns:a16="http://schemas.microsoft.com/office/drawing/2014/main" id="{13EB55B4-980F-4C3B-962B-4F719FE95D47}"/>
                </a:ext>
              </a:extLst>
            </p:cNvPr>
            <p:cNvGrpSpPr/>
            <p:nvPr/>
          </p:nvGrpSpPr>
          <p:grpSpPr>
            <a:xfrm>
              <a:off x="509897" y="4759944"/>
              <a:ext cx="8097818" cy="1396381"/>
              <a:chOff x="509897" y="4759944"/>
              <a:chExt cx="8097818" cy="1396381"/>
            </a:xfrm>
          </p:grpSpPr>
          <p:grpSp>
            <p:nvGrpSpPr>
              <p:cNvPr id="7" name="Group 6">
                <a:extLst>
                  <a:ext uri="{FF2B5EF4-FFF2-40B4-BE49-F238E27FC236}">
                    <a16:creationId xmlns:a16="http://schemas.microsoft.com/office/drawing/2014/main" id="{15B752FC-B6AF-4537-9EB1-0D7477582819}"/>
                  </a:ext>
                </a:extLst>
              </p:cNvPr>
              <p:cNvGrpSpPr/>
              <p:nvPr/>
            </p:nvGrpSpPr>
            <p:grpSpPr>
              <a:xfrm>
                <a:off x="509897" y="4759944"/>
                <a:ext cx="5821965" cy="1396381"/>
                <a:chOff x="1904730" y="4954423"/>
                <a:chExt cx="5821965" cy="1396381"/>
              </a:xfrm>
            </p:grpSpPr>
            <p:sp>
              <p:nvSpPr>
                <p:cNvPr id="11" name="Right Brace 10"/>
                <p:cNvSpPr/>
                <p:nvPr/>
              </p:nvSpPr>
              <p:spPr>
                <a:xfrm>
                  <a:off x="7459827" y="5249539"/>
                  <a:ext cx="266868" cy="712922"/>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3" name="Object 12"/>
                <p:cNvGraphicFramePr>
                  <a:graphicFrameLocks noChangeAspect="1"/>
                </p:cNvGraphicFramePr>
                <p:nvPr>
                  <p:extLst>
                    <p:ext uri="{D42A27DB-BD31-4B8C-83A1-F6EECF244321}">
                      <p14:modId xmlns:p14="http://schemas.microsoft.com/office/powerpoint/2010/main" val="722488989"/>
                    </p:ext>
                  </p:extLst>
                </p:nvPr>
              </p:nvGraphicFramePr>
              <p:xfrm>
                <a:off x="3137233" y="4954423"/>
                <a:ext cx="3828070" cy="642669"/>
              </p:xfrm>
              <a:graphic>
                <a:graphicData uri="http://schemas.openxmlformats.org/presentationml/2006/ole">
                  <mc:AlternateContent xmlns:mc="http://schemas.openxmlformats.org/markup-compatibility/2006">
                    <mc:Choice xmlns:v="urn:schemas-microsoft-com:vml" Requires="v">
                      <p:oleObj spid="_x0000_s3986" name="Equation" r:id="rId11" imgW="2577960" imgH="431640" progId="Equation.DSMT4">
                        <p:embed/>
                      </p:oleObj>
                    </mc:Choice>
                    <mc:Fallback>
                      <p:oleObj name="Equation" r:id="rId11" imgW="2577960" imgH="431640" progId="Equation.DSMT4">
                        <p:embed/>
                        <p:pic>
                          <p:nvPicPr>
                            <p:cNvPr id="13" name="Object 12"/>
                            <p:cNvPicPr>
                              <a:picLocks noChangeAspect="1" noChangeArrowheads="1"/>
                            </p:cNvPicPr>
                            <p:nvPr/>
                          </p:nvPicPr>
                          <p:blipFill>
                            <a:blip r:embed="rId12"/>
                            <a:srcRect/>
                            <a:stretch>
                              <a:fillRect/>
                            </a:stretch>
                          </p:blipFill>
                          <p:spPr bwMode="auto">
                            <a:xfrm>
                              <a:off x="3137233" y="4954423"/>
                              <a:ext cx="3828070" cy="642669"/>
                            </a:xfrm>
                            <a:prstGeom prst="rect">
                              <a:avLst/>
                            </a:prstGeom>
                            <a:noFill/>
                            <a:ln w="9525">
                              <a:noFill/>
                              <a:miter lim="800000"/>
                              <a:headEnd/>
                              <a:tailEnd/>
                            </a:ln>
                          </p:spPr>
                        </p:pic>
                      </p:oleObj>
                    </mc:Fallback>
                  </mc:AlternateContent>
                </a:graphicData>
              </a:graphic>
            </p:graphicFrame>
            <p:grpSp>
              <p:nvGrpSpPr>
                <p:cNvPr id="18" name="Group 17"/>
                <p:cNvGrpSpPr/>
                <p:nvPr/>
              </p:nvGrpSpPr>
              <p:grpSpPr>
                <a:xfrm>
                  <a:off x="1904730" y="5661829"/>
                  <a:ext cx="5433703" cy="688975"/>
                  <a:chOff x="1852071" y="5950996"/>
                  <a:chExt cx="5486787" cy="688975"/>
                </a:xfrm>
              </p:grpSpPr>
              <p:sp>
                <p:nvSpPr>
                  <p:cNvPr id="6" name="TextBox 5"/>
                  <p:cNvSpPr txBox="1"/>
                  <p:nvPr/>
                </p:nvSpPr>
                <p:spPr>
                  <a:xfrm>
                    <a:off x="1852071" y="6082351"/>
                    <a:ext cx="2497177" cy="338554"/>
                  </a:xfrm>
                  <a:prstGeom prst="rect">
                    <a:avLst/>
                  </a:prstGeom>
                  <a:noFill/>
                </p:spPr>
                <p:txBody>
                  <a:bodyPr wrap="squar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Equilibrium distribution</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1828279025"/>
                      </p:ext>
                    </p:extLst>
                  </p:nvPr>
                </p:nvGraphicFramePr>
                <p:xfrm>
                  <a:off x="5178002" y="5950996"/>
                  <a:ext cx="2160856" cy="688975"/>
                </p:xfrm>
                <a:graphic>
                  <a:graphicData uri="http://schemas.openxmlformats.org/presentationml/2006/ole">
                    <mc:AlternateContent xmlns:mc="http://schemas.openxmlformats.org/markup-compatibility/2006">
                      <mc:Choice xmlns:v="urn:schemas-microsoft-com:vml" Requires="v">
                        <p:oleObj spid="_x0000_s3987" name="Equation" r:id="rId13" imgW="1473120" imgH="469800" progId="Equation.DSMT4">
                          <p:embed/>
                        </p:oleObj>
                      </mc:Choice>
                      <mc:Fallback>
                        <p:oleObj name="Equation" r:id="rId13" imgW="1473120" imgH="469800" progId="Equation.DSMT4">
                          <p:embed/>
                          <p:pic>
                            <p:nvPicPr>
                              <p:cNvPr id="0" name=""/>
                              <p:cNvPicPr/>
                              <p:nvPr/>
                            </p:nvPicPr>
                            <p:blipFill>
                              <a:blip r:embed="rId14"/>
                              <a:stretch>
                                <a:fillRect/>
                              </a:stretch>
                            </p:blipFill>
                            <p:spPr>
                              <a:xfrm>
                                <a:off x="5178002" y="5950996"/>
                                <a:ext cx="2160856" cy="688975"/>
                              </a:xfrm>
                              <a:prstGeom prst="rect">
                                <a:avLst/>
                              </a:prstGeom>
                            </p:spPr>
                          </p:pic>
                        </p:oleObj>
                      </mc:Fallback>
                    </mc:AlternateContent>
                  </a:graphicData>
                </a:graphic>
              </p:graphicFrame>
            </p:grpSp>
          </p:grpSp>
          <p:graphicFrame>
            <p:nvGraphicFramePr>
              <p:cNvPr id="29" name="Object 28">
                <a:extLst>
                  <a:ext uri="{FF2B5EF4-FFF2-40B4-BE49-F238E27FC236}">
                    <a16:creationId xmlns:a16="http://schemas.microsoft.com/office/drawing/2014/main" id="{A731D953-6717-422A-9867-13B9C63058AB}"/>
                  </a:ext>
                </a:extLst>
              </p:cNvPr>
              <p:cNvGraphicFramePr>
                <a:graphicFrameLocks noChangeAspect="1"/>
              </p:cNvGraphicFramePr>
              <p:nvPr>
                <p:extLst>
                  <p:ext uri="{D42A27DB-BD31-4B8C-83A1-F6EECF244321}">
                    <p14:modId xmlns:p14="http://schemas.microsoft.com/office/powerpoint/2010/main" val="1005615946"/>
                  </p:ext>
                </p:extLst>
              </p:nvPr>
            </p:nvGraphicFramePr>
            <p:xfrm>
              <a:off x="6459828" y="5060507"/>
              <a:ext cx="2147887" cy="684212"/>
            </p:xfrm>
            <a:graphic>
              <a:graphicData uri="http://schemas.openxmlformats.org/presentationml/2006/ole">
                <mc:AlternateContent xmlns:mc="http://schemas.openxmlformats.org/markup-compatibility/2006">
                  <mc:Choice xmlns:v="urn:schemas-microsoft-com:vml" Requires="v">
                    <p:oleObj spid="_x0000_s3988" name="Equation" r:id="rId15" imgW="1409400" imgH="444240" progId="Equation.DSMT4">
                      <p:embed/>
                    </p:oleObj>
                  </mc:Choice>
                  <mc:Fallback>
                    <p:oleObj name="Equation" r:id="rId15" imgW="1409400" imgH="444240" progId="Equation.DSMT4">
                      <p:embed/>
                      <p:pic>
                        <p:nvPicPr>
                          <p:cNvPr id="12" name="Object 11"/>
                          <p:cNvPicPr/>
                          <p:nvPr/>
                        </p:nvPicPr>
                        <p:blipFill>
                          <a:blip r:embed="rId16"/>
                          <a:stretch>
                            <a:fillRect/>
                          </a:stretch>
                        </p:blipFill>
                        <p:spPr>
                          <a:xfrm>
                            <a:off x="6459828" y="5060507"/>
                            <a:ext cx="2147887" cy="684212"/>
                          </a:xfrm>
                          <a:prstGeom prst="rect">
                            <a:avLst/>
                          </a:prstGeom>
                        </p:spPr>
                      </p:pic>
                    </p:oleObj>
                  </mc:Fallback>
                </mc:AlternateContent>
              </a:graphicData>
            </a:graphic>
          </p:graphicFrame>
        </p:grpSp>
        <p:sp>
          <p:nvSpPr>
            <p:cNvPr id="28" name="TextBox 27">
              <a:extLst>
                <a:ext uri="{FF2B5EF4-FFF2-40B4-BE49-F238E27FC236}">
                  <a16:creationId xmlns:a16="http://schemas.microsoft.com/office/drawing/2014/main" id="{7836D050-406C-4193-AFCB-D3E0DE29BCD8}"/>
                </a:ext>
              </a:extLst>
            </p:cNvPr>
            <p:cNvSpPr txBox="1"/>
            <p:nvPr/>
          </p:nvSpPr>
          <p:spPr>
            <a:xfrm>
              <a:off x="527162" y="4734426"/>
              <a:ext cx="1215238" cy="584775"/>
            </a:xfrm>
            <a:prstGeom prst="rect">
              <a:avLst/>
            </a:prstGeom>
            <a:noFill/>
          </p:spPr>
          <p:txBody>
            <a:bodyPr wrap="squar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Equilibrium</a:t>
              </a:r>
            </a:p>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condition</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674446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Einstein A, B coefficients and Blackbody radiation formula</a:t>
            </a:r>
            <a:endParaRPr lang="zh-CN" altLang="en-US" dirty="0"/>
          </a:p>
        </p:txBody>
      </p:sp>
      <mc:AlternateContent xmlns:mc="http://schemas.openxmlformats.org/markup-compatibility/2006" xmlns:a14="http://schemas.microsoft.com/office/drawing/2010/main">
        <mc:Choice Requires="a14">
          <p:sp>
            <p:nvSpPr>
              <p:cNvPr id="8" name="TextBox 7"/>
              <p:cNvSpPr txBox="1"/>
              <p:nvPr/>
            </p:nvSpPr>
            <p:spPr>
              <a:xfrm>
                <a:off x="1696389" y="2286822"/>
                <a:ext cx="3230584" cy="400110"/>
              </a:xfrm>
              <a:prstGeom prst="rect">
                <a:avLst/>
              </a:prstGeom>
              <a:noFill/>
            </p:spPr>
            <p:txBody>
              <a:bodyPr wrap="square" rtlCol="0">
                <a:spAutoFit/>
              </a:bodyPr>
              <a:lstStyle/>
              <a:p>
                <a14:m>
                  <m:oMath xmlns:m="http://schemas.openxmlformats.org/officeDocument/2006/math">
                    <m:r>
                      <a:rPr lang="en-US" altLang="zh-CN" sz="2000" i="1">
                        <a:latin typeface="Cambria Math"/>
                      </a:rPr>
                      <m:t>𝑢</m:t>
                    </m:r>
                    <m:d>
                      <m:dPr>
                        <m:ctrlPr>
                          <a:rPr lang="en-US" altLang="zh-CN" sz="2000" i="1">
                            <a:latin typeface="Cambria Math" panose="02040503050406030204" pitchFamily="18" charset="0"/>
                          </a:rPr>
                        </m:ctrlPr>
                      </m:dPr>
                      <m:e>
                        <m:r>
                          <a:rPr lang="en-US" altLang="zh-CN" sz="2000" i="1">
                            <a:latin typeface="Cambria Math"/>
                          </a:rPr>
                          <m:t>𝜈</m:t>
                        </m:r>
                      </m:e>
                    </m:d>
                    <m:r>
                      <a:rPr lang="en-US" altLang="zh-CN" sz="2000" i="1">
                        <a:latin typeface="Cambria Math"/>
                        <a:ea typeface="Cambria Math"/>
                      </a:rPr>
                      <m:t>→∞ </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if </a:t>
                </a:r>
                <a14:m>
                  <m:oMath xmlns:m="http://schemas.openxmlformats.org/officeDocument/2006/math">
                    <m:r>
                      <a:rPr lang="en-US" altLang="zh-CN" sz="2000" i="1">
                        <a:latin typeface="Cambria Math"/>
                      </a:rPr>
                      <m:t>𝑇</m:t>
                    </m:r>
                    <m:r>
                      <a:rPr lang="en-US" altLang="zh-CN" sz="2000" i="1">
                        <a:latin typeface="Cambria Math"/>
                        <a:ea typeface="Cambria Math"/>
                      </a:rPr>
                      <m:t>→∞</m:t>
                    </m:r>
                  </m:oMath>
                </a14:m>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 Thus</a:t>
                </a:r>
                <a:endParaRPr lang="zh-CN" alt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696389" y="2286822"/>
                <a:ext cx="3230584" cy="400110"/>
              </a:xfrm>
              <a:prstGeom prst="rect">
                <a:avLst/>
              </a:prstGeom>
              <a:blipFill>
                <a:blip r:embed="rId5"/>
                <a:stretch>
                  <a:fillRect t="-7576" b="-25758"/>
                </a:stretch>
              </a:blipFill>
            </p:spPr>
            <p:txBody>
              <a:bodyPr/>
              <a:lstStyle/>
              <a:p>
                <a:r>
                  <a:rPr lang="zh-CN" altLang="en-US">
                    <a:noFill/>
                  </a:rPr>
                  <a:t> </a:t>
                </a:r>
              </a:p>
            </p:txBody>
          </p:sp>
        </mc:Fallback>
      </mc:AlternateContent>
      <p:sp>
        <p:nvSpPr>
          <p:cNvPr id="12" name="Right Brace 11"/>
          <p:cNvSpPr/>
          <p:nvPr/>
        </p:nvSpPr>
        <p:spPr>
          <a:xfrm>
            <a:off x="6229794" y="3434810"/>
            <a:ext cx="367621" cy="1018604"/>
          </a:xfrm>
          <a:prstGeom prst="righ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3380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9208" y="4146346"/>
            <a:ext cx="3230584" cy="777413"/>
          </a:xfrm>
          <a:prstGeom prst="rect">
            <a:avLst/>
          </a:prstGeom>
          <a:noFill/>
          <a:ln w="25400">
            <a:noFill/>
            <a:miter lim="800000"/>
            <a:headEnd/>
            <a:tailEnd/>
          </a:ln>
          <a:extLst>
            <a:ext uri="{909E8E84-426E-40DD-AFC4-6F175D3DCCD1}">
              <a14:hiddenFill xmlns:a14="http://schemas.microsoft.com/office/drawing/2010/main">
                <a:solidFill>
                  <a:schemeClr val="accent1"/>
                </a:solidFill>
              </a14:hiddenFill>
            </a:ext>
          </a:extLst>
        </p:spPr>
      </p:pic>
      <mc:AlternateContent xmlns:mc="http://schemas.openxmlformats.org/markup-compatibility/2006" xmlns:a14="http://schemas.microsoft.com/office/drawing/2010/main">
        <mc:Choice Requires="a14">
          <p:sp>
            <p:nvSpPr>
              <p:cNvPr id="3" name="TextBox 2"/>
              <p:cNvSpPr txBox="1"/>
              <p:nvPr/>
            </p:nvSpPr>
            <p:spPr>
              <a:xfrm>
                <a:off x="1499648" y="5293495"/>
                <a:ext cx="9075910" cy="923330"/>
              </a:xfrm>
              <a:prstGeom prst="rect">
                <a:avLst/>
              </a:prstGeom>
              <a:solidFill>
                <a:srgbClr val="FFFF00"/>
              </a:solidFill>
            </p:spPr>
            <p:txBody>
              <a:bodyPr wrap="square" rtlCol="0">
                <a:spAutoFit/>
              </a:bodyPr>
              <a:lstStyle/>
              <a:p>
                <a:pPr marL="285750" indent="-285750">
                  <a:buFont typeface="Arial" panose="020B0604020202020204" pitchFamily="34" charset="0"/>
                  <a:buChar char="•"/>
                </a:pP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In order to make Bohr model be compatible with the Blackbody radiation, Einstein introduced the idea of stimulated emission in </a:t>
                </a:r>
                <a:r>
                  <a:rPr lang="en-US" altLang="zh-CN" dirty="0">
                    <a:latin typeface="Times New Roman" panose="02020603050405020304" pitchFamily="18" charset="0"/>
                    <a:ea typeface="黑体" panose="02010609060101010101" pitchFamily="49" charset="-122"/>
                    <a:cs typeface="Times New Roman" panose="02020603050405020304" pitchFamily="18" charset="0"/>
                  </a:rPr>
                  <a:t>the light-atom interactions. </a:t>
                </a:r>
              </a:p>
              <a:p>
                <a:pPr marL="285750" indent="-285750">
                  <a:buFont typeface="Arial" panose="020B0604020202020204" pitchFamily="34" charset="0"/>
                  <a:buChar char="•"/>
                </a:pPr>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He also discovered the relations between cefficients </a:t>
                </a:r>
                <a14:m>
                  <m:oMath xmlns:m="http://schemas.openxmlformats.org/officeDocument/2006/math">
                    <m:r>
                      <a:rPr lang="en-US" altLang="zh-CN" i="1">
                        <a:solidFill>
                          <a:schemeClr val="tx1"/>
                        </a:solidFill>
                        <a:latin typeface="Cambria Math"/>
                      </a:rPr>
                      <m:t>𝐴</m:t>
                    </m:r>
                    <m:r>
                      <a:rPr lang="en-US" altLang="zh-CN" i="1">
                        <a:solidFill>
                          <a:schemeClr val="tx1"/>
                        </a:solidFill>
                        <a:latin typeface="Cambria Math"/>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a:rPr>
                          <m:t>𝐵</m:t>
                        </m:r>
                      </m:e>
                      <m:sub>
                        <m:r>
                          <a:rPr lang="en-US" altLang="zh-CN" i="1">
                            <a:solidFill>
                              <a:schemeClr val="tx1"/>
                            </a:solidFill>
                            <a:latin typeface="Cambria Math"/>
                          </a:rPr>
                          <m:t>12</m:t>
                        </m:r>
                      </m:sub>
                    </m:sSub>
                    <m:r>
                      <a:rPr lang="en-US" altLang="zh-CN" b="0" i="1"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𝑎𝑛𝑑</m:t>
                    </m:r>
                    <m:r>
                      <a:rPr lang="en-US" altLang="zh-CN" b="0" i="1" smtClean="0">
                        <a:solidFill>
                          <a:schemeClr val="tx1"/>
                        </a:solidFill>
                        <a:latin typeface="Cambria Math" panose="02040503050406030204" pitchFamily="18" charset="0"/>
                      </a:rPr>
                      <m:t> </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a:rPr>
                          <m:t>𝐵</m:t>
                        </m:r>
                      </m:e>
                      <m:sub>
                        <m:r>
                          <a:rPr lang="en-US" altLang="zh-CN" i="1">
                            <a:solidFill>
                              <a:schemeClr val="tx1"/>
                            </a:solidFill>
                            <a:latin typeface="Cambria Math"/>
                          </a:rPr>
                          <m:t>21</m:t>
                        </m:r>
                      </m:sub>
                    </m:sSub>
                  </m:oMath>
                </a14:m>
                <a:r>
                  <a:rPr lang="en-US" altLang="zh-CN"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1499648" y="5293495"/>
                <a:ext cx="9075910" cy="923330"/>
              </a:xfrm>
              <a:prstGeom prst="rect">
                <a:avLst/>
              </a:prstGeom>
              <a:blipFill>
                <a:blip r:embed="rId7"/>
                <a:stretch>
                  <a:fillRect l="-403"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044753" y="1683284"/>
                <a:ext cx="9471567" cy="369332"/>
              </a:xfrm>
              <a:prstGeom prst="rect">
                <a:avLst/>
              </a:prstGeom>
              <a:noFill/>
            </p:spPr>
            <p:txBody>
              <a:bodyPr wrap="non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Since A, B describe the interaction between single atom and photon, they should be independent of </a:t>
                </a:r>
                <a14:m>
                  <m:oMath xmlns:m="http://schemas.openxmlformats.org/officeDocument/2006/math">
                    <m:r>
                      <a:rPr lang="en-US" altLang="zh-CN" i="1" dirty="0" smtClean="0">
                        <a:latin typeface="Cambria Math" panose="02040503050406030204" pitchFamily="18" charset="0"/>
                        <a:ea typeface="黑体" panose="02010609060101010101" pitchFamily="49" charset="-122"/>
                        <a:cs typeface="Times New Roman" panose="02020603050405020304" pitchFamily="18" charset="0"/>
                      </a:rPr>
                      <m:t>𝑇</m:t>
                    </m:r>
                  </m:oMath>
                </a14:m>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044753" y="1683284"/>
                <a:ext cx="9471567" cy="369332"/>
              </a:xfrm>
              <a:prstGeom prst="rect">
                <a:avLst/>
              </a:prstGeom>
              <a:blipFill>
                <a:blip r:embed="rId11"/>
                <a:stretch>
                  <a:fillRect l="-515" t="-8197" b="-24590"/>
                </a:stretch>
              </a:blipFill>
            </p:spPr>
            <p:txBody>
              <a:bodyPr/>
              <a:lstStyle/>
              <a:p>
                <a:r>
                  <a:rPr lang="zh-CN" altLang="en-US">
                    <a:noFill/>
                  </a:rPr>
                  <a:t> </a:t>
                </a:r>
              </a:p>
            </p:txBody>
          </p:sp>
        </mc:Fallback>
      </mc:AlternateContent>
      <p:graphicFrame>
        <p:nvGraphicFramePr>
          <p:cNvPr id="9" name="对象 8"/>
          <p:cNvGraphicFramePr>
            <a:graphicFrameLocks noChangeAspect="1"/>
          </p:cNvGraphicFramePr>
          <p:nvPr>
            <p:extLst>
              <p:ext uri="{D42A27DB-BD31-4B8C-83A1-F6EECF244321}">
                <p14:modId xmlns:p14="http://schemas.microsoft.com/office/powerpoint/2010/main" val="3218261350"/>
              </p:ext>
            </p:extLst>
          </p:nvPr>
        </p:nvGraphicFramePr>
        <p:xfrm>
          <a:off x="4381500" y="2806700"/>
          <a:ext cx="914400" cy="198438"/>
        </p:xfrm>
        <a:graphic>
          <a:graphicData uri="http://schemas.openxmlformats.org/presentationml/2006/ole">
            <mc:AlternateContent xmlns:mc="http://schemas.openxmlformats.org/markup-compatibility/2006">
              <mc:Choice xmlns:v="urn:schemas-microsoft-com:vml" Requires="v">
                <p:oleObj spid="_x0000_s7792" name="Equation" r:id="rId12" imgW="914400" imgH="198720" progId="Equation.DSMT4">
                  <p:embed/>
                </p:oleObj>
              </mc:Choice>
              <mc:Fallback>
                <p:oleObj name="Equation" r:id="rId12" imgW="914400" imgH="198720" progId="Equation.DSMT4">
                  <p:embed/>
                  <p:pic>
                    <p:nvPicPr>
                      <p:cNvPr id="0" name=""/>
                      <p:cNvPicPr/>
                      <p:nvPr/>
                    </p:nvPicPr>
                    <p:blipFill>
                      <a:blip r:embed="rId13"/>
                      <a:stretch>
                        <a:fillRect/>
                      </a:stretch>
                    </p:blipFill>
                    <p:spPr>
                      <a:xfrm>
                        <a:off x="4381500" y="2806700"/>
                        <a:ext cx="914400" cy="198438"/>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6019F505-15F6-43BC-90AB-8F50A7368476}"/>
              </a:ext>
            </a:extLst>
          </p:cNvPr>
          <p:cNvGraphicFramePr>
            <a:graphicFrameLocks noChangeAspect="1"/>
          </p:cNvGraphicFramePr>
          <p:nvPr>
            <p:extLst>
              <p:ext uri="{D42A27DB-BD31-4B8C-83A1-F6EECF244321}">
                <p14:modId xmlns:p14="http://schemas.microsoft.com/office/powerpoint/2010/main" val="1850373783"/>
              </p:ext>
            </p:extLst>
          </p:nvPr>
        </p:nvGraphicFramePr>
        <p:xfrm>
          <a:off x="5130427" y="2275037"/>
          <a:ext cx="1733378" cy="456152"/>
        </p:xfrm>
        <a:graphic>
          <a:graphicData uri="http://schemas.openxmlformats.org/presentationml/2006/ole">
            <mc:AlternateContent xmlns:mc="http://schemas.openxmlformats.org/markup-compatibility/2006">
              <mc:Choice xmlns:v="urn:schemas-microsoft-com:vml" Requires="v">
                <p:oleObj spid="_x0000_s7793" name="Equation" r:id="rId14" imgW="723600" imgH="190440" progId="Equation.DSMT4">
                  <p:embed/>
                </p:oleObj>
              </mc:Choice>
              <mc:Fallback>
                <p:oleObj name="Equation" r:id="rId14" imgW="723600" imgH="190440" progId="Equation.DSMT4">
                  <p:embed/>
                  <p:pic>
                    <p:nvPicPr>
                      <p:cNvPr id="0" name=""/>
                      <p:cNvPicPr/>
                      <p:nvPr/>
                    </p:nvPicPr>
                    <p:blipFill>
                      <a:blip r:embed="rId15"/>
                      <a:stretch>
                        <a:fillRect/>
                      </a:stretch>
                    </p:blipFill>
                    <p:spPr>
                      <a:xfrm>
                        <a:off x="5130427" y="2275037"/>
                        <a:ext cx="1733378" cy="456152"/>
                      </a:xfrm>
                      <a:prstGeom prst="rect">
                        <a:avLst/>
                      </a:prstGeom>
                      <a:ln w="15875">
                        <a:solidFill>
                          <a:srgbClr val="C00000"/>
                        </a:solidFill>
                      </a:ln>
                    </p:spPr>
                  </p:pic>
                </p:oleObj>
              </mc:Fallback>
            </mc:AlternateContent>
          </a:graphicData>
        </a:graphic>
      </p:graphicFrame>
      <p:graphicFrame>
        <p:nvGraphicFramePr>
          <p:cNvPr id="6" name="Object 5">
            <a:extLst>
              <a:ext uri="{FF2B5EF4-FFF2-40B4-BE49-F238E27FC236}">
                <a16:creationId xmlns:a16="http://schemas.microsoft.com/office/drawing/2014/main" id="{9328CFB5-4B7C-4D44-A168-2D016D5495BD}"/>
              </a:ext>
            </a:extLst>
          </p:cNvPr>
          <p:cNvGraphicFramePr>
            <a:graphicFrameLocks noChangeAspect="1"/>
          </p:cNvGraphicFramePr>
          <p:nvPr>
            <p:extLst>
              <p:ext uri="{D42A27DB-BD31-4B8C-83A1-F6EECF244321}">
                <p14:modId xmlns:p14="http://schemas.microsoft.com/office/powerpoint/2010/main" val="675820106"/>
              </p:ext>
            </p:extLst>
          </p:nvPr>
        </p:nvGraphicFramePr>
        <p:xfrm>
          <a:off x="4784113" y="845336"/>
          <a:ext cx="2357832" cy="751091"/>
        </p:xfrm>
        <a:graphic>
          <a:graphicData uri="http://schemas.openxmlformats.org/presentationml/2006/ole">
            <mc:AlternateContent xmlns:mc="http://schemas.openxmlformats.org/markup-compatibility/2006">
              <mc:Choice xmlns:v="urn:schemas-microsoft-com:vml" Requires="v">
                <p:oleObj spid="_x0000_s7794" name="Equation" r:id="rId16" imgW="2147560" imgH="684385" progId="Equation.DSMT4">
                  <p:embed/>
                </p:oleObj>
              </mc:Choice>
              <mc:Fallback>
                <p:oleObj name="Equation" r:id="rId16" imgW="2147560" imgH="684385" progId="Equation.DSMT4">
                  <p:embed/>
                  <p:pic>
                    <p:nvPicPr>
                      <p:cNvPr id="0" name=""/>
                      <p:cNvPicPr/>
                      <p:nvPr/>
                    </p:nvPicPr>
                    <p:blipFill>
                      <a:blip r:embed="rId17"/>
                      <a:stretch>
                        <a:fillRect/>
                      </a:stretch>
                    </p:blipFill>
                    <p:spPr>
                      <a:xfrm>
                        <a:off x="4784113" y="845336"/>
                        <a:ext cx="2357832" cy="751091"/>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D03DF87A-BDF1-47E9-B8C6-086066586D78}"/>
              </a:ext>
            </a:extLst>
          </p:cNvPr>
          <p:cNvGraphicFramePr>
            <a:graphicFrameLocks noChangeAspect="1"/>
          </p:cNvGraphicFramePr>
          <p:nvPr>
            <p:extLst>
              <p:ext uri="{D42A27DB-BD31-4B8C-83A1-F6EECF244321}">
                <p14:modId xmlns:p14="http://schemas.microsoft.com/office/powerpoint/2010/main" val="279060667"/>
              </p:ext>
            </p:extLst>
          </p:nvPr>
        </p:nvGraphicFramePr>
        <p:xfrm>
          <a:off x="2901950" y="3062288"/>
          <a:ext cx="2271713" cy="803275"/>
        </p:xfrm>
        <a:graphic>
          <a:graphicData uri="http://schemas.openxmlformats.org/presentationml/2006/ole">
            <mc:AlternateContent xmlns:mc="http://schemas.openxmlformats.org/markup-compatibility/2006">
              <mc:Choice xmlns:v="urn:schemas-microsoft-com:vml" Requires="v">
                <p:oleObj spid="_x0000_s7795" name="Equation" r:id="rId18" imgW="1257120" imgH="444240" progId="Equation.DSMT4">
                  <p:embed/>
                </p:oleObj>
              </mc:Choice>
              <mc:Fallback>
                <p:oleObj name="Equation" r:id="rId18" imgW="1257120" imgH="444240" progId="Equation.DSMT4">
                  <p:embed/>
                  <p:pic>
                    <p:nvPicPr>
                      <p:cNvPr id="6" name="Object 5">
                        <a:extLst>
                          <a:ext uri="{FF2B5EF4-FFF2-40B4-BE49-F238E27FC236}">
                            <a16:creationId xmlns:a16="http://schemas.microsoft.com/office/drawing/2014/main" id="{9328CFB5-4B7C-4D44-A168-2D016D5495BD}"/>
                          </a:ext>
                        </a:extLst>
                      </p:cNvPr>
                      <p:cNvPicPr/>
                      <p:nvPr/>
                    </p:nvPicPr>
                    <p:blipFill>
                      <a:blip r:embed="rId19"/>
                      <a:stretch>
                        <a:fillRect/>
                      </a:stretch>
                    </p:blipFill>
                    <p:spPr>
                      <a:xfrm>
                        <a:off x="2901950" y="3062288"/>
                        <a:ext cx="2271713" cy="80327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2325FC0E-72DD-4704-A1D1-D3A37887FC5F}"/>
              </a:ext>
            </a:extLst>
          </p:cNvPr>
          <p:cNvGraphicFramePr>
            <a:graphicFrameLocks noChangeAspect="1"/>
          </p:cNvGraphicFramePr>
          <p:nvPr>
            <p:extLst>
              <p:ext uri="{D42A27DB-BD31-4B8C-83A1-F6EECF244321}">
                <p14:modId xmlns:p14="http://schemas.microsoft.com/office/powerpoint/2010/main" val="1945005130"/>
              </p:ext>
            </p:extLst>
          </p:nvPr>
        </p:nvGraphicFramePr>
        <p:xfrm>
          <a:off x="6863805" y="3463925"/>
          <a:ext cx="1415047" cy="853908"/>
        </p:xfrm>
        <a:graphic>
          <a:graphicData uri="http://schemas.openxmlformats.org/presentationml/2006/ole">
            <mc:AlternateContent xmlns:mc="http://schemas.openxmlformats.org/markup-compatibility/2006">
              <mc:Choice xmlns:v="urn:schemas-microsoft-com:vml" Requires="v">
                <p:oleObj spid="_x0000_s7796" name="Equation" r:id="rId20" imgW="736560" imgH="444240" progId="Equation.DSMT4">
                  <p:embed/>
                </p:oleObj>
              </mc:Choice>
              <mc:Fallback>
                <p:oleObj name="Equation" r:id="rId20" imgW="736560" imgH="444240" progId="Equation.DSMT4">
                  <p:embed/>
                  <p:pic>
                    <p:nvPicPr>
                      <p:cNvPr id="0" name=""/>
                      <p:cNvPicPr/>
                      <p:nvPr/>
                    </p:nvPicPr>
                    <p:blipFill>
                      <a:blip r:embed="rId21"/>
                      <a:stretch>
                        <a:fillRect/>
                      </a:stretch>
                    </p:blipFill>
                    <p:spPr>
                      <a:xfrm>
                        <a:off x="6863805" y="3463925"/>
                        <a:ext cx="1415047" cy="853908"/>
                      </a:xfrm>
                      <a:prstGeom prst="rect">
                        <a:avLst/>
                      </a:prstGeom>
                      <a:ln>
                        <a:solidFill>
                          <a:srgbClr val="C00000"/>
                        </a:solidFill>
                      </a:ln>
                    </p:spPr>
                  </p:pic>
                </p:oleObj>
              </mc:Fallback>
            </mc:AlternateContent>
          </a:graphicData>
        </a:graphic>
      </p:graphicFrame>
    </p:spTree>
    <p:extLst>
      <p:ext uri="{BB962C8B-B14F-4D97-AF65-F5344CB8AC3E}">
        <p14:creationId xmlns:p14="http://schemas.microsoft.com/office/powerpoint/2010/main" val="3555750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800"/>
                                        </p:tgtEl>
                                        <p:attrNameLst>
                                          <p:attrName>style.visibility</p:attrName>
                                        </p:attrNameLst>
                                      </p:cBhvr>
                                      <p:to>
                                        <p:strVal val="visible"/>
                                      </p:to>
                                    </p:set>
                                    <p:animEffect transition="in" filter="fade">
                                      <p:cBhvr>
                                        <p:cTn id="22" dur="500"/>
                                        <p:tgtEl>
                                          <p:spTgt spid="33800"/>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3"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00" y="117869"/>
            <a:ext cx="12067200" cy="576064"/>
          </a:xfrm>
        </p:spPr>
        <p:txBody>
          <a:bodyPr/>
          <a:lstStyle/>
          <a:p>
            <a:r>
              <a:rPr lang="en-US" altLang="zh-CN" sz="2400" dirty="0"/>
              <a:t>The principles of Lasers (light amplification by stimulated emission radiations)</a:t>
            </a:r>
            <a:endParaRPr lang="zh-CN" altLang="en-US" sz="2400" dirty="0"/>
          </a:p>
        </p:txBody>
      </p:sp>
      <p:pic>
        <p:nvPicPr>
          <p:cNvPr id="3277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889" y="2395680"/>
            <a:ext cx="3534596" cy="6944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7"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6508" y="1341403"/>
            <a:ext cx="2295311" cy="715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778"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8276" y="3306176"/>
            <a:ext cx="2318893" cy="778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Object 2"/>
          <p:cNvGraphicFramePr>
            <a:graphicFrameLocks noChangeAspect="1"/>
          </p:cNvGraphicFramePr>
          <p:nvPr>
            <p:extLst>
              <p:ext uri="{D42A27DB-BD31-4B8C-83A1-F6EECF244321}">
                <p14:modId xmlns:p14="http://schemas.microsoft.com/office/powerpoint/2010/main" val="3767145098"/>
              </p:ext>
            </p:extLst>
          </p:nvPr>
        </p:nvGraphicFramePr>
        <p:xfrm>
          <a:off x="3848579" y="5068195"/>
          <a:ext cx="3837112" cy="584934"/>
        </p:xfrm>
        <a:graphic>
          <a:graphicData uri="http://schemas.openxmlformats.org/presentationml/2006/ole">
            <mc:AlternateContent xmlns:mc="http://schemas.openxmlformats.org/markup-compatibility/2006">
              <mc:Choice xmlns:v="urn:schemas-microsoft-com:vml" Requires="v">
                <p:oleObj spid="_x0000_s5634" name="Equation" r:id="rId6" imgW="4660560" imgH="711000" progId="Equation.DSMT4">
                  <p:embed/>
                </p:oleObj>
              </mc:Choice>
              <mc:Fallback>
                <p:oleObj name="Equation" r:id="rId6" imgW="4660560" imgH="711000" progId="Equation.DSMT4">
                  <p:embed/>
                  <p:pic>
                    <p:nvPicPr>
                      <p:cNvPr id="3" name="Object 2"/>
                      <p:cNvPicPr/>
                      <p:nvPr/>
                    </p:nvPicPr>
                    <p:blipFill>
                      <a:blip r:embed="rId7"/>
                      <a:stretch>
                        <a:fillRect/>
                      </a:stretch>
                    </p:blipFill>
                    <p:spPr>
                      <a:xfrm>
                        <a:off x="3848579" y="5068195"/>
                        <a:ext cx="3837112" cy="584934"/>
                      </a:xfrm>
                      <a:prstGeom prst="rect">
                        <a:avLst/>
                      </a:prstGeom>
                    </p:spPr>
                  </p:pic>
                </p:oleObj>
              </mc:Fallback>
            </mc:AlternateContent>
          </a:graphicData>
        </a:graphic>
      </p:graphicFrame>
      <p:sp>
        <p:nvSpPr>
          <p:cNvPr id="4" name="TextBox 3"/>
          <p:cNvSpPr txBox="1"/>
          <p:nvPr/>
        </p:nvSpPr>
        <p:spPr>
          <a:xfrm>
            <a:off x="931488" y="4198595"/>
            <a:ext cx="10471316" cy="646331"/>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Because the spontaneously emitted photons go in all directions, they have negligible contribution to the number of photons in the same mode as the incident radiation. The net gain of photons in the same mode is</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p:cNvSpPr txBox="1"/>
              <p:nvPr/>
            </p:nvSpPr>
            <p:spPr>
              <a:xfrm>
                <a:off x="2943207" y="5666594"/>
                <a:ext cx="6447877" cy="873572"/>
              </a:xfrm>
              <a:prstGeom prst="rect">
                <a:avLst/>
              </a:prstGeom>
              <a:noFill/>
            </p:spPr>
            <p:txBody>
              <a:bodyPr wrap="square" rtlCol="0">
                <a:spAutoFit/>
              </a:bodyPr>
              <a:lstStyle/>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If </a:t>
                </a:r>
                <a14:m>
                  <m:oMath xmlns:m="http://schemas.openxmlformats.org/officeDocument/2006/math">
                    <m:sSub>
                      <m:sSubPr>
                        <m:ctrlPr>
                          <a:rPr lang="en-US" altLang="zh-CN" i="1">
                            <a:latin typeface="Cambria Math" panose="02040503050406030204" pitchFamily="18" charset="0"/>
                            <a:ea typeface="黑体" panose="02010609060101010101" pitchFamily="49" charset="-122"/>
                          </a:rPr>
                        </m:ctrlPr>
                      </m:sSubPr>
                      <m:e>
                        <m:r>
                          <a:rPr lang="en-US" altLang="zh-CN">
                            <a:latin typeface="Cambria Math" panose="02040503050406030204" pitchFamily="18" charset="0"/>
                            <a:ea typeface="黑体" panose="02010609060101010101" pitchFamily="49" charset="-122"/>
                          </a:rPr>
                          <m:t>𝑁</m:t>
                        </m:r>
                      </m:e>
                      <m:sub>
                        <m:r>
                          <a:rPr lang="en-US" altLang="zh-CN">
                            <a:latin typeface="Cambria Math" panose="02040503050406030204" pitchFamily="18" charset="0"/>
                            <a:ea typeface="黑体" panose="02010609060101010101" pitchFamily="49" charset="-122"/>
                          </a:rPr>
                          <m:t>2</m:t>
                        </m:r>
                      </m:sub>
                    </m:sSub>
                    <m:r>
                      <a:rPr lang="en-US" altLang="zh-CN" b="0" i="0" smtClean="0">
                        <a:latin typeface="Cambria Math" panose="02040503050406030204" pitchFamily="18" charset="0"/>
                        <a:ea typeface="黑体" panose="02010609060101010101" pitchFamily="49" charset="-122"/>
                      </a:rPr>
                      <m:t>&lt;</m:t>
                    </m:r>
                    <m:sSub>
                      <m:sSubPr>
                        <m:ctrlPr>
                          <a:rPr lang="en-US" altLang="zh-CN" i="1">
                            <a:latin typeface="Cambria Math" panose="02040503050406030204" pitchFamily="18" charset="0"/>
                            <a:ea typeface="黑体" panose="02010609060101010101" pitchFamily="49" charset="-122"/>
                          </a:rPr>
                        </m:ctrlPr>
                      </m:sSubPr>
                      <m:e>
                        <m:r>
                          <a:rPr lang="en-US" altLang="zh-CN">
                            <a:latin typeface="Cambria Math" panose="02040503050406030204" pitchFamily="18" charset="0"/>
                            <a:ea typeface="黑体" panose="02010609060101010101" pitchFamily="49" charset="-122"/>
                          </a:rPr>
                          <m:t>𝑁</m:t>
                        </m:r>
                      </m:e>
                      <m:sub>
                        <m:r>
                          <a:rPr lang="en-US" altLang="zh-CN">
                            <a:latin typeface="Cambria Math" panose="02040503050406030204" pitchFamily="18" charset="0"/>
                            <a:ea typeface="黑体" panose="02010609060101010101" pitchFamily="49" charset="-122"/>
                          </a:rPr>
                          <m:t>1</m:t>
                        </m:r>
                      </m:sub>
                    </m:sSub>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 negative gain, light is weakened</a:t>
                </a:r>
              </a:p>
              <a:p>
                <a:pPr>
                  <a:lnSpc>
                    <a:spcPct val="150000"/>
                  </a:lnSpc>
                </a:pPr>
                <a:r>
                  <a:rPr lang="en-US" altLang="zh-CN" dirty="0">
                    <a:latin typeface="Times New Roman" panose="02020603050405020304" pitchFamily="18" charset="0"/>
                    <a:ea typeface="黑体" panose="02010609060101010101" pitchFamily="49" charset="-122"/>
                    <a:cs typeface="Times New Roman" panose="02020603050405020304" pitchFamily="18" charset="0"/>
                  </a:rPr>
                  <a:t>If </a:t>
                </a:r>
                <a14:m>
                  <m:oMath xmlns:m="http://schemas.openxmlformats.org/officeDocument/2006/math">
                    <m:sSub>
                      <m:sSubPr>
                        <m:ctrlPr>
                          <a:rPr lang="en-US" altLang="zh-CN" i="1">
                            <a:latin typeface="Cambria Math" panose="02040503050406030204" pitchFamily="18" charset="0"/>
                            <a:ea typeface="黑体" panose="02010609060101010101" pitchFamily="49" charset="-122"/>
                          </a:rPr>
                        </m:ctrlPr>
                      </m:sSubPr>
                      <m:e>
                        <m:r>
                          <a:rPr lang="en-US" altLang="zh-CN">
                            <a:latin typeface="Cambria Math" panose="02040503050406030204" pitchFamily="18" charset="0"/>
                            <a:ea typeface="黑体" panose="02010609060101010101" pitchFamily="49" charset="-122"/>
                          </a:rPr>
                          <m:t>𝑁</m:t>
                        </m:r>
                      </m:e>
                      <m:sub>
                        <m:r>
                          <a:rPr lang="en-US" altLang="zh-CN">
                            <a:latin typeface="Cambria Math" panose="02040503050406030204" pitchFamily="18" charset="0"/>
                            <a:ea typeface="黑体" panose="02010609060101010101" pitchFamily="49" charset="-122"/>
                          </a:rPr>
                          <m:t>2</m:t>
                        </m:r>
                      </m:sub>
                    </m:sSub>
                    <m:r>
                      <a:rPr lang="en-US" altLang="zh-CN">
                        <a:latin typeface="Cambria Math" panose="02040503050406030204" pitchFamily="18" charset="0"/>
                        <a:ea typeface="黑体" panose="02010609060101010101" pitchFamily="49" charset="-122"/>
                      </a:rPr>
                      <m:t>&gt;</m:t>
                    </m:r>
                    <m:sSub>
                      <m:sSubPr>
                        <m:ctrlPr>
                          <a:rPr lang="en-US" altLang="zh-CN" i="1">
                            <a:latin typeface="Cambria Math" panose="02040503050406030204" pitchFamily="18" charset="0"/>
                            <a:ea typeface="黑体" panose="02010609060101010101" pitchFamily="49" charset="-122"/>
                          </a:rPr>
                        </m:ctrlPr>
                      </m:sSubPr>
                      <m:e>
                        <m:r>
                          <a:rPr lang="en-US" altLang="zh-CN">
                            <a:latin typeface="Cambria Math" panose="02040503050406030204" pitchFamily="18" charset="0"/>
                            <a:ea typeface="黑体" panose="02010609060101010101" pitchFamily="49" charset="-122"/>
                          </a:rPr>
                          <m:t>𝑁</m:t>
                        </m:r>
                      </m:e>
                      <m:sub>
                        <m:r>
                          <a:rPr lang="en-US" altLang="zh-CN">
                            <a:latin typeface="Cambria Math" panose="02040503050406030204" pitchFamily="18" charset="0"/>
                            <a:ea typeface="黑体" panose="02010609060101010101" pitchFamily="49" charset="-122"/>
                          </a:rPr>
                          <m:t>1</m:t>
                        </m:r>
                      </m:sub>
                    </m:sSub>
                  </m:oMath>
                </a14:m>
                <a:r>
                  <a:rPr lang="en-US" altLang="zh-CN" dirty="0">
                    <a:latin typeface="Times New Roman" panose="02020603050405020304" pitchFamily="18" charset="0"/>
                    <a:ea typeface="黑体" panose="02010609060101010101" pitchFamily="49" charset="-122"/>
                    <a:cs typeface="Times New Roman" panose="02020603050405020304" pitchFamily="18" charset="0"/>
                  </a:rPr>
                  <a:t>(population inversion), positive gain, light is amplified</a:t>
                </a:r>
                <a:endParaRPr lang="en-US"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2943207" y="5666594"/>
                <a:ext cx="6447877" cy="873572"/>
              </a:xfrm>
              <a:prstGeom prst="rect">
                <a:avLst/>
              </a:prstGeom>
              <a:blipFill>
                <a:blip r:embed="rId9"/>
                <a:stretch>
                  <a:fillRect l="-851" b="-10490"/>
                </a:stretch>
              </a:blipFill>
            </p:spPr>
            <p:txBody>
              <a:bodyPr/>
              <a:lstStyle/>
              <a:p>
                <a:r>
                  <a:rPr lang="zh-CN" altLang="en-US">
                    <a:noFill/>
                  </a:rPr>
                  <a:t> </a:t>
                </a:r>
              </a:p>
            </p:txBody>
          </p:sp>
        </mc:Fallback>
      </mc:AlternateContent>
      <p:sp>
        <p:nvSpPr>
          <p:cNvPr id="7" name="TextBox 6"/>
          <p:cNvSpPr txBox="1"/>
          <p:nvPr/>
        </p:nvSpPr>
        <p:spPr>
          <a:xfrm>
            <a:off x="7608518" y="2513112"/>
            <a:ext cx="2428870" cy="369332"/>
          </a:xfrm>
          <a:prstGeom prst="rect">
            <a:avLst/>
          </a:prstGeom>
          <a:noFill/>
        </p:spPr>
        <p:txBody>
          <a:bodyPr wrap="non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stimulated emission rate</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TextBox 13"/>
          <p:cNvSpPr txBox="1"/>
          <p:nvPr/>
        </p:nvSpPr>
        <p:spPr>
          <a:xfrm>
            <a:off x="7608518" y="3538879"/>
            <a:ext cx="2582758" cy="369332"/>
          </a:xfrm>
          <a:prstGeom prst="rect">
            <a:avLst/>
          </a:prstGeom>
          <a:noFill/>
        </p:spPr>
        <p:txBody>
          <a:bodyPr wrap="non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stimulated absorption rate</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TextBox 14">
            <a:extLst>
              <a:ext uri="{FF2B5EF4-FFF2-40B4-BE49-F238E27FC236}">
                <a16:creationId xmlns:a16="http://schemas.microsoft.com/office/drawing/2014/main" id="{21C02484-0D01-4542-ADEE-5C4095F1CF22}"/>
              </a:ext>
            </a:extLst>
          </p:cNvPr>
          <p:cNvSpPr txBox="1"/>
          <p:nvPr/>
        </p:nvSpPr>
        <p:spPr>
          <a:xfrm>
            <a:off x="7563291" y="1494108"/>
            <a:ext cx="3942308" cy="369332"/>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spontaneous emission rate</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816AEBA-F27C-4595-BF29-BBF1B5098191}"/>
                  </a:ext>
                </a:extLst>
              </p:cNvPr>
              <p:cNvSpPr txBox="1"/>
              <p:nvPr/>
            </p:nvSpPr>
            <p:spPr>
              <a:xfrm>
                <a:off x="4942660" y="3511828"/>
                <a:ext cx="2665858" cy="3975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𝑁</m:t>
                          </m:r>
                        </m:e>
                        <m:sub>
                          <m:r>
                            <a:rPr lang="en-US" altLang="zh-CN" i="1">
                              <a:latin typeface="Cambria Math" panose="02040503050406030204" pitchFamily="18" charset="0"/>
                            </a:rPr>
                            <m:t>12</m:t>
                          </m:r>
                        </m:sub>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𝑑𝑡</m:t>
                      </m:r>
                      <m:r>
                        <a:rPr lang="en-US" altLang="zh-CN" i="1">
                          <a:latin typeface="Cambria Math" panose="02040503050406030204" pitchFamily="18" charset="0"/>
                        </a:rPr>
                        <m:t> =</m:t>
                      </m:r>
                      <m:r>
                        <a:rPr lang="en-US" altLang="zh-CN" b="0" i="1" smtClean="0">
                          <a:latin typeface="Cambria Math" panose="02040503050406030204" pitchFamily="18" charset="0"/>
                        </a:rPr>
                        <m:t>𝐵𝑢</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𝜈</m:t>
                          </m:r>
                        </m:e>
                      </m:d>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m:oMathPara>
                </a14:m>
                <a:endParaRPr lang="en-US" altLang="zh-CN" i="1" dirty="0">
                  <a:latin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4816AEBA-F27C-4595-BF29-BBF1B5098191}"/>
                  </a:ext>
                </a:extLst>
              </p:cNvPr>
              <p:cNvSpPr txBox="1">
                <a:spLocks noRot="1" noChangeAspect="1" noMove="1" noResize="1" noEditPoints="1" noAdjustHandles="1" noChangeArrowheads="1" noChangeShapeType="1" noTextEdit="1"/>
              </p:cNvSpPr>
              <p:nvPr/>
            </p:nvSpPr>
            <p:spPr>
              <a:xfrm>
                <a:off x="4942660" y="3511828"/>
                <a:ext cx="2665858" cy="397545"/>
              </a:xfrm>
              <a:prstGeom prst="rect">
                <a:avLst/>
              </a:prstGeom>
              <a:blipFill>
                <a:blip r:embed="rId10"/>
                <a:stretch>
                  <a:fillRect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2E981B3-9FA4-433F-B325-CAD666C33BF5}"/>
                  </a:ext>
                </a:extLst>
              </p:cNvPr>
              <p:cNvSpPr txBox="1"/>
              <p:nvPr/>
            </p:nvSpPr>
            <p:spPr>
              <a:xfrm>
                <a:off x="4942660" y="2513112"/>
                <a:ext cx="2574268" cy="369332"/>
              </a:xfrm>
              <a:prstGeom prst="rect">
                <a:avLst/>
              </a:prstGeom>
              <a:noFill/>
            </p:spPr>
            <p:txBody>
              <a:bodyPr wrap="square" rtlCol="0">
                <a:spAutoFit/>
              </a:bodyPr>
              <a:lstStyle/>
              <a:p>
                <a:r>
                  <a:rPr lang="en-US" altLang="zh-CN" b="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altLang="zh-CN" b="0" i="1" smtClean="0">
                        <a:solidFill>
                          <a:schemeClr val="tx1"/>
                        </a:solidFill>
                        <a:latin typeface="Cambria Math" panose="02040503050406030204" pitchFamily="18" charset="0"/>
                      </a:rPr>
                      <m:t>𝑑</m:t>
                    </m:r>
                    <m:sSubSup>
                      <m:sSubSupPr>
                        <m:ctrlPr>
                          <a:rPr lang="en-US" altLang="zh-CN" i="1" smtClean="0">
                            <a:solidFill>
                              <a:schemeClr val="tx1"/>
                            </a:solidFill>
                            <a:latin typeface="Cambria Math" panose="02040503050406030204" pitchFamily="18" charset="0"/>
                          </a:rPr>
                        </m:ctrlPr>
                      </m:sSubSupPr>
                      <m:e>
                        <m:r>
                          <a:rPr lang="en-US" altLang="zh-CN" b="0" i="1" smtClean="0">
                            <a:solidFill>
                              <a:schemeClr val="tx1"/>
                            </a:solidFill>
                            <a:latin typeface="Cambria Math" panose="02040503050406030204" pitchFamily="18" charset="0"/>
                          </a:rPr>
                          <m:t>𝑁</m:t>
                        </m:r>
                      </m:e>
                      <m:sub>
                        <m:r>
                          <a:rPr lang="en-US" altLang="zh-CN" b="0" i="1" smtClean="0">
                            <a:solidFill>
                              <a:schemeClr val="tx1"/>
                            </a:solidFill>
                            <a:latin typeface="Cambria Math" panose="02040503050406030204" pitchFamily="18" charset="0"/>
                          </a:rPr>
                          <m:t>21</m:t>
                        </m:r>
                      </m:sub>
                      <m:sup>
                        <m:r>
                          <a:rPr lang="en-US" altLang="zh-CN" b="0" i="1" smtClean="0">
                            <a:solidFill>
                              <a:schemeClr val="tx1"/>
                            </a:solidFill>
                            <a:latin typeface="Cambria Math" panose="02040503050406030204" pitchFamily="18" charset="0"/>
                          </a:rPr>
                          <m:t>′′</m:t>
                        </m:r>
                      </m:sup>
                    </m:sSubSup>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𝑑𝑡</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𝐵𝑢</m:t>
                    </m:r>
                    <m:d>
                      <m:dPr>
                        <m:ctrlPr>
                          <a:rPr lang="en-US" altLang="zh-CN" i="1" smtClean="0">
                            <a:solidFill>
                              <a:schemeClr val="tx1"/>
                            </a:solidFill>
                            <a:latin typeface="Cambria Math" panose="02040503050406030204" pitchFamily="18" charset="0"/>
                          </a:rPr>
                        </m:ctrlPr>
                      </m:dPr>
                      <m:e>
                        <m:r>
                          <a:rPr lang="en-US" altLang="zh-CN" b="0" i="1" smtClean="0">
                            <a:solidFill>
                              <a:schemeClr val="tx1"/>
                            </a:solidFill>
                            <a:latin typeface="Cambria Math" panose="02040503050406030204" pitchFamily="18" charset="0"/>
                          </a:rPr>
                          <m:t>𝑣</m:t>
                        </m:r>
                      </m:e>
                    </m:d>
                    <m:sSub>
                      <m:sSubPr>
                        <m:ctrlPr>
                          <a:rPr lang="en-US" altLang="zh-CN"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𝑁</m:t>
                        </m:r>
                      </m:e>
                      <m:sub>
                        <m:r>
                          <a:rPr lang="en-US" altLang="zh-CN" b="0" i="1" smtClean="0">
                            <a:solidFill>
                              <a:schemeClr val="tx1"/>
                            </a:solidFill>
                            <a:latin typeface="Cambria Math" panose="02040503050406030204" pitchFamily="18" charset="0"/>
                          </a:rPr>
                          <m:t>2</m:t>
                        </m:r>
                      </m:sub>
                    </m:sSub>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𝑡</m:t>
                    </m:r>
                    <m:r>
                      <a:rPr lang="en-US" altLang="zh-CN" b="0" i="1" smtClean="0">
                        <a:solidFill>
                          <a:schemeClr val="tx1"/>
                        </a:solidFill>
                        <a:latin typeface="Cambria Math" panose="02040503050406030204" pitchFamily="18" charset="0"/>
                      </a:rPr>
                      <m:t>)</m:t>
                    </m:r>
                  </m:oMath>
                </a14:m>
                <a:endParaRPr lang="en-US" altLang="zh-CN"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52E981B3-9FA4-433F-B325-CAD666C33BF5}"/>
                  </a:ext>
                </a:extLst>
              </p:cNvPr>
              <p:cNvSpPr txBox="1">
                <a:spLocks noRot="1" noChangeAspect="1" noMove="1" noResize="1" noEditPoints="1" noAdjustHandles="1" noChangeArrowheads="1" noChangeShapeType="1" noTextEdit="1"/>
              </p:cNvSpPr>
              <p:nvPr/>
            </p:nvSpPr>
            <p:spPr>
              <a:xfrm>
                <a:off x="4942660" y="2513112"/>
                <a:ext cx="2574268" cy="369332"/>
              </a:xfrm>
              <a:prstGeom prst="rect">
                <a:avLst/>
              </a:prstGeom>
              <a:blipFill>
                <a:blip r:embed="rId11"/>
                <a:stretch>
                  <a:fillRect b="-1475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1E9636F-7B49-4005-B10B-99575F11738F}"/>
                  </a:ext>
                </a:extLst>
              </p:cNvPr>
              <p:cNvSpPr txBox="1"/>
              <p:nvPr/>
            </p:nvSpPr>
            <p:spPr>
              <a:xfrm>
                <a:off x="4714411" y="1497338"/>
                <a:ext cx="257426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b="0" i="1">
                              <a:latin typeface="Cambria Math" panose="02040503050406030204" pitchFamily="18" charset="0"/>
                            </a:rPr>
                            <m:t>𝑁</m:t>
                          </m:r>
                        </m:e>
                        <m:sub>
                          <m:r>
                            <a:rPr lang="en-US" altLang="zh-CN" b="0" i="1">
                              <a:latin typeface="Cambria Math" panose="02040503050406030204" pitchFamily="18" charset="0"/>
                            </a:rPr>
                            <m:t>21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m:t>
                      </m:r>
                      <m:r>
                        <a:rPr lang="en-US" altLang="zh-CN" b="0" i="1" smtClean="0">
                          <a:latin typeface="Cambria Math" panose="02040503050406030204" pitchFamily="18" charset="0"/>
                        </a:rPr>
                        <m:t>𝑑𝑡</m:t>
                      </m:r>
                      <m:r>
                        <a:rPr lang="en-US" altLang="zh-CN" b="0" i="1" smtClean="0">
                          <a:latin typeface="Cambria Math" panose="02040503050406030204" pitchFamily="18" charset="0"/>
                        </a:rPr>
                        <m:t>=</m:t>
                      </m:r>
                      <m:r>
                        <a:rPr lang="en-US" altLang="zh-CN" b="0" i="1" smtClean="0">
                          <a:latin typeface="Cambria Math" panose="02040503050406030204" pitchFamily="18" charset="0"/>
                        </a:rPr>
                        <m:t>𝐴</m:t>
                      </m:r>
                      <m:sSub>
                        <m:sSubPr>
                          <m:ctrlPr>
                            <a:rPr lang="en-US" altLang="zh-CN" i="1">
                              <a:latin typeface="Cambria Math" panose="02040503050406030204" pitchFamily="18" charset="0"/>
                            </a:rPr>
                          </m:ctrlPr>
                        </m:sSubPr>
                        <m:e>
                          <m:r>
                            <a:rPr lang="en-US" altLang="zh-CN" b="0" i="1">
                              <a:latin typeface="Cambria Math" panose="02040503050406030204" pitchFamily="18" charset="0"/>
                            </a:rPr>
                            <m:t>𝑁</m:t>
                          </m:r>
                        </m:e>
                        <m:sub>
                          <m:r>
                            <a:rPr lang="en-US" altLang="zh-CN" b="0" i="1">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m:oMathPara>
                </a14:m>
                <a:endParaRPr lang="en-US" altLang="zh-CN" sz="1400" i="1"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81E9636F-7B49-4005-B10B-99575F11738F}"/>
                  </a:ext>
                </a:extLst>
              </p:cNvPr>
              <p:cNvSpPr txBox="1">
                <a:spLocks noRot="1" noChangeAspect="1" noMove="1" noResize="1" noEditPoints="1" noAdjustHandles="1" noChangeArrowheads="1" noChangeShapeType="1" noTextEdit="1"/>
              </p:cNvSpPr>
              <p:nvPr/>
            </p:nvSpPr>
            <p:spPr>
              <a:xfrm>
                <a:off x="4714411" y="1497338"/>
                <a:ext cx="2574268" cy="369332"/>
              </a:xfrm>
              <a:prstGeom prst="rect">
                <a:avLst/>
              </a:prstGeom>
              <a:blipFill>
                <a:blip r:embed="rId12"/>
                <a:stretch>
                  <a:fillRect b="-15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3363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5822"/>
            <a:ext cx="10972800" cy="576064"/>
          </a:xfrm>
        </p:spPr>
        <p:txBody>
          <a:bodyPr/>
          <a:lstStyle/>
          <a:p>
            <a:r>
              <a:rPr lang="en-US" altLang="zh-CN" dirty="0"/>
              <a:t>How to make a Laser</a:t>
            </a:r>
            <a:endParaRPr lang="en-US" dirty="0"/>
          </a:p>
        </p:txBody>
      </p:sp>
      <p:sp>
        <p:nvSpPr>
          <p:cNvPr id="4" name="TextBox 3"/>
          <p:cNvSpPr txBox="1"/>
          <p:nvPr/>
        </p:nvSpPr>
        <p:spPr>
          <a:xfrm>
            <a:off x="1328292" y="718130"/>
            <a:ext cx="3526928" cy="400110"/>
          </a:xfrm>
          <a:prstGeom prst="rect">
            <a:avLst/>
          </a:prstGeom>
          <a:noFill/>
        </p:spPr>
        <p:txBody>
          <a:bodyPr wrap="none" rtlCol="0">
            <a:spAutoFit/>
          </a:bodyPr>
          <a:lstStyle/>
          <a:p>
            <a:r>
              <a:rPr lang="en-US" altLang="zh-CN"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1. pumping population inversion</a:t>
            </a:r>
            <a:endParaRPr lang="en-US" sz="2000"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TextBox 5"/>
              <p:cNvSpPr txBox="1"/>
              <p:nvPr/>
            </p:nvSpPr>
            <p:spPr>
              <a:xfrm>
                <a:off x="517884" y="3992047"/>
                <a:ext cx="5678876" cy="2308324"/>
              </a:xfrm>
              <a:prstGeom prst="rect">
                <a:avLst/>
              </a:prstGeom>
              <a:noFill/>
            </p:spPr>
            <p:txBody>
              <a:bodyPr wrap="square" rtlCol="0">
                <a:spAutoFit/>
              </a:bodyPr>
              <a:lstStyle/>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Direct pumping won’t work. If a certain pumping mechanism (such as irradiating atoms with an ordinary light source) is used to excite atoms from </a:t>
                </a:r>
                <a14:m>
                  <m:oMath xmlns:m="http://schemas.openxmlformats.org/officeDocument/2006/math">
                    <m:sSub>
                      <m:sSubPr>
                        <m:ctrlPr>
                          <a:rPr lang="en-US" altLang="zh-CN" sz="1600" b="0" i="1" dirty="0"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dirty="0"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1</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to </a:t>
                </a:r>
                <a14:m>
                  <m:oMath xmlns:m="http://schemas.openxmlformats.org/officeDocument/2006/math">
                    <m:sSub>
                      <m:sSubPr>
                        <m:ctrlPr>
                          <a:rPr lang="en-US" altLang="zh-CN" sz="1600" b="0" i="1" dirty="0"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2</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this same mechanism will also stimulate transitions from </a:t>
                </a:r>
                <a14:m>
                  <m:oMath xmlns:m="http://schemas.openxmlformats.org/officeDocument/2006/math">
                    <m:sSub>
                      <m:sSubPr>
                        <m:ctrlPr>
                          <a:rPr lang="en-US" altLang="zh-CN" sz="1600" b="0" i="1" dirty="0"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2</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to </a:t>
                </a:r>
                <a14:m>
                  <m:oMath xmlns:m="http://schemas.openxmlformats.org/officeDocument/2006/math">
                    <m:sSub>
                      <m:sSubPr>
                        <m:ctrlPr>
                          <a:rPr lang="en-US" altLang="zh-CN" sz="1600" b="0" i="1" dirty="0"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i="1" dirty="0" smtClean="0">
                            <a:latin typeface="Cambria Math" panose="02040503050406030204" pitchFamily="18" charset="0"/>
                            <a:ea typeface="黑体" panose="02010609060101010101" pitchFamily="49" charset="-122"/>
                            <a:cs typeface="Times New Roman" panose="02020603050405020304" pitchFamily="18" charset="0"/>
                          </a:rPr>
                          <m:t>1</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at the same rate, making it impossible to achieve population inversion.</a:t>
                </a:r>
              </a:p>
              <a:p>
                <a:endParaRPr lang="en-US" altLang="zh-CN" sz="1600" b="1" dirty="0">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 third energy level </a:t>
                </a:r>
                <a14:m>
                  <m:oMath xmlns:m="http://schemas.openxmlformats.org/officeDocument/2006/math">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3</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is needed. If the decay rate of </a:t>
                </a:r>
                <a14:m>
                  <m:oMath xmlns:m="http://schemas.openxmlformats.org/officeDocument/2006/math">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3</m:t>
                        </m:r>
                      </m:sub>
                    </m:sSub>
                    <m:r>
                      <a:rPr lang="en-US" altLang="zh-CN" sz="1600" dirty="0">
                        <a:latin typeface="Cambria Math" panose="02040503050406030204" pitchFamily="18" charset="0"/>
                        <a:ea typeface="黑体" panose="02010609060101010101" pitchFamily="49" charset="-122"/>
                        <a:cs typeface="Times New Roman" panose="02020603050405020304" pitchFamily="18" charset="0"/>
                      </a:rPr>
                      <m:t>→</m:t>
                    </m:r>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2</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is </a:t>
                </a:r>
                <a14:m>
                  <m:oMath xmlns:m="http://schemas.openxmlformats.org/officeDocument/2006/math">
                    <m:r>
                      <a:rPr lang="en-US" altLang="zh-CN" sz="16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the decay rates of </a:t>
                </a:r>
                <a14:m>
                  <m:oMath xmlns:m="http://schemas.openxmlformats.org/officeDocument/2006/math">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2</m:t>
                        </m:r>
                      </m:sub>
                    </m:sSub>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and </a:t>
                </a:r>
                <a14:m>
                  <m:oMath xmlns:m="http://schemas.openxmlformats.org/officeDocument/2006/math">
                    <m:sSub>
                      <m:sSubPr>
                        <m:ctrlPr>
                          <a:rPr lang="en-US" altLang="zh-CN" sz="16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i="1">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3</m:t>
                        </m:r>
                      </m:sub>
                    </m:sSub>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1600" i="1">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population inversion between </a:t>
                </a:r>
                <a14:m>
                  <m:oMath xmlns:m="http://schemas.openxmlformats.org/officeDocument/2006/math">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2</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and </a:t>
                </a:r>
                <a14:m>
                  <m:oMath xmlns:m="http://schemas.openxmlformats.org/officeDocument/2006/math">
                    <m:sSub>
                      <m:sSubPr>
                        <m:ctrlP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1</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 can be achieved by pumping </a:t>
                </a:r>
                <a14:m>
                  <m:oMath xmlns:m="http://schemas.openxmlformats.org/officeDocument/2006/math">
                    <m:sSub>
                      <m:sSubPr>
                        <m:ctrlPr>
                          <a:rPr lang="en-US" altLang="zh-CN" sz="1600" i="1">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1600" i="1">
                            <a:latin typeface="Cambria Math" panose="02040503050406030204" pitchFamily="18" charset="0"/>
                            <a:ea typeface="黑体" panose="02010609060101010101" pitchFamily="49" charset="-122"/>
                            <a:cs typeface="Times New Roman" panose="02020603050405020304" pitchFamily="18" charset="0"/>
                          </a:rPr>
                          <m:t>𝐸</m:t>
                        </m:r>
                      </m:e>
                      <m:sub>
                        <m:r>
                          <a:rPr lang="en-US" altLang="zh-CN" sz="1600" b="0" i="1" smtClean="0">
                            <a:latin typeface="Cambria Math" panose="02040503050406030204" pitchFamily="18" charset="0"/>
                            <a:ea typeface="黑体" panose="02010609060101010101" pitchFamily="49" charset="-122"/>
                            <a:cs typeface="Times New Roman" panose="02020603050405020304" pitchFamily="18" charset="0"/>
                          </a:rPr>
                          <m:t>1</m:t>
                        </m:r>
                      </m:sub>
                    </m:sSub>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ea typeface="Cambria Math" panose="02040503050406030204" pitchFamily="18" charset="0"/>
                            <a:cs typeface="Times New Roman" panose="02020603050405020304" pitchFamily="18" charset="0"/>
                          </a:rPr>
                          <m:t>𝐸</m:t>
                        </m:r>
                      </m:e>
                      <m:sub>
                        <m:r>
                          <a:rPr lang="en-US" altLang="zh-CN" sz="1600" b="0" i="1" smtClean="0">
                            <a:latin typeface="Cambria Math" panose="02040503050406030204" pitchFamily="18" charset="0"/>
                            <a:ea typeface="Cambria Math" panose="02040503050406030204" pitchFamily="18" charset="0"/>
                            <a:cs typeface="Times New Roman" panose="02020603050405020304" pitchFamily="18" charset="0"/>
                          </a:rPr>
                          <m:t>3</m:t>
                        </m:r>
                      </m:sub>
                    </m:sSub>
                  </m:oMath>
                </a14:m>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517884" y="3992047"/>
                <a:ext cx="5678876" cy="2308324"/>
              </a:xfrm>
              <a:prstGeom prst="rect">
                <a:avLst/>
              </a:prstGeom>
              <a:blipFill>
                <a:blip r:embed="rId3"/>
                <a:stretch>
                  <a:fillRect l="-644" t="-792" b="-2375"/>
                </a:stretch>
              </a:blipFill>
            </p:spPr>
            <p:txBody>
              <a:bodyPr/>
              <a:lstStyle/>
              <a:p>
                <a:r>
                  <a:rPr lang="zh-CN" altLang="en-US">
                    <a:noFill/>
                  </a:rPr>
                  <a:t> </a:t>
                </a:r>
              </a:p>
            </p:txBody>
          </p:sp>
        </mc:Fallback>
      </mc:AlternateContent>
      <p:sp>
        <p:nvSpPr>
          <p:cNvPr id="5" name="Rectangle 4"/>
          <p:cNvSpPr/>
          <p:nvPr/>
        </p:nvSpPr>
        <p:spPr>
          <a:xfrm>
            <a:off x="6450848" y="738213"/>
            <a:ext cx="1896673" cy="369332"/>
          </a:xfrm>
          <a:prstGeom prst="rect">
            <a:avLst/>
          </a:prstGeom>
        </p:spPr>
        <p:txBody>
          <a:bodyPr wrap="none">
            <a:spAutoFit/>
          </a:bodyPr>
          <a:lstStyle/>
          <a:p>
            <a:r>
              <a:rPr lang="en-US" altLang="zh-CN" dirty="0">
                <a:highlight>
                  <a:srgbClr val="FFFF00"/>
                </a:highlight>
                <a:latin typeface="Times New Roman" panose="02020603050405020304" pitchFamily="18" charset="0"/>
                <a:ea typeface="黑体" panose="02010609060101010101" pitchFamily="49" charset="-122"/>
                <a:cs typeface="Times New Roman" panose="02020603050405020304" pitchFamily="18" charset="0"/>
              </a:rPr>
              <a:t>2. Resonant cavity</a:t>
            </a:r>
          </a:p>
        </p:txBody>
      </p:sp>
      <p:pic>
        <p:nvPicPr>
          <p:cNvPr id="14" name="Picture 13"/>
          <p:cNvPicPr>
            <a:picLocks noChangeAspect="1"/>
          </p:cNvPicPr>
          <p:nvPr/>
        </p:nvPicPr>
        <p:blipFill>
          <a:blip r:embed="rId4"/>
          <a:stretch>
            <a:fillRect/>
          </a:stretch>
        </p:blipFill>
        <p:spPr>
          <a:xfrm>
            <a:off x="6336873" y="1114483"/>
            <a:ext cx="4521435" cy="2421406"/>
          </a:xfrm>
          <a:prstGeom prst="rect">
            <a:avLst/>
          </a:prstGeom>
        </p:spPr>
      </p:pic>
      <p:grpSp>
        <p:nvGrpSpPr>
          <p:cNvPr id="3" name="Group 2">
            <a:extLst>
              <a:ext uri="{FF2B5EF4-FFF2-40B4-BE49-F238E27FC236}">
                <a16:creationId xmlns:a16="http://schemas.microsoft.com/office/drawing/2014/main" id="{96BDEB55-717D-4A74-BBF6-6B61C083A1A1}"/>
              </a:ext>
            </a:extLst>
          </p:cNvPr>
          <p:cNvGrpSpPr/>
          <p:nvPr/>
        </p:nvGrpSpPr>
        <p:grpSpPr>
          <a:xfrm>
            <a:off x="1198433" y="1172031"/>
            <a:ext cx="4224592" cy="2766225"/>
            <a:chOff x="1198433" y="1172031"/>
            <a:chExt cx="4224592" cy="2766225"/>
          </a:xfrm>
        </p:grpSpPr>
        <p:grpSp>
          <p:nvGrpSpPr>
            <p:cNvPr id="17" name="Group 16"/>
            <p:cNvGrpSpPr/>
            <p:nvPr/>
          </p:nvGrpSpPr>
          <p:grpSpPr>
            <a:xfrm>
              <a:off x="1198433" y="1172031"/>
              <a:ext cx="4224592" cy="2766225"/>
              <a:chOff x="541966" y="1122428"/>
              <a:chExt cx="3945647" cy="2551924"/>
            </a:xfrm>
          </p:grpSpPr>
          <p:pic>
            <p:nvPicPr>
              <p:cNvPr id="37892" name="Picture 4" descr="http://www.google.com.hk/url?sa=i&amp;source=images&amp;cd=&amp;docid=tL2vfrpy1dl1aM&amp;tbnid=EroNd13Rq93owM:&amp;ved=0CAUQjBwwAA&amp;url=http%3A%2F%2Fwww.phy.cuhk.edu.hk%2Fphyworld%2Farticles%2Flaser%2F3-states_e.gif&amp;ei=z56gUr2_L8HsiAf9uoCIDQ&amp;psig=AFQjCNHnk25uC7AMzmCk6UbDnrWGrjkN-A&amp;ust=1386344527823948">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250" y="1122428"/>
                <a:ext cx="3645604" cy="2551924"/>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p:cNvGrpSpPr/>
              <p:nvPr/>
            </p:nvGrpSpPr>
            <p:grpSpPr>
              <a:xfrm>
                <a:off x="541966" y="2611974"/>
                <a:ext cx="1167675" cy="340719"/>
                <a:chOff x="618860" y="2613930"/>
                <a:chExt cx="1167675" cy="340719"/>
              </a:xfrm>
            </p:grpSpPr>
            <p:cxnSp>
              <p:nvCxnSpPr>
                <p:cNvPr id="10" name="Straight Arrow Connector 9"/>
                <p:cNvCxnSpPr/>
                <p:nvPr/>
              </p:nvCxnSpPr>
              <p:spPr>
                <a:xfrm flipV="1">
                  <a:off x="1554287" y="2769240"/>
                  <a:ext cx="232248" cy="3010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18860" y="2613930"/>
                  <a:ext cx="935027" cy="340719"/>
                </a:xfrm>
                <a:prstGeom prst="rect">
                  <a:avLst/>
                </a:prstGeom>
                <a:solidFill>
                  <a:schemeClr val="bg1"/>
                </a:solidFill>
              </p:spPr>
              <p:txBody>
                <a:bodyPr wrap="square" rtlCol="0">
                  <a:spAutoFit/>
                </a:bodyPr>
                <a:lstStyle/>
                <a:p>
                  <a:r>
                    <a:rPr lang="en-US" altLang="zh-CN" dirty="0">
                      <a:latin typeface="黑体" panose="02010609060101010101" pitchFamily="49" charset="-122"/>
                      <a:ea typeface="黑体" panose="02010609060101010101" pitchFamily="49" charset="-122"/>
                    </a:rPr>
                    <a:t>pumping</a:t>
                  </a:r>
                  <a:endParaRPr lang="zh-CN" altLang="en-US" dirty="0">
                    <a:latin typeface="黑体" panose="02010609060101010101" pitchFamily="49" charset="-122"/>
                    <a:ea typeface="黑体" panose="02010609060101010101" pitchFamily="49" charset="-122"/>
                  </a:endParaRPr>
                </a:p>
              </p:txBody>
            </p:sp>
          </p:grpSp>
          <p:sp>
            <p:nvSpPr>
              <p:cNvPr id="16" name="TextBox 15"/>
              <p:cNvSpPr txBox="1"/>
              <p:nvPr/>
            </p:nvSpPr>
            <p:spPr>
              <a:xfrm>
                <a:off x="4073717" y="3087423"/>
                <a:ext cx="413896" cy="369332"/>
              </a:xfrm>
              <a:prstGeom prst="rect">
                <a:avLst/>
              </a:prstGeom>
              <a:noFill/>
            </p:spPr>
            <p:txBody>
              <a:bodyPr wrap="none" rtlCol="0">
                <a:spAutoFit/>
              </a:bodyPr>
              <a:lstStyle/>
              <a:p>
                <a:r>
                  <a:rPr lang="en-US" altLang="zh-CN" dirty="0"/>
                  <a:t>E1</a:t>
                </a:r>
                <a:endParaRPr lang="zh-CN" altLang="en-US" dirty="0"/>
              </a:p>
            </p:txBody>
          </p:sp>
          <p:sp>
            <p:nvSpPr>
              <p:cNvPr id="19" name="TextBox 18"/>
              <p:cNvSpPr txBox="1"/>
              <p:nvPr/>
            </p:nvSpPr>
            <p:spPr>
              <a:xfrm>
                <a:off x="4043573" y="1993727"/>
                <a:ext cx="413896" cy="369332"/>
              </a:xfrm>
              <a:prstGeom prst="rect">
                <a:avLst/>
              </a:prstGeom>
              <a:noFill/>
            </p:spPr>
            <p:txBody>
              <a:bodyPr wrap="none" rtlCol="0">
                <a:spAutoFit/>
              </a:bodyPr>
              <a:lstStyle/>
              <a:p>
                <a:r>
                  <a:rPr lang="en-US" altLang="zh-CN" dirty="0"/>
                  <a:t>E2</a:t>
                </a:r>
                <a:endParaRPr lang="zh-CN" altLang="en-US" dirty="0"/>
              </a:p>
            </p:txBody>
          </p:sp>
        </p:grpSp>
        <p:sp>
          <p:nvSpPr>
            <p:cNvPr id="20" name="TextBox 19">
              <a:extLst>
                <a:ext uri="{FF2B5EF4-FFF2-40B4-BE49-F238E27FC236}">
                  <a16:creationId xmlns:a16="http://schemas.microsoft.com/office/drawing/2014/main" id="{3F690D1B-BC0A-4D16-B03F-F1A4E84CF343}"/>
                </a:ext>
              </a:extLst>
            </p:cNvPr>
            <p:cNvSpPr txBox="1"/>
            <p:nvPr/>
          </p:nvSpPr>
          <p:spPr>
            <a:xfrm>
              <a:off x="4947593" y="1511296"/>
              <a:ext cx="413896" cy="369332"/>
            </a:xfrm>
            <a:prstGeom prst="rect">
              <a:avLst/>
            </a:prstGeom>
            <a:noFill/>
          </p:spPr>
          <p:txBody>
            <a:bodyPr wrap="none" rtlCol="0">
              <a:spAutoFit/>
            </a:bodyPr>
            <a:lstStyle/>
            <a:p>
              <a:r>
                <a:rPr lang="en-US" altLang="zh-CN" dirty="0"/>
                <a:t>E3</a:t>
              </a:r>
              <a:endParaRPr lang="zh-CN" altLang="en-US" dirty="0"/>
            </a:p>
          </p:txBody>
        </p:sp>
      </p:grpSp>
      <p:pic>
        <p:nvPicPr>
          <p:cNvPr id="15" name="Picture 14"/>
          <p:cNvPicPr>
            <a:picLocks noChangeAspect="1"/>
          </p:cNvPicPr>
          <p:nvPr/>
        </p:nvPicPr>
        <p:blipFill>
          <a:blip r:embed="rId7"/>
          <a:stretch>
            <a:fillRect/>
          </a:stretch>
        </p:blipFill>
        <p:spPr>
          <a:xfrm>
            <a:off x="6336873" y="3351067"/>
            <a:ext cx="4521865" cy="1595952"/>
          </a:xfrm>
          <a:prstGeom prst="rect">
            <a:avLst/>
          </a:prstGeom>
        </p:spPr>
      </p:pic>
      <p:pic>
        <p:nvPicPr>
          <p:cNvPr id="18" name="Picture 17"/>
          <p:cNvPicPr>
            <a:picLocks noChangeAspect="1"/>
          </p:cNvPicPr>
          <p:nvPr/>
        </p:nvPicPr>
        <p:blipFill rotWithShape="1">
          <a:blip r:embed="rId8"/>
          <a:srcRect b="6089"/>
          <a:stretch/>
        </p:blipFill>
        <p:spPr>
          <a:xfrm>
            <a:off x="6329377" y="4938901"/>
            <a:ext cx="4521435" cy="1656771"/>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6336873" y="4728559"/>
                <a:ext cx="4513939" cy="307777"/>
              </a:xfrm>
              <a:prstGeom prst="rect">
                <a:avLst/>
              </a:prstGeom>
              <a:solidFill>
                <a:schemeClr val="accent6">
                  <a:lumMod val="20000"/>
                  <a:lumOff val="80000"/>
                </a:schemeClr>
              </a:solidFill>
            </p:spPr>
            <p:txBody>
              <a:bodyPr wrap="square" rtlCol="0">
                <a:spAutoFit/>
              </a:bodyPr>
              <a:lstStyle/>
              <a:p>
                <a:pPr algn="ct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Only radiations</a:t>
                </a:r>
                <a14:m>
                  <m:oMath xmlns:m="http://schemas.openxmlformats.org/officeDocument/2006/math">
                    <m:r>
                      <a:rPr lang="en-US" altLang="zh-CN" sz="1400" b="0" i="0" smtClean="0">
                        <a:latin typeface="Cambria Math" panose="02040503050406030204" pitchFamily="18" charset="0"/>
                        <a:ea typeface="Cambria Math" panose="02040503050406030204" pitchFamily="18" charset="0"/>
                        <a:cs typeface="Times New Roman" panose="02020603050405020304" pitchFamily="18" charset="0"/>
                      </a:rPr>
                      <m:t> </m:t>
                    </m:r>
                    <m:r>
                      <a:rPr lang="en-US" altLang="zh-CN" sz="14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 the mirrors can be amplified repeatedly</a:t>
                </a:r>
                <a:endParaRPr lang="zh-CN" altLang="en-US" sz="1400"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6336873" y="4728559"/>
                <a:ext cx="4513939" cy="307777"/>
              </a:xfrm>
              <a:prstGeom prst="rect">
                <a:avLst/>
              </a:prstGeom>
              <a:blipFill>
                <a:blip r:embed="rId9"/>
                <a:stretch>
                  <a:fillRect t="-4000" b="-2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571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5" grpId="0"/>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32015"/>
            <a:ext cx="10972800" cy="576064"/>
          </a:xfrm>
        </p:spPr>
        <p:txBody>
          <a:bodyPr/>
          <a:lstStyle/>
          <a:p>
            <a:r>
              <a:rPr lang="en-US" altLang="zh-CN" sz="2800" dirty="0"/>
              <a:t>How to make a laser</a:t>
            </a:r>
            <a:endParaRPr lang="zh-CN" altLang="en-US" sz="2800" dirty="0"/>
          </a:p>
        </p:txBody>
      </p:sp>
      <p:sp>
        <p:nvSpPr>
          <p:cNvPr id="4" name="TextBox 3"/>
          <p:cNvSpPr txBox="1"/>
          <p:nvPr/>
        </p:nvSpPr>
        <p:spPr>
          <a:xfrm>
            <a:off x="1168084" y="665023"/>
            <a:ext cx="2730235" cy="400110"/>
          </a:xfrm>
          <a:prstGeom prst="rect">
            <a:avLst/>
          </a:prstGeom>
          <a:noFill/>
        </p:spPr>
        <p:txBody>
          <a:bodyPr wrap="none" rtlCol="0">
            <a:spAutoFit/>
          </a:bodyPr>
          <a:lstStyle/>
          <a:p>
            <a:r>
              <a:rPr lang="en-US" altLang="zh-CN" sz="2000" dirty="0">
                <a:highlight>
                  <a:srgbClr val="FFFF00"/>
                </a:highlight>
                <a:latin typeface="Times New Roman" panose="02020603050405020304" pitchFamily="18" charset="0"/>
                <a:cs typeface="Times New Roman" panose="02020603050405020304" pitchFamily="18" charset="0"/>
              </a:rPr>
              <a:t>3. Cavity m</a:t>
            </a:r>
            <a:r>
              <a:rPr lang="en-US" altLang="zh-CN" sz="2000" dirty="0">
                <a:highlight>
                  <a:srgbClr val="FFFF00"/>
                </a:highlight>
                <a:latin typeface="Times New Roman" panose="02020603050405020304" pitchFamily="18" charset="0"/>
                <a:ea typeface="Adobe 黑体 Std R" pitchFamily="34" charset="-122"/>
                <a:cs typeface="Times New Roman" panose="02020603050405020304" pitchFamily="18" charset="0"/>
              </a:rPr>
              <a:t>ode selection</a:t>
            </a:r>
            <a:endParaRPr lang="en-US" sz="2000" dirty="0">
              <a:highlight>
                <a:srgbClr val="FFFF00"/>
              </a:highlight>
              <a:latin typeface="Times New Roman" panose="02020603050405020304" pitchFamily="18" charset="0"/>
              <a:ea typeface="Adobe 黑体 Std R" pitchFamily="34" charset="-122"/>
              <a:cs typeface="Times New Roman" panose="02020603050405020304" pitchFamily="18" charset="0"/>
            </a:endParaRPr>
          </a:p>
        </p:txBody>
      </p:sp>
      <p:pic>
        <p:nvPicPr>
          <p:cNvPr id="5" name="Picture 4" descr="http://www.olympusconfocal.com/theory/images/laserfigure7.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094" y="1206187"/>
            <a:ext cx="6171288" cy="23983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Rectangle 5"/>
              <p:cNvSpPr/>
              <p:nvPr/>
            </p:nvSpPr>
            <p:spPr>
              <a:xfrm>
                <a:off x="937200" y="3745561"/>
                <a:ext cx="10317599" cy="2862322"/>
              </a:xfrm>
              <a:prstGeom prst="rect">
                <a:avLst/>
              </a:prstGeom>
            </p:spPr>
            <p:txBody>
              <a:bodyPr wrap="square">
                <a:spAutoFit/>
              </a:bodyPr>
              <a:lstStyle/>
              <a:p>
                <a:pPr marL="285750" indent="-285750">
                  <a:buFont typeface="Arial" panose="020B0604020202020204" pitchFamily="34" charset="0"/>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red curve: wavelength dependence of the output transmissivity of the cavity, which acts like a Fabry-Perot interferometer, where the wavelengths of maximum output are</a:t>
                </a:r>
              </a:p>
              <a:p>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a:ea typeface="黑体" panose="02010609060101010101" pitchFamily="49" charset="-122"/>
                            </a:rPr>
                            <m:t>𝜆</m:t>
                          </m:r>
                        </m:e>
                        <m:sub>
                          <m:r>
                            <a:rPr lang="en-US" altLang="zh-CN" sz="2000" i="1">
                              <a:latin typeface="Cambria Math"/>
                              <a:ea typeface="黑体" panose="02010609060101010101" pitchFamily="49" charset="-122"/>
                            </a:rPr>
                            <m:t>𝑛</m:t>
                          </m:r>
                        </m:sub>
                      </m:sSub>
                      <m:r>
                        <a:rPr lang="en-US" altLang="zh-CN" sz="2000" i="1">
                          <a:latin typeface="Cambria Math" panose="02040503050406030204" pitchFamily="18" charset="0"/>
                          <a:ea typeface="黑体" panose="02010609060101010101" pitchFamily="49" charset="-122"/>
                        </a:rPr>
                        <m:t>=</m:t>
                      </m:r>
                      <m:r>
                        <a:rPr lang="en-US" altLang="zh-CN" sz="2000" i="1">
                          <a:latin typeface="Cambria Math"/>
                          <a:ea typeface="黑体" panose="02010609060101010101" pitchFamily="49" charset="-122"/>
                        </a:rPr>
                        <m:t>2</m:t>
                      </m:r>
                      <m:r>
                        <a:rPr lang="en-US" altLang="zh-CN" sz="2000" i="1">
                          <a:latin typeface="Cambria Math"/>
                          <a:ea typeface="黑体" panose="02010609060101010101" pitchFamily="49" charset="-122"/>
                        </a:rPr>
                        <m:t>𝐿</m:t>
                      </m:r>
                      <m:r>
                        <a:rPr lang="en-US" altLang="zh-CN" sz="2000" i="1">
                          <a:latin typeface="Cambria Math" panose="02040503050406030204" pitchFamily="18" charset="0"/>
                          <a:ea typeface="黑体" panose="02010609060101010101" pitchFamily="49" charset="-122"/>
                        </a:rPr>
                        <m:t>/</m:t>
                      </m:r>
                      <m:r>
                        <a:rPr lang="en-US" altLang="zh-CN" sz="2000" i="1">
                          <a:latin typeface="Cambria Math"/>
                          <a:ea typeface="黑体" panose="02010609060101010101" pitchFamily="49" charset="-122"/>
                        </a:rPr>
                        <m:t>𝑛</m:t>
                      </m:r>
                      <m:r>
                        <a:rPr lang="en-US" altLang="zh-CN" sz="2000">
                          <a:latin typeface="Cambria Math"/>
                          <a:ea typeface="黑体" panose="02010609060101010101" pitchFamily="49" charset="-122"/>
                        </a:rPr>
                        <m:t>, </m:t>
                      </m:r>
                      <m:r>
                        <a:rPr lang="en-US" altLang="zh-CN" sz="2000" i="1">
                          <a:latin typeface="Cambria Math"/>
                          <a:ea typeface="黑体" panose="02010609060101010101" pitchFamily="49" charset="-122"/>
                        </a:rPr>
                        <m:t>  </m:t>
                      </m:r>
                      <m:r>
                        <a:rPr lang="en-US" altLang="zh-CN" sz="2000" i="1">
                          <a:latin typeface="Cambria Math"/>
                          <a:ea typeface="黑体" panose="02010609060101010101" pitchFamily="49" charset="-122"/>
                        </a:rPr>
                        <m:t>𝑛</m:t>
                      </m:r>
                      <m:r>
                        <a:rPr lang="en-US" altLang="zh-CN" sz="2000" i="1">
                          <a:latin typeface="Cambria Math"/>
                          <a:ea typeface="黑体" panose="02010609060101010101" pitchFamily="49" charset="-122"/>
                        </a:rPr>
                        <m:t>=1,2,3…</m:t>
                      </m:r>
                    </m:oMath>
                  </m:oMathPara>
                </a14:m>
                <a:endParaRPr lang="en-US" altLang="zh-CN" sz="2000" dirty="0">
                  <a:latin typeface="Times New Roman" panose="02020603050405020304" pitchFamily="18" charset="0"/>
                  <a:ea typeface="黑体" panose="02010609060101010101" pitchFamily="49" charset="-122"/>
                </a:endParaRPr>
              </a:p>
              <a:p>
                <a:pPr marL="285750" indent="-285750">
                  <a:buFont typeface="Arial" panose="020B0604020202020204" pitchFamily="34" charset="0"/>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yellow curve: wavelength dependent gain coefficient of the medium. It is proportional to the atomic emission spectrum, which is broadened by atomic thermal motions and atom-atom collisions.</a:t>
                </a:r>
              </a:p>
              <a:p>
                <a:r>
                  <a:rPr lang="en-US" altLang="zh-CN" sz="200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Their </a:t>
                </a:r>
                <a:r>
                  <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combined effect determine the optical modes of a </a:t>
                </a:r>
                <a:r>
                  <a:rPr lang="en-US" altLang="zh-CN" sz="200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laser output. </a:t>
                </a:r>
                <a:endParaRPr lang="en-US" altLang="zh-CN"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endParaRPr>
              </a:p>
              <a:p>
                <a:pPr marL="285750" lvl="1" indent="-285750">
                  <a:buFont typeface="Arial" panose="020B0604020202020204" pitchFamily="34" charset="0"/>
                  <a:buChar char="•"/>
                </a:pP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Change the mode interval by tuning the length of the cavity. When the gain coefficient of one mode is much larger than that of others, single-mode (monochromatic) laser is produced.</a:t>
                </a:r>
              </a:p>
            </p:txBody>
          </p:sp>
        </mc:Choice>
        <mc:Fallback>
          <p:sp>
            <p:nvSpPr>
              <p:cNvPr id="6" name="Rectangle 5"/>
              <p:cNvSpPr>
                <a:spLocks noRot="1" noChangeAspect="1" noMove="1" noResize="1" noEditPoints="1" noAdjustHandles="1" noChangeArrowheads="1" noChangeShapeType="1" noTextEdit="1"/>
              </p:cNvSpPr>
              <p:nvPr/>
            </p:nvSpPr>
            <p:spPr>
              <a:xfrm>
                <a:off x="937200" y="3745561"/>
                <a:ext cx="10317599" cy="2862322"/>
              </a:xfrm>
              <a:prstGeom prst="rect">
                <a:avLst/>
              </a:prstGeom>
              <a:blipFill>
                <a:blip r:embed="rId5"/>
                <a:stretch>
                  <a:fillRect l="-650" t="-1064" r="-1064" b="-2766"/>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ED600ECD-A4A0-402B-971B-52DF2A1CB993}"/>
              </a:ext>
            </a:extLst>
          </p:cNvPr>
          <p:cNvGrpSpPr/>
          <p:nvPr/>
        </p:nvGrpSpPr>
        <p:grpSpPr>
          <a:xfrm>
            <a:off x="1225761" y="1204940"/>
            <a:ext cx="2927083" cy="2301952"/>
            <a:chOff x="1225761" y="1389050"/>
            <a:chExt cx="2927083" cy="2301952"/>
          </a:xfrm>
        </p:grpSpPr>
        <p:pic>
          <p:nvPicPr>
            <p:cNvPr id="3" name="Picture 2">
              <a:extLst>
                <a:ext uri="{FF2B5EF4-FFF2-40B4-BE49-F238E27FC236}">
                  <a16:creationId xmlns:a16="http://schemas.microsoft.com/office/drawing/2014/main" id="{6D616471-BD9A-42A9-95A7-9DF73D68DE35}"/>
                </a:ext>
              </a:extLst>
            </p:cNvPr>
            <p:cNvPicPr>
              <a:picLocks noChangeAspect="1"/>
            </p:cNvPicPr>
            <p:nvPr/>
          </p:nvPicPr>
          <p:blipFill>
            <a:blip r:embed="rId6"/>
            <a:stretch>
              <a:fillRect/>
            </a:stretch>
          </p:blipFill>
          <p:spPr>
            <a:xfrm>
              <a:off x="1393079" y="1389050"/>
              <a:ext cx="2557339" cy="1952563"/>
            </a:xfrm>
            <a:prstGeom prst="rect">
              <a:avLst/>
            </a:prstGeom>
          </p:spPr>
        </p:pic>
        <p:sp>
          <p:nvSpPr>
            <p:cNvPr id="7" name="Rectangle 6">
              <a:extLst>
                <a:ext uri="{FF2B5EF4-FFF2-40B4-BE49-F238E27FC236}">
                  <a16:creationId xmlns:a16="http://schemas.microsoft.com/office/drawing/2014/main" id="{5B9B5925-D031-4931-A916-5EB9CA03F4B6}"/>
                </a:ext>
              </a:extLst>
            </p:cNvPr>
            <p:cNvSpPr/>
            <p:nvPr/>
          </p:nvSpPr>
          <p:spPr>
            <a:xfrm>
              <a:off x="1225761" y="3321670"/>
              <a:ext cx="292708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Fabry-Perot Interferometer</a:t>
              </a:r>
            </a:p>
          </p:txBody>
        </p:sp>
      </p:grpSp>
    </p:spTree>
    <p:extLst>
      <p:ext uri="{BB962C8B-B14F-4D97-AF65-F5344CB8AC3E}">
        <p14:creationId xmlns:p14="http://schemas.microsoft.com/office/powerpoint/2010/main" val="423167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fade">
                                      <p:cBhvr>
                                        <p:cTn id="37"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a:t>
            </a:r>
            <a:r>
              <a:rPr lang="en-US" altLang="zh-CN" dirty="0"/>
              <a:t>Stimulated and spontaneous emission rate</a:t>
            </a:r>
            <a:endParaRPr lang="zh-CN" alt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4184215459"/>
              </p:ext>
            </p:extLst>
          </p:nvPr>
        </p:nvGraphicFramePr>
        <p:xfrm>
          <a:off x="967739" y="840434"/>
          <a:ext cx="5802313" cy="746125"/>
        </p:xfrm>
        <a:graphic>
          <a:graphicData uri="http://schemas.openxmlformats.org/presentationml/2006/ole">
            <mc:AlternateContent xmlns:mc="http://schemas.openxmlformats.org/markup-compatibility/2006">
              <mc:Choice xmlns:v="urn:schemas-microsoft-com:vml" Requires="v">
                <p:oleObj spid="_x0000_s8657" name="Equation" r:id="rId4" imgW="3263760" imgH="419040" progId="Equation.DSMT4">
                  <p:embed/>
                </p:oleObj>
              </mc:Choice>
              <mc:Fallback>
                <p:oleObj name="Equation" r:id="rId4" imgW="3263760" imgH="419040" progId="Equation.DSMT4">
                  <p:embed/>
                  <p:pic>
                    <p:nvPicPr>
                      <p:cNvPr id="8" name="Object 7"/>
                      <p:cNvPicPr>
                        <a:picLocks noChangeAspect="1" noChangeArrowheads="1"/>
                      </p:cNvPicPr>
                      <p:nvPr/>
                    </p:nvPicPr>
                    <p:blipFill>
                      <a:blip r:embed="rId5"/>
                      <a:srcRect/>
                      <a:stretch>
                        <a:fillRect/>
                      </a:stretch>
                    </p:blipFill>
                    <p:spPr bwMode="auto">
                      <a:xfrm>
                        <a:off x="967739" y="840434"/>
                        <a:ext cx="5802313" cy="746125"/>
                      </a:xfrm>
                      <a:prstGeom prst="rect">
                        <a:avLst/>
                      </a:prstGeom>
                      <a:solidFill>
                        <a:schemeClr val="bg1"/>
                      </a:solidFill>
                      <a:ln>
                        <a:noFill/>
                      </a:ln>
                    </p:spPr>
                  </p:pic>
                </p:oleObj>
              </mc:Fallback>
            </mc:AlternateContent>
          </a:graphicData>
        </a:graphic>
      </p:graphicFrame>
      <p:sp>
        <p:nvSpPr>
          <p:cNvPr id="12" name="TextBox 11"/>
          <p:cNvSpPr txBox="1"/>
          <p:nvPr/>
        </p:nvSpPr>
        <p:spPr>
          <a:xfrm>
            <a:off x="1155235" y="5371235"/>
            <a:ext cx="9370227" cy="646331"/>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This result is obtained from the radiation field in thermal equilibrium. However, since A, B coefficients are parameters describing a single atom, it is valid for general cases.</a:t>
            </a: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9">
            <a:extLst>
              <a:ext uri="{FF2B5EF4-FFF2-40B4-BE49-F238E27FC236}">
                <a16:creationId xmlns:a16="http://schemas.microsoft.com/office/drawing/2014/main" id="{6B652092-8181-4EAC-83F1-C41E738217E3}"/>
              </a:ext>
            </a:extLst>
          </p:cNvPr>
          <p:cNvGraphicFramePr>
            <a:graphicFrameLocks noChangeAspect="1"/>
          </p:cNvGraphicFramePr>
          <p:nvPr>
            <p:extLst>
              <p:ext uri="{D42A27DB-BD31-4B8C-83A1-F6EECF244321}">
                <p14:modId xmlns:p14="http://schemas.microsoft.com/office/powerpoint/2010/main" val="3772428358"/>
              </p:ext>
            </p:extLst>
          </p:nvPr>
        </p:nvGraphicFramePr>
        <p:xfrm>
          <a:off x="4074988" y="2284849"/>
          <a:ext cx="2225012" cy="1404064"/>
        </p:xfrm>
        <a:graphic>
          <a:graphicData uri="http://schemas.openxmlformats.org/presentationml/2006/ole">
            <mc:AlternateContent xmlns:mc="http://schemas.openxmlformats.org/markup-compatibility/2006">
              <mc:Choice xmlns:v="urn:schemas-microsoft-com:vml" Requires="v">
                <p:oleObj spid="_x0000_s8658" name="Equation" r:id="rId6" imgW="2286000" imgH="1485720" progId="Equation.DSMT4">
                  <p:embed/>
                </p:oleObj>
              </mc:Choice>
              <mc:Fallback>
                <p:oleObj name="Equation" r:id="rId6" imgW="2286000" imgH="1485720" progId="Equation.DSMT4">
                  <p:embed/>
                  <p:pic>
                    <p:nvPicPr>
                      <p:cNvPr id="7" name="Object 6"/>
                      <p:cNvPicPr/>
                      <p:nvPr/>
                    </p:nvPicPr>
                    <p:blipFill>
                      <a:blip r:embed="rId7"/>
                      <a:stretch>
                        <a:fillRect/>
                      </a:stretch>
                    </p:blipFill>
                    <p:spPr>
                      <a:xfrm>
                        <a:off x="4074988" y="2284849"/>
                        <a:ext cx="2225012" cy="1404064"/>
                      </a:xfrm>
                      <a:prstGeom prst="rect">
                        <a:avLst/>
                      </a:prstGeom>
                      <a:noFill/>
                      <a:ln w="22225">
                        <a:noFill/>
                      </a:ln>
                    </p:spPr>
                  </p:pic>
                </p:oleObj>
              </mc:Fallback>
            </mc:AlternateContent>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A293543-F762-4362-ACCE-F86AB3BA5BD0}"/>
                  </a:ext>
                </a:extLst>
              </p:cNvPr>
              <p:cNvSpPr/>
              <p:nvPr/>
            </p:nvSpPr>
            <p:spPr>
              <a:xfrm>
                <a:off x="917150" y="4165743"/>
                <a:ext cx="10221629" cy="728661"/>
              </a:xfrm>
              <a:prstGeom prst="rect">
                <a:avLst/>
              </a:prstGeom>
              <a:solidFill>
                <a:schemeClr val="accent6">
                  <a:lumMod val="20000"/>
                  <a:lumOff val="80000"/>
                </a:schemeClr>
              </a:solidFill>
              <a:ln w="19050">
                <a:no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2000" i="1" dirty="0" smtClean="0">
                              <a:latin typeface="Cambria Math" panose="02040503050406030204" pitchFamily="18" charset="0"/>
                            </a:rPr>
                          </m:ctrlPr>
                        </m:fPr>
                        <m:num>
                          <m:r>
                            <m:rPr>
                              <m:sty m:val="p"/>
                            </m:rPr>
                            <a:rPr lang="en-US" altLang="zh-CN" sz="2000" b="0" i="0" dirty="0" smtClean="0">
                              <a:latin typeface="Cambria Math" panose="02040503050406030204" pitchFamily="18" charset="0"/>
                            </a:rPr>
                            <m:t>stimulated</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emission</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rate</m:t>
                          </m:r>
                        </m:num>
                        <m:den>
                          <m:r>
                            <m:rPr>
                              <m:sty m:val="p"/>
                            </m:rPr>
                            <a:rPr lang="en-US" altLang="zh-CN" sz="2000" b="0" i="0" dirty="0" smtClean="0">
                              <a:latin typeface="Cambria Math" panose="02040503050406030204" pitchFamily="18" charset="0"/>
                            </a:rPr>
                            <m:t>spontaneous</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emission</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rate</m:t>
                          </m:r>
                        </m:den>
                      </m:f>
                      <m:r>
                        <a:rPr lang="en-US" altLang="zh-CN" sz="2000" b="0" i="1" dirty="0" smtClean="0">
                          <a:latin typeface="Cambria Math" panose="02040503050406030204" pitchFamily="18" charset="0"/>
                        </a:rPr>
                        <m:t>=</m:t>
                      </m:r>
                      <m:r>
                        <m:rPr>
                          <m:sty m:val="p"/>
                        </m:rPr>
                        <a:rPr lang="en-US" altLang="zh-CN" sz="2000" b="0" i="0" dirty="0" smtClean="0">
                          <a:latin typeface="Cambria Math" panose="02040503050406030204" pitchFamily="18" charset="0"/>
                        </a:rPr>
                        <m:t>the</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average</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photon</m:t>
                      </m:r>
                      <m:r>
                        <a:rPr lang="en-US" altLang="zh-CN" sz="2000" b="0" i="0" dirty="0" smtClean="0">
                          <a:latin typeface="Cambria Math" panose="02040503050406030204" pitchFamily="18" charset="0"/>
                        </a:rPr>
                        <m:t> </m:t>
                      </m:r>
                      <m:r>
                        <m:rPr>
                          <m:sty m:val="p"/>
                        </m:rPr>
                        <a:rPr lang="en-US" altLang="zh-CN" sz="2000" dirty="0">
                          <a:latin typeface="Cambria Math" panose="02040503050406030204" pitchFamily="18" charset="0"/>
                        </a:rPr>
                        <m:t>number</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currently</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in</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the</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radiation</m:t>
                      </m:r>
                    </m:oMath>
                  </m:oMathPara>
                </a14:m>
                <a:endParaRPr lang="en-US" altLang="zh-CN" sz="2000" dirty="0"/>
              </a:p>
            </p:txBody>
          </p:sp>
        </mc:Choice>
        <mc:Fallback xmlns="">
          <p:sp>
            <p:nvSpPr>
              <p:cNvPr id="3" name="Rectangle 2">
                <a:extLst>
                  <a:ext uri="{FF2B5EF4-FFF2-40B4-BE49-F238E27FC236}">
                    <a16:creationId xmlns:a16="http://schemas.microsoft.com/office/drawing/2014/main" id="{1A293543-F762-4362-ACCE-F86AB3BA5BD0}"/>
                  </a:ext>
                </a:extLst>
              </p:cNvPr>
              <p:cNvSpPr>
                <a:spLocks noRot="1" noChangeAspect="1" noMove="1" noResize="1" noEditPoints="1" noAdjustHandles="1" noChangeArrowheads="1" noChangeShapeType="1" noTextEdit="1"/>
              </p:cNvSpPr>
              <p:nvPr/>
            </p:nvSpPr>
            <p:spPr>
              <a:xfrm>
                <a:off x="917150" y="4165743"/>
                <a:ext cx="10221629" cy="728661"/>
              </a:xfrm>
              <a:prstGeom prst="rect">
                <a:avLst/>
              </a:prstGeom>
              <a:blipFill>
                <a:blip r:embed="rId8"/>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13F6F32-D2F8-4A08-AA7F-72E1B2CBBC95}"/>
                  </a:ext>
                </a:extLst>
              </p:cNvPr>
              <p:cNvSpPr/>
              <p:nvPr/>
            </p:nvSpPr>
            <p:spPr>
              <a:xfrm>
                <a:off x="830580" y="1586559"/>
                <a:ext cx="10919460" cy="553998"/>
              </a:xfrm>
              <a:prstGeom prst="rect">
                <a:avLst/>
              </a:prstGeom>
              <a:ln w="19050">
                <a:noFill/>
              </a:ln>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000" i="1" dirty="0" smtClean="0">
                          <a:latin typeface="Cambria Math" panose="02040503050406030204" pitchFamily="18" charset="0"/>
                        </a:rPr>
                        <m:t>=</m:t>
                      </m:r>
                      <m:r>
                        <m:rPr>
                          <m:sty m:val="p"/>
                        </m:rPr>
                        <a:rPr lang="en-US" altLang="zh-CN" sz="2000" i="0" dirty="0" smtClean="0">
                          <a:latin typeface="Cambria Math" panose="02040503050406030204" pitchFamily="18" charset="0"/>
                        </a:rPr>
                        <m:t>m</m:t>
                      </m:r>
                      <m:r>
                        <m:rPr>
                          <m:sty m:val="p"/>
                        </m:rPr>
                        <a:rPr lang="en-US" altLang="zh-CN" sz="2000" b="0" i="0" dirty="0" smtClean="0">
                          <a:latin typeface="Cambria Math" panose="02040503050406030204" pitchFamily="18" charset="0"/>
                        </a:rPr>
                        <m:t>ode</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density</m:t>
                      </m:r>
                      <m:r>
                        <a:rPr lang="en-US" altLang="zh-CN" sz="2000" i="1" dirty="0">
                          <a:latin typeface="Cambria Math" panose="02040503050406030204" pitchFamily="18" charset="0"/>
                        </a:rPr>
                        <m:t>×</m:t>
                      </m:r>
                      <m:r>
                        <m:rPr>
                          <m:sty m:val="p"/>
                        </m:rPr>
                        <a:rPr lang="en-US" altLang="zh-CN" sz="2000" i="0" dirty="0" smtClean="0">
                          <a:solidFill>
                            <a:srgbClr val="C00000"/>
                          </a:solidFill>
                          <a:latin typeface="Cambria Math" panose="02040503050406030204" pitchFamily="18" charset="0"/>
                        </a:rPr>
                        <m:t>a</m:t>
                      </m:r>
                      <m:r>
                        <m:rPr>
                          <m:sty m:val="p"/>
                        </m:rPr>
                        <a:rPr lang="en-US" altLang="zh-CN" sz="2000" b="0" i="0" dirty="0" smtClean="0">
                          <a:solidFill>
                            <a:srgbClr val="C00000"/>
                          </a:solidFill>
                          <a:latin typeface="Cambria Math" panose="02040503050406030204" pitchFamily="18" charset="0"/>
                        </a:rPr>
                        <m:t>verage</m:t>
                      </m:r>
                      <m:r>
                        <a:rPr lang="en-US" altLang="zh-CN" sz="2000" b="0" i="0" dirty="0" smtClean="0">
                          <a:solidFill>
                            <a:srgbClr val="C00000"/>
                          </a:solidFill>
                          <a:latin typeface="Cambria Math" panose="02040503050406030204" pitchFamily="18" charset="0"/>
                        </a:rPr>
                        <m:t> </m:t>
                      </m:r>
                      <m:r>
                        <m:rPr>
                          <m:sty m:val="p"/>
                        </m:rPr>
                        <a:rPr lang="en-US" altLang="zh-CN" sz="2000" b="0" i="0" dirty="0" smtClean="0">
                          <a:solidFill>
                            <a:srgbClr val="C00000"/>
                          </a:solidFill>
                          <a:latin typeface="Cambria Math" panose="02040503050406030204" pitchFamily="18" charset="0"/>
                        </a:rPr>
                        <m:t>photon</m:t>
                      </m:r>
                      <m:r>
                        <a:rPr lang="en-US" altLang="zh-CN" sz="2000" b="0" i="0" dirty="0" smtClean="0">
                          <a:solidFill>
                            <a:srgbClr val="C00000"/>
                          </a:solidFill>
                          <a:latin typeface="Cambria Math" panose="02040503050406030204" pitchFamily="18" charset="0"/>
                        </a:rPr>
                        <m:t> </m:t>
                      </m:r>
                      <m:r>
                        <m:rPr>
                          <m:sty m:val="p"/>
                        </m:rPr>
                        <a:rPr lang="en-US" altLang="zh-CN" sz="2000" b="0" i="0" dirty="0" smtClean="0">
                          <a:solidFill>
                            <a:srgbClr val="C00000"/>
                          </a:solidFill>
                          <a:latin typeface="Cambria Math" panose="02040503050406030204" pitchFamily="18" charset="0"/>
                        </a:rPr>
                        <m:t>number</m:t>
                      </m:r>
                      <m:r>
                        <a:rPr lang="en-US" altLang="zh-CN" sz="2000" b="0" i="0" dirty="0" smtClean="0">
                          <a:solidFill>
                            <a:srgbClr val="C00000"/>
                          </a:solidFill>
                          <a:latin typeface="Cambria Math" panose="02040503050406030204" pitchFamily="18" charset="0"/>
                        </a:rPr>
                        <m:t> </m:t>
                      </m:r>
                      <m:r>
                        <m:rPr>
                          <m:sty m:val="p"/>
                        </m:rPr>
                        <a:rPr lang="en-US" altLang="zh-CN" sz="2000" b="0" i="0" dirty="0" smtClean="0">
                          <a:solidFill>
                            <a:srgbClr val="C00000"/>
                          </a:solidFill>
                          <a:latin typeface="Cambria Math" panose="02040503050406030204" pitchFamily="18" charset="0"/>
                        </a:rPr>
                        <m:t>per</m:t>
                      </m:r>
                      <m:r>
                        <a:rPr lang="en-US" altLang="zh-CN" sz="2000" b="0" i="0" dirty="0" smtClean="0">
                          <a:solidFill>
                            <a:srgbClr val="C00000"/>
                          </a:solidFill>
                          <a:latin typeface="Cambria Math" panose="02040503050406030204" pitchFamily="18" charset="0"/>
                        </a:rPr>
                        <m:t> </m:t>
                      </m:r>
                      <m:r>
                        <m:rPr>
                          <m:sty m:val="p"/>
                        </m:rPr>
                        <a:rPr lang="en-US" altLang="zh-CN" sz="2000" b="0" i="0" dirty="0" smtClean="0">
                          <a:solidFill>
                            <a:srgbClr val="C00000"/>
                          </a:solidFill>
                          <a:latin typeface="Cambria Math" panose="02040503050406030204" pitchFamily="18" charset="0"/>
                        </a:rPr>
                        <m:t>mode</m:t>
                      </m:r>
                      <m:r>
                        <a:rPr lang="en-US" altLang="zh-CN" sz="2000" b="0" i="1" dirty="0" smtClean="0">
                          <a:latin typeface="Cambria Math" panose="02040503050406030204" pitchFamily="18" charset="0"/>
                        </a:rPr>
                        <m:t>×</m:t>
                      </m:r>
                      <m:r>
                        <m:rPr>
                          <m:sty m:val="p"/>
                        </m:rPr>
                        <a:rPr lang="en-US" altLang="zh-CN" sz="2000" b="0" i="0" dirty="0" smtClean="0">
                          <a:latin typeface="Cambria Math" panose="02040503050406030204" pitchFamily="18" charset="0"/>
                        </a:rPr>
                        <m:t>single</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photon</m:t>
                      </m:r>
                      <m:r>
                        <a:rPr lang="en-US" altLang="zh-CN" sz="2000" b="0" i="0" dirty="0" smtClean="0">
                          <a:latin typeface="Cambria Math" panose="02040503050406030204" pitchFamily="18" charset="0"/>
                        </a:rPr>
                        <m:t> </m:t>
                      </m:r>
                      <m:r>
                        <m:rPr>
                          <m:sty m:val="p"/>
                        </m:rPr>
                        <a:rPr lang="en-US" altLang="zh-CN" sz="2000" b="0" i="0" dirty="0" smtClean="0">
                          <a:latin typeface="Cambria Math" panose="02040503050406030204" pitchFamily="18" charset="0"/>
                        </a:rPr>
                        <m:t>energy</m:t>
                      </m:r>
                    </m:oMath>
                  </m:oMathPara>
                </a14:m>
                <a:endParaRPr lang="en-US" altLang="zh-CN" sz="2000" dirty="0"/>
              </a:p>
            </p:txBody>
          </p:sp>
        </mc:Choice>
        <mc:Fallback xmlns="">
          <p:sp>
            <p:nvSpPr>
              <p:cNvPr id="11" name="Rectangle 10">
                <a:extLst>
                  <a:ext uri="{FF2B5EF4-FFF2-40B4-BE49-F238E27FC236}">
                    <a16:creationId xmlns:a16="http://schemas.microsoft.com/office/drawing/2014/main" id="{E13F6F32-D2F8-4A08-AA7F-72E1B2CBBC95}"/>
                  </a:ext>
                </a:extLst>
              </p:cNvPr>
              <p:cNvSpPr>
                <a:spLocks noRot="1" noChangeAspect="1" noMove="1" noResize="1" noEditPoints="1" noAdjustHandles="1" noChangeArrowheads="1" noChangeShapeType="1" noTextEdit="1"/>
              </p:cNvSpPr>
              <p:nvPr/>
            </p:nvSpPr>
            <p:spPr>
              <a:xfrm>
                <a:off x="830580" y="1586559"/>
                <a:ext cx="10919460" cy="553998"/>
              </a:xfrm>
              <a:prstGeom prst="rect">
                <a:avLst/>
              </a:prstGeom>
              <a:blipFill>
                <a:blip r:embed="rId10"/>
                <a:stretch>
                  <a:fillRect/>
                </a:stretch>
              </a:blipFill>
              <a:ln w="19050">
                <a:noFill/>
              </a:ln>
            </p:spPr>
            <p:txBody>
              <a:bodyPr/>
              <a:lstStyle/>
              <a:p>
                <a:r>
                  <a:rPr lang="en-US">
                    <a:noFill/>
                  </a:rPr>
                  <a:t> </a:t>
                </a:r>
              </a:p>
            </p:txBody>
          </p:sp>
        </mc:Fallback>
      </mc:AlternateContent>
    </p:spTree>
    <p:extLst>
      <p:ext uri="{BB962C8B-B14F-4D97-AF65-F5344CB8AC3E}">
        <p14:creationId xmlns:p14="http://schemas.microsoft.com/office/powerpoint/2010/main" val="270236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9C6FD-9753-40EF-BDA0-50F19FD1F6D5}"/>
              </a:ext>
            </a:extLst>
          </p:cNvPr>
          <p:cNvSpPr>
            <a:spLocks noGrp="1"/>
          </p:cNvSpPr>
          <p:nvPr>
            <p:ph type="title"/>
          </p:nvPr>
        </p:nvSpPr>
        <p:spPr>
          <a:xfrm>
            <a:off x="417853" y="111997"/>
            <a:ext cx="11312247" cy="576064"/>
          </a:xfrm>
        </p:spPr>
        <p:txBody>
          <a:bodyPr/>
          <a:lstStyle/>
          <a:p>
            <a:r>
              <a:rPr lang="en-US" b="0" dirty="0"/>
              <a:t>*Relation between the absorption and emission rates</a:t>
            </a:r>
          </a:p>
        </p:txBody>
      </p:sp>
      <p:grpSp>
        <p:nvGrpSpPr>
          <p:cNvPr id="64" name="Group 63">
            <a:extLst>
              <a:ext uri="{FF2B5EF4-FFF2-40B4-BE49-F238E27FC236}">
                <a16:creationId xmlns:a16="http://schemas.microsoft.com/office/drawing/2014/main" id="{7A67F626-1CD9-4A77-99AF-7FC6005EFBEB}"/>
              </a:ext>
            </a:extLst>
          </p:cNvPr>
          <p:cNvGrpSpPr/>
          <p:nvPr/>
        </p:nvGrpSpPr>
        <p:grpSpPr>
          <a:xfrm>
            <a:off x="4490027" y="1176990"/>
            <a:ext cx="3214805" cy="948452"/>
            <a:chOff x="1457771" y="1065231"/>
            <a:chExt cx="3214805" cy="948452"/>
          </a:xfrm>
        </p:grpSpPr>
        <p:grpSp>
          <p:nvGrpSpPr>
            <p:cNvPr id="33" name="Group 32">
              <a:extLst>
                <a:ext uri="{FF2B5EF4-FFF2-40B4-BE49-F238E27FC236}">
                  <a16:creationId xmlns:a16="http://schemas.microsoft.com/office/drawing/2014/main" id="{10C15FF2-6E5D-4266-9A2A-68028709DDC0}"/>
                </a:ext>
              </a:extLst>
            </p:cNvPr>
            <p:cNvGrpSpPr/>
            <p:nvPr/>
          </p:nvGrpSpPr>
          <p:grpSpPr>
            <a:xfrm>
              <a:off x="1457771" y="1065231"/>
              <a:ext cx="2334600" cy="948452"/>
              <a:chOff x="4020233" y="3980406"/>
              <a:chExt cx="2334600" cy="948452"/>
            </a:xfrm>
          </p:grpSpPr>
          <p:pic>
            <p:nvPicPr>
              <p:cNvPr id="20" name="Picture 19">
                <a:extLst>
                  <a:ext uri="{FF2B5EF4-FFF2-40B4-BE49-F238E27FC236}">
                    <a16:creationId xmlns:a16="http://schemas.microsoft.com/office/drawing/2014/main" id="{F7CF2073-D62D-4529-A7C7-4231FDC39BFB}"/>
                  </a:ext>
                </a:extLst>
              </p:cNvPr>
              <p:cNvPicPr>
                <a:picLocks noChangeAspect="1"/>
              </p:cNvPicPr>
              <p:nvPr/>
            </p:nvPicPr>
            <p:blipFill>
              <a:blip r:embed="rId2"/>
              <a:stretch>
                <a:fillRect/>
              </a:stretch>
            </p:blipFill>
            <p:spPr>
              <a:xfrm>
                <a:off x="4020233" y="4360136"/>
                <a:ext cx="805981" cy="274344"/>
              </a:xfrm>
              <a:prstGeom prst="rect">
                <a:avLst/>
              </a:prstGeom>
            </p:spPr>
          </p:pic>
          <p:cxnSp>
            <p:nvCxnSpPr>
              <p:cNvPr id="21" name="Straight Connector 20">
                <a:extLst>
                  <a:ext uri="{FF2B5EF4-FFF2-40B4-BE49-F238E27FC236}">
                    <a16:creationId xmlns:a16="http://schemas.microsoft.com/office/drawing/2014/main" id="{D2E902FA-7C8D-4CD4-A6A8-1316A644F384}"/>
                  </a:ext>
                </a:extLst>
              </p:cNvPr>
              <p:cNvCxnSpPr>
                <a:cxnSpLocks/>
              </p:cNvCxnSpPr>
              <p:nvPr/>
            </p:nvCxnSpPr>
            <p:spPr>
              <a:xfrm>
                <a:off x="4869571" y="4191276"/>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8693D332-B10C-457E-89D4-1E76C3A6D36D}"/>
                  </a:ext>
                </a:extLst>
              </p:cNvPr>
              <p:cNvCxnSpPr>
                <a:cxnSpLocks/>
              </p:cNvCxnSpPr>
              <p:nvPr/>
            </p:nvCxnSpPr>
            <p:spPr>
              <a:xfrm>
                <a:off x="4869571" y="4791986"/>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Arrow Connector 22">
                <a:extLst>
                  <a:ext uri="{FF2B5EF4-FFF2-40B4-BE49-F238E27FC236}">
                    <a16:creationId xmlns:a16="http://schemas.microsoft.com/office/drawing/2014/main" id="{AD7007A9-2241-48C1-92ED-8DDB30165378}"/>
                  </a:ext>
                </a:extLst>
              </p:cNvPr>
              <p:cNvCxnSpPr>
                <a:cxnSpLocks/>
              </p:cNvCxnSpPr>
              <p:nvPr/>
            </p:nvCxnSpPr>
            <p:spPr>
              <a:xfrm flipH="1" flipV="1">
                <a:off x="5352893" y="4175089"/>
                <a:ext cx="1690" cy="5835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Oval 23">
                <a:extLst>
                  <a:ext uri="{FF2B5EF4-FFF2-40B4-BE49-F238E27FC236}">
                    <a16:creationId xmlns:a16="http://schemas.microsoft.com/office/drawing/2014/main" id="{2903C595-BDE3-4E78-B1A5-C90E086C47E0}"/>
                  </a:ext>
                </a:extLst>
              </p:cNvPr>
              <p:cNvSpPr/>
              <p:nvPr/>
            </p:nvSpPr>
            <p:spPr>
              <a:xfrm>
                <a:off x="5320453" y="4706269"/>
                <a:ext cx="72390" cy="702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D1A4541-75A0-4219-BCF2-AF6211437113}"/>
                      </a:ext>
                    </a:extLst>
                  </p:cNvPr>
                  <p:cNvSpPr txBox="1"/>
                  <p:nvPr/>
                </p:nvSpPr>
                <p:spPr>
                  <a:xfrm>
                    <a:off x="5878036" y="3980406"/>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25" name="TextBox 24">
                    <a:extLst>
                      <a:ext uri="{FF2B5EF4-FFF2-40B4-BE49-F238E27FC236}">
                        <a16:creationId xmlns:a16="http://schemas.microsoft.com/office/drawing/2014/main" id="{CD1A4541-75A0-4219-BCF2-AF6211437113}"/>
                      </a:ext>
                    </a:extLst>
                  </p:cNvPr>
                  <p:cNvSpPr txBox="1">
                    <a:spLocks noRot="1" noChangeAspect="1" noMove="1" noResize="1" noEditPoints="1" noAdjustHandles="1" noChangeArrowheads="1" noChangeShapeType="1" noTextEdit="1"/>
                  </p:cNvSpPr>
                  <p:nvPr/>
                </p:nvSpPr>
                <p:spPr>
                  <a:xfrm>
                    <a:off x="5878036" y="3980406"/>
                    <a:ext cx="476797"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5BE0D02-3A9F-4B94-8C6C-B4A4ED2180A5}"/>
                      </a:ext>
                    </a:extLst>
                  </p:cNvPr>
                  <p:cNvSpPr txBox="1"/>
                  <p:nvPr/>
                </p:nvSpPr>
                <p:spPr>
                  <a:xfrm>
                    <a:off x="5881262" y="4559526"/>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26" name="TextBox 25">
                    <a:extLst>
                      <a:ext uri="{FF2B5EF4-FFF2-40B4-BE49-F238E27FC236}">
                        <a16:creationId xmlns:a16="http://schemas.microsoft.com/office/drawing/2014/main" id="{55BE0D02-3A9F-4B94-8C6C-B4A4ED2180A5}"/>
                      </a:ext>
                    </a:extLst>
                  </p:cNvPr>
                  <p:cNvSpPr txBox="1">
                    <a:spLocks noRot="1" noChangeAspect="1" noMove="1" noResize="1" noEditPoints="1" noAdjustHandles="1" noChangeArrowheads="1" noChangeShapeType="1" noTextEdit="1"/>
                  </p:cNvSpPr>
                  <p:nvPr/>
                </p:nvSpPr>
                <p:spPr>
                  <a:xfrm>
                    <a:off x="5881262" y="4559526"/>
                    <a:ext cx="471476" cy="369332"/>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D44E81E3-DFE9-4119-9BE9-E3275BFF5641}"/>
                    </a:ext>
                  </a:extLst>
                </p:cNvPr>
                <p:cNvSpPr txBox="1"/>
                <p:nvPr/>
              </p:nvSpPr>
              <p:spPr>
                <a:xfrm>
                  <a:off x="3720858" y="1359708"/>
                  <a:ext cx="951718"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a</m:t>
                            </m:r>
                          </m:sub>
                        </m:sSub>
                        <m:r>
                          <a:rPr lang="en-US" sz="2000" b="0" i="1" smtClean="0">
                            <a:solidFill>
                              <a:srgbClr val="0070C0"/>
                            </a:solidFill>
                            <a:latin typeface="Cambria Math" panose="02040503050406030204" pitchFamily="18" charset="0"/>
                          </a:rPr>
                          <m:t>(1)</m:t>
                        </m:r>
                      </m:oMath>
                    </m:oMathPara>
                  </a14:m>
                  <a:endParaRPr lang="en-US" sz="2000" i="1" dirty="0">
                    <a:solidFill>
                      <a:srgbClr val="0070C0"/>
                    </a:solidFill>
                  </a:endParaRPr>
                </a:p>
              </p:txBody>
            </p:sp>
          </mc:Choice>
          <mc:Fallback xmlns="">
            <p:sp>
              <p:nvSpPr>
                <p:cNvPr id="62" name="TextBox 61">
                  <a:extLst>
                    <a:ext uri="{FF2B5EF4-FFF2-40B4-BE49-F238E27FC236}">
                      <a16:creationId xmlns:a16="http://schemas.microsoft.com/office/drawing/2014/main" id="{D44E81E3-DFE9-4119-9BE9-E3275BFF5641}"/>
                    </a:ext>
                  </a:extLst>
                </p:cNvPr>
                <p:cNvSpPr txBox="1">
                  <a:spLocks noRot="1" noChangeAspect="1" noMove="1" noResize="1" noEditPoints="1" noAdjustHandles="1" noChangeArrowheads="1" noChangeShapeType="1" noTextEdit="1"/>
                </p:cNvSpPr>
                <p:nvPr/>
              </p:nvSpPr>
              <p:spPr>
                <a:xfrm>
                  <a:off x="3720858" y="1359708"/>
                  <a:ext cx="951718" cy="400110"/>
                </a:xfrm>
                <a:prstGeom prst="rect">
                  <a:avLst/>
                </a:prstGeom>
                <a:blipFill>
                  <a:blip r:embed="rId5"/>
                  <a:stretch>
                    <a:fillRect b="-15152"/>
                  </a:stretch>
                </a:blipFill>
              </p:spPr>
              <p:txBody>
                <a:bodyPr/>
                <a:lstStyle/>
                <a:p>
                  <a:r>
                    <a:rPr lang="en-US">
                      <a:noFill/>
                    </a:rPr>
                    <a:t> </a:t>
                  </a:r>
                </a:p>
              </p:txBody>
            </p:sp>
          </mc:Fallback>
        </mc:AlternateContent>
      </p:grpSp>
      <p:grpSp>
        <p:nvGrpSpPr>
          <p:cNvPr id="65" name="Group 64">
            <a:extLst>
              <a:ext uri="{FF2B5EF4-FFF2-40B4-BE49-F238E27FC236}">
                <a16:creationId xmlns:a16="http://schemas.microsoft.com/office/drawing/2014/main" id="{DD8AB209-23ED-4C32-BABD-B24A1BE21859}"/>
              </a:ext>
            </a:extLst>
          </p:cNvPr>
          <p:cNvGrpSpPr/>
          <p:nvPr/>
        </p:nvGrpSpPr>
        <p:grpSpPr>
          <a:xfrm>
            <a:off x="772540" y="1229841"/>
            <a:ext cx="2753498" cy="912321"/>
            <a:chOff x="6031246" y="1129885"/>
            <a:chExt cx="2753498" cy="912321"/>
          </a:xfrm>
        </p:grpSpPr>
        <p:grpSp>
          <p:nvGrpSpPr>
            <p:cNvPr id="32" name="Group 31">
              <a:extLst>
                <a:ext uri="{FF2B5EF4-FFF2-40B4-BE49-F238E27FC236}">
                  <a16:creationId xmlns:a16="http://schemas.microsoft.com/office/drawing/2014/main" id="{464157A7-51C1-424F-8DB1-89AF1DB7802C}"/>
                </a:ext>
              </a:extLst>
            </p:cNvPr>
            <p:cNvGrpSpPr/>
            <p:nvPr/>
          </p:nvGrpSpPr>
          <p:grpSpPr>
            <a:xfrm>
              <a:off x="6605251" y="1129885"/>
              <a:ext cx="2179493" cy="912321"/>
              <a:chOff x="4168810" y="3112509"/>
              <a:chExt cx="2179493" cy="912321"/>
            </a:xfrm>
          </p:grpSpPr>
          <p:cxnSp>
            <p:nvCxnSpPr>
              <p:cNvPr id="7" name="Straight Connector 6">
                <a:extLst>
                  <a:ext uri="{FF2B5EF4-FFF2-40B4-BE49-F238E27FC236}">
                    <a16:creationId xmlns:a16="http://schemas.microsoft.com/office/drawing/2014/main" id="{1F13CE88-7605-4A5B-9415-6B6AE466E229}"/>
                  </a:ext>
                </a:extLst>
              </p:cNvPr>
              <p:cNvCxnSpPr>
                <a:cxnSpLocks/>
              </p:cNvCxnSpPr>
              <p:nvPr/>
            </p:nvCxnSpPr>
            <p:spPr>
              <a:xfrm>
                <a:off x="4862928" y="3294868"/>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DE75600F-7B83-4B0B-955B-397AF49F3854}"/>
                  </a:ext>
                </a:extLst>
              </p:cNvPr>
              <p:cNvCxnSpPr>
                <a:cxnSpLocks/>
              </p:cNvCxnSpPr>
              <p:nvPr/>
            </p:nvCxnSpPr>
            <p:spPr>
              <a:xfrm>
                <a:off x="4862928" y="3884148"/>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D273F6C5-9526-4BC5-9EAD-081247692C07}"/>
                  </a:ext>
                </a:extLst>
              </p:cNvPr>
              <p:cNvCxnSpPr/>
              <p:nvPr/>
            </p:nvCxnSpPr>
            <p:spPr>
              <a:xfrm>
                <a:off x="5345430" y="3295650"/>
                <a:ext cx="0" cy="5943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Oval 12">
                <a:extLst>
                  <a:ext uri="{FF2B5EF4-FFF2-40B4-BE49-F238E27FC236}">
                    <a16:creationId xmlns:a16="http://schemas.microsoft.com/office/drawing/2014/main" id="{8FFABE81-1ACD-4A9A-8A34-014AF93100CD}"/>
                  </a:ext>
                </a:extLst>
              </p:cNvPr>
              <p:cNvSpPr/>
              <p:nvPr/>
            </p:nvSpPr>
            <p:spPr>
              <a:xfrm>
                <a:off x="5301560" y="3208970"/>
                <a:ext cx="91438" cy="1025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4CB3D46-3E19-4167-919A-9085F26ED75A}"/>
                      </a:ext>
                    </a:extLst>
                  </p:cNvPr>
                  <p:cNvSpPr txBox="1"/>
                  <p:nvPr/>
                </p:nvSpPr>
                <p:spPr>
                  <a:xfrm>
                    <a:off x="5871506" y="3112509"/>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14" name="TextBox 13">
                    <a:extLst>
                      <a:ext uri="{FF2B5EF4-FFF2-40B4-BE49-F238E27FC236}">
                        <a16:creationId xmlns:a16="http://schemas.microsoft.com/office/drawing/2014/main" id="{64CB3D46-3E19-4167-919A-9085F26ED75A}"/>
                      </a:ext>
                    </a:extLst>
                  </p:cNvPr>
                  <p:cNvSpPr txBox="1">
                    <a:spLocks noRot="1" noChangeAspect="1" noMove="1" noResize="1" noEditPoints="1" noAdjustHandles="1" noChangeArrowheads="1" noChangeShapeType="1" noTextEdit="1"/>
                  </p:cNvSpPr>
                  <p:nvPr/>
                </p:nvSpPr>
                <p:spPr>
                  <a:xfrm>
                    <a:off x="5871506" y="3112509"/>
                    <a:ext cx="47679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1C76E32-2A80-4EA5-8847-9FF8C69F2AEB}"/>
                      </a:ext>
                    </a:extLst>
                  </p:cNvPr>
                  <p:cNvSpPr txBox="1"/>
                  <p:nvPr/>
                </p:nvSpPr>
                <p:spPr>
                  <a:xfrm>
                    <a:off x="5874619" y="3655498"/>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15" name="TextBox 14">
                    <a:extLst>
                      <a:ext uri="{FF2B5EF4-FFF2-40B4-BE49-F238E27FC236}">
                        <a16:creationId xmlns:a16="http://schemas.microsoft.com/office/drawing/2014/main" id="{91C76E32-2A80-4EA5-8847-9FF8C69F2AEB}"/>
                      </a:ext>
                    </a:extLst>
                  </p:cNvPr>
                  <p:cNvSpPr txBox="1">
                    <a:spLocks noRot="1" noChangeAspect="1" noMove="1" noResize="1" noEditPoints="1" noAdjustHandles="1" noChangeArrowheads="1" noChangeShapeType="1" noTextEdit="1"/>
                  </p:cNvSpPr>
                  <p:nvPr/>
                </p:nvSpPr>
                <p:spPr>
                  <a:xfrm>
                    <a:off x="5874619" y="3655498"/>
                    <a:ext cx="471476" cy="369332"/>
                  </a:xfrm>
                  <a:prstGeom prst="rect">
                    <a:avLst/>
                  </a:prstGeom>
                  <a:blipFill>
                    <a:blip r:embed="rId7"/>
                    <a:stretch>
                      <a:fillRect/>
                    </a:stretch>
                  </a:blipFill>
                </p:spPr>
                <p:txBody>
                  <a:bodyPr/>
                  <a:lstStyle/>
                  <a:p>
                    <a:r>
                      <a:rPr lang="en-US">
                        <a:noFill/>
                      </a:rPr>
                      <a:t> </a:t>
                    </a:r>
                  </a:p>
                </p:txBody>
              </p:sp>
            </mc:Fallback>
          </mc:AlternateContent>
          <p:pic>
            <p:nvPicPr>
              <p:cNvPr id="19" name="Picture 18">
                <a:extLst>
                  <a:ext uri="{FF2B5EF4-FFF2-40B4-BE49-F238E27FC236}">
                    <a16:creationId xmlns:a16="http://schemas.microsoft.com/office/drawing/2014/main" id="{F096BA3D-AFD1-46D0-824A-663FF2ECB230}"/>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600" b="88800" l="8333" r="97222">
                            <a14:foregroundMark x1="93333" y1="52800" x2="93333" y2="52800"/>
                            <a14:foregroundMark x1="8611" y1="34400" x2="8611" y2="34400"/>
                            <a14:foregroundMark x1="97222" y1="49600" x2="97222" y2="49600"/>
                            <a14:backgroundMark x1="3889" y1="81600" x2="3889" y2="81600"/>
                            <a14:backgroundMark x1="6389" y1="83200" x2="6389" y2="83200"/>
                            <a14:backgroundMark x1="38333" y1="84800" x2="38333" y2="84800"/>
                            <a14:backgroundMark x1="38333" y1="84800" x2="38333" y2="84800"/>
                            <a14:backgroundMark x1="38333" y1="84800" x2="38333" y2="84800"/>
                            <a14:backgroundMark x1="38333" y1="84800" x2="38333" y2="84800"/>
                            <a14:backgroundMark x1="38333" y1="84800" x2="86111" y2="92800"/>
                          </a14:backgroundRemoval>
                        </a14:imgEffect>
                      </a14:imgLayer>
                    </a14:imgProps>
                  </a:ext>
                </a:extLst>
              </a:blip>
              <a:stretch>
                <a:fillRect/>
              </a:stretch>
            </p:blipFill>
            <p:spPr>
              <a:xfrm flipH="1">
                <a:off x="4168810" y="3457832"/>
                <a:ext cx="756433" cy="269995"/>
              </a:xfrm>
              <a:prstGeom prst="rect">
                <a:avLst/>
              </a:prstGeom>
            </p:spPr>
          </p:pic>
        </p:gr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66429568-1DF9-4C17-B5D6-8CD16D60FD93}"/>
                    </a:ext>
                  </a:extLst>
                </p:cNvPr>
                <p:cNvSpPr txBox="1"/>
                <p:nvPr/>
              </p:nvSpPr>
              <p:spPr>
                <a:xfrm>
                  <a:off x="6031246" y="1370455"/>
                  <a:ext cx="566181" cy="4237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sp</m:t>
                            </m:r>
                          </m:sub>
                        </m:sSub>
                      </m:oMath>
                    </m:oMathPara>
                  </a14:m>
                  <a:endParaRPr lang="en-US" sz="2000" i="1" dirty="0">
                    <a:solidFill>
                      <a:srgbClr val="0070C0"/>
                    </a:solidFill>
                  </a:endParaRPr>
                </a:p>
              </p:txBody>
            </p:sp>
          </mc:Choice>
          <mc:Fallback xmlns="">
            <p:sp>
              <p:nvSpPr>
                <p:cNvPr id="63" name="TextBox 62">
                  <a:extLst>
                    <a:ext uri="{FF2B5EF4-FFF2-40B4-BE49-F238E27FC236}">
                      <a16:creationId xmlns:a16="http://schemas.microsoft.com/office/drawing/2014/main" id="{66429568-1DF9-4C17-B5D6-8CD16D60FD93}"/>
                    </a:ext>
                  </a:extLst>
                </p:cNvPr>
                <p:cNvSpPr txBox="1">
                  <a:spLocks noRot="1" noChangeAspect="1" noMove="1" noResize="1" noEditPoints="1" noAdjustHandles="1" noChangeArrowheads="1" noChangeShapeType="1" noTextEdit="1"/>
                </p:cNvSpPr>
                <p:nvPr/>
              </p:nvSpPr>
              <p:spPr>
                <a:xfrm>
                  <a:off x="6031246" y="1370455"/>
                  <a:ext cx="566181" cy="423770"/>
                </a:xfrm>
                <a:prstGeom prst="rect">
                  <a:avLst/>
                </a:prstGeom>
                <a:blipFill>
                  <a:blip r:embed="rId10"/>
                  <a:stretch>
                    <a:fillRect b="-5714"/>
                  </a:stretch>
                </a:blipFill>
              </p:spPr>
              <p:txBody>
                <a:bodyPr/>
                <a:lstStyle/>
                <a:p>
                  <a:r>
                    <a:rPr lang="en-US">
                      <a:noFill/>
                    </a:rPr>
                    <a:t> </a:t>
                  </a:r>
                </a:p>
              </p:txBody>
            </p:sp>
          </mc:Fallback>
        </mc:AlternateContent>
      </p:grpSp>
      <p:grpSp>
        <p:nvGrpSpPr>
          <p:cNvPr id="68" name="Group 67">
            <a:extLst>
              <a:ext uri="{FF2B5EF4-FFF2-40B4-BE49-F238E27FC236}">
                <a16:creationId xmlns:a16="http://schemas.microsoft.com/office/drawing/2014/main" id="{1ADA816F-80E9-429B-A678-FBDAD54ECBFC}"/>
              </a:ext>
            </a:extLst>
          </p:cNvPr>
          <p:cNvGrpSpPr/>
          <p:nvPr/>
        </p:nvGrpSpPr>
        <p:grpSpPr>
          <a:xfrm>
            <a:off x="4471618" y="2913421"/>
            <a:ext cx="3319186" cy="964659"/>
            <a:chOff x="1433758" y="3139484"/>
            <a:chExt cx="3319186" cy="964659"/>
          </a:xfrm>
        </p:grpSpPr>
        <p:grpSp>
          <p:nvGrpSpPr>
            <p:cNvPr id="49" name="Group 48">
              <a:extLst>
                <a:ext uri="{FF2B5EF4-FFF2-40B4-BE49-F238E27FC236}">
                  <a16:creationId xmlns:a16="http://schemas.microsoft.com/office/drawing/2014/main" id="{BD92A58B-F995-4FEF-A8B7-01A8394F443D}"/>
                </a:ext>
              </a:extLst>
            </p:cNvPr>
            <p:cNvGrpSpPr/>
            <p:nvPr/>
          </p:nvGrpSpPr>
          <p:grpSpPr>
            <a:xfrm>
              <a:off x="1433758" y="3155691"/>
              <a:ext cx="2809843" cy="948452"/>
              <a:chOff x="5774602" y="2242939"/>
              <a:chExt cx="2809843" cy="948452"/>
            </a:xfrm>
          </p:grpSpPr>
          <p:pic>
            <p:nvPicPr>
              <p:cNvPr id="40" name="Picture 39">
                <a:extLst>
                  <a:ext uri="{FF2B5EF4-FFF2-40B4-BE49-F238E27FC236}">
                    <a16:creationId xmlns:a16="http://schemas.microsoft.com/office/drawing/2014/main" id="{741C26C4-2333-4959-BCF8-6E35D0973FEA}"/>
                  </a:ext>
                </a:extLst>
              </p:cNvPr>
              <p:cNvPicPr>
                <a:picLocks noChangeAspect="1"/>
              </p:cNvPicPr>
              <p:nvPr/>
            </p:nvPicPr>
            <p:blipFill>
              <a:blip r:embed="rId2"/>
              <a:stretch>
                <a:fillRect/>
              </a:stretch>
            </p:blipFill>
            <p:spPr>
              <a:xfrm>
                <a:off x="5788082" y="2507202"/>
                <a:ext cx="805871" cy="274344"/>
              </a:xfrm>
              <a:prstGeom prst="rect">
                <a:avLst/>
              </a:prstGeom>
            </p:spPr>
          </p:pic>
          <p:cxnSp>
            <p:nvCxnSpPr>
              <p:cNvPr id="41" name="Straight Connector 40">
                <a:extLst>
                  <a:ext uri="{FF2B5EF4-FFF2-40B4-BE49-F238E27FC236}">
                    <a16:creationId xmlns:a16="http://schemas.microsoft.com/office/drawing/2014/main" id="{30B77D45-5D54-4E69-B78E-2FBA615BDBB7}"/>
                  </a:ext>
                </a:extLst>
              </p:cNvPr>
              <p:cNvCxnSpPr>
                <a:cxnSpLocks/>
              </p:cNvCxnSpPr>
              <p:nvPr/>
            </p:nvCxnSpPr>
            <p:spPr>
              <a:xfrm>
                <a:off x="6612859" y="245380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42" name="Straight Connector 41">
                <a:extLst>
                  <a:ext uri="{FF2B5EF4-FFF2-40B4-BE49-F238E27FC236}">
                    <a16:creationId xmlns:a16="http://schemas.microsoft.com/office/drawing/2014/main" id="{FB17FCD5-B567-44DE-944E-7BDDF4C34B6E}"/>
                  </a:ext>
                </a:extLst>
              </p:cNvPr>
              <p:cNvCxnSpPr>
                <a:cxnSpLocks/>
              </p:cNvCxnSpPr>
              <p:nvPr/>
            </p:nvCxnSpPr>
            <p:spPr>
              <a:xfrm>
                <a:off x="6612859" y="305451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43" name="Straight Arrow Connector 42">
                <a:extLst>
                  <a:ext uri="{FF2B5EF4-FFF2-40B4-BE49-F238E27FC236}">
                    <a16:creationId xmlns:a16="http://schemas.microsoft.com/office/drawing/2014/main" id="{02F5DEC2-63AD-4F57-979A-40241500DA02}"/>
                  </a:ext>
                </a:extLst>
              </p:cNvPr>
              <p:cNvCxnSpPr>
                <a:cxnSpLocks/>
              </p:cNvCxnSpPr>
              <p:nvPr/>
            </p:nvCxnSpPr>
            <p:spPr>
              <a:xfrm flipH="1" flipV="1">
                <a:off x="7096181" y="2437622"/>
                <a:ext cx="1690" cy="5835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val 43">
                <a:extLst>
                  <a:ext uri="{FF2B5EF4-FFF2-40B4-BE49-F238E27FC236}">
                    <a16:creationId xmlns:a16="http://schemas.microsoft.com/office/drawing/2014/main" id="{012909BB-4CDE-4053-81A1-E00F47961B11}"/>
                  </a:ext>
                </a:extLst>
              </p:cNvPr>
              <p:cNvSpPr/>
              <p:nvPr/>
            </p:nvSpPr>
            <p:spPr>
              <a:xfrm>
                <a:off x="7063741" y="2968802"/>
                <a:ext cx="72390" cy="702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155EB25-8A6A-4E1F-A94C-354B27E18940}"/>
                      </a:ext>
                    </a:extLst>
                  </p:cNvPr>
                  <p:cNvSpPr txBox="1"/>
                  <p:nvPr/>
                </p:nvSpPr>
                <p:spPr>
                  <a:xfrm>
                    <a:off x="7621324" y="2242939"/>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45" name="TextBox 44">
                    <a:extLst>
                      <a:ext uri="{FF2B5EF4-FFF2-40B4-BE49-F238E27FC236}">
                        <a16:creationId xmlns:a16="http://schemas.microsoft.com/office/drawing/2014/main" id="{F155EB25-8A6A-4E1F-A94C-354B27E18940}"/>
                      </a:ext>
                    </a:extLst>
                  </p:cNvPr>
                  <p:cNvSpPr txBox="1">
                    <a:spLocks noRot="1" noChangeAspect="1" noMove="1" noResize="1" noEditPoints="1" noAdjustHandles="1" noChangeArrowheads="1" noChangeShapeType="1" noTextEdit="1"/>
                  </p:cNvSpPr>
                  <p:nvPr/>
                </p:nvSpPr>
                <p:spPr>
                  <a:xfrm>
                    <a:off x="7621324" y="2242939"/>
                    <a:ext cx="47679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8057883-FF8E-406D-972F-5ACA43796231}"/>
                      </a:ext>
                    </a:extLst>
                  </p:cNvPr>
                  <p:cNvSpPr txBox="1"/>
                  <p:nvPr/>
                </p:nvSpPr>
                <p:spPr>
                  <a:xfrm>
                    <a:off x="7624550" y="2822059"/>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46" name="TextBox 45">
                    <a:extLst>
                      <a:ext uri="{FF2B5EF4-FFF2-40B4-BE49-F238E27FC236}">
                        <a16:creationId xmlns:a16="http://schemas.microsoft.com/office/drawing/2014/main" id="{B8057883-FF8E-406D-972F-5ACA43796231}"/>
                      </a:ext>
                    </a:extLst>
                  </p:cNvPr>
                  <p:cNvSpPr txBox="1">
                    <a:spLocks noRot="1" noChangeAspect="1" noMove="1" noResize="1" noEditPoints="1" noAdjustHandles="1" noChangeArrowheads="1" noChangeShapeType="1" noTextEdit="1"/>
                  </p:cNvSpPr>
                  <p:nvPr/>
                </p:nvSpPr>
                <p:spPr>
                  <a:xfrm>
                    <a:off x="7624550" y="2822059"/>
                    <a:ext cx="471476" cy="369332"/>
                  </a:xfrm>
                  <a:prstGeom prst="rect">
                    <a:avLst/>
                  </a:prstGeom>
                  <a:blipFill>
                    <a:blip r:embed="rId12"/>
                    <a:stretch>
                      <a:fillRect/>
                    </a:stretch>
                  </a:blipFill>
                </p:spPr>
                <p:txBody>
                  <a:bodyPr/>
                  <a:lstStyle/>
                  <a:p>
                    <a:r>
                      <a:rPr lang="en-US">
                        <a:noFill/>
                      </a:rPr>
                      <a:t> </a:t>
                    </a:r>
                  </a:p>
                </p:txBody>
              </p:sp>
            </mc:Fallback>
          </mc:AlternateContent>
          <p:pic>
            <p:nvPicPr>
              <p:cNvPr id="47" name="Picture 46">
                <a:extLst>
                  <a:ext uri="{FF2B5EF4-FFF2-40B4-BE49-F238E27FC236}">
                    <a16:creationId xmlns:a16="http://schemas.microsoft.com/office/drawing/2014/main" id="{C26FB4B9-199F-474F-A08A-0E41B28CC89F}"/>
                  </a:ext>
                </a:extLst>
              </p:cNvPr>
              <p:cNvPicPr>
                <a:picLocks noChangeAspect="1"/>
              </p:cNvPicPr>
              <p:nvPr/>
            </p:nvPicPr>
            <p:blipFill>
              <a:blip r:embed="rId2"/>
              <a:stretch>
                <a:fillRect/>
              </a:stretch>
            </p:blipFill>
            <p:spPr>
              <a:xfrm>
                <a:off x="5774602" y="2752725"/>
                <a:ext cx="805871" cy="274344"/>
              </a:xfrm>
              <a:prstGeom prst="rect">
                <a:avLst/>
              </a:prstGeom>
            </p:spPr>
          </p:pic>
          <p:pic>
            <p:nvPicPr>
              <p:cNvPr id="48" name="Picture 47">
                <a:extLst>
                  <a:ext uri="{FF2B5EF4-FFF2-40B4-BE49-F238E27FC236}">
                    <a16:creationId xmlns:a16="http://schemas.microsoft.com/office/drawing/2014/main" id="{76512AEB-B609-4B10-AF66-A8D699AFE779}"/>
                  </a:ext>
                </a:extLst>
              </p:cNvPr>
              <p:cNvPicPr>
                <a:picLocks noChangeAspect="1"/>
              </p:cNvPicPr>
              <p:nvPr/>
            </p:nvPicPr>
            <p:blipFill>
              <a:blip r:embed="rId2"/>
              <a:stretch>
                <a:fillRect/>
              </a:stretch>
            </p:blipFill>
            <p:spPr>
              <a:xfrm>
                <a:off x="7778574" y="2619677"/>
                <a:ext cx="805871" cy="274344"/>
              </a:xfrm>
              <a:prstGeom prst="rect">
                <a:avLst/>
              </a:prstGeom>
            </p:spPr>
          </p:pic>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0338DAA3-AFE2-489B-9B48-1C2BE2464AC9}"/>
                    </a:ext>
                  </a:extLst>
                </p:cNvPr>
                <p:cNvSpPr txBox="1"/>
                <p:nvPr/>
              </p:nvSpPr>
              <p:spPr>
                <a:xfrm>
                  <a:off x="3769563" y="3139484"/>
                  <a:ext cx="98338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a</m:t>
                            </m:r>
                          </m:sub>
                        </m:sSub>
                        <m:r>
                          <a:rPr lang="en-US" sz="2000" b="0" i="1" smtClean="0">
                            <a:solidFill>
                              <a:srgbClr val="0070C0"/>
                            </a:solidFill>
                            <a:latin typeface="Cambria Math" panose="02040503050406030204" pitchFamily="18" charset="0"/>
                          </a:rPr>
                          <m:t>(2)</m:t>
                        </m:r>
                      </m:oMath>
                    </m:oMathPara>
                  </a14:m>
                  <a:endParaRPr lang="en-US" sz="2000" i="1" dirty="0">
                    <a:solidFill>
                      <a:srgbClr val="0070C0"/>
                    </a:solidFill>
                  </a:endParaRPr>
                </a:p>
              </p:txBody>
            </p:sp>
          </mc:Choice>
          <mc:Fallback xmlns="">
            <p:sp>
              <p:nvSpPr>
                <p:cNvPr id="66" name="TextBox 65">
                  <a:extLst>
                    <a:ext uri="{FF2B5EF4-FFF2-40B4-BE49-F238E27FC236}">
                      <a16:creationId xmlns:a16="http://schemas.microsoft.com/office/drawing/2014/main" id="{0338DAA3-AFE2-489B-9B48-1C2BE2464AC9}"/>
                    </a:ext>
                  </a:extLst>
                </p:cNvPr>
                <p:cNvSpPr txBox="1">
                  <a:spLocks noRot="1" noChangeAspect="1" noMove="1" noResize="1" noEditPoints="1" noAdjustHandles="1" noChangeArrowheads="1" noChangeShapeType="1" noTextEdit="1"/>
                </p:cNvSpPr>
                <p:nvPr/>
              </p:nvSpPr>
              <p:spPr>
                <a:xfrm>
                  <a:off x="3769563" y="3139484"/>
                  <a:ext cx="983381" cy="400110"/>
                </a:xfrm>
                <a:prstGeom prst="rect">
                  <a:avLst/>
                </a:prstGeom>
                <a:blipFill>
                  <a:blip r:embed="rId13"/>
                  <a:stretch>
                    <a:fillRect b="-13636"/>
                  </a:stretch>
                </a:blipFill>
              </p:spPr>
              <p:txBody>
                <a:bodyPr/>
                <a:lstStyle/>
                <a:p>
                  <a:r>
                    <a:rPr lang="en-US">
                      <a:noFill/>
                    </a:rPr>
                    <a:t> </a:t>
                  </a:r>
                </a:p>
              </p:txBody>
            </p:sp>
          </mc:Fallback>
        </mc:AlternateContent>
      </p:grpSp>
      <p:grpSp>
        <p:nvGrpSpPr>
          <p:cNvPr id="69" name="Group 68">
            <a:extLst>
              <a:ext uri="{FF2B5EF4-FFF2-40B4-BE49-F238E27FC236}">
                <a16:creationId xmlns:a16="http://schemas.microsoft.com/office/drawing/2014/main" id="{A7EB1C87-CE7A-4545-B633-BD42B497827C}"/>
              </a:ext>
            </a:extLst>
          </p:cNvPr>
          <p:cNvGrpSpPr/>
          <p:nvPr/>
        </p:nvGrpSpPr>
        <p:grpSpPr>
          <a:xfrm>
            <a:off x="574158" y="2865546"/>
            <a:ext cx="3336769" cy="1019699"/>
            <a:chOff x="913906" y="4652331"/>
            <a:chExt cx="3336769" cy="1019699"/>
          </a:xfrm>
        </p:grpSpPr>
        <p:grpSp>
          <p:nvGrpSpPr>
            <p:cNvPr id="50" name="Group 49">
              <a:extLst>
                <a:ext uri="{FF2B5EF4-FFF2-40B4-BE49-F238E27FC236}">
                  <a16:creationId xmlns:a16="http://schemas.microsoft.com/office/drawing/2014/main" id="{D25114DD-EBEE-4C11-99D3-FB908C4FDD60}"/>
                </a:ext>
              </a:extLst>
            </p:cNvPr>
            <p:cNvGrpSpPr/>
            <p:nvPr/>
          </p:nvGrpSpPr>
          <p:grpSpPr>
            <a:xfrm>
              <a:off x="1519071" y="4723578"/>
              <a:ext cx="2731604" cy="948452"/>
              <a:chOff x="5867378" y="2242939"/>
              <a:chExt cx="2731604" cy="948452"/>
            </a:xfrm>
          </p:grpSpPr>
          <p:pic>
            <p:nvPicPr>
              <p:cNvPr id="51" name="Picture 50">
                <a:extLst>
                  <a:ext uri="{FF2B5EF4-FFF2-40B4-BE49-F238E27FC236}">
                    <a16:creationId xmlns:a16="http://schemas.microsoft.com/office/drawing/2014/main" id="{5BAA81C5-A2F5-4702-B58B-A7937EA2E8F8}"/>
                  </a:ext>
                </a:extLst>
              </p:cNvPr>
              <p:cNvPicPr>
                <a:picLocks noChangeAspect="1"/>
              </p:cNvPicPr>
              <p:nvPr/>
            </p:nvPicPr>
            <p:blipFill>
              <a:blip r:embed="rId2"/>
              <a:stretch>
                <a:fillRect/>
              </a:stretch>
            </p:blipFill>
            <p:spPr>
              <a:xfrm flipH="1">
                <a:off x="5880858" y="2507202"/>
                <a:ext cx="756432" cy="274344"/>
              </a:xfrm>
              <a:prstGeom prst="rect">
                <a:avLst/>
              </a:prstGeom>
            </p:spPr>
          </p:pic>
          <p:cxnSp>
            <p:nvCxnSpPr>
              <p:cNvPr id="52" name="Straight Connector 51">
                <a:extLst>
                  <a:ext uri="{FF2B5EF4-FFF2-40B4-BE49-F238E27FC236}">
                    <a16:creationId xmlns:a16="http://schemas.microsoft.com/office/drawing/2014/main" id="{9D604063-E29A-4F18-AE58-9936311C5070}"/>
                  </a:ext>
                </a:extLst>
              </p:cNvPr>
              <p:cNvCxnSpPr>
                <a:cxnSpLocks/>
              </p:cNvCxnSpPr>
              <p:nvPr/>
            </p:nvCxnSpPr>
            <p:spPr>
              <a:xfrm>
                <a:off x="6612859" y="245380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A4FC565E-FA14-40ED-B44E-E97DFED34CA5}"/>
                  </a:ext>
                </a:extLst>
              </p:cNvPr>
              <p:cNvCxnSpPr>
                <a:cxnSpLocks/>
              </p:cNvCxnSpPr>
              <p:nvPr/>
            </p:nvCxnSpPr>
            <p:spPr>
              <a:xfrm>
                <a:off x="6612859" y="305451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2E90DDF8-C1BF-405F-96E1-8E50C9DC5156}"/>
                  </a:ext>
                </a:extLst>
              </p:cNvPr>
              <p:cNvCxnSpPr>
                <a:cxnSpLocks/>
              </p:cNvCxnSpPr>
              <p:nvPr/>
            </p:nvCxnSpPr>
            <p:spPr>
              <a:xfrm>
                <a:off x="7092791" y="2437622"/>
                <a:ext cx="0" cy="616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Oval 54">
                <a:extLst>
                  <a:ext uri="{FF2B5EF4-FFF2-40B4-BE49-F238E27FC236}">
                    <a16:creationId xmlns:a16="http://schemas.microsoft.com/office/drawing/2014/main" id="{7D916C2F-8BC6-4A91-88D1-863D518BC673}"/>
                  </a:ext>
                </a:extLst>
              </p:cNvPr>
              <p:cNvSpPr/>
              <p:nvPr/>
            </p:nvSpPr>
            <p:spPr>
              <a:xfrm>
                <a:off x="7057603" y="2362184"/>
                <a:ext cx="72390" cy="702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5DCD954-BA0A-4E3A-B463-466CAACEDC60}"/>
                      </a:ext>
                    </a:extLst>
                  </p:cNvPr>
                  <p:cNvSpPr txBox="1"/>
                  <p:nvPr/>
                </p:nvSpPr>
                <p:spPr>
                  <a:xfrm>
                    <a:off x="7621324" y="2242939"/>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56" name="TextBox 55">
                    <a:extLst>
                      <a:ext uri="{FF2B5EF4-FFF2-40B4-BE49-F238E27FC236}">
                        <a16:creationId xmlns:a16="http://schemas.microsoft.com/office/drawing/2014/main" id="{C5DCD954-BA0A-4E3A-B463-466CAACEDC60}"/>
                      </a:ext>
                    </a:extLst>
                  </p:cNvPr>
                  <p:cNvSpPr txBox="1">
                    <a:spLocks noRot="1" noChangeAspect="1" noMove="1" noResize="1" noEditPoints="1" noAdjustHandles="1" noChangeArrowheads="1" noChangeShapeType="1" noTextEdit="1"/>
                  </p:cNvSpPr>
                  <p:nvPr/>
                </p:nvSpPr>
                <p:spPr>
                  <a:xfrm>
                    <a:off x="7621324" y="2242939"/>
                    <a:ext cx="476797"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0248271-D04F-4D9F-95C6-1263FFB4D1FD}"/>
                      </a:ext>
                    </a:extLst>
                  </p:cNvPr>
                  <p:cNvSpPr txBox="1"/>
                  <p:nvPr/>
                </p:nvSpPr>
                <p:spPr>
                  <a:xfrm>
                    <a:off x="7624550" y="2822059"/>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57" name="TextBox 56">
                    <a:extLst>
                      <a:ext uri="{FF2B5EF4-FFF2-40B4-BE49-F238E27FC236}">
                        <a16:creationId xmlns:a16="http://schemas.microsoft.com/office/drawing/2014/main" id="{60248271-D04F-4D9F-95C6-1263FFB4D1FD}"/>
                      </a:ext>
                    </a:extLst>
                  </p:cNvPr>
                  <p:cNvSpPr txBox="1">
                    <a:spLocks noRot="1" noChangeAspect="1" noMove="1" noResize="1" noEditPoints="1" noAdjustHandles="1" noChangeArrowheads="1" noChangeShapeType="1" noTextEdit="1"/>
                  </p:cNvSpPr>
                  <p:nvPr/>
                </p:nvSpPr>
                <p:spPr>
                  <a:xfrm>
                    <a:off x="7624550" y="2822059"/>
                    <a:ext cx="471476" cy="369332"/>
                  </a:xfrm>
                  <a:prstGeom prst="rect">
                    <a:avLst/>
                  </a:prstGeom>
                  <a:blipFill>
                    <a:blip r:embed="rId15"/>
                    <a:stretch>
                      <a:fillRect/>
                    </a:stretch>
                  </a:blipFill>
                </p:spPr>
                <p:txBody>
                  <a:bodyPr/>
                  <a:lstStyle/>
                  <a:p>
                    <a:r>
                      <a:rPr lang="en-US">
                        <a:noFill/>
                      </a:rPr>
                      <a:t> </a:t>
                    </a:r>
                  </a:p>
                </p:txBody>
              </p:sp>
            </mc:Fallback>
          </mc:AlternateContent>
          <p:pic>
            <p:nvPicPr>
              <p:cNvPr id="58" name="Picture 57">
                <a:extLst>
                  <a:ext uri="{FF2B5EF4-FFF2-40B4-BE49-F238E27FC236}">
                    <a16:creationId xmlns:a16="http://schemas.microsoft.com/office/drawing/2014/main" id="{16C19C30-5BA8-49A2-882D-2B9BD4E07CBA}"/>
                  </a:ext>
                </a:extLst>
              </p:cNvPr>
              <p:cNvPicPr>
                <a:picLocks noChangeAspect="1"/>
              </p:cNvPicPr>
              <p:nvPr/>
            </p:nvPicPr>
            <p:blipFill>
              <a:blip r:embed="rId2"/>
              <a:stretch>
                <a:fillRect/>
              </a:stretch>
            </p:blipFill>
            <p:spPr>
              <a:xfrm flipH="1">
                <a:off x="5867378" y="2752725"/>
                <a:ext cx="756432" cy="274344"/>
              </a:xfrm>
              <a:prstGeom prst="rect">
                <a:avLst/>
              </a:prstGeom>
            </p:spPr>
          </p:pic>
          <p:pic>
            <p:nvPicPr>
              <p:cNvPr id="59" name="Picture 58">
                <a:extLst>
                  <a:ext uri="{FF2B5EF4-FFF2-40B4-BE49-F238E27FC236}">
                    <a16:creationId xmlns:a16="http://schemas.microsoft.com/office/drawing/2014/main" id="{CEC6D563-77F2-44FA-828A-890C8430450C}"/>
                  </a:ext>
                </a:extLst>
              </p:cNvPr>
              <p:cNvPicPr>
                <a:picLocks noChangeAspect="1"/>
              </p:cNvPicPr>
              <p:nvPr/>
            </p:nvPicPr>
            <p:blipFill>
              <a:blip r:embed="rId2"/>
              <a:stretch>
                <a:fillRect/>
              </a:stretch>
            </p:blipFill>
            <p:spPr>
              <a:xfrm flipH="1">
                <a:off x="7842550" y="2619677"/>
                <a:ext cx="756432" cy="274344"/>
              </a:xfrm>
              <a:prstGeom prst="rect">
                <a:avLst/>
              </a:prstGeom>
            </p:spPr>
          </p:pic>
        </p:gr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00A00D72-2A74-43D3-A589-D58C842068BF}"/>
                    </a:ext>
                  </a:extLst>
                </p:cNvPr>
                <p:cNvSpPr txBox="1"/>
                <p:nvPr/>
              </p:nvSpPr>
              <p:spPr>
                <a:xfrm>
                  <a:off x="913906" y="4652331"/>
                  <a:ext cx="98338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e</m:t>
                            </m:r>
                          </m:sub>
                        </m:sSub>
                        <m:r>
                          <a:rPr lang="en-US" sz="2000" b="0" i="1" smtClean="0">
                            <a:solidFill>
                              <a:srgbClr val="0070C0"/>
                            </a:solidFill>
                            <a:latin typeface="Cambria Math" panose="02040503050406030204" pitchFamily="18" charset="0"/>
                          </a:rPr>
                          <m:t>(1)</m:t>
                        </m:r>
                      </m:oMath>
                    </m:oMathPara>
                  </a14:m>
                  <a:endParaRPr lang="en-US" sz="2000" i="1" dirty="0">
                    <a:solidFill>
                      <a:srgbClr val="0070C0"/>
                    </a:solidFill>
                  </a:endParaRPr>
                </a:p>
              </p:txBody>
            </p:sp>
          </mc:Choice>
          <mc:Fallback xmlns="">
            <p:sp>
              <p:nvSpPr>
                <p:cNvPr id="67" name="TextBox 66">
                  <a:extLst>
                    <a:ext uri="{FF2B5EF4-FFF2-40B4-BE49-F238E27FC236}">
                      <a16:creationId xmlns:a16="http://schemas.microsoft.com/office/drawing/2014/main" id="{00A00D72-2A74-43D3-A589-D58C842068BF}"/>
                    </a:ext>
                  </a:extLst>
                </p:cNvPr>
                <p:cNvSpPr txBox="1">
                  <a:spLocks noRot="1" noChangeAspect="1" noMove="1" noResize="1" noEditPoints="1" noAdjustHandles="1" noChangeArrowheads="1" noChangeShapeType="1" noTextEdit="1"/>
                </p:cNvSpPr>
                <p:nvPr/>
              </p:nvSpPr>
              <p:spPr>
                <a:xfrm>
                  <a:off x="913906" y="4652331"/>
                  <a:ext cx="983381" cy="400110"/>
                </a:xfrm>
                <a:prstGeom prst="rect">
                  <a:avLst/>
                </a:prstGeom>
                <a:blipFill>
                  <a:blip r:embed="rId16"/>
                  <a:stretch>
                    <a:fillRect b="-1515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76E353F-8D49-47F3-AF31-CFA8A4BB2143}"/>
                  </a:ext>
                </a:extLst>
              </p:cNvPr>
              <p:cNvSpPr txBox="1"/>
              <p:nvPr/>
            </p:nvSpPr>
            <p:spPr>
              <a:xfrm>
                <a:off x="8750854" y="1498276"/>
                <a:ext cx="1498615" cy="4237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a</m:t>
                          </m:r>
                        </m:sub>
                      </m:sSub>
                      <m:d>
                        <m:dPr>
                          <m:ctrlPr>
                            <a:rPr lang="en-US" sz="2000" b="0" i="1" smtClean="0">
                              <a:solidFill>
                                <a:srgbClr val="0070C0"/>
                              </a:solidFill>
                              <a:latin typeface="Cambria Math" panose="02040503050406030204" pitchFamily="18" charset="0"/>
                            </a:rPr>
                          </m:ctrlPr>
                        </m:dPr>
                        <m:e>
                          <m:r>
                            <a:rPr lang="en-US" sz="2000" b="0" i="1" smtClean="0">
                              <a:solidFill>
                                <a:srgbClr val="0070C0"/>
                              </a:solidFill>
                              <a:latin typeface="Cambria Math" panose="02040503050406030204" pitchFamily="18" charset="0"/>
                            </a:rPr>
                            <m:t>1</m:t>
                          </m:r>
                        </m:e>
                      </m:d>
                      <m:r>
                        <a:rPr lang="en-US" sz="2000" b="0" i="1" smtClean="0">
                          <a:solidFill>
                            <a:srgbClr val="0070C0"/>
                          </a:solidFill>
                          <a:latin typeface="Cambria Math" panose="02040503050406030204" pitchFamily="18" charset="0"/>
                        </a:rPr>
                        <m:t>=</m:t>
                      </m:r>
                      <m:sSub>
                        <m:sSubPr>
                          <m:ctrlPr>
                            <a:rPr lang="en-US" sz="2000" b="0" i="1" smtClean="0">
                              <a:solidFill>
                                <a:srgbClr val="0070C0"/>
                              </a:solidFill>
                              <a:latin typeface="Cambria Math" panose="02040503050406030204" pitchFamily="18" charset="0"/>
                            </a:rPr>
                          </m:ctrlPr>
                        </m:sSubPr>
                        <m:e>
                          <m:r>
                            <m:rPr>
                              <m:sty m:val="p"/>
                            </m:rPr>
                            <a:rPr lang="en-US" sz="2000" b="0" i="0" smtClean="0">
                              <a:solidFill>
                                <a:srgbClr val="0070C0"/>
                              </a:solidFill>
                              <a:latin typeface="Cambria Math" panose="02040503050406030204" pitchFamily="18" charset="0"/>
                            </a:rPr>
                            <m:t>Γ</m:t>
                          </m:r>
                        </m:e>
                        <m:sub>
                          <m:r>
                            <m:rPr>
                              <m:sty m:val="p"/>
                            </m:rPr>
                            <a:rPr lang="en-US" sz="2000" b="0" i="0" smtClean="0">
                              <a:solidFill>
                                <a:srgbClr val="0070C0"/>
                              </a:solidFill>
                              <a:latin typeface="Cambria Math" panose="02040503050406030204" pitchFamily="18" charset="0"/>
                            </a:rPr>
                            <m:t>sp</m:t>
                          </m:r>
                        </m:sub>
                      </m:sSub>
                    </m:oMath>
                  </m:oMathPara>
                </a14:m>
                <a:endParaRPr lang="en-US" sz="2000" i="1" dirty="0">
                  <a:solidFill>
                    <a:srgbClr val="0070C0"/>
                  </a:solidFill>
                </a:endParaRPr>
              </a:p>
            </p:txBody>
          </p:sp>
        </mc:Choice>
        <mc:Fallback xmlns="">
          <p:sp>
            <p:nvSpPr>
              <p:cNvPr id="70" name="TextBox 69">
                <a:extLst>
                  <a:ext uri="{FF2B5EF4-FFF2-40B4-BE49-F238E27FC236}">
                    <a16:creationId xmlns:a16="http://schemas.microsoft.com/office/drawing/2014/main" id="{376E353F-8D49-47F3-AF31-CFA8A4BB2143}"/>
                  </a:ext>
                </a:extLst>
              </p:cNvPr>
              <p:cNvSpPr txBox="1">
                <a:spLocks noRot="1" noChangeAspect="1" noMove="1" noResize="1" noEditPoints="1" noAdjustHandles="1" noChangeArrowheads="1" noChangeShapeType="1" noTextEdit="1"/>
              </p:cNvSpPr>
              <p:nvPr/>
            </p:nvSpPr>
            <p:spPr>
              <a:xfrm>
                <a:off x="8750854" y="1498276"/>
                <a:ext cx="1498615" cy="423770"/>
              </a:xfrm>
              <a:prstGeom prst="rect">
                <a:avLst/>
              </a:prstGeom>
              <a:blipFill>
                <a:blip r:embed="rId17"/>
                <a:stretch>
                  <a:fillRect b="-57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F702EAC0-6C3A-402B-A60B-A4054B80C0CC}"/>
                  </a:ext>
                </a:extLst>
              </p:cNvPr>
              <p:cNvSpPr txBox="1"/>
              <p:nvPr/>
            </p:nvSpPr>
            <p:spPr>
              <a:xfrm>
                <a:off x="7862804" y="3200731"/>
                <a:ext cx="3565848" cy="4274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e</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m:t>
                          </m:r>
                        </m:e>
                      </m:d>
                      <m:r>
                        <a:rPr lang="en-US" sz="2000" b="0" i="1" smtClean="0">
                          <a:solidFill>
                            <a:srgbClr val="0070C0"/>
                          </a:solidFill>
                          <a:latin typeface="Cambria Math" panose="02040503050406030204" pitchFamily="18" charset="0"/>
                        </a:rPr>
                        <m:t>=</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i="0">
                              <a:solidFill>
                                <a:srgbClr val="0070C0"/>
                              </a:solidFill>
                              <a:latin typeface="Cambria Math" panose="02040503050406030204" pitchFamily="18" charset="0"/>
                            </a:rPr>
                            <m:t>a</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2</m:t>
                          </m:r>
                        </m:e>
                      </m:d>
                      <m:r>
                        <a:rPr lang="en-US" sz="2000" i="1">
                          <a:solidFill>
                            <a:srgbClr val="0070C0"/>
                          </a:solidFill>
                          <a:latin typeface="Cambria Math" panose="02040503050406030204" pitchFamily="18" charset="0"/>
                        </a:rPr>
                        <m:t>=</m:t>
                      </m:r>
                      <m:r>
                        <a:rPr lang="en-US" sz="2000" b="0" i="1" smtClean="0">
                          <a:solidFill>
                            <a:srgbClr val="0070C0"/>
                          </a:solidFill>
                          <a:latin typeface="Cambria Math" panose="02040503050406030204" pitchFamily="18" charset="0"/>
                        </a:rPr>
                        <m:t>2</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a</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m:t>
                          </m:r>
                        </m:e>
                      </m:d>
                      <m:r>
                        <a:rPr lang="en-US" sz="2000" b="0" i="1" smtClean="0">
                          <a:solidFill>
                            <a:srgbClr val="0070C0"/>
                          </a:solidFill>
                          <a:latin typeface="Cambria Math" panose="02040503050406030204" pitchFamily="18" charset="0"/>
                        </a:rPr>
                        <m:t>=</m:t>
                      </m:r>
                      <m:r>
                        <a:rPr lang="en-US" sz="2000" i="1">
                          <a:solidFill>
                            <a:srgbClr val="0070C0"/>
                          </a:solidFill>
                          <a:latin typeface="Cambria Math" panose="02040503050406030204" pitchFamily="18" charset="0"/>
                        </a:rPr>
                        <m:t>2</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sp</m:t>
                          </m:r>
                        </m:sub>
                      </m:sSub>
                    </m:oMath>
                  </m:oMathPara>
                </a14:m>
                <a:endParaRPr lang="en-US" sz="2000" i="1" dirty="0">
                  <a:solidFill>
                    <a:srgbClr val="0070C0"/>
                  </a:solidFill>
                </a:endParaRPr>
              </a:p>
            </p:txBody>
          </p:sp>
        </mc:Choice>
        <mc:Fallback xmlns="">
          <p:sp>
            <p:nvSpPr>
              <p:cNvPr id="71" name="TextBox 70">
                <a:extLst>
                  <a:ext uri="{FF2B5EF4-FFF2-40B4-BE49-F238E27FC236}">
                    <a16:creationId xmlns:a16="http://schemas.microsoft.com/office/drawing/2014/main" id="{F702EAC0-6C3A-402B-A60B-A4054B80C0CC}"/>
                  </a:ext>
                </a:extLst>
              </p:cNvPr>
              <p:cNvSpPr txBox="1">
                <a:spLocks noRot="1" noChangeAspect="1" noMove="1" noResize="1" noEditPoints="1" noAdjustHandles="1" noChangeArrowheads="1" noChangeShapeType="1" noTextEdit="1"/>
              </p:cNvSpPr>
              <p:nvPr/>
            </p:nvSpPr>
            <p:spPr>
              <a:xfrm>
                <a:off x="7862804" y="3200731"/>
                <a:ext cx="3565848" cy="427425"/>
              </a:xfrm>
              <a:prstGeom prst="rect">
                <a:avLst/>
              </a:prstGeom>
              <a:blipFill>
                <a:blip r:embed="rId18"/>
                <a:stretch>
                  <a:fillRect b="-5714"/>
                </a:stretch>
              </a:blipFill>
            </p:spPr>
            <p:txBody>
              <a:bodyPr/>
              <a:lstStyle/>
              <a:p>
                <a:r>
                  <a:rPr lang="en-US">
                    <a:noFill/>
                  </a:rPr>
                  <a:t> </a:t>
                </a:r>
              </a:p>
            </p:txBody>
          </p:sp>
        </mc:Fallback>
      </mc:AlternateContent>
      <p:grpSp>
        <p:nvGrpSpPr>
          <p:cNvPr id="88" name="Group 87">
            <a:extLst>
              <a:ext uri="{FF2B5EF4-FFF2-40B4-BE49-F238E27FC236}">
                <a16:creationId xmlns:a16="http://schemas.microsoft.com/office/drawing/2014/main" id="{E7DB616A-EB03-4D71-8E44-3DBD7B2DE5B2}"/>
              </a:ext>
            </a:extLst>
          </p:cNvPr>
          <p:cNvGrpSpPr/>
          <p:nvPr/>
        </p:nvGrpSpPr>
        <p:grpSpPr>
          <a:xfrm>
            <a:off x="311900" y="4321972"/>
            <a:ext cx="2853950" cy="1442514"/>
            <a:chOff x="4363414" y="4523519"/>
            <a:chExt cx="2853950" cy="1442514"/>
          </a:xfrm>
        </p:grpSpPr>
        <p:grpSp>
          <p:nvGrpSpPr>
            <p:cNvPr id="72" name="Group 71">
              <a:extLst>
                <a:ext uri="{FF2B5EF4-FFF2-40B4-BE49-F238E27FC236}">
                  <a16:creationId xmlns:a16="http://schemas.microsoft.com/office/drawing/2014/main" id="{445187D9-DADB-4E44-9D58-ADC581E0CB3B}"/>
                </a:ext>
              </a:extLst>
            </p:cNvPr>
            <p:cNvGrpSpPr/>
            <p:nvPr/>
          </p:nvGrpSpPr>
          <p:grpSpPr>
            <a:xfrm>
              <a:off x="4363414" y="4523519"/>
              <a:ext cx="2853950" cy="1442514"/>
              <a:chOff x="1567968" y="4390479"/>
              <a:chExt cx="2853950" cy="1442514"/>
            </a:xfrm>
          </p:grpSpPr>
          <p:grpSp>
            <p:nvGrpSpPr>
              <p:cNvPr id="73" name="Group 72">
                <a:extLst>
                  <a:ext uri="{FF2B5EF4-FFF2-40B4-BE49-F238E27FC236}">
                    <a16:creationId xmlns:a16="http://schemas.microsoft.com/office/drawing/2014/main" id="{3324DC77-7928-4328-A4CF-B959E7568256}"/>
                  </a:ext>
                </a:extLst>
              </p:cNvPr>
              <p:cNvGrpSpPr/>
              <p:nvPr/>
            </p:nvGrpSpPr>
            <p:grpSpPr>
              <a:xfrm>
                <a:off x="1567968" y="4723578"/>
                <a:ext cx="2853950" cy="1109415"/>
                <a:chOff x="5916275" y="2242939"/>
                <a:chExt cx="2853950" cy="1109415"/>
              </a:xfrm>
            </p:grpSpPr>
            <p:pic>
              <p:nvPicPr>
                <p:cNvPr id="75" name="Picture 74">
                  <a:extLst>
                    <a:ext uri="{FF2B5EF4-FFF2-40B4-BE49-F238E27FC236}">
                      <a16:creationId xmlns:a16="http://schemas.microsoft.com/office/drawing/2014/main" id="{FCDAA544-FE70-4310-B502-BF23234A6B69}"/>
                    </a:ext>
                  </a:extLst>
                </p:cNvPr>
                <p:cNvPicPr>
                  <a:picLocks noChangeAspect="1"/>
                </p:cNvPicPr>
                <p:nvPr/>
              </p:nvPicPr>
              <p:blipFill>
                <a:blip r:embed="rId2"/>
                <a:stretch>
                  <a:fillRect/>
                </a:stretch>
              </p:blipFill>
              <p:spPr>
                <a:xfrm flipH="1">
                  <a:off x="5916275" y="2612503"/>
                  <a:ext cx="687094" cy="274344"/>
                </a:xfrm>
                <a:prstGeom prst="rect">
                  <a:avLst/>
                </a:prstGeom>
              </p:spPr>
            </p:pic>
            <p:cxnSp>
              <p:nvCxnSpPr>
                <p:cNvPr id="76" name="Straight Connector 75">
                  <a:extLst>
                    <a:ext uri="{FF2B5EF4-FFF2-40B4-BE49-F238E27FC236}">
                      <a16:creationId xmlns:a16="http://schemas.microsoft.com/office/drawing/2014/main" id="{A14B58EE-541C-4103-9BB3-A5CEC3810C9B}"/>
                    </a:ext>
                  </a:extLst>
                </p:cNvPr>
                <p:cNvCxnSpPr>
                  <a:cxnSpLocks/>
                </p:cNvCxnSpPr>
                <p:nvPr/>
              </p:nvCxnSpPr>
              <p:spPr>
                <a:xfrm>
                  <a:off x="6612859" y="245380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77" name="Straight Connector 76">
                  <a:extLst>
                    <a:ext uri="{FF2B5EF4-FFF2-40B4-BE49-F238E27FC236}">
                      <a16:creationId xmlns:a16="http://schemas.microsoft.com/office/drawing/2014/main" id="{DF4FE007-B039-43D3-85D6-DF1C69D67121}"/>
                    </a:ext>
                  </a:extLst>
                </p:cNvPr>
                <p:cNvCxnSpPr>
                  <a:cxnSpLocks/>
                </p:cNvCxnSpPr>
                <p:nvPr/>
              </p:nvCxnSpPr>
              <p:spPr>
                <a:xfrm>
                  <a:off x="6612859" y="3049706"/>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78" name="Straight Arrow Connector 77">
                  <a:extLst>
                    <a:ext uri="{FF2B5EF4-FFF2-40B4-BE49-F238E27FC236}">
                      <a16:creationId xmlns:a16="http://schemas.microsoft.com/office/drawing/2014/main" id="{38F444F9-83F4-4CDB-A523-4021A2C12CBA}"/>
                    </a:ext>
                  </a:extLst>
                </p:cNvPr>
                <p:cNvCxnSpPr>
                  <a:cxnSpLocks/>
                </p:cNvCxnSpPr>
                <p:nvPr/>
              </p:nvCxnSpPr>
              <p:spPr>
                <a:xfrm>
                  <a:off x="7092791" y="2437622"/>
                  <a:ext cx="0" cy="616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9" name="Oval 78">
                  <a:extLst>
                    <a:ext uri="{FF2B5EF4-FFF2-40B4-BE49-F238E27FC236}">
                      <a16:creationId xmlns:a16="http://schemas.microsoft.com/office/drawing/2014/main" id="{B516B5BB-E0CA-405A-9AFF-9802F40FE611}"/>
                    </a:ext>
                  </a:extLst>
                </p:cNvPr>
                <p:cNvSpPr/>
                <p:nvPr/>
              </p:nvSpPr>
              <p:spPr>
                <a:xfrm>
                  <a:off x="7057603" y="2362184"/>
                  <a:ext cx="72390" cy="702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255103A7-B8A2-4157-97F8-2D06B916A1E6}"/>
                        </a:ext>
                      </a:extLst>
                    </p:cNvPr>
                    <p:cNvSpPr txBox="1"/>
                    <p:nvPr/>
                  </p:nvSpPr>
                  <p:spPr>
                    <a:xfrm>
                      <a:off x="7621324" y="2242939"/>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80" name="TextBox 79">
                      <a:extLst>
                        <a:ext uri="{FF2B5EF4-FFF2-40B4-BE49-F238E27FC236}">
                          <a16:creationId xmlns:a16="http://schemas.microsoft.com/office/drawing/2014/main" id="{255103A7-B8A2-4157-97F8-2D06B916A1E6}"/>
                        </a:ext>
                      </a:extLst>
                    </p:cNvPr>
                    <p:cNvSpPr txBox="1">
                      <a:spLocks noRot="1" noChangeAspect="1" noMove="1" noResize="1" noEditPoints="1" noAdjustHandles="1" noChangeArrowheads="1" noChangeShapeType="1" noTextEdit="1"/>
                    </p:cNvSpPr>
                    <p:nvPr/>
                  </p:nvSpPr>
                  <p:spPr>
                    <a:xfrm>
                      <a:off x="7621324" y="2242939"/>
                      <a:ext cx="476797"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E22F671A-D7C1-4F03-82DF-D89EE8E78BE5}"/>
                        </a:ext>
                      </a:extLst>
                    </p:cNvPr>
                    <p:cNvSpPr txBox="1"/>
                    <p:nvPr/>
                  </p:nvSpPr>
                  <p:spPr>
                    <a:xfrm>
                      <a:off x="7624550" y="2822059"/>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81" name="TextBox 80">
                      <a:extLst>
                        <a:ext uri="{FF2B5EF4-FFF2-40B4-BE49-F238E27FC236}">
                          <a16:creationId xmlns:a16="http://schemas.microsoft.com/office/drawing/2014/main" id="{E22F671A-D7C1-4F03-82DF-D89EE8E78BE5}"/>
                        </a:ext>
                      </a:extLst>
                    </p:cNvPr>
                    <p:cNvSpPr txBox="1">
                      <a:spLocks noRot="1" noChangeAspect="1" noMove="1" noResize="1" noEditPoints="1" noAdjustHandles="1" noChangeArrowheads="1" noChangeShapeType="1" noTextEdit="1"/>
                    </p:cNvSpPr>
                    <p:nvPr/>
                  </p:nvSpPr>
                  <p:spPr>
                    <a:xfrm>
                      <a:off x="7624550" y="2822059"/>
                      <a:ext cx="471476" cy="369332"/>
                    </a:xfrm>
                    <a:prstGeom prst="rect">
                      <a:avLst/>
                    </a:prstGeom>
                    <a:blipFill>
                      <a:blip r:embed="rId20"/>
                      <a:stretch>
                        <a:fillRect/>
                      </a:stretch>
                    </a:blipFill>
                  </p:spPr>
                  <p:txBody>
                    <a:bodyPr/>
                    <a:lstStyle/>
                    <a:p>
                      <a:r>
                        <a:rPr lang="en-US">
                          <a:noFill/>
                        </a:rPr>
                        <a:t> </a:t>
                      </a:r>
                    </a:p>
                  </p:txBody>
                </p:sp>
              </mc:Fallback>
            </mc:AlternateContent>
            <p:pic>
              <p:nvPicPr>
                <p:cNvPr id="82" name="Picture 81">
                  <a:extLst>
                    <a:ext uri="{FF2B5EF4-FFF2-40B4-BE49-F238E27FC236}">
                      <a16:creationId xmlns:a16="http://schemas.microsoft.com/office/drawing/2014/main" id="{8C4D3E4E-EEA3-4B30-B3FF-64D6ED547A7A}"/>
                    </a:ext>
                  </a:extLst>
                </p:cNvPr>
                <p:cNvPicPr>
                  <a:picLocks noChangeAspect="1"/>
                </p:cNvPicPr>
                <p:nvPr/>
              </p:nvPicPr>
              <p:blipFill>
                <a:blip r:embed="rId2"/>
                <a:stretch>
                  <a:fillRect/>
                </a:stretch>
              </p:blipFill>
              <p:spPr>
                <a:xfrm flipH="1">
                  <a:off x="5916275" y="3078010"/>
                  <a:ext cx="687094" cy="274344"/>
                </a:xfrm>
                <a:prstGeom prst="rect">
                  <a:avLst/>
                </a:prstGeom>
              </p:spPr>
            </p:pic>
            <p:pic>
              <p:nvPicPr>
                <p:cNvPr id="83" name="Picture 82">
                  <a:extLst>
                    <a:ext uri="{FF2B5EF4-FFF2-40B4-BE49-F238E27FC236}">
                      <a16:creationId xmlns:a16="http://schemas.microsoft.com/office/drawing/2014/main" id="{7CF4BD5D-CC4C-40C5-9E56-86210981A2C4}"/>
                    </a:ext>
                  </a:extLst>
                </p:cNvPr>
                <p:cNvPicPr>
                  <a:picLocks noChangeAspect="1"/>
                </p:cNvPicPr>
                <p:nvPr/>
              </p:nvPicPr>
              <p:blipFill>
                <a:blip r:embed="rId2"/>
                <a:stretch>
                  <a:fillRect/>
                </a:stretch>
              </p:blipFill>
              <p:spPr>
                <a:xfrm flipH="1">
                  <a:off x="8083131" y="3068686"/>
                  <a:ext cx="687094" cy="274344"/>
                </a:xfrm>
                <a:prstGeom prst="rect">
                  <a:avLst/>
                </a:prstGeom>
              </p:spPr>
            </p:pic>
          </p:gr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DFCB740-8EC5-41E0-827C-3EFF5BBF81B0}"/>
                      </a:ext>
                    </a:extLst>
                  </p:cNvPr>
                  <p:cNvSpPr txBox="1"/>
                  <p:nvPr/>
                </p:nvSpPr>
                <p:spPr>
                  <a:xfrm>
                    <a:off x="2367094" y="4390479"/>
                    <a:ext cx="805820" cy="4237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sp</m:t>
                              </m:r>
                            </m:sub>
                          </m:sSub>
                        </m:oMath>
                      </m:oMathPara>
                    </a14:m>
                    <a:endParaRPr lang="en-US" sz="2000" i="1" dirty="0">
                      <a:solidFill>
                        <a:srgbClr val="0070C0"/>
                      </a:solidFill>
                    </a:endParaRPr>
                  </a:p>
                </p:txBody>
              </p:sp>
            </mc:Choice>
            <mc:Fallback xmlns="">
              <p:sp>
                <p:nvSpPr>
                  <p:cNvPr id="74" name="TextBox 73">
                    <a:extLst>
                      <a:ext uri="{FF2B5EF4-FFF2-40B4-BE49-F238E27FC236}">
                        <a16:creationId xmlns:a16="http://schemas.microsoft.com/office/drawing/2014/main" id="{FDFCB740-8EC5-41E0-827C-3EFF5BBF81B0}"/>
                      </a:ext>
                    </a:extLst>
                  </p:cNvPr>
                  <p:cNvSpPr txBox="1">
                    <a:spLocks noRot="1" noChangeAspect="1" noMove="1" noResize="1" noEditPoints="1" noAdjustHandles="1" noChangeArrowheads="1" noChangeShapeType="1" noTextEdit="1"/>
                  </p:cNvSpPr>
                  <p:nvPr/>
                </p:nvSpPr>
                <p:spPr>
                  <a:xfrm>
                    <a:off x="2367094" y="4390479"/>
                    <a:ext cx="805820" cy="423770"/>
                  </a:xfrm>
                  <a:prstGeom prst="rect">
                    <a:avLst/>
                  </a:prstGeom>
                  <a:blipFill>
                    <a:blip r:embed="rId21"/>
                    <a:stretch>
                      <a:fillRect b="-4286"/>
                    </a:stretch>
                  </a:blipFill>
                </p:spPr>
                <p:txBody>
                  <a:bodyPr/>
                  <a:lstStyle/>
                  <a:p>
                    <a:r>
                      <a:rPr lang="zh-CN" altLang="en-US">
                        <a:noFill/>
                      </a:rPr>
                      <a:t> </a:t>
                    </a:r>
                  </a:p>
                </p:txBody>
              </p:sp>
            </mc:Fallback>
          </mc:AlternateContent>
        </p:grpSp>
        <p:cxnSp>
          <p:nvCxnSpPr>
            <p:cNvPr id="85" name="Straight Connector 84">
              <a:extLst>
                <a:ext uri="{FF2B5EF4-FFF2-40B4-BE49-F238E27FC236}">
                  <a16:creationId xmlns:a16="http://schemas.microsoft.com/office/drawing/2014/main" id="{68CE9189-DDCC-4AD8-A385-077427B3C3DF}"/>
                </a:ext>
              </a:extLst>
            </p:cNvPr>
            <p:cNvCxnSpPr>
              <a:cxnSpLocks/>
              <a:stCxn id="83" idx="3"/>
              <a:endCxn id="82" idx="1"/>
            </p:cNvCxnSpPr>
            <p:nvPr/>
          </p:nvCxnSpPr>
          <p:spPr>
            <a:xfrm flipH="1">
              <a:off x="5050508" y="5819537"/>
              <a:ext cx="1479762" cy="9324"/>
            </a:xfrm>
            <a:prstGeom prst="line">
              <a:avLst/>
            </a:prstGeom>
            <a:ln w="28575" cap="flat" cmpd="sng" algn="ctr">
              <a:solidFill>
                <a:srgbClr val="FF0000"/>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103" name="Straight Connector 102">
            <a:extLst>
              <a:ext uri="{FF2B5EF4-FFF2-40B4-BE49-F238E27FC236}">
                <a16:creationId xmlns:a16="http://schemas.microsoft.com/office/drawing/2014/main" id="{2A8BF1D7-002C-45CB-85D2-8684B2F3DF5C}"/>
              </a:ext>
            </a:extLst>
          </p:cNvPr>
          <p:cNvCxnSpPr>
            <a:cxnSpLocks/>
          </p:cNvCxnSpPr>
          <p:nvPr/>
        </p:nvCxnSpPr>
        <p:spPr>
          <a:xfrm flipH="1">
            <a:off x="4134057" y="5268311"/>
            <a:ext cx="1411826" cy="0"/>
          </a:xfrm>
          <a:prstGeom prst="line">
            <a:avLst/>
          </a:prstGeom>
          <a:ln w="28575" cap="flat" cmpd="sng" algn="ctr">
            <a:solidFill>
              <a:schemeClr val="tx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132" name="Group 131">
            <a:extLst>
              <a:ext uri="{FF2B5EF4-FFF2-40B4-BE49-F238E27FC236}">
                <a16:creationId xmlns:a16="http://schemas.microsoft.com/office/drawing/2014/main" id="{2A5F5203-B0EB-4C02-A7F9-725F5CA4E0DF}"/>
              </a:ext>
            </a:extLst>
          </p:cNvPr>
          <p:cNvGrpSpPr/>
          <p:nvPr/>
        </p:nvGrpSpPr>
        <p:grpSpPr>
          <a:xfrm>
            <a:off x="3485049" y="4326344"/>
            <a:ext cx="2853842" cy="1271044"/>
            <a:chOff x="3533257" y="3811593"/>
            <a:chExt cx="2853842" cy="1271044"/>
          </a:xfrm>
        </p:grpSpPr>
        <p:grpSp>
          <p:nvGrpSpPr>
            <p:cNvPr id="90" name="Group 89">
              <a:extLst>
                <a:ext uri="{FF2B5EF4-FFF2-40B4-BE49-F238E27FC236}">
                  <a16:creationId xmlns:a16="http://schemas.microsoft.com/office/drawing/2014/main" id="{1D074D36-9161-4A26-97B6-32C43E0B728A}"/>
                </a:ext>
              </a:extLst>
            </p:cNvPr>
            <p:cNvGrpSpPr/>
            <p:nvPr/>
          </p:nvGrpSpPr>
          <p:grpSpPr>
            <a:xfrm>
              <a:off x="3533257" y="3811593"/>
              <a:ext cx="2853842" cy="1271044"/>
              <a:chOff x="1528175" y="4400986"/>
              <a:chExt cx="2853842" cy="1271044"/>
            </a:xfrm>
          </p:grpSpPr>
          <p:grpSp>
            <p:nvGrpSpPr>
              <p:cNvPr id="92" name="Group 91">
                <a:extLst>
                  <a:ext uri="{FF2B5EF4-FFF2-40B4-BE49-F238E27FC236}">
                    <a16:creationId xmlns:a16="http://schemas.microsoft.com/office/drawing/2014/main" id="{52380114-C9C2-4869-9570-A977214C0B8C}"/>
                  </a:ext>
                </a:extLst>
              </p:cNvPr>
              <p:cNvGrpSpPr/>
              <p:nvPr/>
            </p:nvGrpSpPr>
            <p:grpSpPr>
              <a:xfrm>
                <a:off x="1528175" y="4723578"/>
                <a:ext cx="2853842" cy="948452"/>
                <a:chOff x="5876482" y="2242939"/>
                <a:chExt cx="2853842" cy="948452"/>
              </a:xfrm>
            </p:grpSpPr>
            <p:pic>
              <p:nvPicPr>
                <p:cNvPr id="94" name="Picture 93">
                  <a:extLst>
                    <a:ext uri="{FF2B5EF4-FFF2-40B4-BE49-F238E27FC236}">
                      <a16:creationId xmlns:a16="http://schemas.microsoft.com/office/drawing/2014/main" id="{330B6DB9-A25D-4C6F-8EB9-1A9267A34136}"/>
                    </a:ext>
                  </a:extLst>
                </p:cNvPr>
                <p:cNvPicPr>
                  <a:picLocks noChangeAspect="1"/>
                </p:cNvPicPr>
                <p:nvPr/>
              </p:nvPicPr>
              <p:blipFill>
                <a:blip r:embed="rId2"/>
                <a:stretch>
                  <a:fillRect/>
                </a:stretch>
              </p:blipFill>
              <p:spPr>
                <a:xfrm flipH="1">
                  <a:off x="5876482" y="2725142"/>
                  <a:ext cx="721008" cy="274344"/>
                </a:xfrm>
                <a:prstGeom prst="rect">
                  <a:avLst/>
                </a:prstGeom>
              </p:spPr>
            </p:pic>
            <p:cxnSp>
              <p:nvCxnSpPr>
                <p:cNvPr id="95" name="Straight Connector 94">
                  <a:extLst>
                    <a:ext uri="{FF2B5EF4-FFF2-40B4-BE49-F238E27FC236}">
                      <a16:creationId xmlns:a16="http://schemas.microsoft.com/office/drawing/2014/main" id="{238629DF-7D59-4705-9AB7-7A356AD2A201}"/>
                    </a:ext>
                  </a:extLst>
                </p:cNvPr>
                <p:cNvCxnSpPr>
                  <a:cxnSpLocks/>
                </p:cNvCxnSpPr>
                <p:nvPr/>
              </p:nvCxnSpPr>
              <p:spPr>
                <a:xfrm>
                  <a:off x="6612859" y="245380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96" name="Straight Connector 95">
                  <a:extLst>
                    <a:ext uri="{FF2B5EF4-FFF2-40B4-BE49-F238E27FC236}">
                      <a16:creationId xmlns:a16="http://schemas.microsoft.com/office/drawing/2014/main" id="{27AEBAE5-ED62-4598-A62A-2BC29CD32124}"/>
                    </a:ext>
                  </a:extLst>
                </p:cNvPr>
                <p:cNvCxnSpPr>
                  <a:cxnSpLocks/>
                </p:cNvCxnSpPr>
                <p:nvPr/>
              </p:nvCxnSpPr>
              <p:spPr>
                <a:xfrm>
                  <a:off x="6612859" y="3054519"/>
                  <a:ext cx="951718" cy="0"/>
                </a:xfrm>
                <a:prstGeom prst="line">
                  <a:avLst/>
                </a:prstGeom>
              </p:spPr>
              <p:style>
                <a:lnRef idx="2">
                  <a:schemeClr val="dk1"/>
                </a:lnRef>
                <a:fillRef idx="0">
                  <a:schemeClr val="dk1"/>
                </a:fillRef>
                <a:effectRef idx="1">
                  <a:schemeClr val="dk1"/>
                </a:effectRef>
                <a:fontRef idx="minor">
                  <a:schemeClr val="tx1"/>
                </a:fontRef>
              </p:style>
            </p:cxnSp>
            <p:cxnSp>
              <p:nvCxnSpPr>
                <p:cNvPr id="97" name="Straight Arrow Connector 96">
                  <a:extLst>
                    <a:ext uri="{FF2B5EF4-FFF2-40B4-BE49-F238E27FC236}">
                      <a16:creationId xmlns:a16="http://schemas.microsoft.com/office/drawing/2014/main" id="{BA665B55-5B6A-46F6-B612-A3E15ECCD8A1}"/>
                    </a:ext>
                  </a:extLst>
                </p:cNvPr>
                <p:cNvCxnSpPr>
                  <a:cxnSpLocks/>
                </p:cNvCxnSpPr>
                <p:nvPr/>
              </p:nvCxnSpPr>
              <p:spPr>
                <a:xfrm>
                  <a:off x="7092791" y="2437622"/>
                  <a:ext cx="0" cy="616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98" name="Oval 97">
                  <a:extLst>
                    <a:ext uri="{FF2B5EF4-FFF2-40B4-BE49-F238E27FC236}">
                      <a16:creationId xmlns:a16="http://schemas.microsoft.com/office/drawing/2014/main" id="{FFB7E10E-BC38-450F-9A5B-5C99AE05DB60}"/>
                    </a:ext>
                  </a:extLst>
                </p:cNvPr>
                <p:cNvSpPr/>
                <p:nvPr/>
              </p:nvSpPr>
              <p:spPr>
                <a:xfrm>
                  <a:off x="7057603" y="2362184"/>
                  <a:ext cx="72390" cy="7029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A8B40A9F-C6A4-4B60-8754-BB0831FE42EA}"/>
                        </a:ext>
                      </a:extLst>
                    </p:cNvPr>
                    <p:cNvSpPr txBox="1"/>
                    <p:nvPr/>
                  </p:nvSpPr>
                  <p:spPr>
                    <a:xfrm>
                      <a:off x="7621324" y="2242939"/>
                      <a:ext cx="4767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2</m:t>
                                </m:r>
                              </m:sub>
                            </m:sSub>
                          </m:oMath>
                        </m:oMathPara>
                      </a14:m>
                      <a:endParaRPr lang="en-US" dirty="0"/>
                    </a:p>
                  </p:txBody>
                </p:sp>
              </mc:Choice>
              <mc:Fallback xmlns="">
                <p:sp>
                  <p:nvSpPr>
                    <p:cNvPr id="99" name="TextBox 98">
                      <a:extLst>
                        <a:ext uri="{FF2B5EF4-FFF2-40B4-BE49-F238E27FC236}">
                          <a16:creationId xmlns:a16="http://schemas.microsoft.com/office/drawing/2014/main" id="{A8B40A9F-C6A4-4B60-8754-BB0831FE42EA}"/>
                        </a:ext>
                      </a:extLst>
                    </p:cNvPr>
                    <p:cNvSpPr txBox="1">
                      <a:spLocks noRot="1" noChangeAspect="1" noMove="1" noResize="1" noEditPoints="1" noAdjustHandles="1" noChangeArrowheads="1" noChangeShapeType="1" noTextEdit="1"/>
                    </p:cNvSpPr>
                    <p:nvPr/>
                  </p:nvSpPr>
                  <p:spPr>
                    <a:xfrm>
                      <a:off x="7621324" y="2242939"/>
                      <a:ext cx="47679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C5D5E631-E64D-4F53-965C-6BF60E08D238}"/>
                        </a:ext>
                      </a:extLst>
                    </p:cNvPr>
                    <p:cNvSpPr txBox="1"/>
                    <p:nvPr/>
                  </p:nvSpPr>
                  <p:spPr>
                    <a:xfrm>
                      <a:off x="7624550" y="2822059"/>
                      <a:ext cx="4714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1</m:t>
                                </m:r>
                              </m:sub>
                            </m:sSub>
                          </m:oMath>
                        </m:oMathPara>
                      </a14:m>
                      <a:endParaRPr lang="en-US" dirty="0"/>
                    </a:p>
                  </p:txBody>
                </p:sp>
              </mc:Choice>
              <mc:Fallback xmlns="">
                <p:sp>
                  <p:nvSpPr>
                    <p:cNvPr id="100" name="TextBox 99">
                      <a:extLst>
                        <a:ext uri="{FF2B5EF4-FFF2-40B4-BE49-F238E27FC236}">
                          <a16:creationId xmlns:a16="http://schemas.microsoft.com/office/drawing/2014/main" id="{C5D5E631-E64D-4F53-965C-6BF60E08D238}"/>
                        </a:ext>
                      </a:extLst>
                    </p:cNvPr>
                    <p:cNvSpPr txBox="1">
                      <a:spLocks noRot="1" noChangeAspect="1" noMove="1" noResize="1" noEditPoints="1" noAdjustHandles="1" noChangeArrowheads="1" noChangeShapeType="1" noTextEdit="1"/>
                    </p:cNvSpPr>
                    <p:nvPr/>
                  </p:nvSpPr>
                  <p:spPr>
                    <a:xfrm>
                      <a:off x="7624550" y="2822059"/>
                      <a:ext cx="471476" cy="369332"/>
                    </a:xfrm>
                    <a:prstGeom prst="rect">
                      <a:avLst/>
                    </a:prstGeom>
                    <a:blipFill>
                      <a:blip r:embed="rId23"/>
                      <a:stretch>
                        <a:fillRect/>
                      </a:stretch>
                    </a:blipFill>
                  </p:spPr>
                  <p:txBody>
                    <a:bodyPr/>
                    <a:lstStyle/>
                    <a:p>
                      <a:r>
                        <a:rPr lang="en-US">
                          <a:noFill/>
                        </a:rPr>
                        <a:t> </a:t>
                      </a:r>
                    </a:p>
                  </p:txBody>
                </p:sp>
              </mc:Fallback>
            </mc:AlternateContent>
            <p:pic>
              <p:nvPicPr>
                <p:cNvPr id="101" name="Picture 100">
                  <a:extLst>
                    <a:ext uri="{FF2B5EF4-FFF2-40B4-BE49-F238E27FC236}">
                      <a16:creationId xmlns:a16="http://schemas.microsoft.com/office/drawing/2014/main" id="{D0B0C8C2-4C5E-46B0-AAED-EA50CCCD91AE}"/>
                    </a:ext>
                  </a:extLst>
                </p:cNvPr>
                <p:cNvPicPr>
                  <a:picLocks noChangeAspect="1"/>
                </p:cNvPicPr>
                <p:nvPr/>
              </p:nvPicPr>
              <p:blipFill>
                <a:blip r:embed="rId2"/>
                <a:stretch>
                  <a:fillRect/>
                </a:stretch>
              </p:blipFill>
              <p:spPr>
                <a:xfrm flipH="1">
                  <a:off x="5880192" y="2447248"/>
                  <a:ext cx="721008" cy="274344"/>
                </a:xfrm>
                <a:prstGeom prst="rect">
                  <a:avLst/>
                </a:prstGeom>
              </p:spPr>
            </p:pic>
            <p:pic>
              <p:nvPicPr>
                <p:cNvPr id="102" name="Picture 101">
                  <a:extLst>
                    <a:ext uri="{FF2B5EF4-FFF2-40B4-BE49-F238E27FC236}">
                      <a16:creationId xmlns:a16="http://schemas.microsoft.com/office/drawing/2014/main" id="{BC2FF76F-A9B0-4FE1-B3A9-21EB93A15BC6}"/>
                    </a:ext>
                  </a:extLst>
                </p:cNvPr>
                <p:cNvPicPr>
                  <a:picLocks noChangeAspect="1"/>
                </p:cNvPicPr>
                <p:nvPr/>
              </p:nvPicPr>
              <p:blipFill>
                <a:blip r:embed="rId2"/>
                <a:stretch>
                  <a:fillRect/>
                </a:stretch>
              </p:blipFill>
              <p:spPr>
                <a:xfrm flipH="1">
                  <a:off x="8009316" y="2725142"/>
                  <a:ext cx="721008" cy="274344"/>
                </a:xfrm>
                <a:prstGeom prst="rect">
                  <a:avLst/>
                </a:prstGeom>
              </p:spPr>
            </p:pic>
          </p:gr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91EE7AB-24A8-4108-9C23-9AABC6E6BBBC}"/>
                      </a:ext>
                    </a:extLst>
                  </p:cNvPr>
                  <p:cNvSpPr txBox="1"/>
                  <p:nvPr/>
                </p:nvSpPr>
                <p:spPr>
                  <a:xfrm>
                    <a:off x="1614150" y="4400986"/>
                    <a:ext cx="98338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0" i="1" smtClean="0">
                                  <a:solidFill>
                                    <a:srgbClr val="0070C0"/>
                                  </a:solidFill>
                                  <a:latin typeface="Cambria Math" panose="02040503050406030204" pitchFamily="18" charset="0"/>
                                </a:rPr>
                              </m:ctrlPr>
                            </m:sSubPr>
                            <m:e>
                              <m:r>
                                <a:rPr lang="en-US" sz="2000" b="0" i="1" smtClean="0">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st</m:t>
                              </m:r>
                            </m:sub>
                          </m:sSub>
                          <m:r>
                            <a:rPr lang="en-US" sz="2000" b="0" i="1" smtClean="0">
                              <a:solidFill>
                                <a:srgbClr val="0070C0"/>
                              </a:solidFill>
                              <a:latin typeface="Cambria Math" panose="02040503050406030204" pitchFamily="18" charset="0"/>
                            </a:rPr>
                            <m:t>(1)</m:t>
                          </m:r>
                        </m:oMath>
                      </m:oMathPara>
                    </a14:m>
                    <a:endParaRPr lang="en-US" sz="2000" i="1" dirty="0">
                      <a:solidFill>
                        <a:srgbClr val="0070C0"/>
                      </a:solidFill>
                    </a:endParaRPr>
                  </a:p>
                </p:txBody>
              </p:sp>
            </mc:Choice>
            <mc:Fallback xmlns="">
              <p:sp>
                <p:nvSpPr>
                  <p:cNvPr id="93" name="TextBox 92">
                    <a:extLst>
                      <a:ext uri="{FF2B5EF4-FFF2-40B4-BE49-F238E27FC236}">
                        <a16:creationId xmlns:a16="http://schemas.microsoft.com/office/drawing/2014/main" id="{B91EE7AB-24A8-4108-9C23-9AABC6E6BBBC}"/>
                      </a:ext>
                    </a:extLst>
                  </p:cNvPr>
                  <p:cNvSpPr txBox="1">
                    <a:spLocks noRot="1" noChangeAspect="1" noMove="1" noResize="1" noEditPoints="1" noAdjustHandles="1" noChangeArrowheads="1" noChangeShapeType="1" noTextEdit="1"/>
                  </p:cNvSpPr>
                  <p:nvPr/>
                </p:nvSpPr>
                <p:spPr>
                  <a:xfrm>
                    <a:off x="1614150" y="4400986"/>
                    <a:ext cx="983381" cy="400110"/>
                  </a:xfrm>
                  <a:prstGeom prst="rect">
                    <a:avLst/>
                  </a:prstGeom>
                  <a:blipFill>
                    <a:blip r:embed="rId24"/>
                    <a:stretch>
                      <a:fillRect b="-15385"/>
                    </a:stretch>
                  </a:blipFill>
                </p:spPr>
                <p:txBody>
                  <a:bodyPr/>
                  <a:lstStyle/>
                  <a:p>
                    <a:r>
                      <a:rPr lang="zh-CN" altLang="en-US">
                        <a:noFill/>
                      </a:rPr>
                      <a:t> </a:t>
                    </a:r>
                  </a:p>
                </p:txBody>
              </p:sp>
            </mc:Fallback>
          </mc:AlternateContent>
        </p:grpSp>
        <p:cxnSp>
          <p:nvCxnSpPr>
            <p:cNvPr id="106" name="Connector: Curved 105">
              <a:extLst>
                <a:ext uri="{FF2B5EF4-FFF2-40B4-BE49-F238E27FC236}">
                  <a16:creationId xmlns:a16="http://schemas.microsoft.com/office/drawing/2014/main" id="{7A3EEE00-66EE-4569-8401-A3EC3CF57C6A}"/>
                </a:ext>
              </a:extLst>
            </p:cNvPr>
            <p:cNvCxnSpPr>
              <a:cxnSpLocks/>
            </p:cNvCxnSpPr>
            <p:nvPr/>
          </p:nvCxnSpPr>
          <p:spPr>
            <a:xfrm rot="16200000" flipH="1">
              <a:off x="4763246" y="4548887"/>
              <a:ext cx="420786" cy="1"/>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117" name="Straight Arrow Connector 116">
            <a:extLst>
              <a:ext uri="{FF2B5EF4-FFF2-40B4-BE49-F238E27FC236}">
                <a16:creationId xmlns:a16="http://schemas.microsoft.com/office/drawing/2014/main" id="{59E85249-94BC-4ABF-908F-493D83058F1D}"/>
              </a:ext>
            </a:extLst>
          </p:cNvPr>
          <p:cNvCxnSpPr>
            <a:cxnSpLocks/>
            <a:endCxn id="74" idx="0"/>
          </p:cNvCxnSpPr>
          <p:nvPr/>
        </p:nvCxnSpPr>
        <p:spPr>
          <a:xfrm flipH="1">
            <a:off x="1513936" y="3775445"/>
            <a:ext cx="864377" cy="5465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7CF8EEC0-0728-4B72-8E10-79E217894F7B}"/>
              </a:ext>
            </a:extLst>
          </p:cNvPr>
          <p:cNvCxnSpPr>
            <a:cxnSpLocks/>
            <a:endCxn id="93" idx="0"/>
          </p:cNvCxnSpPr>
          <p:nvPr/>
        </p:nvCxnSpPr>
        <p:spPr>
          <a:xfrm>
            <a:off x="2431184" y="3772560"/>
            <a:ext cx="1631531" cy="5537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7DF2804C-2A69-40F3-B2EE-EFD3B737CD23}"/>
                  </a:ext>
                </a:extLst>
              </p:cNvPr>
              <p:cNvSpPr txBox="1"/>
              <p:nvPr/>
            </p:nvSpPr>
            <p:spPr>
              <a:xfrm>
                <a:off x="8443091" y="4609159"/>
                <a:ext cx="2405274" cy="762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i="0">
                              <a:solidFill>
                                <a:srgbClr val="0070C0"/>
                              </a:solidFill>
                              <a:latin typeface="Cambria Math" panose="02040503050406030204" pitchFamily="18" charset="0"/>
                            </a:rPr>
                            <m:t>e</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m:t>
                          </m:r>
                        </m:e>
                      </m:d>
                      <m:r>
                        <a:rPr lang="en-US" sz="2000" b="0" i="1" smtClean="0">
                          <a:solidFill>
                            <a:srgbClr val="0070C0"/>
                          </a:solidFill>
                          <a:latin typeface="Cambria Math" panose="02040503050406030204" pitchFamily="18" charset="0"/>
                        </a:rPr>
                        <m:t>=</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sp</m:t>
                          </m:r>
                        </m:sub>
                      </m:sSub>
                      <m:r>
                        <a:rPr lang="en-US" sz="2000" b="0" i="1" smtClean="0">
                          <a:solidFill>
                            <a:srgbClr val="0070C0"/>
                          </a:solidFill>
                          <a:latin typeface="Cambria Math" panose="02040503050406030204" pitchFamily="18" charset="0"/>
                        </a:rPr>
                        <m:t>+</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st</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m:t>
                          </m:r>
                        </m:e>
                      </m:d>
                    </m:oMath>
                  </m:oMathPara>
                </a14:m>
                <a:endParaRPr lang="en-US" sz="2000"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i="1" smtClean="0">
                          <a:solidFill>
                            <a:srgbClr val="0070C0"/>
                          </a:solidFill>
                          <a:latin typeface="Cambria Math" panose="02040503050406030204" pitchFamily="18" charset="0"/>
                          <a:ea typeface="Cambria Math" panose="02040503050406030204" pitchFamily="18" charset="0"/>
                        </a:rPr>
                        <m:t>⇒</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a:solidFill>
                                <a:srgbClr val="0070C0"/>
                              </a:solidFill>
                              <a:latin typeface="Cambria Math" panose="02040503050406030204" pitchFamily="18" charset="0"/>
                            </a:rPr>
                            <m:t>st</m:t>
                          </m:r>
                        </m:sub>
                      </m:sSub>
                      <m:d>
                        <m:dPr>
                          <m:ctrlPr>
                            <a:rPr lang="en-US" sz="2000" i="1">
                              <a:solidFill>
                                <a:srgbClr val="0070C0"/>
                              </a:solidFill>
                              <a:latin typeface="Cambria Math" panose="02040503050406030204" pitchFamily="18" charset="0"/>
                            </a:rPr>
                          </m:ctrlPr>
                        </m:dPr>
                        <m:e>
                          <m:r>
                            <a:rPr lang="en-US" sz="2000" i="1">
                              <a:solidFill>
                                <a:srgbClr val="0070C0"/>
                              </a:solidFill>
                              <a:latin typeface="Cambria Math" panose="02040503050406030204" pitchFamily="18" charset="0"/>
                            </a:rPr>
                            <m:t>1</m:t>
                          </m:r>
                        </m:e>
                      </m:d>
                      <m:r>
                        <a:rPr lang="en-US" sz="2000" i="1">
                          <a:solidFill>
                            <a:srgbClr val="0070C0"/>
                          </a:solidFill>
                          <a:latin typeface="Cambria Math" panose="02040503050406030204" pitchFamily="18" charset="0"/>
                        </a:rPr>
                        <m:t>=</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a:solidFill>
                                <a:srgbClr val="0070C0"/>
                              </a:solidFill>
                              <a:latin typeface="Cambria Math" panose="02040503050406030204" pitchFamily="18" charset="0"/>
                            </a:rPr>
                            <m:t>sp</m:t>
                          </m:r>
                        </m:sub>
                      </m:sSub>
                    </m:oMath>
                  </m:oMathPara>
                </a14:m>
                <a:endParaRPr lang="en-US" sz="2000" i="1" dirty="0">
                  <a:solidFill>
                    <a:srgbClr val="0070C0"/>
                  </a:solidFill>
                </a:endParaRPr>
              </a:p>
            </p:txBody>
          </p:sp>
        </mc:Choice>
        <mc:Fallback xmlns="">
          <p:sp>
            <p:nvSpPr>
              <p:cNvPr id="120" name="TextBox 119">
                <a:extLst>
                  <a:ext uri="{FF2B5EF4-FFF2-40B4-BE49-F238E27FC236}">
                    <a16:creationId xmlns:a16="http://schemas.microsoft.com/office/drawing/2014/main" id="{7DF2804C-2A69-40F3-B2EE-EFD3B737CD23}"/>
                  </a:ext>
                </a:extLst>
              </p:cNvPr>
              <p:cNvSpPr txBox="1">
                <a:spLocks noRot="1" noChangeAspect="1" noMove="1" noResize="1" noEditPoints="1" noAdjustHandles="1" noChangeArrowheads="1" noChangeShapeType="1" noTextEdit="1"/>
              </p:cNvSpPr>
              <p:nvPr/>
            </p:nvSpPr>
            <p:spPr>
              <a:xfrm>
                <a:off x="8443091" y="4609159"/>
                <a:ext cx="2405274" cy="762516"/>
              </a:xfrm>
              <a:prstGeom prst="rect">
                <a:avLst/>
              </a:prstGeom>
              <a:blipFill>
                <a:blip r:embed="rId25"/>
                <a:stretch>
                  <a:fillRect b="-24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39A7719F-6692-4EAC-B220-12B2E0A5FDC1}"/>
                  </a:ext>
                </a:extLst>
              </p:cNvPr>
              <p:cNvSpPr txBox="1"/>
              <p:nvPr/>
            </p:nvSpPr>
            <p:spPr>
              <a:xfrm>
                <a:off x="8205364" y="5617028"/>
                <a:ext cx="2880728" cy="762516"/>
              </a:xfrm>
              <a:prstGeom prst="rect">
                <a:avLst/>
              </a:prstGeom>
              <a:solidFill>
                <a:schemeClr val="accent6">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𝛤</m:t>
                          </m:r>
                        </m:e>
                        <m:sub>
                          <m:r>
                            <m:rPr>
                              <m:sty m:val="p"/>
                            </m:rPr>
                            <a:rPr lang="en-US" altLang="zh-CN" sz="2000" b="0" i="0" smtClean="0">
                              <a:solidFill>
                                <a:srgbClr val="0070C0"/>
                              </a:solidFill>
                              <a:latin typeface="Cambria Math" panose="02040503050406030204" pitchFamily="18" charset="0"/>
                            </a:rPr>
                            <m:t>a</m:t>
                          </m:r>
                        </m:sub>
                      </m:sSub>
                      <m:d>
                        <m:dPr>
                          <m:ctrlPr>
                            <a:rPr lang="en-US" altLang="zh-CN" sz="2000" i="1">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𝑛</m:t>
                          </m:r>
                        </m:e>
                      </m:d>
                      <m:r>
                        <a:rPr lang="en-US" altLang="zh-CN" sz="2000" b="0" i="1" smtClean="0">
                          <a:solidFill>
                            <a:srgbClr val="0070C0"/>
                          </a:solidFill>
                          <a:latin typeface="Cambria Math" panose="02040503050406030204" pitchFamily="18" charset="0"/>
                        </a:rPr>
                        <m:t>=</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𝛤</m:t>
                          </m:r>
                        </m:e>
                        <m:sub>
                          <m:r>
                            <m:rPr>
                              <m:sty m:val="p"/>
                            </m:rPr>
                            <a:rPr lang="en-US" altLang="zh-CN" sz="2000">
                              <a:solidFill>
                                <a:srgbClr val="0070C0"/>
                              </a:solidFill>
                              <a:latin typeface="Cambria Math" panose="02040503050406030204" pitchFamily="18" charset="0"/>
                            </a:rPr>
                            <m:t>st</m:t>
                          </m:r>
                        </m:sub>
                      </m:sSub>
                      <m:d>
                        <m:dPr>
                          <m:ctrlPr>
                            <a:rPr lang="en-US" altLang="zh-CN" sz="2000" i="1">
                              <a:solidFill>
                                <a:srgbClr val="0070C0"/>
                              </a:solidFill>
                              <a:latin typeface="Cambria Math" panose="02040503050406030204" pitchFamily="18" charset="0"/>
                            </a:rPr>
                          </m:ctrlPr>
                        </m:dPr>
                        <m:e>
                          <m:r>
                            <a:rPr lang="en-US" altLang="zh-CN" sz="2000" b="0" i="1" smtClean="0">
                              <a:solidFill>
                                <a:srgbClr val="0070C0"/>
                              </a:solidFill>
                              <a:latin typeface="Cambria Math" panose="02040503050406030204" pitchFamily="18" charset="0"/>
                            </a:rPr>
                            <m:t>𝑛</m:t>
                          </m:r>
                        </m:e>
                      </m:d>
                      <m:r>
                        <a:rPr lang="en-US" altLang="zh-CN" sz="2000" i="1">
                          <a:solidFill>
                            <a:srgbClr val="0070C0"/>
                          </a:solidFill>
                          <a:latin typeface="Cambria Math" panose="02040503050406030204" pitchFamily="18" charset="0"/>
                        </a:rPr>
                        <m:t>=</m:t>
                      </m:r>
                      <m:r>
                        <a:rPr lang="en-US" altLang="zh-CN" sz="2000" b="0" i="1" smtClean="0">
                          <a:solidFill>
                            <a:srgbClr val="0070C0"/>
                          </a:solidFill>
                          <a:latin typeface="Cambria Math" panose="02040503050406030204" pitchFamily="18" charset="0"/>
                        </a:rPr>
                        <m:t>𝑛</m:t>
                      </m:r>
                      <m:sSub>
                        <m:sSubPr>
                          <m:ctrlPr>
                            <a:rPr lang="en-US" altLang="zh-CN" sz="2000" i="1">
                              <a:solidFill>
                                <a:srgbClr val="0070C0"/>
                              </a:solidFill>
                              <a:latin typeface="Cambria Math" panose="02040503050406030204" pitchFamily="18" charset="0"/>
                            </a:rPr>
                          </m:ctrlPr>
                        </m:sSubPr>
                        <m:e>
                          <m:r>
                            <a:rPr lang="en-US" altLang="zh-CN" sz="2000" i="1">
                              <a:solidFill>
                                <a:srgbClr val="0070C0"/>
                              </a:solidFill>
                              <a:latin typeface="Cambria Math" panose="02040503050406030204" pitchFamily="18" charset="0"/>
                            </a:rPr>
                            <m:t>𝛤</m:t>
                          </m:r>
                        </m:e>
                        <m:sub>
                          <m:r>
                            <m:rPr>
                              <m:sty m:val="p"/>
                            </m:rPr>
                            <a:rPr lang="en-US" altLang="zh-CN" sz="2000">
                              <a:solidFill>
                                <a:srgbClr val="0070C0"/>
                              </a:solidFill>
                              <a:latin typeface="Cambria Math" panose="02040503050406030204" pitchFamily="18" charset="0"/>
                            </a:rPr>
                            <m:t>sp</m:t>
                          </m:r>
                        </m:sub>
                      </m:sSub>
                    </m:oMath>
                  </m:oMathPara>
                </a14:m>
                <a:endParaRPr lang="en-US" sz="2000" i="1" dirty="0">
                  <a:solidFill>
                    <a:srgbClr val="0070C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000" i="1" smtClean="0">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b="0" i="0" smtClean="0">
                              <a:solidFill>
                                <a:srgbClr val="0070C0"/>
                              </a:solidFill>
                              <a:latin typeface="Cambria Math" panose="02040503050406030204" pitchFamily="18" charset="0"/>
                            </a:rPr>
                            <m:t>e</m:t>
                          </m:r>
                        </m:sub>
                      </m:sSub>
                      <m:d>
                        <m:dPr>
                          <m:ctrlPr>
                            <a:rPr lang="en-US" sz="2000" i="1">
                              <a:solidFill>
                                <a:srgbClr val="0070C0"/>
                              </a:solidFill>
                              <a:latin typeface="Cambria Math" panose="02040503050406030204" pitchFamily="18" charset="0"/>
                            </a:rPr>
                          </m:ctrlPr>
                        </m:dPr>
                        <m:e>
                          <m:r>
                            <a:rPr lang="en-US" sz="2000" b="0" i="1" smtClean="0">
                              <a:solidFill>
                                <a:srgbClr val="0070C0"/>
                              </a:solidFill>
                              <a:latin typeface="Cambria Math" panose="02040503050406030204" pitchFamily="18" charset="0"/>
                            </a:rPr>
                            <m:t>𝑛</m:t>
                          </m:r>
                        </m:e>
                      </m:d>
                      <m:r>
                        <a:rPr lang="en-US" sz="2000" i="1">
                          <a:solidFill>
                            <a:srgbClr val="0070C0"/>
                          </a:solidFill>
                          <a:latin typeface="Cambria Math" panose="02040503050406030204" pitchFamily="18" charset="0"/>
                        </a:rPr>
                        <m:t>=</m:t>
                      </m:r>
                      <m:r>
                        <a:rPr lang="en-US" sz="2000" b="0" i="1" smtClean="0">
                          <a:solidFill>
                            <a:srgbClr val="0070C0"/>
                          </a:solidFill>
                          <a:latin typeface="Cambria Math" panose="02040503050406030204" pitchFamily="18" charset="0"/>
                        </a:rPr>
                        <m:t>(</m:t>
                      </m:r>
                      <m:r>
                        <a:rPr lang="en-US" sz="2000" b="0" i="1" smtClean="0">
                          <a:solidFill>
                            <a:srgbClr val="0070C0"/>
                          </a:solidFill>
                          <a:latin typeface="Cambria Math" panose="02040503050406030204" pitchFamily="18" charset="0"/>
                        </a:rPr>
                        <m:t>𝑛</m:t>
                      </m:r>
                      <m:r>
                        <a:rPr lang="en-US" sz="2000" b="0" i="1" smtClean="0">
                          <a:solidFill>
                            <a:srgbClr val="0070C0"/>
                          </a:solidFill>
                          <a:latin typeface="Cambria Math" panose="02040503050406030204" pitchFamily="18" charset="0"/>
                        </a:rPr>
                        <m:t>+1)</m:t>
                      </m:r>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𝛤</m:t>
                          </m:r>
                        </m:e>
                        <m:sub>
                          <m:r>
                            <m:rPr>
                              <m:sty m:val="p"/>
                            </m:rPr>
                            <a:rPr lang="en-US" sz="2000">
                              <a:solidFill>
                                <a:srgbClr val="0070C0"/>
                              </a:solidFill>
                              <a:latin typeface="Cambria Math" panose="02040503050406030204" pitchFamily="18" charset="0"/>
                            </a:rPr>
                            <m:t>sp</m:t>
                          </m:r>
                        </m:sub>
                      </m:sSub>
                    </m:oMath>
                  </m:oMathPara>
                </a14:m>
                <a:endParaRPr lang="en-US" sz="2000" dirty="0"/>
              </a:p>
            </p:txBody>
          </p:sp>
        </mc:Choice>
        <mc:Fallback xmlns="">
          <p:sp>
            <p:nvSpPr>
              <p:cNvPr id="127" name="TextBox 126">
                <a:extLst>
                  <a:ext uri="{FF2B5EF4-FFF2-40B4-BE49-F238E27FC236}">
                    <a16:creationId xmlns:a16="http://schemas.microsoft.com/office/drawing/2014/main" id="{39A7719F-6692-4EAC-B220-12B2E0A5FDC1}"/>
                  </a:ext>
                </a:extLst>
              </p:cNvPr>
              <p:cNvSpPr txBox="1">
                <a:spLocks noRot="1" noChangeAspect="1" noMove="1" noResize="1" noEditPoints="1" noAdjustHandles="1" noChangeArrowheads="1" noChangeShapeType="1" noTextEdit="1"/>
              </p:cNvSpPr>
              <p:nvPr/>
            </p:nvSpPr>
            <p:spPr>
              <a:xfrm>
                <a:off x="8205364" y="5617028"/>
                <a:ext cx="2880728" cy="762516"/>
              </a:xfrm>
              <a:prstGeom prst="rect">
                <a:avLst/>
              </a:prstGeom>
              <a:blipFill>
                <a:blip r:embed="rId26"/>
                <a:stretch>
                  <a:fillRect b="-3968"/>
                </a:stretch>
              </a:blipFill>
            </p:spPr>
            <p:txBody>
              <a:bodyPr/>
              <a:lstStyle/>
              <a:p>
                <a:r>
                  <a:rPr lang="zh-CN" altLang="en-US">
                    <a:noFill/>
                  </a:rPr>
                  <a:t> </a:t>
                </a:r>
              </a:p>
            </p:txBody>
          </p:sp>
        </mc:Fallback>
      </mc:AlternateContent>
      <p:sp>
        <p:nvSpPr>
          <p:cNvPr id="145" name="TextBox 144">
            <a:extLst>
              <a:ext uri="{FF2B5EF4-FFF2-40B4-BE49-F238E27FC236}">
                <a16:creationId xmlns:a16="http://schemas.microsoft.com/office/drawing/2014/main" id="{251FBA8F-472F-4222-9442-06E0E5F48EB8}"/>
              </a:ext>
            </a:extLst>
          </p:cNvPr>
          <p:cNvSpPr txBox="1"/>
          <p:nvPr/>
        </p:nvSpPr>
        <p:spPr>
          <a:xfrm>
            <a:off x="7549105" y="714795"/>
            <a:ext cx="4557600" cy="646331"/>
          </a:xfrm>
          <a:prstGeom prst="rect">
            <a:avLst/>
          </a:prstGeom>
          <a:noFill/>
        </p:spPr>
        <p:txBody>
          <a:bodyPr wrap="square" rtlCol="0">
            <a:spAutoFit/>
          </a:bodyPr>
          <a:lstStyle/>
          <a:p>
            <a:r>
              <a:rPr lang="en-US" dirty="0">
                <a:solidFill>
                  <a:srgbClr val="0070C0"/>
                </a:solidFill>
              </a:rPr>
              <a:t>Time-reversal symmetry of E&amp;M: </a:t>
            </a:r>
          </a:p>
          <a:p>
            <a:r>
              <a:rPr lang="en-US" dirty="0">
                <a:solidFill>
                  <a:srgbClr val="0070C0"/>
                </a:solidFill>
              </a:rPr>
              <a:t>forward and backward events have equal rates</a:t>
            </a:r>
          </a:p>
        </p:txBody>
      </p:sp>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C89C7453-4CB8-48A1-AFC2-7B7D929E01D2}"/>
                  </a:ext>
                </a:extLst>
              </p:cNvPr>
              <p:cNvSpPr txBox="1"/>
              <p:nvPr/>
            </p:nvSpPr>
            <p:spPr>
              <a:xfrm>
                <a:off x="8189842" y="1969018"/>
                <a:ext cx="2833685" cy="923330"/>
              </a:xfrm>
              <a:prstGeom prst="rect">
                <a:avLst/>
              </a:prstGeom>
              <a:solidFill>
                <a:schemeClr val="accent3">
                  <a:lumMod val="20000"/>
                  <a:lumOff val="80000"/>
                </a:schemeClr>
              </a:solidFill>
            </p:spPr>
            <p:txBody>
              <a:bodyPr wrap="square" rtlCol="0">
                <a:spAutoFit/>
              </a:bodyPr>
              <a:lstStyle/>
              <a:p>
                <a:r>
                  <a:rPr lang="en-US" b="0" dirty="0">
                    <a:solidFill>
                      <a:srgbClr val="0070C0"/>
                    </a:solidFill>
                  </a:rPr>
                  <a:t>Assuming: </a:t>
                </a:r>
                <a14:m>
                  <m:oMath xmlns:m="http://schemas.openxmlformats.org/officeDocument/2006/math">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𝛤</m:t>
                        </m:r>
                      </m:e>
                      <m:sub>
                        <m:r>
                          <m:rPr>
                            <m:sty m:val="p"/>
                          </m:rPr>
                          <a:rPr lang="en-US" b="0" i="0" smtClean="0">
                            <a:solidFill>
                              <a:srgbClr val="0070C0"/>
                            </a:solidFill>
                            <a:latin typeface="Cambria Math" panose="02040503050406030204" pitchFamily="18" charset="0"/>
                          </a:rPr>
                          <m:t>a</m:t>
                        </m:r>
                      </m:sub>
                    </m:sSub>
                    <m:d>
                      <m:dPr>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𝑛</m:t>
                        </m:r>
                      </m:e>
                    </m:d>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𝑛</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𝛤</m:t>
                        </m:r>
                      </m:e>
                      <m:sub>
                        <m:r>
                          <m:rPr>
                            <m:sty m:val="p"/>
                          </m:rPr>
                          <a:rPr lang="en-US">
                            <a:solidFill>
                              <a:srgbClr val="0070C0"/>
                            </a:solidFill>
                            <a:latin typeface="Cambria Math" panose="02040503050406030204" pitchFamily="18" charset="0"/>
                          </a:rPr>
                          <m:t>a</m:t>
                        </m:r>
                      </m:sub>
                    </m:sSub>
                    <m:d>
                      <m:dPr>
                        <m:ctrlPr>
                          <a:rPr lang="en-US" i="1">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1</m:t>
                        </m:r>
                      </m:e>
                    </m:d>
                  </m:oMath>
                </a14:m>
                <a:endParaRPr lang="en-US" dirty="0">
                  <a:solidFill>
                    <a:srgbClr val="0070C0"/>
                  </a:solidFill>
                </a:endParaRPr>
              </a:p>
              <a:p>
                <a:r>
                  <a:rPr lang="en-US" dirty="0">
                    <a:solidFill>
                      <a:srgbClr val="0070C0"/>
                    </a:solidFill>
                  </a:rPr>
                  <a:t>                   </a:t>
                </a:r>
                <a14:m>
                  <m:oMath xmlns:m="http://schemas.openxmlformats.org/officeDocument/2006/math">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𝛤</m:t>
                        </m:r>
                      </m:e>
                      <m:sub>
                        <m:r>
                          <m:rPr>
                            <m:sty m:val="p"/>
                          </m:rPr>
                          <a:rPr lang="en-US" b="0" i="0" smtClean="0">
                            <a:solidFill>
                              <a:srgbClr val="0070C0"/>
                            </a:solidFill>
                            <a:latin typeface="Cambria Math" panose="02040503050406030204" pitchFamily="18" charset="0"/>
                          </a:rPr>
                          <m:t>st</m:t>
                        </m:r>
                      </m:sub>
                    </m:sSub>
                    <m:d>
                      <m:dPr>
                        <m:ctrlPr>
                          <a:rPr lang="en-US" i="1">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𝑛</m:t>
                        </m:r>
                      </m:e>
                    </m:d>
                    <m:r>
                      <a:rPr lang="en-US" i="1">
                        <a:solidFill>
                          <a:srgbClr val="0070C0"/>
                        </a:solidFill>
                        <a:latin typeface="Cambria Math" panose="02040503050406030204" pitchFamily="18" charset="0"/>
                      </a:rPr>
                      <m:t>=</m:t>
                    </m:r>
                    <m:r>
                      <a:rPr lang="en-US" i="1">
                        <a:solidFill>
                          <a:srgbClr val="0070C0"/>
                        </a:solidFill>
                        <a:latin typeface="Cambria Math" panose="02040503050406030204" pitchFamily="18" charset="0"/>
                      </a:rPr>
                      <m:t>𝑛</m:t>
                    </m:r>
                    <m:sSub>
                      <m:sSubPr>
                        <m:ctrlPr>
                          <a:rPr lang="en-US" i="1">
                            <a:solidFill>
                              <a:srgbClr val="0070C0"/>
                            </a:solidFill>
                            <a:latin typeface="Cambria Math" panose="02040503050406030204" pitchFamily="18" charset="0"/>
                          </a:rPr>
                        </m:ctrlPr>
                      </m:sSubPr>
                      <m:e>
                        <m:r>
                          <a:rPr lang="en-US" i="1">
                            <a:solidFill>
                              <a:srgbClr val="0070C0"/>
                            </a:solidFill>
                            <a:latin typeface="Cambria Math" panose="02040503050406030204" pitchFamily="18" charset="0"/>
                          </a:rPr>
                          <m:t>𝛤</m:t>
                        </m:r>
                      </m:e>
                      <m:sub>
                        <m:r>
                          <m:rPr>
                            <m:sty m:val="p"/>
                          </m:rPr>
                          <a:rPr lang="en-US" b="0" i="0" smtClean="0">
                            <a:solidFill>
                              <a:srgbClr val="0070C0"/>
                            </a:solidFill>
                            <a:latin typeface="Cambria Math" panose="02040503050406030204" pitchFamily="18" charset="0"/>
                          </a:rPr>
                          <m:t>st</m:t>
                        </m:r>
                      </m:sub>
                    </m:sSub>
                    <m:d>
                      <m:dPr>
                        <m:ctrlPr>
                          <a:rPr lang="en-US" i="1">
                            <a:solidFill>
                              <a:srgbClr val="0070C0"/>
                            </a:solidFill>
                            <a:latin typeface="Cambria Math" panose="02040503050406030204" pitchFamily="18" charset="0"/>
                          </a:rPr>
                        </m:ctrlPr>
                      </m:dPr>
                      <m:e>
                        <m:r>
                          <a:rPr lang="en-US" i="1">
                            <a:solidFill>
                              <a:srgbClr val="0070C0"/>
                            </a:solidFill>
                            <a:latin typeface="Cambria Math" panose="02040503050406030204" pitchFamily="18" charset="0"/>
                          </a:rPr>
                          <m:t>1</m:t>
                        </m:r>
                      </m:e>
                    </m:d>
                  </m:oMath>
                </a14:m>
                <a:endParaRPr lang="en-US" i="1" dirty="0">
                  <a:solidFill>
                    <a:srgbClr val="0070C0"/>
                  </a:solidFill>
                </a:endParaRPr>
              </a:p>
              <a:p>
                <a14:m>
                  <m:oMath xmlns:m="http://schemas.openxmlformats.org/officeDocument/2006/math">
                    <m:r>
                      <a:rPr lang="en-US" b="0" i="1" dirty="0" smtClean="0">
                        <a:solidFill>
                          <a:srgbClr val="0070C0"/>
                        </a:solidFill>
                        <a:latin typeface="Cambria Math" panose="02040503050406030204" pitchFamily="18" charset="0"/>
                      </a:rPr>
                      <m:t>𝑛</m:t>
                    </m:r>
                  </m:oMath>
                </a14:m>
                <a:r>
                  <a:rPr lang="en-US" dirty="0">
                    <a:solidFill>
                      <a:srgbClr val="0070C0"/>
                    </a:solidFill>
                  </a:rPr>
                  <a:t>: initial photon number </a:t>
                </a:r>
              </a:p>
            </p:txBody>
          </p:sp>
        </mc:Choice>
        <mc:Fallback xmlns="">
          <p:sp>
            <p:nvSpPr>
              <p:cNvPr id="146" name="TextBox 145">
                <a:extLst>
                  <a:ext uri="{FF2B5EF4-FFF2-40B4-BE49-F238E27FC236}">
                    <a16:creationId xmlns:a16="http://schemas.microsoft.com/office/drawing/2014/main" id="{C89C7453-4CB8-48A1-AFC2-7B7D929E01D2}"/>
                  </a:ext>
                </a:extLst>
              </p:cNvPr>
              <p:cNvSpPr txBox="1">
                <a:spLocks noRot="1" noChangeAspect="1" noMove="1" noResize="1" noEditPoints="1" noAdjustHandles="1" noChangeArrowheads="1" noChangeShapeType="1" noTextEdit="1"/>
              </p:cNvSpPr>
              <p:nvPr/>
            </p:nvSpPr>
            <p:spPr>
              <a:xfrm>
                <a:off x="8189842" y="1969018"/>
                <a:ext cx="2833685" cy="923330"/>
              </a:xfrm>
              <a:prstGeom prst="rect">
                <a:avLst/>
              </a:prstGeom>
              <a:blipFill>
                <a:blip r:embed="rId28"/>
                <a:stretch>
                  <a:fillRect l="-1720" t="-3311" b="-9934"/>
                </a:stretch>
              </a:blipFill>
            </p:spPr>
            <p:txBody>
              <a:bodyPr/>
              <a:lstStyle/>
              <a:p>
                <a:r>
                  <a:rPr lang="en-US">
                    <a:noFill/>
                  </a:rPr>
                  <a:t> </a:t>
                </a:r>
              </a:p>
            </p:txBody>
          </p:sp>
        </mc:Fallback>
      </mc:AlternateContent>
      <p:cxnSp>
        <p:nvCxnSpPr>
          <p:cNvPr id="148" name="Straight Arrow Connector 147">
            <a:extLst>
              <a:ext uri="{FF2B5EF4-FFF2-40B4-BE49-F238E27FC236}">
                <a16:creationId xmlns:a16="http://schemas.microsoft.com/office/drawing/2014/main" id="{FBCC32F7-484D-4D38-ABB7-F4F1F9635689}"/>
              </a:ext>
            </a:extLst>
          </p:cNvPr>
          <p:cNvCxnSpPr/>
          <p:nvPr/>
        </p:nvCxnSpPr>
        <p:spPr>
          <a:xfrm>
            <a:off x="3925099" y="1710161"/>
            <a:ext cx="468960"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cxnSp>
        <p:nvCxnSpPr>
          <p:cNvPr id="149" name="Straight Arrow Connector 148">
            <a:extLst>
              <a:ext uri="{FF2B5EF4-FFF2-40B4-BE49-F238E27FC236}">
                <a16:creationId xmlns:a16="http://schemas.microsoft.com/office/drawing/2014/main" id="{93F50FE5-A07F-4E6B-BD2E-31071DEBAF80}"/>
              </a:ext>
            </a:extLst>
          </p:cNvPr>
          <p:cNvCxnSpPr/>
          <p:nvPr/>
        </p:nvCxnSpPr>
        <p:spPr>
          <a:xfrm>
            <a:off x="3960193" y="3446579"/>
            <a:ext cx="468960" cy="0"/>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837216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B2AF8B0-F699-4622-9BFA-33E8755F53D0}"/>
              </a:ext>
            </a:extLst>
          </p:cNvPr>
          <p:cNvPicPr>
            <a:picLocks noChangeAspect="1"/>
          </p:cNvPicPr>
          <p:nvPr/>
        </p:nvPicPr>
        <p:blipFill>
          <a:blip r:embed="rId2"/>
          <a:stretch>
            <a:fillRect/>
          </a:stretch>
        </p:blipFill>
        <p:spPr>
          <a:xfrm>
            <a:off x="1218920" y="640226"/>
            <a:ext cx="8042786" cy="6126352"/>
          </a:xfrm>
          <a:prstGeom prst="rect">
            <a:avLst/>
          </a:prstGeom>
        </p:spPr>
      </p:pic>
      <p:sp>
        <p:nvSpPr>
          <p:cNvPr id="6" name="AutoShape 2" descr="See the source image">
            <a:extLst>
              <a:ext uri="{FF2B5EF4-FFF2-40B4-BE49-F238E27FC236}">
                <a16:creationId xmlns:a16="http://schemas.microsoft.com/office/drawing/2014/main" id="{69CE5C76-7EEC-4209-BCD4-E41018B53F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E8DEE402-1E5F-41D5-823D-E9207ABBFB2E}"/>
                  </a:ext>
                </a:extLst>
              </p:cNvPr>
              <p:cNvSpPr>
                <a:spLocks noGrp="1"/>
              </p:cNvSpPr>
              <p:nvPr>
                <p:ph type="title"/>
              </p:nvPr>
            </p:nvSpPr>
            <p:spPr>
              <a:xfrm>
                <a:off x="6951407" y="1759974"/>
                <a:ext cx="1710813" cy="442451"/>
              </a:xfrm>
              <a:solidFill>
                <a:schemeClr val="bg1"/>
              </a:solidFill>
            </p:spPr>
            <p:txBody>
              <a:bodyPr/>
              <a:lstStyle/>
              <a:p>
                <a:pPr/>
                <a14:m>
                  <m:oMathPara xmlns:m="http://schemas.openxmlformats.org/officeDocument/2006/math">
                    <m:oMathParaPr>
                      <m:jc m:val="centerGroup"/>
                    </m:oMathParaPr>
                    <m:oMath xmlns:m="http://schemas.openxmlformats.org/officeDocument/2006/math">
                      <m:r>
                        <m:rPr>
                          <m:sty m:val="p"/>
                        </m:rPr>
                        <a:rPr lang="en-US" sz="1600" b="0" i="0" smtClean="0">
                          <a:solidFill>
                            <a:schemeClr val="tx1"/>
                          </a:solidFill>
                          <a:latin typeface="Cambria Math" panose="02040503050406030204" pitchFamily="18" charset="0"/>
                        </a:rPr>
                        <m:t>barn</m:t>
                      </m:r>
                      <m:r>
                        <a:rPr lang="en-US" sz="1600" b="0" i="1" smtClean="0">
                          <a:solidFill>
                            <a:schemeClr val="tx1"/>
                          </a:solidFill>
                          <a:latin typeface="Cambria Math" panose="02040503050406030204" pitchFamily="18" charset="0"/>
                        </a:rPr>
                        <m:t>=1</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0</m:t>
                          </m:r>
                        </m:e>
                        <m:sup>
                          <m:r>
                            <a:rPr lang="en-US" sz="1600" b="0" i="1" smtClean="0">
                              <a:solidFill>
                                <a:schemeClr val="tx1"/>
                              </a:solidFill>
                              <a:latin typeface="Cambria Math" panose="02040503050406030204" pitchFamily="18" charset="0"/>
                            </a:rPr>
                            <m:t>−28</m:t>
                          </m:r>
                        </m:sup>
                      </m:sSup>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𝑚</m:t>
                          </m:r>
                        </m:e>
                        <m:sup>
                          <m:r>
                            <a:rPr lang="en-US" sz="1600" b="0" i="1" smtClean="0">
                              <a:solidFill>
                                <a:schemeClr val="tx1"/>
                              </a:solidFill>
                              <a:latin typeface="Cambria Math" panose="02040503050406030204" pitchFamily="18" charset="0"/>
                            </a:rPr>
                            <m:t>2</m:t>
                          </m:r>
                        </m:sup>
                      </m:sSup>
                    </m:oMath>
                  </m:oMathPara>
                </a14:m>
                <a:endParaRPr lang="en-US" sz="1600" b="0" dirty="0">
                  <a:solidFill>
                    <a:schemeClr val="tx1"/>
                  </a:solidFill>
                </a:endParaRPr>
              </a:p>
            </p:txBody>
          </p:sp>
        </mc:Choice>
        <mc:Fallback xmlns="">
          <p:sp>
            <p:nvSpPr>
              <p:cNvPr id="2" name="Title 1">
                <a:extLst>
                  <a:ext uri="{FF2B5EF4-FFF2-40B4-BE49-F238E27FC236}">
                    <a16:creationId xmlns:a16="http://schemas.microsoft.com/office/drawing/2014/main" id="{E8DEE402-1E5F-41D5-823D-E9207ABBFB2E}"/>
                  </a:ext>
                </a:extLst>
              </p:cNvPr>
              <p:cNvSpPr>
                <a:spLocks noGrp="1" noRot="1" noChangeAspect="1" noMove="1" noResize="1" noEditPoints="1" noAdjustHandles="1" noChangeArrowheads="1" noChangeShapeType="1" noTextEdit="1"/>
              </p:cNvSpPr>
              <p:nvPr>
                <p:ph type="title"/>
              </p:nvPr>
            </p:nvSpPr>
            <p:spPr>
              <a:xfrm>
                <a:off x="6951407" y="1759974"/>
                <a:ext cx="1710813" cy="442451"/>
              </a:xfr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ADF339AC-A0F0-4233-953B-05831B190B28}"/>
              </a:ext>
            </a:extLst>
          </p:cNvPr>
          <p:cNvSpPr txBox="1"/>
          <p:nvPr/>
        </p:nvSpPr>
        <p:spPr>
          <a:xfrm>
            <a:off x="1417285" y="158330"/>
            <a:ext cx="8402044" cy="400110"/>
          </a:xfrm>
          <a:prstGeom prst="rect">
            <a:avLst/>
          </a:prstGeom>
          <a:noFill/>
        </p:spPr>
        <p:txBody>
          <a:bodyPr wrap="none" rtlCol="0">
            <a:spAutoFit/>
          </a:bodyPr>
          <a:lstStyle/>
          <a:p>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The interaction cross </a:t>
            </a:r>
            <a:r>
              <a:rPr lang="en-US" altLang="zh-CN" sz="2000">
                <a:latin typeface="Times New Roman" panose="02020603050405020304" pitchFamily="18" charset="0"/>
                <a:ea typeface="黑体" panose="02010609060101010101" pitchFamily="49" charset="-122"/>
                <a:cs typeface="Times New Roman" panose="02020603050405020304" pitchFamily="18" charset="0"/>
              </a:rPr>
              <a:t>section between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N </a:t>
            </a:r>
            <a:r>
              <a:rPr lang="en-US" altLang="zh-CN" sz="2000">
                <a:latin typeface="Times New Roman" panose="02020603050405020304" pitchFamily="18" charset="0"/>
                <a:ea typeface="黑体" panose="02010609060101010101" pitchFamily="49" charset="-122"/>
                <a:cs typeface="Times New Roman" panose="02020603050405020304" pitchFamily="18" charset="0"/>
              </a:rPr>
              <a:t>atoms and photons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of different energies</a:t>
            </a:r>
            <a:endParaRPr lang="en-US" sz="2000"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286822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和量子力学的诞生&amp;quot;&quot;/&gt;&lt;property id=&quot;20307&quot; value=&quot;256&quot;/&gt;&lt;/object&gt;&lt;object type=&quot;3&quot; unique_id=&quot;10013&quot;&gt;&lt;property id=&quot;20148&quot; value=&quot;5&quot;/&gt;&lt;property id=&quot;20300&quot; value=&quot;Slide 9 - &amp;quot;几个重要的物理量&amp;quot;&quot;/&gt;&lt;property id=&quot;20307&quot; value=&quot;262&quot;/&gt;&lt;/object&gt;&lt;object type=&quot;3&quot; unique_id=&quot;10058&quot;&gt;&lt;property id=&quot;20148&quot; value=&quot;5&quot;/&gt;&lt;property id=&quot;20300&quot; value=&quot;Slide 2 - &amp;quot;第一届索尔维物理会议&amp;quot;&quot;/&gt;&lt;property id=&quot;20307&quot; value=&quot;265&quot;/&gt;&lt;/object&gt;&lt;object type=&quot;3&quot; unique_id=&quot;10072&quot;&gt;&lt;property id=&quot;20148&quot; value=&quot;5&quot;/&gt;&lt;property id=&quot;20300&quot; value=&quot;Slide 3 - &amp;quot;The 1st Solvay Conference 1911&amp;quot;&quot;/&gt;&lt;property id=&quot;20307&quot; value=&quot;267&quot;/&gt;&lt;/object&gt;&lt;object type=&quot;3&quot; unique_id=&quot;10112&quot;&gt;&lt;property id=&quot;20148&quot; value=&quot;5&quot;/&gt;&lt;property id=&quot;20300&quot; value=&quot;Slide 4 - &amp;quot;氢原子光谱&amp;quot;&quot;/&gt;&lt;property id=&quot;20307&quot; value=&quot;273&quot;/&gt;&lt;/object&gt;&lt;object type=&quot;3&quot; unique_id=&quot;10113&quot;&gt;&lt;property id=&quot;20148&quot; value=&quot;5&quot;/&gt;&lt;property id=&quot;20300&quot; value=&quot;Slide 5 - &amp;quot;氢原子光谱&amp;quot;&quot;/&gt;&lt;property id=&quot;20307&quot; value=&quot;274&quot;/&gt;&lt;/object&gt;&lt;object type=&quot;3&quot; unique_id=&quot;10116&quot;&gt;&lt;property id=&quot;20148&quot; value=&quot;5&quot;/&gt;&lt;property id=&quot;20300&quot; value=&quot;Slide 31 - &amp;quot;第五届索尔维会议（1927）&amp;quot;&quot;/&gt;&lt;property id=&quot;20307&quot; value=&quot;270&quot;/&gt;&lt;/object&gt;&lt;object type=&quot;3&quot; unique_id=&quot;10117&quot;&gt;&lt;property id=&quot;20148&quot; value=&quot;5&quot;/&gt;&lt;property id=&quot;20300&quot; value=&quot;Slide 32 - &amp;quot;The 5th Solvay Conference 1927&amp;quot;&quot;/&gt;&lt;property id=&quot;20307&quot; value=&quot;269&quot;/&gt;&lt;/object&gt;&lt;object type=&quot;3&quot; unique_id=&quot;10279&quot;&gt;&lt;property id=&quot;20148&quot; value=&quot;5&quot;/&gt;&lt;property id=&quot;20300&quot; value=&quot;Slide 8 - &amp;quot;里德堡常数的修正&amp;quot;&quot;/&gt;&lt;property id=&quot;20307&quot; value=&quot;276&quot;/&gt;&lt;/object&gt;&lt;object type=&quot;3&quot; unique_id=&quot;10350&quot;&gt;&lt;property id=&quot;20148&quot; value=&quot;5&quot;/&gt;&lt;property id=&quot;20300&quot; value=&quot;Slide 13 - &amp;quot;进一步验证：类氢离子光谱&amp;quot;&quot;/&gt;&lt;property id=&quot;20307&quot; value=&quot;278&quot;/&gt;&lt;/object&gt;&lt;object type=&quot;3&quot; unique_id=&quot;10351&quot;&gt;&lt;property id=&quot;20148&quot; value=&quot;5&quot;/&gt;&lt;property id=&quot;20300&quot; value=&quot;Slide 14 - &amp;quot;类氢离子的物理常数&amp;quot;&quot;/&gt;&lt;property id=&quot;20307&quot; value=&quot;279&quot;/&gt;&lt;/object&gt;&lt;object type=&quot;3&quot; unique_id=&quot;10352&quot;&gt;&lt;property id=&quot;20148&quot; value=&quot;5&quot;/&gt;&lt;property id=&quot;20300&quot; value=&quot;Slide 16 - &amp;quot;原子能级在碰撞过程的体现&amp;quot;&quot;/&gt;&lt;property id=&quot;20307&quot; value=&quot;277&quot;/&gt;&lt;/object&gt;&lt;object type=&quot;3&quot; unique_id=&quot;10438&quot;&gt;&lt;property id=&quot;20148&quot; value=&quot;5&quot;/&gt;&lt;property id=&quot;20300&quot; value=&quot;Slide 12 - &amp;quot;精细结构常数:  𝛼=  𝑒 2  ℏ𝑐 &amp;quot;&quot;/&gt;&lt;property id=&quot;20307&quot; value=&quot;280&quot;/&gt;&lt;/object&gt;&lt;object type=&quot;3&quot; unique_id=&quot;10923&quot;&gt;&lt;property id=&quot;20148&quot; value=&quot;5&quot;/&gt;&lt;property id=&quot;20300&quot; value=&quot;Slide 23 - &amp;quot;Stern-Gerlach 实验（1922）&amp;quot;&quot;/&gt;&lt;property id=&quot;20307&quot; value=&quot;283&quot;/&gt;&lt;/object&gt;&lt;object type=&quot;3&quot; unique_id=&quot;11076&quot;&gt;&lt;property id=&quot;20148&quot; value=&quot;5&quot;/&gt;&lt;property id=&quot;20300&quot; value=&quot;Slide 21 - &amp;quot;Bohr – Sommerfeld 的旧量子论&amp;quot;&quot;/&gt;&lt;property id=&quot;20307&quot; value=&quot;286&quot;/&gt;&lt;/object&gt;&lt;object type=&quot;3&quot; unique_id=&quot;11101&quot;&gt;&lt;property id=&quot;20148&quot; value=&quot;5&quot;/&gt;&lt;property id=&quot;20300&quot; value=&quot;Slide 18 - &amp;quot;塞曼效应（1896）&amp;quot;&quot;/&gt;&lt;property id=&quot;20307&quot; value=&quot;288&quot;/&gt;&lt;/object&gt;&lt;object type=&quot;3&quot; unique_id=&quot;11102&quot;&gt;&lt;property id=&quot;20148&quot; value=&quot;5&quot;/&gt;&lt;property id=&quot;20300&quot; value=&quot;Slide 26 - &amp;quot;泡利不相容原理和电子自旋（1925）&amp;quot;&quot;/&gt;&lt;property id=&quot;20307&quot; value=&quot;287&quot;/&gt;&lt;/object&gt;&lt;object type=&quot;3&quot; unique_id=&quot;11103&quot;&gt;&lt;property id=&quot;20148&quot; value=&quot;5&quot;/&gt;&lt;property id=&quot;20300&quot; value=&quot;Slide 30 - &amp;quot;量子力学&amp;quot;&quot;/&gt;&lt;property id=&quot;20307&quot; value=&quot;289&quot;/&gt;&lt;/object&gt;&lt;object type=&quot;3&quot; unique_id=&quot;11204&quot;&gt;&lt;property id=&quot;20148&quot; value=&quot;5&quot;/&gt;&lt;property id=&quot;20300&quot; value=&quot;Slide 17 - &amp;quot;改进后的Frank-Hertz实验(1920)&amp;quot;&quot;/&gt;&lt;property id=&quot;20307&quot; value=&quot;290&quot;/&gt;&lt;/object&gt;&lt;object type=&quot;3&quot; unique_id=&quot;11231&quot;&gt;&lt;property id=&quot;20148&quot; value=&quot;5&quot;/&gt;&lt;property id=&quot;20300&quot; value=&quot;Slide 24 - &amp;quot;幸运雪茄&amp;quot;&quot;/&gt;&lt;property id=&quot;20307&quot; value=&quot;291&quot;/&gt;&lt;/object&gt;&lt;object type=&quot;3&quot; unique_id=&quot;11260&quot;&gt;&lt;property id=&quot;20148&quot; value=&quot;5&quot;/&gt;&lt;property id=&quot;20300&quot; value=&quot;Slide 27 - &amp;quot;de Broglie物质波(1923)&amp;quot;&quot;/&gt;&lt;property id=&quot;20307&quot; value=&quot;294&quot;/&gt;&lt;/object&gt;&lt;object type=&quot;3&quot; unique_id=&quot;11261&quot;&gt;&lt;property id=&quot;20148&quot; value=&quot;5&quot;/&gt;&lt;property id=&quot;20300&quot; value=&quot;Slide 28 - &amp;quot;电子晶体衍射&amp;quot;&quot;/&gt;&lt;property id=&quot;20307&quot; value=&quot;295&quot;/&gt;&lt;/object&gt;&lt;object type=&quot;3&quot; unique_id=&quot;11262&quot;&gt;&lt;property id=&quot;20148&quot; value=&quot;5&quot;/&gt;&lt;property id=&quot;20300&quot; value=&quot;Slide 33&quot;/&gt;&lt;property id=&quot;20307&quot; value=&quot;292&quot;/&gt;&lt;/object&gt;&lt;object type=&quot;3&quot; unique_id=&quot;11437&quot;&gt;&lt;property id=&quot;20148&quot; value=&quot;5&quot;/&gt;&lt;property id=&quot;20300&quot; value=&quot;Slide 22 - &amp;quot;正常塞曼效应的Bohr理论解释&amp;quot;&quot;/&gt;&lt;property id=&quot;20307&quot; value=&quot;296&quot;/&gt;&lt;/object&gt;&lt;object type=&quot;3&quot; unique_id=&quot;11468&quot;&gt;&lt;property id=&quot;20148&quot; value=&quot;5&quot;/&gt;&lt;property id=&quot;20300&quot; value=&quot;Slide 34 - &amp;quot;作业&amp;quot;&quot;/&gt;&lt;property id=&quot;20307&quot; value=&quot;299&quot;/&gt;&lt;/object&gt;&lt;object type=&quot;3&quot; unique_id=&quot;12182&quot;&gt;&lt;property id=&quot;20148&quot; value=&quot;5&quot;/&gt;&lt;property id=&quot;20300&quot; value=&quot;Slide 11 - &amp;quot;精细结构常数  𝛼=  𝑒 2  ℏ𝑐 &amp;quot;&quot;/&gt;&lt;property id=&quot;20307&quot; value=&quot;300&quot;/&gt;&lt;/object&gt;&lt;object type=&quot;3&quot; unique_id=&quot;12183&quot;&gt;&lt;property id=&quot;20148&quot; value=&quot;5&quot;/&gt;&lt;property id=&quot;20300&quot; value=&quot;Slide 19 - &amp;quot;塞曼效应的经典解释&amp;quot;&quot;/&gt;&lt;property id=&quot;20307&quot; value=&quot;301&quot;/&gt;&lt;/object&gt;&lt;object type=&quot;3&quot; unique_id=&quot;12280&quot;&gt;&lt;property id=&quot;20148&quot; value=&quot;5&quot;/&gt;&lt;property id=&quot;20300&quot; value=&quot;Slide 10 - &amp;quot;备注&amp;quot;&quot;/&gt;&lt;property id=&quot;20307&quot; value=&quot;302&quot;/&gt;&lt;/object&gt;&lt;object type=&quot;3&quot; unique_id=&quot;12281&quot;&gt;&lt;property id=&quot;20148&quot; value=&quot;5&quot;/&gt;&lt;property id=&quot;20300&quot; value=&quot;Slide 7 - &amp;quot;玻尔模型和氢原子光谱&amp;quot;&quot;/&gt;&lt;property id=&quot;20307&quot; value=&quot;303&quot;/&gt;&lt;/object&gt;&lt;object type=&quot;3&quot; unique_id=&quot;12543&quot;&gt;&lt;property id=&quot;20148&quot; value=&quot;5&quot;/&gt;&lt;property id=&quot;20300&quot; value=&quot;Slide 6 - &amp;quot;Bohr模型（1913）&amp;quot;&quot;/&gt;&lt;property id=&quot;20307&quot; value=&quot;304&quot;/&gt;&lt;/object&gt;&lt;object type=&quot;3&quot; unique_id=&quot;12577&quot;&gt;&lt;property id=&quot;20148&quot; value=&quot;5&quot;/&gt;&lt;property id=&quot;20300&quot; value=&quot;Slide 15 - &amp;quot;透射（吸收）谱和荧光谱&amp;quot;&quot;/&gt;&lt;property id=&quot;20307&quot; value=&quot;305&quot;/&gt;&lt;/object&gt;&lt;object type=&quot;3&quot; unique_id=&quot;12578&quot;&gt;&lt;property id=&quot;20148&quot; value=&quot;5&quot;/&gt;&lt;property id=&quot;20300&quot; value=&quot;Slide 20 - &amp;quot;反常(anormlous)塞曼效应&amp;quot;&quot;/&gt;&lt;property id=&quot;20307&quot; value=&quot;306&quot;/&gt;&lt;/object&gt;&lt;object type=&quot;3&quot; unique_id=&quot;12579&quot;&gt;&lt;property id=&quot;20148&quot; value=&quot;5&quot;/&gt;&lt;property id=&quot;20300&quot; value=&quot;Slide 29&quot;/&gt;&lt;property id=&quot;20307&quot; value=&quot;307&quot;/&gt;&lt;/object&gt;&lt;object type=&quot;3&quot; unique_id=&quot;13072&quot;&gt;&lt;property id=&quot;20148&quot; value=&quot;5&quot;/&gt;&lt;property id=&quot;20300&quot; value=&quot;Slide 25 - &amp;quot;Stern-Gerlach 实验的解释&amp;quot;&quot;/&gt;&lt;property id=&quot;20307&quot; value=&quot;30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FF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10899</TotalTime>
  <Words>1480</Words>
  <Application>Microsoft Office PowerPoint</Application>
  <PresentationFormat>Widescreen</PresentationFormat>
  <Paragraphs>154</Paragraphs>
  <Slides>16</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Adobe 黑体 Std R</vt:lpstr>
      <vt:lpstr>黑体</vt:lpstr>
      <vt:lpstr>宋体</vt:lpstr>
      <vt:lpstr>Arial</vt:lpstr>
      <vt:lpstr>Calibri</vt:lpstr>
      <vt:lpstr>Cambria Math</vt:lpstr>
      <vt:lpstr>Times New Roman</vt:lpstr>
      <vt:lpstr>Office Theme</vt:lpstr>
      <vt:lpstr>Equation</vt:lpstr>
      <vt:lpstr>Transitions</vt:lpstr>
      <vt:lpstr>Transmission(absorption) and fluorescence spectrum</vt:lpstr>
      <vt:lpstr>PowerPoint Presentation</vt:lpstr>
      <vt:lpstr>PowerPoint Presentation</vt:lpstr>
      <vt:lpstr>The spectrum of a double-star（Doppler effect）</vt:lpstr>
      <vt:lpstr>How transition process</vt:lpstr>
      <vt:lpstr>spontaneous emission</vt:lpstr>
      <vt:lpstr>Einstein’s derivation of Planck’s formula</vt:lpstr>
      <vt:lpstr>The third mechanism</vt:lpstr>
      <vt:lpstr>Einstein A, B coefficients and Blackbody radiation formula</vt:lpstr>
      <vt:lpstr>The principles of Lasers (light amplification by stimulated emission radiations)</vt:lpstr>
      <vt:lpstr>How to make a Laser</vt:lpstr>
      <vt:lpstr>How to make a laser</vt:lpstr>
      <vt:lpstr>*Stimulated and spontaneous emission rate</vt:lpstr>
      <vt:lpstr>*Relation between the absorption and emission rates</vt:lpstr>
      <vt:lpstr>barn=10^(-28) m^2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kevin zhao</cp:lastModifiedBy>
  <cp:revision>814</cp:revision>
  <cp:lastPrinted>2020-09-29T02:36:37Z</cp:lastPrinted>
  <dcterms:created xsi:type="dcterms:W3CDTF">2013-05-26T05:06:15Z</dcterms:created>
  <dcterms:modified xsi:type="dcterms:W3CDTF">2025-03-12T00:59:23Z</dcterms:modified>
</cp:coreProperties>
</file>