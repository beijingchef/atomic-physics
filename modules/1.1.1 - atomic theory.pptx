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2"/>
  </p:notesMasterIdLst>
  <p:handoutMasterIdLst>
    <p:handoutMasterId r:id="rId13"/>
  </p:handoutMasterIdLst>
  <p:sldIdLst>
    <p:sldId id="317" r:id="rId2"/>
    <p:sldId id="315" r:id="rId3"/>
    <p:sldId id="272" r:id="rId4"/>
    <p:sldId id="283" r:id="rId5"/>
    <p:sldId id="307" r:id="rId6"/>
    <p:sldId id="318" r:id="rId7"/>
    <p:sldId id="319" r:id="rId8"/>
    <p:sldId id="308" r:id="rId9"/>
    <p:sldId id="310" r:id="rId10"/>
    <p:sldId id="309" r:id="rId11"/>
  </p:sldIdLst>
  <p:sldSz cx="12192000" cy="6858000"/>
  <p:notesSz cx="7104063" cy="10234613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26EC1E-7FE0-4B11-AD5B-1A296D31F762}">
          <p14:sldIdLst>
            <p14:sldId id="317"/>
            <p14:sldId id="315"/>
          </p14:sldIdLst>
        </p14:section>
        <p14:section name="原子论" id="{6F94667D-8DB7-4FBC-A952-A8E54F3EBCC5}">
          <p14:sldIdLst>
            <p14:sldId id="272"/>
            <p14:sldId id="283"/>
            <p14:sldId id="307"/>
            <p14:sldId id="318"/>
            <p14:sldId id="319"/>
            <p14:sldId id="308"/>
            <p14:sldId id="310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22" autoAdjust="0"/>
  </p:normalViewPr>
  <p:slideViewPr>
    <p:cSldViewPr snapToGrid="0">
      <p:cViewPr varScale="1">
        <p:scale>
          <a:sx n="73" d="100"/>
          <a:sy n="73" d="100"/>
        </p:scale>
        <p:origin x="41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-2539" y="-67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4E700DE-9542-441E-A0CA-0B555B931B5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544316E-BE47-47B1-A399-352D9B075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004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06387D0-1216-4FA3-AF01-EA63AC44C2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如何定义一样东西的大小？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3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8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en-US" sz="1300" dirty="0"/>
              <a:t>If you go at 17 miles per minute and take a totally new course 1,700,000,000 times in a second, where will you be in an hour?</a:t>
            </a:r>
            <a:r>
              <a:rPr lang="zh-CN" altLang="en-US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55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5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 baseline="0">
                <a:latin typeface="+mn-lt"/>
                <a:ea typeface="黑体" panose="02010609060101010101" pitchFamily="49" charset="-122"/>
              </a:defRPr>
            </a:lvl1pPr>
            <a:lvl2pPr>
              <a:spcBef>
                <a:spcPts val="1200"/>
              </a:spcBef>
              <a:defRPr>
                <a:latin typeface="+mn-lt"/>
                <a:ea typeface="黑体" panose="02010609060101010101" pitchFamily="49" charset="-122"/>
              </a:defRPr>
            </a:lvl2pPr>
            <a:lvl3pPr>
              <a:spcBef>
                <a:spcPts val="1200"/>
              </a:spcBef>
              <a:defRPr>
                <a:latin typeface="+mn-lt"/>
                <a:ea typeface="黑体" panose="02010609060101010101" pitchFamily="49" charset="-122"/>
              </a:defRPr>
            </a:lvl3pPr>
            <a:lvl4pPr>
              <a:spcBef>
                <a:spcPts val="1200"/>
              </a:spcBef>
              <a:defRPr>
                <a:latin typeface="+mn-lt"/>
                <a:ea typeface="黑体" panose="02010609060101010101" pitchFamily="49" charset="-122"/>
              </a:defRPr>
            </a:lvl4pPr>
            <a:lvl5pPr>
              <a:spcBef>
                <a:spcPts val="1200"/>
              </a:spcBef>
              <a:defRPr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</a:t>
            </a:r>
            <a:r>
              <a:rPr lang="zh-CN" altLang="en-US" dirty="0"/>
              <a:t>编辑 </a:t>
            </a:r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oleObject" Target="../embeddings/oleObject1.bin"/><Relationship Id="rId18" Type="http://schemas.openxmlformats.org/officeDocument/2006/relationships/oleObject" Target="../embeddings/oleObject2.bin"/><Relationship Id="rId3" Type="http://schemas.openxmlformats.org/officeDocument/2006/relationships/notesSlide" Target="../notesSlides/notesSlide4.xml"/><Relationship Id="rId12" Type="http://schemas.openxmlformats.org/officeDocument/2006/relationships/image" Target="../media/image9.wmf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tmp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11" Type="http://schemas.openxmlformats.org/officeDocument/2006/relationships/oleObject" Target="../embeddings/oleObject1.bin"/><Relationship Id="rId15" Type="http://schemas.openxmlformats.org/officeDocument/2006/relationships/image" Target="../media/image11.png"/><Relationship Id="rId10" Type="http://schemas.openxmlformats.org/officeDocument/2006/relationships/image" Target="../media/image14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1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8EF2C-139B-4299-9724-8814BB883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6" y="0"/>
            <a:ext cx="7572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4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constituents of an atom</a:t>
            </a:r>
            <a:endParaRPr lang="zh-CN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778" y="901783"/>
            <a:ext cx="7065975" cy="52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5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91821"/>
            <a:ext cx="8229600" cy="576064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scientic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zh-CN" altLang="en-US" dirty="0"/>
              <a:t> </a:t>
            </a:r>
            <a:r>
              <a:rPr lang="en-US" altLang="zh-CN" dirty="0"/>
              <a:t>atomic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617" y="842554"/>
            <a:ext cx="10195560" cy="5786846"/>
          </a:xfrm>
        </p:spPr>
        <p:txBody>
          <a:bodyPr>
            <a:noAutofit/>
          </a:bodyPr>
          <a:lstStyle/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1803, Dalton, the Law of multiple proportions and atomic theory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1811, Avogadro</a:t>
            </a:r>
            <a:r>
              <a:rPr lang="zh-CN" altLang="en-US" sz="2000" dirty="0"/>
              <a:t>：</a:t>
            </a:r>
            <a:r>
              <a:rPr lang="en-US" altLang="zh-CN" sz="2000" dirty="0"/>
              <a:t>under the same conditions of temperature and pressure, equal volumes of different gases contain an equal number of molecules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1833, Faraday's Laws of Electrolysis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1869-70</a:t>
            </a:r>
            <a:r>
              <a:rPr lang="zh-CN" altLang="en-US" sz="2000" dirty="0"/>
              <a:t>， </a:t>
            </a:r>
            <a:r>
              <a:rPr lang="en-US" altLang="zh-CN" sz="2000" dirty="0"/>
              <a:t>Mendeleev: periodic table, relating the atomic number of elements and their chemical properties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1860s</a:t>
            </a:r>
            <a:r>
              <a:rPr lang="zh-CN" altLang="en-US" sz="2000" dirty="0"/>
              <a:t>，</a:t>
            </a:r>
            <a:r>
              <a:rPr lang="en-US" altLang="zh-CN" sz="2000" dirty="0"/>
              <a:t>Maxwell’s velocity distribution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1870s-1880s</a:t>
            </a:r>
            <a:r>
              <a:rPr lang="zh-CN" altLang="en-US" sz="2000" dirty="0"/>
              <a:t>，</a:t>
            </a:r>
            <a:r>
              <a:rPr lang="en-US" altLang="zh-CN" sz="2000" dirty="0"/>
              <a:t> Boltzmann Kinetic theory of Gases</a:t>
            </a:r>
            <a:r>
              <a:rPr lang="zh-CN" altLang="en-US" sz="2000" dirty="0"/>
              <a:t>，</a:t>
            </a:r>
            <a:r>
              <a:rPr lang="en-US" altLang="zh-CN" sz="2000" dirty="0"/>
              <a:t>Statistical Mechanics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By 1900</a:t>
            </a:r>
            <a:r>
              <a:rPr lang="zh-CN" altLang="en-US" sz="2000" dirty="0"/>
              <a:t>，</a:t>
            </a:r>
            <a:r>
              <a:rPr lang="en-US" altLang="zh-CN" sz="2000" dirty="0"/>
              <a:t>most chemists and physicists believe the existence of atoms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1827, Robert Brown: Brownian motion of small particles suspended in water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1905, Einstein’s theory of Brownian motion, </a:t>
            </a:r>
            <a:r>
              <a:rPr lang="en-US" sz="2000" dirty="0"/>
              <a:t>1909 </a:t>
            </a:r>
            <a:r>
              <a:rPr lang="en-US" altLang="zh-CN" sz="2000" dirty="0"/>
              <a:t>Perrin’s experimental proof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3298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578" y="188640"/>
            <a:ext cx="8673921" cy="576064"/>
          </a:xfrm>
        </p:spPr>
        <p:txBody>
          <a:bodyPr/>
          <a:lstStyle/>
          <a:p>
            <a:r>
              <a:rPr lang="en-US" altLang="zh-CN" sz="2800" dirty="0">
                <a:solidFill>
                  <a:srgbClr val="0070C0"/>
                </a:solidFill>
              </a:rPr>
              <a:t>Dalton’s</a:t>
            </a:r>
            <a:r>
              <a:rPr lang="zh-CN" altLang="en-US" sz="2800" dirty="0">
                <a:solidFill>
                  <a:srgbClr val="0070C0"/>
                </a:solidFill>
              </a:rPr>
              <a:t> </a:t>
            </a:r>
            <a:r>
              <a:rPr lang="en-US" altLang="zh-CN" sz="2800" dirty="0">
                <a:solidFill>
                  <a:srgbClr val="0070C0"/>
                </a:solidFill>
              </a:rPr>
              <a:t>atomic theory (1803)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7503" y="887049"/>
            <a:ext cx="9829800" cy="5683371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All matter is made of atoms</a:t>
            </a:r>
          </a:p>
          <a:p>
            <a:r>
              <a:rPr lang="en-US" altLang="zh-CN" sz="2800" dirty="0"/>
              <a:t>Atoms of a given element are identical</a:t>
            </a:r>
          </a:p>
          <a:p>
            <a:r>
              <a:rPr lang="en-US" altLang="zh-CN" sz="2800" dirty="0"/>
              <a:t>Atoms of different elements have different properties</a:t>
            </a:r>
          </a:p>
          <a:p>
            <a:r>
              <a:rPr lang="en-US" sz="2800" dirty="0"/>
              <a:t>Compounds are formed by the combination of atoms in simple, whole-number ratios</a:t>
            </a:r>
          </a:p>
          <a:p>
            <a:r>
              <a:rPr lang="en-US" sz="2800" dirty="0"/>
              <a:t>Chemical reactions involve the rearrangement of atoms</a:t>
            </a:r>
          </a:p>
          <a:p>
            <a:r>
              <a:rPr lang="en-US" altLang="zh-CN" sz="2800" dirty="0"/>
              <a:t>Dalton’s Law of multiple proportions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748F9-C03D-4BA3-872A-10DB82A3D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8" y="5176341"/>
            <a:ext cx="6351594" cy="9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46611"/>
            <a:ext cx="8229600" cy="576064"/>
          </a:xfrm>
        </p:spPr>
        <p:txBody>
          <a:bodyPr/>
          <a:lstStyle/>
          <a:p>
            <a:r>
              <a:rPr lang="en-US" altLang="zh-CN" dirty="0"/>
              <a:t>Faraday’s Laws of Electrolysis (1833)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70243" y="764704"/>
                <a:ext cx="8651515" cy="16119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/>
                  <a:t>The mass of a substance deposited/dissolved at an electrode during electrolysis is directly proportional to the quantity of electric charge passed through the electrolyte: 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0243" y="764704"/>
                <a:ext cx="8651515" cy="1611930"/>
              </a:xfrm>
              <a:blipFill>
                <a:blip r:embed="rId2"/>
                <a:stretch>
                  <a:fillRect l="-1056" t="-3019" r="-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555" y="2719619"/>
            <a:ext cx="2705802" cy="117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18855" y="4735595"/>
            <a:ext cx="39057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54 g of Copper deposited 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silver rod in the right flask, how many grams of silver will be deposited on the copper rod in the left flask?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61770A-140B-48E7-B9A6-E260668847BF}"/>
              </a:ext>
            </a:extLst>
          </p:cNvPr>
          <p:cNvGrpSpPr/>
          <p:nvPr/>
        </p:nvGrpSpPr>
        <p:grpSpPr>
          <a:xfrm>
            <a:off x="1916796" y="2602052"/>
            <a:ext cx="4277882" cy="3649852"/>
            <a:chOff x="569144" y="2206496"/>
            <a:chExt cx="4277882" cy="364985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144" y="2206496"/>
              <a:ext cx="4277882" cy="3649852"/>
            </a:xfrm>
            <a:prstGeom prst="rect">
              <a:avLst/>
            </a:prstGeom>
          </p:spPr>
        </p:pic>
        <p:cxnSp>
          <p:nvCxnSpPr>
            <p:cNvPr id="7" name="Straight Arrow Connector 6"/>
            <p:cNvCxnSpPr/>
            <p:nvPr/>
          </p:nvCxnSpPr>
          <p:spPr>
            <a:xfrm>
              <a:off x="3721395" y="4997302"/>
              <a:ext cx="5847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721395" y="4627970"/>
              <a:ext cx="585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Cu</a:t>
              </a:r>
              <a:r>
                <a:rPr lang="en-US" altLang="zh-CN" baseline="30000" dirty="0"/>
                <a:t>2+</a:t>
              </a:r>
              <a:endParaRPr lang="zh-CN" altLang="en-US" baseline="30000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151861" y="4997302"/>
              <a:ext cx="5847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229293" y="462797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Ag</a:t>
              </a:r>
              <a:r>
                <a:rPr lang="en-US" altLang="zh-CN" baseline="30000" dirty="0"/>
                <a:t>+</a:t>
              </a:r>
              <a:endParaRPr lang="zh-CN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B37AD3-E862-4609-A96E-A9619C1A7B5F}"/>
                  </a:ext>
                </a:extLst>
              </p:cNvPr>
              <p:cNvSpPr txBox="1"/>
              <p:nvPr/>
            </p:nvSpPr>
            <p:spPr>
              <a:xfrm>
                <a:off x="6914554" y="4148271"/>
                <a:ext cx="2822952" cy="336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Cu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=64,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Ag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=108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B37AD3-E862-4609-A96E-A9619C1A7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54" y="4148271"/>
                <a:ext cx="2822952" cy="336759"/>
              </a:xfrm>
              <a:prstGeom prst="rect">
                <a:avLst/>
              </a:prstGeom>
              <a:blipFill>
                <a:blip r:embed="rId5"/>
                <a:stretch>
                  <a:fillRect l="-1512" r="-1728" b="-26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50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948C-3E3C-4593-996F-6ABF2C11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452" y="1096381"/>
            <a:ext cx="2532831" cy="576064"/>
          </a:xfrm>
        </p:spPr>
        <p:txBody>
          <a:bodyPr/>
          <a:lstStyle/>
          <a:p>
            <a:r>
              <a:rPr lang="en-US" altLang="zh-CN" dirty="0"/>
              <a:t>Mendeleev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1870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54775-9F5F-455E-A7DD-429365E6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49" y="0"/>
            <a:ext cx="6336876" cy="6858000"/>
          </a:xfrm>
          <a:prstGeom prst="rect">
            <a:avLst/>
          </a:prstGeom>
        </p:spPr>
      </p:pic>
      <p:pic>
        <p:nvPicPr>
          <p:cNvPr id="4" name="Picture 2" descr="为什么门捷列夫会成为元素周期表故事中的主角？|化学家|科学家|化学|伯特|科学_新浪新闻">
            <a:extLst>
              <a:ext uri="{FF2B5EF4-FFF2-40B4-BE49-F238E27FC236}">
                <a16:creationId xmlns:a16="http://schemas.microsoft.com/office/drawing/2014/main" id="{1A0067DF-2B06-4D2A-9464-C227D1189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28018" b="28893"/>
          <a:stretch/>
        </p:blipFill>
        <p:spPr bwMode="auto">
          <a:xfrm>
            <a:off x="1524001" y="2283417"/>
            <a:ext cx="2127735" cy="246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08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437E-5E99-423C-ADB5-D3FCBC96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2" y="133778"/>
            <a:ext cx="8623906" cy="576064"/>
          </a:xfrm>
        </p:spPr>
        <p:txBody>
          <a:bodyPr/>
          <a:lstStyle/>
          <a:p>
            <a:r>
              <a:rPr lang="en-US" altLang="zh-CN" sz="2800" dirty="0"/>
              <a:t>gas kinetics - Maxwell </a:t>
            </a:r>
            <a:r>
              <a:rPr lang="zh-CN" altLang="en-US" sz="2800" dirty="0"/>
              <a:t>速率分布 </a:t>
            </a:r>
            <a:r>
              <a:rPr lang="en-US" altLang="zh-CN" sz="2800" dirty="0"/>
              <a:t>(1860)</a:t>
            </a: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99E35-35C8-4076-B901-3FD634003178}"/>
              </a:ext>
            </a:extLst>
          </p:cNvPr>
          <p:cNvGrpSpPr/>
          <p:nvPr/>
        </p:nvGrpSpPr>
        <p:grpSpPr>
          <a:xfrm>
            <a:off x="1614791" y="739026"/>
            <a:ext cx="8921131" cy="2142568"/>
            <a:chOff x="90790" y="4648201"/>
            <a:chExt cx="8921131" cy="214256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B1CE8D1-0FF2-4F76-9E7D-31712B45E527}"/>
                </a:ext>
              </a:extLst>
            </p:cNvPr>
            <p:cNvGrpSpPr/>
            <p:nvPr/>
          </p:nvGrpSpPr>
          <p:grpSpPr>
            <a:xfrm>
              <a:off x="4666542" y="4648201"/>
              <a:ext cx="4169675" cy="2133400"/>
              <a:chOff x="4666542" y="4648201"/>
              <a:chExt cx="4169675" cy="213340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1DEED4A-E1F4-43E7-8CAD-41A6DF263ED8}"/>
                  </a:ext>
                </a:extLst>
              </p:cNvPr>
              <p:cNvGrpSpPr/>
              <p:nvPr/>
            </p:nvGrpSpPr>
            <p:grpSpPr>
              <a:xfrm>
                <a:off x="4666542" y="4686868"/>
                <a:ext cx="4169675" cy="2094733"/>
                <a:chOff x="4775594" y="834786"/>
                <a:chExt cx="4169675" cy="2094733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8A5A409-0885-4251-A346-304206020F33}"/>
                    </a:ext>
                  </a:extLst>
                </p:cNvPr>
                <p:cNvGrpSpPr/>
                <p:nvPr/>
              </p:nvGrpSpPr>
              <p:grpSpPr>
                <a:xfrm>
                  <a:off x="4775594" y="834786"/>
                  <a:ext cx="4051514" cy="1885249"/>
                  <a:chOff x="4894226" y="835058"/>
                  <a:chExt cx="4213781" cy="195901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79CEA1D5-9CF4-419C-9A63-2F51220A45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894226" y="835058"/>
                    <a:ext cx="4213781" cy="1955701"/>
                  </a:xfrm>
                  <a:prstGeom prst="rect">
                    <a:avLst/>
                  </a:prstGeom>
                </p:spPr>
              </p:pic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B8AD7442-ECA3-4F06-80EA-C591FECC76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18623" y="838369"/>
                    <a:ext cx="0" cy="1955701"/>
                  </a:xfrm>
                  <a:prstGeom prst="line">
                    <a:avLst/>
                  </a:prstGeom>
                  <a:ln w="9525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426DE80B-3FCF-4D5D-9C2F-39A7C48970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7773" y="2652520"/>
                      <a:ext cx="18114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426DE80B-3FCF-4D5D-9C2F-39A7C48970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7773" y="2652520"/>
                      <a:ext cx="181140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0000" r="-3000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1DF3312D-BB89-4F22-9516-7C4868B70C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67437" y="2571841"/>
                      <a:ext cx="2778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1DF3312D-BB89-4F22-9516-7C4868B70C3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67437" y="2571841"/>
                      <a:ext cx="277832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1111" r="-4444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" name="Callout: Line with No Border 7">
                <a:extLst>
                  <a:ext uri="{FF2B5EF4-FFF2-40B4-BE49-F238E27FC236}">
                    <a16:creationId xmlns:a16="http://schemas.microsoft.com/office/drawing/2014/main" id="{042408DB-3C8E-4B97-982C-0369C035CBCD}"/>
                  </a:ext>
                </a:extLst>
              </p:cNvPr>
              <p:cNvSpPr/>
              <p:nvPr/>
            </p:nvSpPr>
            <p:spPr>
              <a:xfrm>
                <a:off x="7163475" y="4648201"/>
                <a:ext cx="806719" cy="335809"/>
              </a:xfrm>
              <a:prstGeom prst="callout1">
                <a:avLst>
                  <a:gd name="adj1" fmla="val 62318"/>
                  <a:gd name="adj2" fmla="val 11310"/>
                  <a:gd name="adj3" fmla="val 63255"/>
                  <a:gd name="adj4" fmla="val -46774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Low 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Callout: Line with No Border 21">
                <a:extLst>
                  <a:ext uri="{FF2B5EF4-FFF2-40B4-BE49-F238E27FC236}">
                    <a16:creationId xmlns:a16="http://schemas.microsoft.com/office/drawing/2014/main" id="{3CBA23F3-B32B-4937-83F8-01FF47C72ECD}"/>
                  </a:ext>
                </a:extLst>
              </p:cNvPr>
              <p:cNvSpPr/>
              <p:nvPr/>
            </p:nvSpPr>
            <p:spPr>
              <a:xfrm>
                <a:off x="7751666" y="5622993"/>
                <a:ext cx="806719" cy="335809"/>
              </a:xfrm>
              <a:prstGeom prst="callout1">
                <a:avLst>
                  <a:gd name="adj1" fmla="val 102254"/>
                  <a:gd name="adj2" fmla="val 47024"/>
                  <a:gd name="adj3" fmla="val 185113"/>
                  <a:gd name="adj4" fmla="val 23145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High 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9B998E9-8A06-46E4-90D3-7076C5BCE01B}"/>
                    </a:ext>
                  </a:extLst>
                </p:cNvPr>
                <p:cNvSpPr txBox="1"/>
                <p:nvPr/>
              </p:nvSpPr>
              <p:spPr>
                <a:xfrm>
                  <a:off x="90790" y="4769371"/>
                  <a:ext cx="45015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probability density of a molecule having velocity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along any direction x:</a:t>
                  </a:r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9B998E9-8A06-46E4-90D3-7076C5BCE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90" y="4769371"/>
                  <a:ext cx="4501531" cy="646331"/>
                </a:xfrm>
                <a:prstGeom prst="rect">
                  <a:avLst/>
                </a:prstGeom>
                <a:blipFill>
                  <a:blip r:embed="rId10"/>
                  <a:stretch>
                    <a:fillRect l="-1220" t="-4717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27276F4A-4C08-4E7D-BBC9-A2AE27A895C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68311076"/>
                    </p:ext>
                  </p:extLst>
                </p:nvPr>
              </p:nvGraphicFramePr>
              <p:xfrm>
                <a:off x="1015778" y="5689720"/>
                <a:ext cx="2601912" cy="538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8" name="Equation" r:id="rId11" imgW="1473120" imgH="304560" progId="Equation.DSMT4">
                        <p:embed/>
                      </p:oleObj>
                    </mc:Choice>
                    <mc:Fallback>
                      <p:oleObj name="Equation" r:id="rId11" imgW="1473120" imgH="304560" progId="Equation.DSMT4">
                        <p:embed/>
                        <p:pic>
                          <p:nvPicPr>
                            <p:cNvPr id="4" name="Object 3">
                              <a:extLst>
                                <a:ext uri="{FF2B5EF4-FFF2-40B4-BE49-F238E27FC236}">
                                  <a16:creationId xmlns:a16="http://schemas.microsoft.com/office/drawing/2014/main" id="{27276F4A-4C08-4E7D-BBC9-A2AE27A895C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5778" y="5689720"/>
                              <a:ext cx="2601912" cy="538163"/>
                            </a:xfrm>
                            <a:prstGeom prst="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27276F4A-4C08-4E7D-BBC9-A2AE27A895C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68311076"/>
                    </p:ext>
                  </p:extLst>
                </p:nvPr>
              </p:nvGraphicFramePr>
              <p:xfrm>
                <a:off x="1015778" y="5689720"/>
                <a:ext cx="2601912" cy="538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4" name="Equation" r:id="rId13" imgW="1473120" imgH="304560" progId="Equation.DSMT4">
                        <p:embed/>
                      </p:oleObj>
                    </mc:Choice>
                    <mc:Fallback>
                      <p:oleObj name="Equation" r:id="rId13" imgW="1473120" imgH="304560" progId="Equation.DSMT4">
                        <p:embed/>
                        <p:pic>
                          <p:nvPicPr>
                            <p:cNvPr id="4" name="Object 3">
                              <a:extLst>
                                <a:ext uri="{FF2B5EF4-FFF2-40B4-BE49-F238E27FC236}">
                                  <a16:creationId xmlns:a16="http://schemas.microsoft.com/office/drawing/2014/main" id="{27276F4A-4C08-4E7D-BBC9-A2AE27A895C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5778" y="5689720"/>
                              <a:ext cx="2601912" cy="538163"/>
                            </a:xfrm>
                            <a:prstGeom prst="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C7EFF2F-D8C0-4D8E-9076-29C7CD799DE5}"/>
                </a:ext>
              </a:extLst>
            </p:cNvPr>
            <p:cNvCxnSpPr>
              <a:cxnSpLocks/>
            </p:cNvCxnSpPr>
            <p:nvPr/>
          </p:nvCxnSpPr>
          <p:spPr>
            <a:xfrm>
              <a:off x="172722" y="6790769"/>
              <a:ext cx="8839199" cy="0"/>
            </a:xfrm>
            <a:prstGeom prst="line">
              <a:avLst/>
            </a:pr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7801B-BBD6-43ED-8938-9239DB39FD15}"/>
              </a:ext>
            </a:extLst>
          </p:cNvPr>
          <p:cNvGrpSpPr/>
          <p:nvPr/>
        </p:nvGrpSpPr>
        <p:grpSpPr>
          <a:xfrm>
            <a:off x="1614791" y="3065515"/>
            <a:ext cx="8812957" cy="3510081"/>
            <a:chOff x="-51287" y="689428"/>
            <a:chExt cx="8812957" cy="351008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2BAF5A5-3B69-458E-BB37-826EB2394E9E}"/>
                </a:ext>
              </a:extLst>
            </p:cNvPr>
            <p:cNvGrpSpPr/>
            <p:nvPr/>
          </p:nvGrpSpPr>
          <p:grpSpPr>
            <a:xfrm>
              <a:off x="98175" y="689428"/>
              <a:ext cx="4564648" cy="2796083"/>
              <a:chOff x="0" y="1874434"/>
              <a:chExt cx="4508655" cy="281423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E983438-44D8-4992-AF0C-05CD71378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1874434"/>
                <a:ext cx="4508655" cy="2814239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709C40-EC3A-4DDB-A79C-802A2BB652DB}"/>
                  </a:ext>
                </a:extLst>
              </p:cNvPr>
              <p:cNvSpPr/>
              <p:nvPr/>
            </p:nvSpPr>
            <p:spPr>
              <a:xfrm>
                <a:off x="1668766" y="4398042"/>
                <a:ext cx="764490" cy="2056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Speed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AECDA8-FDBD-403B-9E5A-0A0091063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2823" y="849044"/>
              <a:ext cx="4098847" cy="2636467"/>
            </a:xfrm>
            <a:prstGeom prst="rect">
              <a:avLst/>
            </a:prstGeom>
            <a:solidFill>
              <a:schemeClr val="bg1"/>
            </a:solidFill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442DF38-161B-43AB-A6F3-A9E2A490B0DF}"/>
                    </a:ext>
                  </a:extLst>
                </p:cNvPr>
                <p:cNvSpPr txBox="1"/>
                <p:nvPr/>
              </p:nvSpPr>
              <p:spPr>
                <a:xfrm>
                  <a:off x="-51287" y="3722711"/>
                  <a:ext cx="48735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Probability density of a molecule having speed </a:t>
                  </a:r>
                  <a14:m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442DF38-161B-43AB-A6F3-A9E2A490B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1287" y="3722711"/>
                  <a:ext cx="4873558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126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Object 4">
                  <a:extLst>
                    <a:ext uri="{FF2B5EF4-FFF2-40B4-BE49-F238E27FC236}">
                      <a16:creationId xmlns:a16="http://schemas.microsoft.com/office/drawing/2014/main" id="{F52D2090-3DC4-42EE-B438-6C9A1744C57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1408113"/>
                    </p:ext>
                  </p:extLst>
                </p:nvPr>
              </p:nvGraphicFramePr>
              <p:xfrm>
                <a:off x="4895870" y="3701034"/>
                <a:ext cx="2528887" cy="498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9" name="Equation" r:id="rId18" imgW="1549080" imgH="304560" progId="Equation.DSMT4">
                        <p:embed/>
                      </p:oleObj>
                    </mc:Choice>
                    <mc:Fallback>
                      <p:oleObj name="Equation" r:id="rId18" imgW="1549080" imgH="304560" progId="Equation.DSMT4">
                        <p:embed/>
                        <p:pic>
                          <p:nvPicPr>
                            <p:cNvPr id="5" name="Object 4">
                              <a:extLst>
                                <a:ext uri="{FF2B5EF4-FFF2-40B4-BE49-F238E27FC236}">
                                  <a16:creationId xmlns:a16="http://schemas.microsoft.com/office/drawing/2014/main" id="{F52D2090-3DC4-42EE-B438-6C9A1744C57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895870" y="3701034"/>
                              <a:ext cx="2528887" cy="498475"/>
                            </a:xfrm>
                            <a:prstGeom prst="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" name="Object 4">
                  <a:extLst>
                    <a:ext uri="{FF2B5EF4-FFF2-40B4-BE49-F238E27FC236}">
                      <a16:creationId xmlns:a16="http://schemas.microsoft.com/office/drawing/2014/main" id="{F52D2090-3DC4-42EE-B438-6C9A1744C57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1408113"/>
                    </p:ext>
                  </p:extLst>
                </p:nvPr>
              </p:nvGraphicFramePr>
              <p:xfrm>
                <a:off x="4895870" y="3701034"/>
                <a:ext cx="2528887" cy="498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5" name="Equation" r:id="rId19" imgW="1549080" imgH="304560" progId="Equation.DSMT4">
                        <p:embed/>
                      </p:oleObj>
                    </mc:Choice>
                    <mc:Fallback>
                      <p:oleObj name="Equation" r:id="rId19" imgW="1549080" imgH="304560" progId="Equation.DSMT4">
                        <p:embed/>
                        <p:pic>
                          <p:nvPicPr>
                            <p:cNvPr id="5" name="Object 4">
                              <a:extLst>
                                <a:ext uri="{FF2B5EF4-FFF2-40B4-BE49-F238E27FC236}">
                                  <a16:creationId xmlns:a16="http://schemas.microsoft.com/office/drawing/2014/main" id="{F52D2090-3DC4-42EE-B438-6C9A1744C57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895870" y="3701034"/>
                              <a:ext cx="2528887" cy="498475"/>
                            </a:xfrm>
                            <a:prstGeom prst="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9044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047" y="250922"/>
            <a:ext cx="3538848" cy="1008564"/>
          </a:xfrm>
        </p:spPr>
        <p:txBody>
          <a:bodyPr/>
          <a:lstStyle/>
          <a:p>
            <a:r>
              <a:rPr lang="en-US" altLang="zh-CN" dirty="0"/>
              <a:t>Brownian motion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047" y="2403566"/>
            <a:ext cx="9756842" cy="42035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1827 Brown: Jiggling of pollens suspended in water,.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Folks including Boltzmann believe it is caused by collisions of water molecules with the suspended particles.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1905 Einstein’s PhD thesis made the first quantitative study of this phenomena. Three year’s later his theory was experimentally confirmed by Perrin (1926 Nobel Prize).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1FF4D-D1AD-4F7D-B7F9-667506BD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093" y="250922"/>
            <a:ext cx="1967535" cy="1921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9096A-198B-4BCD-B7FC-6B485996D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151" y="250922"/>
            <a:ext cx="2802630" cy="192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D1DB4-3E33-4BA1-8C1A-543F0DC9A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8679" y="266700"/>
                <a:ext cx="10025743" cy="625864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Van’t Hoff law (1901 NP for Chem) </a:t>
                </a:r>
                <a:r>
                  <a:rPr lang="zh-CN" altLang="en-US" sz="2800" dirty="0"/>
                  <a:t>：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𝑛𝑅𝑇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  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osmotic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pressure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of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ideal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sz="2800" b="0" i="0" dirty="0" smtClean="0"/>
                        <m:t>liquid</m:t>
                      </m:r>
                      <m:r>
                        <m:rPr>
                          <m:nor/>
                        </m:rPr>
                        <a:rPr lang="en-US" altLang="zh-CN" sz="2800" dirty="0"/>
                        <m:t>,    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molar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density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In his PhD thesis, Einstein described a new theoretical method for determining molecular radii and Avogadro's number.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D1DB4-3E33-4BA1-8C1A-543F0DC9A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8679" y="266700"/>
                <a:ext cx="10025743" cy="6258644"/>
              </a:xfrm>
              <a:blipFill>
                <a:blip r:embed="rId3"/>
                <a:stretch>
                  <a:fillRect l="-1033" r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9BEFC8-5EAE-4FBE-8BCF-A06A6F57A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666" y="1588012"/>
            <a:ext cx="8341768" cy="36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21A5-1F41-4575-B770-F14DF451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Perrin’s experiment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10734F-043D-45A3-8442-915A5C39D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40" y="764704"/>
            <a:ext cx="7233291" cy="5367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8012F0-8CB3-487D-A557-77099D3C2A1F}"/>
                  </a:ext>
                </a:extLst>
              </p:cNvPr>
              <p:cNvSpPr txBox="1"/>
              <p:nvPr/>
            </p:nvSpPr>
            <p:spPr>
              <a:xfrm>
                <a:off x="6259286" y="4597317"/>
                <a:ext cx="458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8012F0-8CB3-487D-A557-77099D3C2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286" y="4597317"/>
                <a:ext cx="4587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69C08E-9344-4B38-A2E5-AAB282ABD4D9}"/>
                  </a:ext>
                </a:extLst>
              </p:cNvPr>
              <p:cNvSpPr txBox="1"/>
              <p:nvPr/>
            </p:nvSpPr>
            <p:spPr>
              <a:xfrm>
                <a:off x="5735553" y="6268269"/>
                <a:ext cx="15062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𝐷𝑡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69C08E-9344-4B38-A2E5-AAB282ABD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553" y="6268269"/>
                <a:ext cx="1506246" cy="369332"/>
              </a:xfrm>
              <a:prstGeom prst="rect">
                <a:avLst/>
              </a:prstGeom>
              <a:blipFill>
                <a:blip r:embed="rId4"/>
                <a:stretch>
                  <a:fillRect r="-4049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2070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的构成&amp;quot;&quot;/&gt;&lt;property id=&quot;20307&quot; value=&quot;256&quot;/&gt;&lt;/object&gt;&lt;object type=&quot;3&quot; unique_id=&quot;10089&quot;&gt;&lt;property id=&quot;20148&quot; value=&quot;5&quot;/&gt;&lt;property id=&quot;20300&quot; value=&quot;Slide 2 - &amp;quot;“原子论”的起源&amp;quot;&quot;/&gt;&lt;property id=&quot;20307&quot; value=&quot;272&quot;/&gt;&lt;/object&gt;&lt;object type=&quot;3&quot; unique_id=&quot;10090&quot;&gt;&lt;property id=&quot;20148&quot; value=&quot;5&quot;/&gt;&lt;property id=&quot;20300&quot; value=&quot;Slide 8 - &amp;quot;阴极射线是什么物质？&amp;quot;&quot;/&gt;&lt;property id=&quot;20307&quot; value=&quot;270&quot;/&gt;&lt;/object&gt;&lt;object type=&quot;3&quot; unique_id=&quot;10091&quot;&gt;&lt;property id=&quot;20148&quot; value=&quot;5&quot;/&gt;&lt;property id=&quot;20300&quot; value=&quot;Slide 9 - &amp;quot;J.J Thomson&amp;quot;&quot;/&gt;&lt;property id=&quot;20307&quot; value=&quot;281&quot;/&gt;&lt;/object&gt;&lt;object type=&quot;3&quot; unique_id=&quot;10092&quot;&gt;&lt;property id=&quot;20148&quot; value=&quot;5&quot;/&gt;&lt;property id=&quot;20300&quot; value=&quot;Slide 7 - &amp;quot;阴极射线（cathode ray）&amp;quot;&quot;/&gt;&lt;property id=&quot;20307&quot; value=&quot;282&quot;/&gt;&lt;/object&gt;&lt;object type=&quot;3&quot; unique_id=&quot;10094&quot;&gt;&lt;property id=&quot;20148&quot; value=&quot;5&quot;/&gt;&lt;property id=&quot;20300&quot; value=&quot;Slide 10 - &amp;quot;Thomson的阴极射线实验（1897）&amp;quot;&quot;/&gt;&lt;property id=&quot;20307&quot; value=&quot;268&quot;/&gt;&lt;/object&gt;&lt;object type=&quot;3&quot; unique_id=&quot;10095&quot;&gt;&lt;property id=&quot;20148&quot; value=&quot;5&quot;/&gt;&lt;property id=&quot;20300&quot; value=&quot;Slide 13 - &amp;quot;电子的电量 - Millikan油滴实验（1910）&amp;quot;&quot;/&gt;&lt;property id=&quot;20307&quot; value=&quot;278&quot;/&gt;&lt;/object&gt;&lt;object type=&quot;3&quot; unique_id=&quot;10096&quot;&gt;&lt;property id=&quot;20148&quot; value=&quot;5&quot;/&gt;&lt;property id=&quot;20300&quot; value=&quot;Slide 15 - &amp;quot;Millikan油滴实验&amp;quot;&quot;/&gt;&lt;property id=&quot;20307&quot; value=&quot;269&quot;/&gt;&lt;/object&gt;&lt;object type=&quot;3&quot; unique_id=&quot;10140&quot;&gt;&lt;property id=&quot;20148&quot; value=&quot;5&quot;/&gt;&lt;property id=&quot;20300&quot; value=&quot;Slide 3 - &amp;quot;Dalton的倍比定律(1808)&amp;quot;&quot;/&gt;&lt;property id=&quot;20307&quot; value=&quot;283&quot;/&gt;&lt;/object&gt;&lt;object type=&quot;3&quot; unique_id=&quot;10141&quot;&gt;&lt;property id=&quot;20148&quot; value=&quot;5&quot;/&gt;&lt;property id=&quot;20300&quot; value=&quot;Slide 11 - &amp;quot;电子荷质比的测量&amp;quot;&quot;/&gt;&lt;property id=&quot;20307&quot; value=&quot;286&quot;/&gt;&lt;/object&gt;&lt;object type=&quot;3&quot; unique_id=&quot;10142&quot;&gt;&lt;property id=&quot;20148&quot; value=&quot;5&quot;/&gt;&lt;property id=&quot;20300&quot; value=&quot;Slide 12 - &amp;quot;一种新的粒子：电子&amp;quot;&quot;/&gt;&lt;property id=&quot;20307&quot; value=&quot;285&quot;/&gt;&lt;/object&gt;&lt;object type=&quot;3&quot; unique_id=&quot;10144&quot;&gt;&lt;property id=&quot;20148&quot; value=&quot;5&quot;/&gt;&lt;property id=&quot;20300&quot; value=&quot;Slide 16 - &amp;quot;原子核的发现&amp;quot;&quot;/&gt;&lt;property id=&quot;20307&quot; value=&quot;288&quot;/&gt;&lt;/object&gt;&lt;object type=&quot;3&quot; unique_id=&quot;10145&quot;&gt;&lt;property id=&quot;20148&quot; value=&quot;5&quot;/&gt;&lt;property id=&quot;20300&quot; value=&quot;Slide 21 - &amp;quot;Rutherford模型提出的背景&amp;quot;&quot;/&gt;&lt;property id=&quot;20307&quot; value=&quot;290&quot;/&gt;&lt;/object&gt;&lt;object type=&quot;3&quot; unique_id=&quot;10146&quot;&gt;&lt;property id=&quot;20148&quot; value=&quot;5&quot;/&gt;&lt;property id=&quot;20300&quot; value=&quot;Slide 27 - &amp;quot;库伦散射公式&amp;quot;&quot;/&gt;&lt;property id=&quot;20307&quot; value=&quot;287&quot;/&gt;&lt;/object&gt;&lt;object type=&quot;3&quot; unique_id=&quot;10249&quot;&gt;&lt;property id=&quot;20148&quot; value=&quot;5&quot;/&gt;&lt;property id=&quot;20300&quot; value=&quot;Slide 20 - &amp;quot;Alpha, Beta and Gamma rays&amp;quot;&quot;/&gt;&lt;property id=&quot;20307&quot; value=&quot;293&quot;/&gt;&lt;/object&gt;&lt;object type=&quot;3&quot; unique_id=&quot;10250&quot;&gt;&lt;property id=&quot;20148&quot; value=&quot;5&quot;/&gt;&lt;property id=&quot;20300&quot; value=&quot;Slide 22 - &amp;quot;卢瑟福-Geiger-Marsden实验(1909)&amp;quot;&quot;/&gt;&lt;property id=&quot;20307&quot; value=&quot;295&quot;/&gt;&lt;/object&gt;&lt;object type=&quot;3&quot; unique_id=&quot;10251&quot;&gt;&lt;property id=&quot;20148&quot; value=&quot;5&quot;/&gt;&lt;property id=&quot;20300&quot; value=&quot;Slide 23 - &amp;quot;实验结果&amp;quot;&quot;/&gt;&lt;property id=&quot;20307&quot; value=&quot;300&quot;/&gt;&lt;/object&gt;&lt;object type=&quot;3&quot; unique_id=&quot;10252&quot;&gt;&lt;property id=&quot;20148&quot; value=&quot;5&quot;/&gt;&lt;property id=&quot;20300&quot; value=&quot;Slide 24 - &amp;quot;实验结果和Thomson模型的冲突&amp;quot;&quot;/&gt;&lt;property id=&quot;20307&quot; value=&quot;302&quot;/&gt;&lt;/object&gt;&lt;object type=&quot;3&quot; unique_id=&quot;10253&quot;&gt;&lt;property id=&quot;20148&quot; value=&quot;5&quot;/&gt;&lt;property id=&quot;20300&quot; value=&quot;Slide 25 - &amp;quot;卢瑟福模型（1911）&amp;quot;&quot;/&gt;&lt;property id=&quot;20307&quot; value=&quot;294&quot;/&gt;&lt;/object&gt;&lt;object type=&quot;3&quot; unique_id=&quot;10254&quot;&gt;&lt;property id=&quot;20148&quot; value=&quot;5&quot;/&gt;&lt;property id=&quot;20300&quot; value=&quot;Slide 29 - &amp;quot;被散射粒子数的计算&amp;quot;&quot;/&gt;&lt;property id=&quot;20307&quot; value=&quot;303&quot;/&gt;&lt;/object&gt;&lt;object type=&quot;3&quot; unique_id=&quot;10255&quot;&gt;&lt;property id=&quot;20148&quot; value=&quot;5&quot;/&gt;&lt;property id=&quot;20300&quot; value=&quot;Slide 28 - &amp;quot;微分散射截面&amp;quot;&quot;/&gt;&lt;property id=&quot;20307&quot; value=&quot;297&quot;/&gt;&lt;/object&gt;&lt;object type=&quot;3&quot; unique_id=&quot;10256&quot;&gt;&lt;property id=&quot;20148&quot; value=&quot;5&quot;/&gt;&lt;property id=&quot;20300&quot; value=&quot;Slide 30&quot;/&gt;&lt;property id=&quot;20307&quot; value=&quot;301&quot;/&gt;&lt;/object&gt;&lt;object type=&quot;3&quot; unique_id=&quot;10257&quot;&gt;&lt;property id=&quot;20148&quot; value=&quot;5&quot;/&gt;&lt;property id=&quot;20300&quot; value=&quot;Slide 31 - &amp;quot;问题&amp;quot;&quot;/&gt;&lt;property id=&quot;20307&quot; value=&quot;298&quot;/&gt;&lt;/object&gt;&lt;object type=&quot;3&quot; unique_id=&quot;10258&quot;&gt;&lt;property id=&quot;20148&quot; value=&quot;5&quot;/&gt;&lt;property id=&quot;20300&quot; value=&quot;Slide 32 - &amp;quot;作业&amp;quot;&quot;/&gt;&lt;property id=&quot;20307&quot; value=&quot;296&quot;/&gt;&lt;/object&gt;&lt;object type=&quot;3&quot; unique_id=&quot;10609&quot;&gt;&lt;property id=&quot;20148&quot; value=&quot;5&quot;/&gt;&lt;property id=&quot;20300&quot; value=&quot;Slide 26 - &amp;quot;卢瑟福模型&amp;quot;&quot;/&gt;&lt;property id=&quot;20307&quot; value=&quot;304&quot;/&gt;&lt;/object&gt;&lt;object type=&quot;3&quot; unique_id=&quot;10646&quot;&gt;&lt;property id=&quot;20148&quot; value=&quot;5&quot;/&gt;&lt;property id=&quot;20300&quot; value=&quot;Slide 6 - &amp;quot;电子的发现&amp;quot;&quot;/&gt;&lt;property id=&quot;20307&quot; value=&quot;305&quot;/&gt;&lt;/object&gt;&lt;object type=&quot;3&quot; unique_id=&quot;10647&quot;&gt;&lt;property id=&quot;20148&quot; value=&quot;5&quot;/&gt;&lt;property id=&quot;20300&quot; value=&quot;Slide 19 - &amp;quot;原子的放射性&amp;quot;&quot;/&gt;&lt;property id=&quot;20307&quot; value=&quot;306&quot;/&gt;&lt;/object&gt;&lt;object type=&quot;3&quot; unique_id=&quot;10990&quot;&gt;&lt;property id=&quot;20148&quot; value=&quot;5&quot;/&gt;&lt;property id=&quot;20300&quot; value=&quot;Slide 5 - &amp;quot;法拉第点解实验(1833)&amp;quot;&quot;/&gt;&lt;property id=&quot;20307&quot; value=&quot;307&quot;/&gt;&lt;/object&gt;&lt;object type=&quot;3&quot; unique_id=&quot;11059&quot;&gt;&lt;property id=&quot;20148&quot; value=&quot;5&quot;/&gt;&lt;property id=&quot;20300&quot; value=&quot;Slide 4 - &amp;quot;布朗运动（Brownian motion)&amp;quot;&quot;/&gt;&lt;property id=&quot;20307&quot; value=&quot;308&quot;/&gt;&lt;/object&gt;&lt;object type=&quot;3&quot; unique_id=&quot;11291&quot;&gt;&lt;property id=&quot;20148&quot; value=&quot;5&quot;/&gt;&lt;property id=&quot;20300&quot; value=&quot;Slide 17 - &amp;quot;原子的大小&amp;quot;&quot;/&gt;&lt;property id=&quot;20307&quot; value=&quot;309&quot;/&gt;&lt;/object&gt;&lt;object type=&quot;3&quot; unique_id=&quot;11331&quot;&gt;&lt;property id=&quot;20148&quot; value=&quot;5&quot;/&gt;&lt;property id=&quot;20300&quot; value=&quot;Slide 14 - &amp;quot;油滴实验的简化模型&amp;quot;&quot;/&gt;&lt;property id=&quot;20307&quot; value=&quot;310&quot;/&gt;&lt;/object&gt;&lt;object type=&quot;3&quot; unique_id=&quot;11332&quot;&gt;&lt;property id=&quot;20148&quot; value=&quot;5&quot;/&gt;&lt;property id=&quot;20300&quot; value=&quot;Slide 18 - &amp;quot;Thomson的原子模型&amp;quot;&quot;/&gt;&lt;property id=&quot;20307&quot; value=&quot;311&quot;/&gt;&lt;/object&gt;&lt;object type=&quot;3&quot; unique_id=&quot;11435&quot;&gt;&lt;property id=&quot;20148&quot; value=&quot;5&quot;/&gt;&lt;property id=&quot;20300&quot; value=&quot;Slide 33 - &amp;quot;质心坐标系和实验室坐标系的转换&amp;quot;&quot;/&gt;&lt;property id=&quot;20307&quot; value=&quot;312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7882</TotalTime>
  <Words>458</Words>
  <Application>Microsoft Office PowerPoint</Application>
  <PresentationFormat>Widescreen</PresentationFormat>
  <Paragraphs>60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Office Theme</vt:lpstr>
      <vt:lpstr>Equation</vt:lpstr>
      <vt:lpstr>PowerPoint Presentation</vt:lpstr>
      <vt:lpstr>The constituents of an atom</vt:lpstr>
      <vt:lpstr>The scientic development atomic theory</vt:lpstr>
      <vt:lpstr>Dalton’s atomic theory (1803)</vt:lpstr>
      <vt:lpstr>Faraday’s Laws of Electrolysis (1833)</vt:lpstr>
      <vt:lpstr>Mendeleev （1870）</vt:lpstr>
      <vt:lpstr>gas kinetics - Maxwell 速率分布 (1860)</vt:lpstr>
      <vt:lpstr>Brownian motion</vt:lpstr>
      <vt:lpstr>PowerPoint Presentation</vt:lpstr>
      <vt:lpstr>Perrin’s 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Zhao KF</cp:lastModifiedBy>
  <cp:revision>406</cp:revision>
  <cp:lastPrinted>2022-01-15T07:37:23Z</cp:lastPrinted>
  <dcterms:created xsi:type="dcterms:W3CDTF">2013-05-26T05:06:15Z</dcterms:created>
  <dcterms:modified xsi:type="dcterms:W3CDTF">2026-09-10T14:43:59Z</dcterms:modified>
</cp:coreProperties>
</file>