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handoutMasterIdLst>
    <p:handoutMasterId r:id="rId16"/>
  </p:handoutMasterIdLst>
  <p:sldIdLst>
    <p:sldId id="316" r:id="rId2"/>
    <p:sldId id="265" r:id="rId3"/>
    <p:sldId id="305" r:id="rId4"/>
    <p:sldId id="282" r:id="rId5"/>
    <p:sldId id="270" r:id="rId6"/>
    <p:sldId id="281" r:id="rId7"/>
    <p:sldId id="268" r:id="rId8"/>
    <p:sldId id="286" r:id="rId9"/>
    <p:sldId id="285" r:id="rId10"/>
    <p:sldId id="259" r:id="rId11"/>
    <p:sldId id="278" r:id="rId12"/>
    <p:sldId id="313" r:id="rId13"/>
    <p:sldId id="269" r:id="rId14"/>
  </p:sldIdLst>
  <p:sldSz cx="12192000" cy="6858000"/>
  <p:notesSz cx="7099300" cy="10234613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原子的内部结构" id="{E99E6D92-1C73-4C66-9C54-2FFE0305DAB5}">
          <p14:sldIdLst>
            <p14:sldId id="316"/>
            <p14:sldId id="265"/>
          </p14:sldIdLst>
        </p14:section>
        <p14:section name="电子的发现" id="{39824109-CF22-4E09-895E-37E35FF803C3}">
          <p14:sldIdLst>
            <p14:sldId id="305"/>
            <p14:sldId id="282"/>
            <p14:sldId id="270"/>
            <p14:sldId id="281"/>
            <p14:sldId id="268"/>
            <p14:sldId id="286"/>
            <p14:sldId id="285"/>
            <p14:sldId id="259"/>
            <p14:sldId id="278"/>
            <p14:sldId id="313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66" autoAdjust="0"/>
  </p:normalViewPr>
  <p:slideViewPr>
    <p:cSldViewPr snapToGrid="0">
      <p:cViewPr varScale="1">
        <p:scale>
          <a:sx n="102" d="100"/>
          <a:sy n="102" d="100"/>
        </p:scale>
        <p:origin x="114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-2539" y="-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74E700DE-9542-441E-A0CA-0B555B931B56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544316E-BE47-47B1-A399-352D9B075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004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06387D0-1216-4FA3-AF01-EA63AC44C2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08A642B-1D08-47C1-9385-1FDD33F8C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126/science.32.822.436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20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</a:t>
            </a:r>
            <a:r>
              <a:rPr lang="en-US" dirty="0"/>
              <a:t>The production of vacuums has dominated physical research for over 100 years, and all the advances in investigation of the atom were coupled with advances in vacuum technology. </a:t>
            </a:r>
            <a:r>
              <a:rPr lang="zh-CN" altLang="en-US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70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64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Cavendish</a:t>
            </a:r>
            <a:r>
              <a:rPr lang="en-US" altLang="zh-CN" baseline="0" dirty="0"/>
              <a:t> had 29 Nobel laureates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66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 was the first one found that cathode rays can be bent by a electric field. This requires higher vacuum otherwise the residue air inside crook tubes conducts electricity.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5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氢离子的荷质比可由法拉第点解实验测得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7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800" b="0" dirty="0">
                <a:latin typeface="宋体" panose="02010600030101010101" pitchFamily="2" charset="-122"/>
                <a:ea typeface="宋体" panose="02010600030101010101" pitchFamily="2" charset="-122"/>
              </a:rPr>
              <a:t>Thomson</a:t>
            </a:r>
            <a:r>
              <a:rPr lang="zh-CN" altLang="en-US" sz="800" b="0" dirty="0">
                <a:latin typeface="宋体" panose="02010600030101010101" pitchFamily="2" charset="-122"/>
                <a:ea typeface="宋体" panose="02010600030101010101" pitchFamily="2" charset="-122"/>
              </a:rPr>
              <a:t>在发现了第一种亚原子粒子</a:t>
            </a:r>
            <a:r>
              <a:rPr lang="en-US" altLang="zh-CN" sz="800" b="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800" b="0" dirty="0">
                <a:latin typeface="宋体" panose="02010600030101010101" pitchFamily="2" charset="-122"/>
                <a:ea typeface="宋体" panose="02010600030101010101" pitchFamily="2" charset="-122"/>
              </a:rPr>
              <a:t>电子后，就提出了一个原子模型。在那个年代人们刚刚开始接受原子的概念，对原子的图像还是非常模糊的。</a:t>
            </a:r>
            <a:endParaRPr lang="en-US" altLang="zh-CN" sz="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Thomson</a:t>
            </a:r>
            <a:r>
              <a:rPr lang="zh-CN" altLang="en-US" sz="800" b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认为：由于原子是中性的，电子带负电且质量很小，大约只有氢原子的</a:t>
            </a:r>
            <a:r>
              <a:rPr lang="en-US" altLang="zh-CN" sz="800" b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1800</a:t>
            </a:r>
            <a:r>
              <a:rPr lang="zh-CN" altLang="en-US" sz="800" b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分之一。原子中应该及质量更大的物质，并且携带和电子总电量相等的正电荷。他认为这些正电荷是均匀分布在这中大质量物质里的。</a:t>
            </a:r>
            <a:r>
              <a:rPr lang="zh-CN" altLang="en-US" sz="800" b="0" dirty="0">
                <a:latin typeface="宋体" panose="02010600030101010101" pitchFamily="2" charset="-122"/>
                <a:ea typeface="宋体" panose="02010600030101010101" pitchFamily="2" charset="-122"/>
              </a:rPr>
              <a:t>这就是</a:t>
            </a:r>
            <a:r>
              <a:rPr lang="en-US" altLang="zh-CN" sz="800" b="0" dirty="0">
                <a:latin typeface="宋体" panose="02010600030101010101" pitchFamily="2" charset="-122"/>
                <a:ea typeface="宋体" panose="02010600030101010101" pitchFamily="2" charset="-122"/>
              </a:rPr>
              <a:t>Thomson</a:t>
            </a:r>
            <a:r>
              <a:rPr lang="zh-CN" altLang="en-US" sz="800" b="0" dirty="0">
                <a:latin typeface="宋体" panose="02010600030101010101" pitchFamily="2" charset="-122"/>
                <a:ea typeface="宋体" panose="02010600030101010101" pitchFamily="2" charset="-122"/>
              </a:rPr>
              <a:t>的原子模型，也称葡萄干布丁模型。 </a:t>
            </a:r>
            <a:endParaRPr lang="en-US" altLang="zh-CN" sz="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55099-1E2D-467F-BD8A-F48841F916F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278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dirty="0"/>
              <a:t>R. A. Millikan, “The Isolation of an Ion, a Precision Measurement of its Charge, and the Correction of </a:t>
            </a:r>
            <a:r>
              <a:rPr lang="en-US" sz="1300" dirty="0" err="1"/>
              <a:t>Stokes’s</a:t>
            </a:r>
            <a:r>
              <a:rPr lang="en-US" sz="1300" dirty="0"/>
              <a:t> Law,” </a:t>
            </a:r>
            <a:r>
              <a:rPr lang="en-US" sz="1300" b="1" dirty="0">
                <a:hlinkClick r:id="rId3"/>
              </a:rPr>
              <a:t>Science 32, 436 (1910)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67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80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5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 baseline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spcBef>
                <a:spcPts val="1200"/>
              </a:spcBef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spcBef>
                <a:spcPts val="1200"/>
              </a:spcBef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spcBef>
                <a:spcPts val="1200"/>
              </a:spcBef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spcBef>
                <a:spcPts val="1200"/>
              </a:spcBef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</a:t>
            </a:r>
            <a:r>
              <a:rPr lang="zh-CN" altLang="en-US" dirty="0"/>
              <a:t>编辑 </a:t>
            </a:r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5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0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hyperlink" Target="https://socratic.org/questions/how-did-rutherford-s-gold-foil-experiment-disprove-the-plum-pudding-mode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3.png"/><Relationship Id="rId18" Type="http://schemas.openxmlformats.org/officeDocument/2006/relationships/image" Target="../media/image24.png"/><Relationship Id="rId3" Type="http://schemas.openxmlformats.org/officeDocument/2006/relationships/image" Target="../media/image171.png"/><Relationship Id="rId7" Type="http://schemas.openxmlformats.org/officeDocument/2006/relationships/image" Target="../media/image180.png"/><Relationship Id="rId12" Type="http://schemas.openxmlformats.org/officeDocument/2006/relationships/hyperlink" Target="https://en.wikipedia.org/wiki/Stokes's_law" TargetMode="External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6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19" Type="http://schemas.openxmlformats.org/officeDocument/2006/relationships/image" Target="../media/image28.png"/><Relationship Id="rId4" Type="http://schemas.openxmlformats.org/officeDocument/2006/relationships/image" Target="../media/image181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ac.stanford.edu/exp/mps/FCS/FCS_rslt.ht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B7C5BA-A250-4935-8769-DFAE0E7C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666" y="528511"/>
            <a:ext cx="5374328" cy="553550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F2857A-8F73-4338-879E-49D14DBAB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361" y="1895289"/>
            <a:ext cx="3855937" cy="35986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Atoms under the electron microscope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58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09408"/>
            <a:ext cx="8229600" cy="534385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C00000"/>
                </a:solidFill>
              </a:rPr>
              <a:t>atom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indivisible, can not be divided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en-US" dirty="0">
              <a:solidFill>
                <a:srgbClr val="0070C0"/>
              </a:solidFill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i="1" dirty="0">
                <a:solidFill>
                  <a:srgbClr val="C00000"/>
                </a:solidFill>
              </a:rPr>
              <a:t>a-, an-</a:t>
            </a:r>
            <a:r>
              <a:rPr lang="en-US" dirty="0"/>
              <a:t>:</a:t>
            </a:r>
            <a:r>
              <a:rPr lang="en-US" i="1" dirty="0"/>
              <a:t> </a:t>
            </a:r>
            <a:r>
              <a:rPr lang="en-US" altLang="zh-CN" i="1" dirty="0">
                <a:solidFill>
                  <a:srgbClr val="0070C0"/>
                </a:solidFill>
              </a:rPr>
              <a:t>not, without 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social Dirac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chromatic lens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typical pneumonia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theists deny God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i="1" dirty="0">
                <a:solidFill>
                  <a:srgbClr val="C00000"/>
                </a:solidFill>
              </a:rPr>
              <a:t>-tom</a:t>
            </a:r>
            <a:r>
              <a:rPr lang="en-US" dirty="0"/>
              <a:t>: </a:t>
            </a:r>
            <a:r>
              <a:rPr lang="en-US" i="1" dirty="0">
                <a:solidFill>
                  <a:srgbClr val="0070C0"/>
                </a:solidFill>
              </a:rPr>
              <a:t>a cutting, </a:t>
            </a:r>
            <a:r>
              <a:rPr lang="en-US" altLang="zh-CN" i="1" dirty="0">
                <a:solidFill>
                  <a:srgbClr val="0070C0"/>
                </a:solidFill>
              </a:rPr>
              <a:t>section</a:t>
            </a:r>
            <a:r>
              <a:rPr lang="en-US" i="1" dirty="0">
                <a:solidFill>
                  <a:srgbClr val="0070C0"/>
                </a:solidFill>
              </a:rPr>
              <a:t> 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Ana</a:t>
            </a:r>
            <a:r>
              <a:rPr lang="en-US" dirty="0">
                <a:solidFill>
                  <a:srgbClr val="FF0000"/>
                </a:solidFill>
              </a:rPr>
              <a:t>tomy</a:t>
            </a:r>
            <a:r>
              <a:rPr lang="en-US" dirty="0"/>
              <a:t>: cut up </a:t>
            </a:r>
            <a:r>
              <a:rPr lang="en-US" dirty="0" err="1"/>
              <a:t>sth</a:t>
            </a:r>
            <a:r>
              <a:rPr lang="en-US" dirty="0"/>
              <a:t>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en</a:t>
            </a:r>
            <a:r>
              <a:rPr lang="en-US" dirty="0">
                <a:solidFill>
                  <a:srgbClr val="FF0000"/>
                </a:solidFill>
              </a:rPr>
              <a:t>tom</a:t>
            </a:r>
            <a:r>
              <a:rPr lang="en-US" dirty="0"/>
              <a:t>ologist</a:t>
            </a:r>
            <a:r>
              <a:rPr lang="en-US" altLang="zh-CN" dirty="0"/>
              <a:t>s</a:t>
            </a:r>
            <a:r>
              <a:rPr lang="en-US" dirty="0"/>
              <a:t> love insects</a:t>
            </a:r>
          </a:p>
          <a:p>
            <a:pPr lvl="2">
              <a:spcBef>
                <a:spcPts val="600"/>
              </a:spcBef>
            </a:pPr>
            <a:r>
              <a:rPr lang="en-US" altLang="zh-CN" dirty="0"/>
              <a:t>hyster</a:t>
            </a:r>
            <a:r>
              <a:rPr lang="en-US" altLang="zh-CN" dirty="0">
                <a:solidFill>
                  <a:srgbClr val="FF0000"/>
                </a:solidFill>
              </a:rPr>
              <a:t>ectomy</a:t>
            </a:r>
            <a:r>
              <a:rPr lang="en-US" altLang="zh-CN" dirty="0"/>
              <a:t>: womb cutoff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049956" y="2715295"/>
            <a:ext cx="2880320" cy="3155319"/>
            <a:chOff x="5377580" y="2806167"/>
            <a:chExt cx="2880320" cy="3155319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5943" y="3272815"/>
              <a:ext cx="2369905" cy="1888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509785" y="5192479"/>
              <a:ext cx="262718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itchFamily="18" charset="0"/>
                  <a:cs typeface="Times New Roman" pitchFamily="18" charset="0"/>
                </a:rPr>
                <a:t>All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insects </a:t>
              </a:r>
              <a:r>
                <a:rPr lang="en-US" altLang="zh-CN" dirty="0">
                  <a:latin typeface="Times New Roman" pitchFamily="18" charset="0"/>
                  <a:cs typeface="Times New Roman" pitchFamily="18" charset="0"/>
                </a:rPr>
                <a:t>have bodies of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three </a:t>
              </a:r>
              <a:r>
                <a:rPr lang="en-US" b="1" i="1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sections</a:t>
              </a:r>
              <a:r>
                <a:rPr lang="en-US" b="1" dirty="0">
                  <a:latin typeface="Times New Roman" pitchFamily="18" charset="0"/>
                  <a:cs typeface="Times New Roman" pitchFamily="18" charset="0"/>
                </a:rPr>
                <a:t>.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377580" y="2806167"/>
              <a:ext cx="2880320" cy="31553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noAutofit/>
            </a:bodyPr>
            <a:lstStyle/>
            <a:p>
              <a:pPr marL="0" lvl="2" algn="ctr"/>
              <a:r>
                <a:rPr lang="en-US" sz="2400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entomology</a:t>
              </a:r>
              <a:endParaRPr lang="en-US" sz="24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752D87E3-7237-46A6-8B54-EA60008A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Does atoms have internal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0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863" y="1635357"/>
            <a:ext cx="8991600" cy="2156001"/>
          </a:xfrm>
        </p:spPr>
        <p:txBody>
          <a:bodyPr/>
          <a:lstStyle/>
          <a:p>
            <a:r>
              <a:rPr lang="en-US" altLang="zh-CN" sz="6000" b="0" dirty="0"/>
              <a:t>The definitive identification of the electron</a:t>
            </a:r>
            <a:endParaRPr lang="zh-CN" altLang="en-US" sz="6000" b="0" dirty="0"/>
          </a:p>
        </p:txBody>
      </p:sp>
    </p:spTree>
    <p:extLst>
      <p:ext uri="{BB962C8B-B14F-4D97-AF65-F5344CB8AC3E}">
        <p14:creationId xmlns:p14="http://schemas.microsoft.com/office/powerpoint/2010/main" val="369538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 rays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135066" y="1171450"/>
            <a:ext cx="4927511" cy="5368662"/>
            <a:chOff x="2035363" y="1124744"/>
            <a:chExt cx="4927511" cy="5368662"/>
          </a:xfrm>
        </p:grpSpPr>
        <p:grpSp>
          <p:nvGrpSpPr>
            <p:cNvPr id="5" name="Group 4"/>
            <p:cNvGrpSpPr/>
            <p:nvPr/>
          </p:nvGrpSpPr>
          <p:grpSpPr>
            <a:xfrm>
              <a:off x="2035363" y="1124744"/>
              <a:ext cx="4927511" cy="4968552"/>
              <a:chOff x="1979712" y="908720"/>
              <a:chExt cx="4927511" cy="5154006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9712" y="908720"/>
                <a:ext cx="4927511" cy="51540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2123729" y="1557468"/>
                <a:ext cx="649537" cy="383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阴极</a:t>
                </a:r>
                <a:endParaRPr lang="en-US" b="1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277598" y="2748453"/>
                <a:ext cx="649537" cy="383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阳极</a:t>
                </a:r>
                <a:endParaRPr lang="en-US" b="1" dirty="0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2035363" y="6093296"/>
              <a:ext cx="492751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70C0"/>
                  </a:solidFill>
                </a:rPr>
                <a:t>Crookes </a:t>
              </a:r>
              <a:r>
                <a:rPr lang="en-US" altLang="zh-CN" sz="2000" dirty="0">
                  <a:solidFill>
                    <a:srgbClr val="0070C0"/>
                  </a:solidFill>
                </a:rPr>
                <a:t>Tube</a:t>
              </a:r>
              <a:endParaRPr lang="en-US" sz="2000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7288462" y="1186014"/>
            <a:ext cx="3009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Below 10</a:t>
            </a:r>
            <a:r>
              <a:rPr lang="en-US" altLang="zh-CN" baseline="30000" dirty="0"/>
              <a:t>−6</a:t>
            </a:r>
            <a:r>
              <a:rPr lang="en-US" altLang="zh-CN" dirty="0"/>
              <a:t> atm (atmosphere) </a:t>
            </a:r>
          </a:p>
          <a:p>
            <a:endParaRPr lang="en-US" altLang="zh-CN" dirty="0"/>
          </a:p>
          <a:p>
            <a:r>
              <a:rPr lang="en-US" altLang="zh-CN" dirty="0"/>
              <a:t>Direct voltage</a:t>
            </a:r>
            <a:r>
              <a:rPr lang="zh-CN" altLang="en-US" dirty="0"/>
              <a:t>：</a:t>
            </a:r>
            <a:r>
              <a:rPr lang="en-US" altLang="zh-CN" dirty="0"/>
              <a:t>10 — 100 kV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641479" y="3534447"/>
            <a:ext cx="2368332" cy="2497834"/>
            <a:chOff x="1861958" y="1101725"/>
            <a:chExt cx="5245100" cy="5506978"/>
          </a:xfrm>
        </p:grpSpPr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1958" y="1101725"/>
              <a:ext cx="5245100" cy="4654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1861958" y="5726580"/>
              <a:ext cx="5086305" cy="882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</a:t>
              </a:r>
              <a:r>
                <a:rPr lang="en-US" altLang="zh-CN" sz="2000" b="1" dirty="0"/>
                <a:t>athode </a:t>
              </a:r>
              <a:r>
                <a:rPr lang="en-US" sz="2000" b="1" dirty="0"/>
                <a:t>R</a:t>
              </a:r>
              <a:r>
                <a:rPr lang="en-US" altLang="zh-CN" sz="2000" b="1" dirty="0"/>
                <a:t>ay </a:t>
              </a:r>
              <a:r>
                <a:rPr lang="en-US" sz="2000" b="1" dirty="0"/>
                <a:t>T</a:t>
              </a:r>
              <a:r>
                <a:rPr lang="en-US" altLang="zh-CN" sz="2000" b="1" dirty="0"/>
                <a:t>ube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787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2132857"/>
            <a:ext cx="3384376" cy="276165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nature of cathode rays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51816" y="1052737"/>
            <a:ext cx="36523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ea typeface="黑体" panose="02010609060101010101" pitchFamily="49" charset="-122"/>
              </a:rPr>
              <a:t>Crookes et al. from Britain</a:t>
            </a:r>
          </a:p>
          <a:p>
            <a:r>
              <a:rPr lang="en-US" altLang="zh-CN" sz="2400" dirty="0">
                <a:ea typeface="黑体" panose="02010609060101010101" pitchFamily="49" charset="-122"/>
              </a:rPr>
              <a:t>A charged particle</a:t>
            </a:r>
            <a:endParaRPr lang="en-US" sz="2400" dirty="0">
              <a:ea typeface="黑体" panose="02010609060101010101" pitchFamily="49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51815" y="5440999"/>
            <a:ext cx="50405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ea typeface="黑体" panose="02010609060101010101" pitchFamily="49" charset="-122"/>
              </a:rPr>
              <a:t>Heinrich Hertz et al. from Germany</a:t>
            </a:r>
          </a:p>
          <a:p>
            <a:r>
              <a:rPr lang="en-US" altLang="zh-CN" sz="2400" dirty="0">
                <a:ea typeface="黑体" panose="02010609060101010101" pitchFamily="49" charset="-122"/>
              </a:rPr>
              <a:t>electromagnetic radiation</a:t>
            </a:r>
            <a:endParaRPr lang="en-US" sz="2400" dirty="0">
              <a:ea typeface="黑体" panose="02010609060101010101" pitchFamily="49" charset="-122"/>
            </a:endParaRPr>
          </a:p>
        </p:txBody>
      </p:sp>
      <p:pic>
        <p:nvPicPr>
          <p:cNvPr id="15" name="Picture 2" descr="PSM V10 D660 William Crook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208" y="1052737"/>
            <a:ext cx="2095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Heinrich Rudolf Hertz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037" y="3729009"/>
            <a:ext cx="219075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49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/>
              <a:t>J.J Thomson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448" y="5202936"/>
            <a:ext cx="8043696" cy="1466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 Cavendish</a:t>
            </a:r>
            <a:r>
              <a:rPr lang="zh-CN" altLang="en-US" sz="2000" dirty="0"/>
              <a:t> </a:t>
            </a:r>
            <a:r>
              <a:rPr lang="en-US" altLang="zh-CN" sz="2000" dirty="0"/>
              <a:t>laboratory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 University of Cambridge</a:t>
            </a:r>
          </a:p>
          <a:p>
            <a:pPr marL="0" indent="0">
              <a:buNone/>
            </a:pPr>
            <a:r>
              <a:rPr lang="en-US" altLang="zh-CN" sz="2000" dirty="0"/>
              <a:t>Intrigued by Rontgen’s discovery of X-ray, Thomson set out to study the nature of cathode rays.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951" y="994478"/>
            <a:ext cx="4757991" cy="412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76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Thomson’s</a:t>
            </a:r>
            <a:r>
              <a:rPr lang="zh-CN" altLang="en-US" dirty="0"/>
              <a:t> </a:t>
            </a:r>
            <a:r>
              <a:rPr lang="en-US" altLang="zh-CN" dirty="0"/>
              <a:t>cathode ray experiment</a:t>
            </a:r>
            <a:r>
              <a:rPr lang="zh-CN" altLang="en-US" dirty="0"/>
              <a:t>（</a:t>
            </a:r>
            <a:r>
              <a:rPr lang="en-US" altLang="zh-CN" dirty="0"/>
              <a:t>1897</a:t>
            </a:r>
            <a:r>
              <a:rPr lang="zh-CN" altLang="en-US" dirty="0"/>
              <a:t>）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833" y="2469253"/>
            <a:ext cx="6793268" cy="1833581"/>
          </a:xfrm>
        </p:spPr>
      </p:pic>
      <p:sp>
        <p:nvSpPr>
          <p:cNvPr id="22" name="Content Placeholder 2"/>
          <p:cNvSpPr txBox="1">
            <a:spLocks/>
          </p:cNvSpPr>
          <p:nvPr/>
        </p:nvSpPr>
        <p:spPr>
          <a:xfrm>
            <a:off x="1981200" y="980729"/>
            <a:ext cx="8229600" cy="505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12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Cathode ray is negatively charged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It can be bent by a magnetic or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electric field</a:t>
            </a:r>
          </a:p>
          <a:p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Its properties are independent of the material of the cathode.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Measured its charge-to-mass ratio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65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\includegraphics[scale=0.5]{JJThomp.eps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380" y="873014"/>
            <a:ext cx="6336704" cy="265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096513" y="3429001"/>
                <a:ext cx="7978634" cy="26277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 charge,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 mass,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length of the E-field plate,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velocity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1. Apply a electric field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𝐸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along </a:t>
                </a:r>
                <a:r>
                  <a:rPr lang="en-US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bending the ray by </a:t>
                </a:r>
                <a:r>
                  <a:rPr lang="en-US" altLang="zh-CN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 small deflection angle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𝜃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</a:rPr>
                        <m:t>𝜃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num>
                        <m:den>
                          <m: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2. Then apply a magnetic field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along </a:t>
                </a:r>
                <a:r>
                  <a:rPr lang="en-US" altLang="zh-CN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z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to straighten the ray.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𝑒</m:t>
                      </m:r>
                      <m:r>
                        <a:rPr lang="en-US" altLang="zh-CN" i="1">
                          <a:latin typeface="Cambria Math"/>
                        </a:rPr>
                        <m:t>𝑣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/>
                        </a:rPr>
                        <m:t>𝐵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𝑒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altLang="zh-CN" i="1">
                          <a:latin typeface="Cambria Math"/>
                        </a:rPr>
                        <m:t> →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𝑣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𝐸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𝐵</m:t>
                      </m:r>
                      <m:r>
                        <a:rPr lang="en-US" altLang="zh-CN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513" y="3429001"/>
                <a:ext cx="7978634" cy="2627771"/>
              </a:xfrm>
              <a:prstGeom prst="rect">
                <a:avLst/>
              </a:prstGeom>
              <a:blipFill>
                <a:blip r:embed="rId3"/>
                <a:stretch>
                  <a:fillRect l="-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138400"/>
            <a:ext cx="8229600" cy="576064"/>
          </a:xfrm>
        </p:spPr>
        <p:txBody>
          <a:bodyPr/>
          <a:lstStyle/>
          <a:p>
            <a:r>
              <a:rPr lang="en-US" altLang="zh-CN" dirty="0"/>
              <a:t>Electron’s charge-to-mass ratio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ED400B-1B30-40B4-A52B-53596A1AFBE9}"/>
              </a:ext>
            </a:extLst>
          </p:cNvPr>
          <p:cNvGrpSpPr/>
          <p:nvPr/>
        </p:nvGrpSpPr>
        <p:grpSpPr>
          <a:xfrm>
            <a:off x="2096514" y="948893"/>
            <a:ext cx="1018371" cy="878766"/>
            <a:chOff x="743576" y="2529198"/>
            <a:chExt cx="1018371" cy="878766"/>
          </a:xfrm>
        </p:grpSpPr>
        <p:grpSp>
          <p:nvGrpSpPr>
            <p:cNvPr id="7" name="Group 6"/>
            <p:cNvGrpSpPr/>
            <p:nvPr/>
          </p:nvGrpSpPr>
          <p:grpSpPr>
            <a:xfrm>
              <a:off x="1115616" y="2529198"/>
              <a:ext cx="646331" cy="646331"/>
              <a:chOff x="666084" y="2515733"/>
              <a:chExt cx="646331" cy="646331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66084" y="2515733"/>
                <a:ext cx="6463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x</a:t>
                </a:r>
              </a:p>
            </p:txBody>
          </p:sp>
          <p:cxnSp>
            <p:nvCxnSpPr>
              <p:cNvPr id="9" name="Straight Arrow Connector 8"/>
              <p:cNvCxnSpPr/>
              <p:nvPr/>
            </p:nvCxnSpPr>
            <p:spPr>
              <a:xfrm flipV="1">
                <a:off x="683568" y="2636912"/>
                <a:ext cx="0" cy="5040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683568" y="3140968"/>
                <a:ext cx="50405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743576" y="2990863"/>
              <a:ext cx="2840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>
              <a:off x="890337" y="3151465"/>
              <a:ext cx="242763" cy="2564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F08D93-402A-4D8B-AFF0-2F438567DC4C}"/>
              </a:ext>
            </a:extLst>
          </p:cNvPr>
          <p:cNvGrpSpPr/>
          <p:nvPr/>
        </p:nvGrpSpPr>
        <p:grpSpPr>
          <a:xfrm>
            <a:off x="7860805" y="4682924"/>
            <a:ext cx="2111941" cy="1117998"/>
            <a:chOff x="5476352" y="4769532"/>
            <a:chExt cx="2111941" cy="1117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6355583" y="4856414"/>
                  <a:ext cx="1232710" cy="673198"/>
                </a:xfrm>
                <a:prstGeom prst="rect">
                  <a:avLst/>
                </a:prstGeom>
                <a:noFill/>
                <a:ln w="28575">
                  <a:noFill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/>
                              </a:rPr>
                              <m:t>𝑒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/>
                              </a:rPr>
                              <m:t>𝑚</m:t>
                            </m:r>
                          </m:den>
                        </m:f>
                        <m:r>
                          <a:rPr lang="en-US" altLang="zh-CN" sz="2000" dirty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/>
                              </a:rPr>
                              <m:t>𝐸</m:t>
                            </m:r>
                            <m:r>
                              <a:rPr lang="en-US" altLang="zh-CN" sz="2000" i="1" dirty="0">
                                <a:latin typeface="Cambria Math"/>
                              </a:rPr>
                              <m:t>𝜃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 dirty="0">
                                    <a:latin typeface="Cambria Math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 dirty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 dirty="0">
                                <a:latin typeface="Cambria Math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en-US" altLang="zh-CN" sz="2000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5583" y="4856414"/>
                  <a:ext cx="1232710" cy="6731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5B658FD-0975-4BBF-B814-8DB2C637FC02}"/>
                    </a:ext>
                  </a:extLst>
                </p:cNvPr>
                <p:cNvSpPr txBox="1"/>
                <p:nvPr/>
              </p:nvSpPr>
              <p:spPr>
                <a:xfrm>
                  <a:off x="5476352" y="4769532"/>
                  <a:ext cx="879231" cy="1117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}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</m:m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5B658FD-0975-4BBF-B814-8DB2C637FC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6352" y="4769532"/>
                  <a:ext cx="879231" cy="1117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BB0618-DE24-4C46-B3D2-7BC325C4D3C7}"/>
              </a:ext>
            </a:extLst>
          </p:cNvPr>
          <p:cNvCxnSpPr/>
          <p:nvPr/>
        </p:nvCxnSpPr>
        <p:spPr>
          <a:xfrm>
            <a:off x="5462955" y="2873831"/>
            <a:ext cx="7887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14F67C-DCAB-4214-8AB3-B0DDF9DC16CB}"/>
                  </a:ext>
                </a:extLst>
              </p:cNvPr>
              <p:cNvSpPr txBox="1"/>
              <p:nvPr/>
            </p:nvSpPr>
            <p:spPr>
              <a:xfrm>
                <a:off x="5700112" y="2795727"/>
                <a:ext cx="3366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14F67C-DCAB-4214-8AB3-B0DDF9DC1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112" y="2795727"/>
                <a:ext cx="3366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87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Thomson’s achievement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Definitively identified the electron, the first subatomic particle to be discovered.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Measured electron’s charge-to-mass ratio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Through observations in the cloud chamber, he also found the charge of the electron to be comparable to that of the hydrogen ion, thus the mass of an electron is 1/1800 that of a hydrogen ion.</a:t>
            </a:r>
          </a:p>
        </p:txBody>
      </p:sp>
    </p:spTree>
    <p:extLst>
      <p:ext uri="{BB962C8B-B14F-4D97-AF65-F5344CB8AC3E}">
        <p14:creationId xmlns:p14="http://schemas.microsoft.com/office/powerpoint/2010/main" val="209197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Thomson’s plum-pudding model of atoms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1809"/>
            <a:ext cx="10750420" cy="4787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Negatively charged electrons are embedded in a uniform positively charged sphere.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627" y="2255601"/>
            <a:ext cx="2949572" cy="2949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801" y="2141781"/>
            <a:ext cx="3264090" cy="317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4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188640"/>
            <a:ext cx="8229600" cy="796098"/>
          </a:xfrm>
        </p:spPr>
        <p:txBody>
          <a:bodyPr/>
          <a:lstStyle/>
          <a:p>
            <a:r>
              <a:rPr lang="en-US" altLang="zh-CN" dirty="0"/>
              <a:t>The charge of electron</a:t>
            </a:r>
            <a:br>
              <a:rPr lang="en-US" altLang="zh-CN" dirty="0"/>
            </a:br>
            <a:r>
              <a:rPr lang="en-US" altLang="zh-CN" dirty="0"/>
              <a:t>Millikan’s oil drop experiment</a:t>
            </a:r>
            <a:r>
              <a:rPr lang="zh-CN" altLang="en-US" dirty="0"/>
              <a:t>（</a:t>
            </a:r>
            <a:r>
              <a:rPr lang="en-US" altLang="zh-CN" dirty="0"/>
              <a:t>1910</a:t>
            </a:r>
            <a:r>
              <a:rPr lang="zh-CN" altLang="en-US" dirty="0"/>
              <a:t>）</a:t>
            </a:r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402" y="1142162"/>
            <a:ext cx="5260157" cy="5715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24781" y="1539957"/>
            <a:ext cx="3356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Millikan improved Thompson’s cloud chamber method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330" y="3011689"/>
            <a:ext cx="3234132" cy="258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85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79752" y="829940"/>
            <a:ext cx="5832587" cy="5226086"/>
          </a:xfrm>
          <a:prstGeom prst="roundRect">
            <a:avLst>
              <a:gd name="adj" fmla="val 6039"/>
            </a:avLst>
          </a:prstGeom>
          <a:noFill/>
          <a:ln w="19050">
            <a:solidFill>
              <a:schemeClr val="accent1"/>
            </a:solidFill>
            <a:prstDash val="dash"/>
          </a:ln>
          <a:effectLst/>
        </p:spPr>
        <p:txBody>
          <a:bodyPr wrap="square" rtlCol="0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measure the speed of a free fall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drop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64699" y="3190390"/>
                <a:ext cx="5726814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l-GR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viscosity of oil in air,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free-fall terminal velocity,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𝜌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oil density,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𝜌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𝑎𝑖𝑟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air density,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: drop’s apparent weight,</a:t>
                </a:r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air friction,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drop radius</a:t>
                </a:r>
                <a:endParaRPr lang="en-US" altLang="zh-CN" dirty="0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99" y="3190390"/>
                <a:ext cx="5726814" cy="1289071"/>
              </a:xfrm>
              <a:prstGeom prst="rect">
                <a:avLst/>
              </a:prstGeom>
              <a:blipFill>
                <a:blip r:embed="rId3"/>
                <a:stretch>
                  <a:fillRect l="-851" r="-1702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53439" y="829940"/>
                <a:ext cx="5149205" cy="5226086"/>
              </a:xfrm>
              <a:prstGeom prst="roundRect">
                <a:avLst>
                  <a:gd name="adj" fmla="val 6915"/>
                </a:avLst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Apply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push the charged drop upwards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439" y="829940"/>
                <a:ext cx="5149205" cy="5226086"/>
              </a:xfrm>
              <a:prstGeom prst="roundRect">
                <a:avLst>
                  <a:gd name="adj" fmla="val 6915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688921" y="4656581"/>
                <a:ext cx="4678239" cy="526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</a:rPr>
                      <m:t>𝑊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𝐸𝑞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𝑊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gives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921" y="4656581"/>
                <a:ext cx="4678239" cy="526811"/>
              </a:xfrm>
              <a:prstGeom prst="rect">
                <a:avLst/>
              </a:prstGeom>
              <a:blipFill>
                <a:blip r:embed="rId5"/>
                <a:stretch>
                  <a:fillRect r="-911" b="-5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45D13EEF-4EBC-4D2B-9579-250A10AF5BFF}"/>
              </a:ext>
            </a:extLst>
          </p:cNvPr>
          <p:cNvGrpSpPr/>
          <p:nvPr/>
        </p:nvGrpSpPr>
        <p:grpSpPr>
          <a:xfrm>
            <a:off x="7769472" y="1382289"/>
            <a:ext cx="2328897" cy="1799599"/>
            <a:chOff x="6050881" y="1489768"/>
            <a:chExt cx="2328897" cy="1799599"/>
          </a:xfrm>
        </p:grpSpPr>
        <p:sp>
          <p:nvSpPr>
            <p:cNvPr id="17" name="Oval 16"/>
            <p:cNvSpPr/>
            <p:nvPr/>
          </p:nvSpPr>
          <p:spPr>
            <a:xfrm>
              <a:off x="6655485" y="1849085"/>
              <a:ext cx="381000" cy="381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cxnSpLocks/>
            </p:cNvCxnSpPr>
            <p:nvPr/>
          </p:nvCxnSpPr>
          <p:spPr>
            <a:xfrm>
              <a:off x="6813617" y="2039585"/>
              <a:ext cx="0" cy="66680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910721" y="2039585"/>
              <a:ext cx="0" cy="45930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6431880" y="1859311"/>
              <a:ext cx="0" cy="4572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050881" y="1929498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0881" y="1929498"/>
                  <a:ext cx="30480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/>
            <p:cNvCxnSpPr>
              <a:cxnSpLocks/>
            </p:cNvCxnSpPr>
            <p:nvPr/>
          </p:nvCxnSpPr>
          <p:spPr>
            <a:xfrm flipV="1">
              <a:off x="6849664" y="1617752"/>
              <a:ext cx="0" cy="42394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6910721" y="2162759"/>
                  <a:ext cx="14690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/>
                          </a:rPr>
                          <m:t>=6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 dirty="0">
                            <a:latin typeface="Cambria Math"/>
                          </a:rPr>
                          <m:t>𝑟</m:t>
                        </m:r>
                        <m:r>
                          <a:rPr lang="el-GR" altLang="zh-CN" i="1" dirty="0">
                            <a:latin typeface="Cambria Math"/>
                          </a:rPr>
                          <m:t>𝜂</m:t>
                        </m:r>
                        <m:sSub>
                          <m:sSub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0721" y="2162759"/>
                  <a:ext cx="146905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414318" y="2435124"/>
                  <a:ext cx="466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4318" y="2435124"/>
                  <a:ext cx="46621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6872966" y="1489768"/>
                  <a:ext cx="5138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/>
                          </a:rPr>
                          <m:t>𝐸𝑞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966" y="1489768"/>
                  <a:ext cx="51385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6054851" y="2920035"/>
                  <a:ext cx="15175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𝐸𝑞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𝑊</m:t>
                        </m:r>
                      </m:oMath>
                    </m:oMathPara>
                  </a14:m>
                  <a:endParaRPr lang="en-US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4851" y="2920035"/>
                  <a:ext cx="1517531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21872" y="5327284"/>
                <a:ext cx="1668726" cy="640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𝑞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872" y="5327284"/>
                <a:ext cx="1668726" cy="6408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444395" y="174006"/>
            <a:ext cx="760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 theoretical model of the oil drop experiment</a:t>
            </a:r>
          </a:p>
        </p:txBody>
      </p:sp>
      <p:sp>
        <p:nvSpPr>
          <p:cNvPr id="7" name="矩形 6"/>
          <p:cNvSpPr/>
          <p:nvPr/>
        </p:nvSpPr>
        <p:spPr>
          <a:xfrm>
            <a:off x="478144" y="5550809"/>
            <a:ext cx="26782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* </a:t>
            </a:r>
            <a:r>
              <a:rPr lang="en-US" altLang="zh-CN" sz="1400" dirty="0">
                <a:hlinkClick r:id="rId12"/>
              </a:rPr>
              <a:t>Viscosity of a small sphere in air 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7BB79E-62DB-47B1-8B7A-79D6BFD259D7}"/>
                  </a:ext>
                </a:extLst>
              </p:cNvPr>
              <p:cNvSpPr txBox="1"/>
              <p:nvPr/>
            </p:nvSpPr>
            <p:spPr>
              <a:xfrm>
                <a:off x="6631424" y="3179269"/>
                <a:ext cx="4836052" cy="87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𝐸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E-field strength,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up-going terminal velocity,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charge of the drop,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air friction forces,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7BB79E-62DB-47B1-8B7A-79D6BFD25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424" y="3179269"/>
                <a:ext cx="4836052" cy="873572"/>
              </a:xfrm>
              <a:prstGeom prst="rect">
                <a:avLst/>
              </a:prstGeom>
              <a:blipFill>
                <a:blip r:embed="rId13"/>
                <a:stretch>
                  <a:fillRect r="-2018" b="-10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E947CA8A-4652-4924-A9BF-61FC2EC23191}"/>
              </a:ext>
            </a:extLst>
          </p:cNvPr>
          <p:cNvGrpSpPr/>
          <p:nvPr/>
        </p:nvGrpSpPr>
        <p:grpSpPr>
          <a:xfrm>
            <a:off x="1787890" y="1410411"/>
            <a:ext cx="3530288" cy="1326298"/>
            <a:chOff x="658953" y="1358136"/>
            <a:chExt cx="3530288" cy="1326298"/>
          </a:xfrm>
        </p:grpSpPr>
        <p:sp>
          <p:nvSpPr>
            <p:cNvPr id="4" name="Oval 3"/>
            <p:cNvSpPr/>
            <p:nvPr/>
          </p:nvSpPr>
          <p:spPr>
            <a:xfrm>
              <a:off x="1300569" y="1848623"/>
              <a:ext cx="381000" cy="381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cxnSpLocks/>
            </p:cNvCxnSpPr>
            <p:nvPr/>
          </p:nvCxnSpPr>
          <p:spPr>
            <a:xfrm flipH="1">
              <a:off x="1491068" y="2039123"/>
              <a:ext cx="1" cy="51294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cxnSpLocks/>
              <a:endCxn id="13" idx="1"/>
            </p:cNvCxnSpPr>
            <p:nvPr/>
          </p:nvCxnSpPr>
          <p:spPr>
            <a:xfrm flipH="1" flipV="1">
              <a:off x="1491068" y="1542802"/>
              <a:ext cx="2" cy="51880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491068" y="1358136"/>
                  <a:ext cx="26981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/>
                        </a:rPr>
                        <m:t>=6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i="1" dirty="0">
                          <a:latin typeface="Cambria Math"/>
                        </a:rPr>
                        <m:t>𝑟</m:t>
                      </m:r>
                      <m:r>
                        <a:rPr lang="el-GR" altLang="zh-CN" i="1" dirty="0">
                          <a:latin typeface="Cambria Math"/>
                        </a:rPr>
                        <m:t>𝜂</m:t>
                      </m:r>
                      <m:sSub>
                        <m:sSubPr>
                          <m:ctrlPr>
                            <a:rPr lang="el-GR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 (</a:t>
                  </a:r>
                  <a:r>
                    <a:rPr lang="en-US" altLang="zh-CN" dirty="0"/>
                    <a:t>Stokes‘ law)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068" y="1358136"/>
                  <a:ext cx="2698173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679" t="-10000" r="-679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524538" y="2072728"/>
                  <a:ext cx="2398953" cy="6117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𝑊</m:t>
                        </m:r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den>
                        </m:f>
                        <m:r>
                          <a:rPr lang="el-GR" i="1">
                            <a:latin typeface="Cambria Math"/>
                          </a:rPr>
                          <m:t>𝜋</m:t>
                        </m:r>
                        <m:sSup>
                          <m:sSup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𝜌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𝑎𝑖𝑟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538" y="2072728"/>
                  <a:ext cx="2398953" cy="61170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>
              <a:off x="1035182" y="1825583"/>
              <a:ext cx="3460" cy="5079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58953" y="1775187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953" y="1775187"/>
                  <a:ext cx="30480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323BCF4-C16E-4D3C-9DDD-6BA0D8933462}"/>
                  </a:ext>
                </a:extLst>
              </p:cNvPr>
              <p:cNvSpPr txBox="1"/>
              <p:nvPr/>
            </p:nvSpPr>
            <p:spPr>
              <a:xfrm>
                <a:off x="2092690" y="4873346"/>
                <a:ext cx="21275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/>
                        </a:rPr>
                        <m:t>𝑊</m:t>
                      </m:r>
                      <m:r>
                        <a:rPr lang="zh-CN" alt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altLang="zh-CN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323BCF4-C16E-4D3C-9DDD-6BA0D8933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690" y="4873346"/>
                <a:ext cx="2127503" cy="36933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B7A4A5-2B0D-4154-8653-219B3E2ADBAA}"/>
                  </a:ext>
                </a:extLst>
              </p:cNvPr>
              <p:cNvSpPr txBox="1"/>
              <p:nvPr/>
            </p:nvSpPr>
            <p:spPr>
              <a:xfrm>
                <a:off x="2619606" y="2867944"/>
                <a:ext cx="10736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B7A4A5-2B0D-4154-8653-219B3E2AD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606" y="2867944"/>
                <a:ext cx="1073670" cy="36933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855DEF-05DA-454E-B99A-429A7E3D843E}"/>
                  </a:ext>
                </a:extLst>
              </p:cNvPr>
              <p:cNvSpPr txBox="1"/>
              <p:nvPr/>
            </p:nvSpPr>
            <p:spPr>
              <a:xfrm>
                <a:off x="1111296" y="6144659"/>
                <a:ext cx="11010275" cy="458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Results: All measured charges were integer multiples of a fundamental charge e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dirty="0"/>
                      <m:t>1.5924(17)×10</m:t>
                    </m:r>
                    <m:r>
                      <m:rPr>
                        <m:nor/>
                      </m:rPr>
                      <a:rPr lang="en-US" altLang="zh-CN" baseline="30000" dirty="0"/>
                      <m:t>−19</m:t>
                    </m:r>
                    <m:r>
                      <m:rPr>
                        <m:nor/>
                      </m:rPr>
                      <a:rPr lang="en-US" altLang="zh-CN" dirty="0"/>
                      <m:t> </m:t>
                    </m:r>
                    <m:r>
                      <m:rPr>
                        <m:nor/>
                      </m:rPr>
                      <a:rPr lang="en-US" altLang="zh-CN" b="0" i="0" dirty="0" smtClean="0"/>
                      <m:t>C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855DEF-05DA-454E-B99A-429A7E3D8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96" y="6144659"/>
                <a:ext cx="11010275" cy="458074"/>
              </a:xfrm>
              <a:prstGeom prst="rect">
                <a:avLst/>
              </a:prstGeom>
              <a:blipFill>
                <a:blip r:embed="rId20"/>
                <a:stretch>
                  <a:fillRect l="-443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41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150932"/>
            <a:ext cx="8478493" cy="576064"/>
          </a:xfrm>
        </p:spPr>
        <p:txBody>
          <a:bodyPr/>
          <a:lstStyle/>
          <a:p>
            <a:r>
              <a:rPr lang="en-US" altLang="zh-CN" dirty="0"/>
              <a:t>Millikan’s discovery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767317"/>
            <a:ext cx="8229600" cy="1527805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Charge is quantized with a minimum unit</a:t>
            </a:r>
          </a:p>
          <a:p>
            <a:r>
              <a:rPr lang="en-US" altLang="zh-CN" sz="2400" dirty="0"/>
              <a:t>Electron charge =</a:t>
            </a:r>
            <a:r>
              <a:rPr lang="zh-CN" altLang="en-US" sz="2400" dirty="0"/>
              <a:t> </a:t>
            </a:r>
            <a:r>
              <a:rPr lang="en-US" altLang="zh-CN" sz="2400" dirty="0"/>
              <a:t>1.5924(17)×10</a:t>
            </a:r>
            <a:r>
              <a:rPr lang="en-US" altLang="zh-CN" sz="2400" baseline="30000" dirty="0"/>
              <a:t>−19</a:t>
            </a:r>
            <a:r>
              <a:rPr lang="en-US" altLang="zh-CN" sz="2400" dirty="0"/>
              <a:t> C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     Modern day value</a:t>
            </a:r>
            <a:r>
              <a:rPr lang="zh-CN" altLang="en-US" sz="2400" dirty="0"/>
              <a:t>：</a:t>
            </a:r>
            <a:r>
              <a:rPr lang="en-US" altLang="zh-CN" sz="2400" dirty="0"/>
              <a:t>1.602176487(40)×10</a:t>
            </a:r>
            <a:r>
              <a:rPr lang="en-US" altLang="zh-CN" sz="2400" baseline="30000" dirty="0"/>
              <a:t>−19</a:t>
            </a:r>
            <a:r>
              <a:rPr lang="en-US" altLang="zh-CN" sz="2400" dirty="0"/>
              <a:t> 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160D77-CCB9-464E-97F3-B66ADD8FB373}"/>
              </a:ext>
            </a:extLst>
          </p:cNvPr>
          <p:cNvGrpSpPr/>
          <p:nvPr/>
        </p:nvGrpSpPr>
        <p:grpSpPr>
          <a:xfrm>
            <a:off x="1640174" y="3044986"/>
            <a:ext cx="8911652" cy="3471869"/>
            <a:chOff x="1688892" y="3209878"/>
            <a:chExt cx="8911652" cy="3471869"/>
          </a:xfrm>
        </p:grpSpPr>
        <p:sp>
          <p:nvSpPr>
            <p:cNvPr id="5" name="内容占位符 2">
              <a:extLst>
                <a:ext uri="{FF2B5EF4-FFF2-40B4-BE49-F238E27FC236}">
                  <a16:creationId xmlns:a16="http://schemas.microsoft.com/office/drawing/2014/main" id="{5D1F51ED-660D-45A7-BAFC-90E95250F7B1}"/>
                </a:ext>
              </a:extLst>
            </p:cNvPr>
            <p:cNvSpPr txBox="1">
              <a:spLocks/>
            </p:cNvSpPr>
            <p:nvPr/>
          </p:nvSpPr>
          <p:spPr>
            <a:xfrm>
              <a:off x="1688892" y="3209878"/>
              <a:ext cx="8911652" cy="3424604"/>
            </a:xfrm>
            <a:prstGeom prst="rect">
              <a:avLst/>
            </a:prstGeom>
          </p:spPr>
          <p:txBody>
            <a:bodyPr vert="horz" lIns="91440" tIns="45720" rIns="91440" bIns="45720" numCol="1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ts val="1200"/>
                </a:spcBef>
                <a:buFont typeface="Arial" panose="020B0604020202020204" pitchFamily="34" charset="0"/>
                <a:buChar char="•"/>
                <a:defRPr sz="3200" kern="1200" baseline="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ts val="12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ts val="12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ts val="12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ts val="12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2400" dirty="0">
                  <a:solidFill>
                    <a:srgbClr val="0070C0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Automated Millikan experiment</a:t>
              </a:r>
              <a:r>
                <a:rPr lang="en-US" altLang="zh-CN" sz="2400" dirty="0">
                  <a:solidFill>
                    <a:srgbClr val="0070C0"/>
                  </a:solidFill>
                </a:rPr>
                <a:t> measured 10</a:t>
              </a:r>
              <a:r>
                <a:rPr lang="en-US" altLang="zh-CN" sz="2400" baseline="30000" dirty="0">
                  <a:solidFill>
                    <a:srgbClr val="0070C0"/>
                  </a:solidFill>
                </a:rPr>
                <a:t>8</a:t>
              </a:r>
              <a:r>
                <a:rPr lang="en-US" altLang="zh-CN" sz="2400" dirty="0">
                  <a:solidFill>
                    <a:srgbClr val="0070C0"/>
                  </a:solidFill>
                </a:rPr>
                <a:t> oil drops in 20 y’s</a:t>
              </a:r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  <a:p>
              <a:pPr marL="0" indent="0">
                <a:buNone/>
              </a:pPr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altLang="zh-CN" sz="2400" dirty="0"/>
            </a:p>
            <a:p>
              <a:endParaRPr lang="en-US" altLang="zh-CN" sz="2400" dirty="0"/>
            </a:p>
            <a:p>
              <a:endParaRPr lang="en-US" altLang="zh-CN" sz="2400" dirty="0"/>
            </a:p>
            <a:p>
              <a:endParaRPr lang="en-US" altLang="zh-CN" sz="2400" dirty="0"/>
            </a:p>
          </p:txBody>
        </p:sp>
        <p:pic>
          <p:nvPicPr>
            <p:cNvPr id="7" name="图片 4">
              <a:extLst>
                <a:ext uri="{FF2B5EF4-FFF2-40B4-BE49-F238E27FC236}">
                  <a16:creationId xmlns:a16="http://schemas.microsoft.com/office/drawing/2014/main" id="{0A1BFF0E-B005-4F0F-8228-5C38BB47F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42787" y="4052864"/>
              <a:ext cx="3351751" cy="2203153"/>
            </a:xfrm>
            <a:prstGeom prst="rect">
              <a:avLst/>
            </a:prstGeom>
          </p:spPr>
        </p:pic>
        <p:grpSp>
          <p:nvGrpSpPr>
            <p:cNvPr id="9" name="组合 10">
              <a:extLst>
                <a:ext uri="{FF2B5EF4-FFF2-40B4-BE49-F238E27FC236}">
                  <a16:creationId xmlns:a16="http://schemas.microsoft.com/office/drawing/2014/main" id="{3A85851F-4894-4DEB-94BE-B05234D5542A}"/>
                </a:ext>
              </a:extLst>
            </p:cNvPr>
            <p:cNvGrpSpPr/>
            <p:nvPr/>
          </p:nvGrpSpPr>
          <p:grpSpPr>
            <a:xfrm>
              <a:off x="6036568" y="3852086"/>
              <a:ext cx="3980553" cy="2829661"/>
              <a:chOff x="510665" y="3072944"/>
              <a:chExt cx="4328325" cy="3043130"/>
            </a:xfrm>
          </p:grpSpPr>
          <p:pic>
            <p:nvPicPr>
              <p:cNvPr id="10" name="Picture 3">
                <a:extLst>
                  <a:ext uri="{FF2B5EF4-FFF2-40B4-BE49-F238E27FC236}">
                    <a16:creationId xmlns:a16="http://schemas.microsoft.com/office/drawing/2014/main" id="{F58334D8-5544-42D6-9E76-8614A3B1D9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285" y="3072944"/>
                <a:ext cx="4226705" cy="2930439"/>
              </a:xfrm>
              <a:prstGeom prst="rect">
                <a:avLst/>
              </a:prstGeom>
            </p:spPr>
          </p:pic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602E7007-0AA2-4C95-9CDC-CC657FD8F41B}"/>
                  </a:ext>
                </a:extLst>
              </p:cNvPr>
              <p:cNvSpPr txBox="1"/>
              <p:nvPr/>
            </p:nvSpPr>
            <p:spPr>
              <a:xfrm rot="16200000">
                <a:off x="337015" y="4259318"/>
                <a:ext cx="715433" cy="368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err="1"/>
                  <a:t>Conts</a:t>
                </a:r>
                <a:endParaRPr lang="zh-CN" altLang="en-US" sz="1600" b="1" dirty="0"/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783A55B7-A493-46B8-A7EB-D841632A9589}"/>
                  </a:ext>
                </a:extLst>
              </p:cNvPr>
              <p:cNvSpPr txBox="1"/>
              <p:nvPr/>
            </p:nvSpPr>
            <p:spPr>
              <a:xfrm>
                <a:off x="602034" y="5751980"/>
                <a:ext cx="4226705" cy="3640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/>
                  <a:t>Oil drop charges</a:t>
                </a:r>
                <a:endParaRPr lang="zh-CN" altLang="en-US" sz="16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854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原子的构成&amp;quot;&quot;/&gt;&lt;property id=&quot;20307&quot; value=&quot;256&quot;/&gt;&lt;/object&gt;&lt;object type=&quot;3&quot; unique_id=&quot;10089&quot;&gt;&lt;property id=&quot;20148&quot; value=&quot;5&quot;/&gt;&lt;property id=&quot;20300&quot; value=&quot;Slide 2 - &amp;quot;“原子论”的起源&amp;quot;&quot;/&gt;&lt;property id=&quot;20307&quot; value=&quot;272&quot;/&gt;&lt;/object&gt;&lt;object type=&quot;3&quot; unique_id=&quot;10090&quot;&gt;&lt;property id=&quot;20148&quot; value=&quot;5&quot;/&gt;&lt;property id=&quot;20300&quot; value=&quot;Slide 8 - &amp;quot;阴极射线是什么物质？&amp;quot;&quot;/&gt;&lt;property id=&quot;20307&quot; value=&quot;270&quot;/&gt;&lt;/object&gt;&lt;object type=&quot;3&quot; unique_id=&quot;10091&quot;&gt;&lt;property id=&quot;20148&quot; value=&quot;5&quot;/&gt;&lt;property id=&quot;20300&quot; value=&quot;Slide 9 - &amp;quot;J.J Thomson&amp;quot;&quot;/&gt;&lt;property id=&quot;20307&quot; value=&quot;281&quot;/&gt;&lt;/object&gt;&lt;object type=&quot;3&quot; unique_id=&quot;10092&quot;&gt;&lt;property id=&quot;20148&quot; value=&quot;5&quot;/&gt;&lt;property id=&quot;20300&quot; value=&quot;Slide 7 - &amp;quot;阴极射线（cathode ray）&amp;quot;&quot;/&gt;&lt;property id=&quot;20307&quot; value=&quot;282&quot;/&gt;&lt;/object&gt;&lt;object type=&quot;3&quot; unique_id=&quot;10094&quot;&gt;&lt;property id=&quot;20148&quot; value=&quot;5&quot;/&gt;&lt;property id=&quot;20300&quot; value=&quot;Slide 10 - &amp;quot;Thomson的阴极射线实验（1897）&amp;quot;&quot;/&gt;&lt;property id=&quot;20307&quot; value=&quot;268&quot;/&gt;&lt;/object&gt;&lt;object type=&quot;3&quot; unique_id=&quot;10095&quot;&gt;&lt;property id=&quot;20148&quot; value=&quot;5&quot;/&gt;&lt;property id=&quot;20300&quot; value=&quot;Slide 13 - &amp;quot;电子的电量 - Millikan油滴实验（1910）&amp;quot;&quot;/&gt;&lt;property id=&quot;20307&quot; value=&quot;278&quot;/&gt;&lt;/object&gt;&lt;object type=&quot;3&quot; unique_id=&quot;10096&quot;&gt;&lt;property id=&quot;20148&quot; value=&quot;5&quot;/&gt;&lt;property id=&quot;20300&quot; value=&quot;Slide 15 - &amp;quot;Millikan油滴实验&amp;quot;&quot;/&gt;&lt;property id=&quot;20307&quot; value=&quot;269&quot;/&gt;&lt;/object&gt;&lt;object type=&quot;3&quot; unique_id=&quot;10140&quot;&gt;&lt;property id=&quot;20148&quot; value=&quot;5&quot;/&gt;&lt;property id=&quot;20300&quot; value=&quot;Slide 3 - &amp;quot;Dalton的倍比定律(1808)&amp;quot;&quot;/&gt;&lt;property id=&quot;20307&quot; value=&quot;283&quot;/&gt;&lt;/object&gt;&lt;object type=&quot;3&quot; unique_id=&quot;10141&quot;&gt;&lt;property id=&quot;20148&quot; value=&quot;5&quot;/&gt;&lt;property id=&quot;20300&quot; value=&quot;Slide 11 - &amp;quot;电子荷质比的测量&amp;quot;&quot;/&gt;&lt;property id=&quot;20307&quot; value=&quot;286&quot;/&gt;&lt;/object&gt;&lt;object type=&quot;3&quot; unique_id=&quot;10142&quot;&gt;&lt;property id=&quot;20148&quot; value=&quot;5&quot;/&gt;&lt;property id=&quot;20300&quot; value=&quot;Slide 12 - &amp;quot;一种新的粒子：电子&amp;quot;&quot;/&gt;&lt;property id=&quot;20307&quot; value=&quot;285&quot;/&gt;&lt;/object&gt;&lt;object type=&quot;3&quot; unique_id=&quot;10144&quot;&gt;&lt;property id=&quot;20148&quot; value=&quot;5&quot;/&gt;&lt;property id=&quot;20300&quot; value=&quot;Slide 16 - &amp;quot;原子核的发现&amp;quot;&quot;/&gt;&lt;property id=&quot;20307&quot; value=&quot;288&quot;/&gt;&lt;/object&gt;&lt;object type=&quot;3&quot; unique_id=&quot;10145&quot;&gt;&lt;property id=&quot;20148&quot; value=&quot;5&quot;/&gt;&lt;property id=&quot;20300&quot; value=&quot;Slide 21 - &amp;quot;Rutherford模型提出的背景&amp;quot;&quot;/&gt;&lt;property id=&quot;20307&quot; value=&quot;290&quot;/&gt;&lt;/object&gt;&lt;object type=&quot;3&quot; unique_id=&quot;10146&quot;&gt;&lt;property id=&quot;20148&quot; value=&quot;5&quot;/&gt;&lt;property id=&quot;20300&quot; value=&quot;Slide 27 - &amp;quot;库伦散射公式&amp;quot;&quot;/&gt;&lt;property id=&quot;20307&quot; value=&quot;287&quot;/&gt;&lt;/object&gt;&lt;object type=&quot;3&quot; unique_id=&quot;10249&quot;&gt;&lt;property id=&quot;20148&quot; value=&quot;5&quot;/&gt;&lt;property id=&quot;20300&quot; value=&quot;Slide 20 - &amp;quot;Alpha, Beta and Gamma rays&amp;quot;&quot;/&gt;&lt;property id=&quot;20307&quot; value=&quot;293&quot;/&gt;&lt;/object&gt;&lt;object type=&quot;3&quot; unique_id=&quot;10250&quot;&gt;&lt;property id=&quot;20148&quot; value=&quot;5&quot;/&gt;&lt;property id=&quot;20300&quot; value=&quot;Slide 22 - &amp;quot;卢瑟福-Geiger-Marsden实验(1909)&amp;quot;&quot;/&gt;&lt;property id=&quot;20307&quot; value=&quot;295&quot;/&gt;&lt;/object&gt;&lt;object type=&quot;3&quot; unique_id=&quot;10251&quot;&gt;&lt;property id=&quot;20148&quot; value=&quot;5&quot;/&gt;&lt;property id=&quot;20300&quot; value=&quot;Slide 23 - &amp;quot;实验结果&amp;quot;&quot;/&gt;&lt;property id=&quot;20307&quot; value=&quot;300&quot;/&gt;&lt;/object&gt;&lt;object type=&quot;3&quot; unique_id=&quot;10252&quot;&gt;&lt;property id=&quot;20148&quot; value=&quot;5&quot;/&gt;&lt;property id=&quot;20300&quot; value=&quot;Slide 24 - &amp;quot;实验结果和Thomson模型的冲突&amp;quot;&quot;/&gt;&lt;property id=&quot;20307&quot; value=&quot;302&quot;/&gt;&lt;/object&gt;&lt;object type=&quot;3&quot; unique_id=&quot;10253&quot;&gt;&lt;property id=&quot;20148&quot; value=&quot;5&quot;/&gt;&lt;property id=&quot;20300&quot; value=&quot;Slide 25 - &amp;quot;卢瑟福模型（1911）&amp;quot;&quot;/&gt;&lt;property id=&quot;20307&quot; value=&quot;294&quot;/&gt;&lt;/object&gt;&lt;object type=&quot;3&quot; unique_id=&quot;10254&quot;&gt;&lt;property id=&quot;20148&quot; value=&quot;5&quot;/&gt;&lt;property id=&quot;20300&quot; value=&quot;Slide 29 - &amp;quot;被散射粒子数的计算&amp;quot;&quot;/&gt;&lt;property id=&quot;20307&quot; value=&quot;303&quot;/&gt;&lt;/object&gt;&lt;object type=&quot;3&quot; unique_id=&quot;10255&quot;&gt;&lt;property id=&quot;20148&quot; value=&quot;5&quot;/&gt;&lt;property id=&quot;20300&quot; value=&quot;Slide 28 - &amp;quot;微分散射截面&amp;quot;&quot;/&gt;&lt;property id=&quot;20307&quot; value=&quot;297&quot;/&gt;&lt;/object&gt;&lt;object type=&quot;3&quot; unique_id=&quot;10256&quot;&gt;&lt;property id=&quot;20148&quot; value=&quot;5&quot;/&gt;&lt;property id=&quot;20300&quot; value=&quot;Slide 30&quot;/&gt;&lt;property id=&quot;20307&quot; value=&quot;301&quot;/&gt;&lt;/object&gt;&lt;object type=&quot;3&quot; unique_id=&quot;10257&quot;&gt;&lt;property id=&quot;20148&quot; value=&quot;5&quot;/&gt;&lt;property id=&quot;20300&quot; value=&quot;Slide 31 - &amp;quot;问题&amp;quot;&quot;/&gt;&lt;property id=&quot;20307&quot; value=&quot;298&quot;/&gt;&lt;/object&gt;&lt;object type=&quot;3&quot; unique_id=&quot;10258&quot;&gt;&lt;property id=&quot;20148&quot; value=&quot;5&quot;/&gt;&lt;property id=&quot;20300&quot; value=&quot;Slide 32 - &amp;quot;作业&amp;quot;&quot;/&gt;&lt;property id=&quot;20307&quot; value=&quot;296&quot;/&gt;&lt;/object&gt;&lt;object type=&quot;3&quot; unique_id=&quot;10609&quot;&gt;&lt;property id=&quot;20148&quot; value=&quot;5&quot;/&gt;&lt;property id=&quot;20300&quot; value=&quot;Slide 26 - &amp;quot;卢瑟福模型&amp;quot;&quot;/&gt;&lt;property id=&quot;20307&quot; value=&quot;304&quot;/&gt;&lt;/object&gt;&lt;object type=&quot;3&quot; unique_id=&quot;10646&quot;&gt;&lt;property id=&quot;20148&quot; value=&quot;5&quot;/&gt;&lt;property id=&quot;20300&quot; value=&quot;Slide 6 - &amp;quot;电子的发现&amp;quot;&quot;/&gt;&lt;property id=&quot;20307&quot; value=&quot;305&quot;/&gt;&lt;/object&gt;&lt;object type=&quot;3&quot; unique_id=&quot;10647&quot;&gt;&lt;property id=&quot;20148&quot; value=&quot;5&quot;/&gt;&lt;property id=&quot;20300&quot; value=&quot;Slide 19 - &amp;quot;原子的放射性&amp;quot;&quot;/&gt;&lt;property id=&quot;20307&quot; value=&quot;306&quot;/&gt;&lt;/object&gt;&lt;object type=&quot;3&quot; unique_id=&quot;10990&quot;&gt;&lt;property id=&quot;20148&quot; value=&quot;5&quot;/&gt;&lt;property id=&quot;20300&quot; value=&quot;Slide 5 - &amp;quot;法拉第点解实验(1833)&amp;quot;&quot;/&gt;&lt;property id=&quot;20307&quot; value=&quot;307&quot;/&gt;&lt;/object&gt;&lt;object type=&quot;3&quot; unique_id=&quot;11059&quot;&gt;&lt;property id=&quot;20148&quot; value=&quot;5&quot;/&gt;&lt;property id=&quot;20300&quot; value=&quot;Slide 4 - &amp;quot;布朗运动（Brownian motion)&amp;quot;&quot;/&gt;&lt;property id=&quot;20307&quot; value=&quot;308&quot;/&gt;&lt;/object&gt;&lt;object type=&quot;3&quot; unique_id=&quot;11291&quot;&gt;&lt;property id=&quot;20148&quot; value=&quot;5&quot;/&gt;&lt;property id=&quot;20300&quot; value=&quot;Slide 17 - &amp;quot;原子的大小&amp;quot;&quot;/&gt;&lt;property id=&quot;20307&quot; value=&quot;309&quot;/&gt;&lt;/object&gt;&lt;object type=&quot;3&quot; unique_id=&quot;11331&quot;&gt;&lt;property id=&quot;20148&quot; value=&quot;5&quot;/&gt;&lt;property id=&quot;20300&quot; value=&quot;Slide 14 - &amp;quot;油滴实验的简化模型&amp;quot;&quot;/&gt;&lt;property id=&quot;20307&quot; value=&quot;310&quot;/&gt;&lt;/object&gt;&lt;object type=&quot;3&quot; unique_id=&quot;11332&quot;&gt;&lt;property id=&quot;20148&quot; value=&quot;5&quot;/&gt;&lt;property id=&quot;20300&quot; value=&quot;Slide 18 - &amp;quot;Thomson的原子模型&amp;quot;&quot;/&gt;&lt;property id=&quot;20307&quot; value=&quot;311&quot;/&gt;&lt;/object&gt;&lt;object type=&quot;3&quot; unique_id=&quot;11435&quot;&gt;&lt;property id=&quot;20148&quot; value=&quot;5&quot;/&gt;&lt;property id=&quot;20300&quot; value=&quot;Slide 33 - &amp;quot;质心坐标系和实验室坐标系的转换&amp;quot;&quot;/&gt;&lt;property id=&quot;20307&quot; value=&quot;312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8279</TotalTime>
  <Words>903</Words>
  <Application>Microsoft Office PowerPoint</Application>
  <PresentationFormat>Widescreen</PresentationFormat>
  <Paragraphs>115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宋体</vt:lpstr>
      <vt:lpstr>Arial</vt:lpstr>
      <vt:lpstr>Calibri</vt:lpstr>
      <vt:lpstr>Cambria Math</vt:lpstr>
      <vt:lpstr>Times New Roman</vt:lpstr>
      <vt:lpstr>Office Theme</vt:lpstr>
      <vt:lpstr>PowerPoint Presentation</vt:lpstr>
      <vt:lpstr>Does atoms have internal structure</vt:lpstr>
      <vt:lpstr>The definitive identification of the electron</vt:lpstr>
      <vt:lpstr>Cathode rays</vt:lpstr>
      <vt:lpstr>What is nature of cathode rays</vt:lpstr>
      <vt:lpstr>J.J Thomson</vt:lpstr>
      <vt:lpstr>Thomson’s cathode ray experiment（1897）</vt:lpstr>
      <vt:lpstr>Electron’s charge-to-mass ratio</vt:lpstr>
      <vt:lpstr>Thomson’s achievement</vt:lpstr>
      <vt:lpstr>Thomson’s plum-pudding model of atoms</vt:lpstr>
      <vt:lpstr>The charge of electron Millikan’s oil drop experiment（1910）</vt:lpstr>
      <vt:lpstr>PowerPoint Presentation</vt:lpstr>
      <vt:lpstr>Millikan’s discovery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</dc:creator>
  <cp:lastModifiedBy>zhao kevin</cp:lastModifiedBy>
  <cp:revision>445</cp:revision>
  <cp:lastPrinted>2022-01-15T07:38:52Z</cp:lastPrinted>
  <dcterms:created xsi:type="dcterms:W3CDTF">2013-05-26T05:06:15Z</dcterms:created>
  <dcterms:modified xsi:type="dcterms:W3CDTF">2026-09-08T06:15:41Z</dcterms:modified>
</cp:coreProperties>
</file>