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
  </p:notesMasterIdLst>
  <p:sldIdLst>
    <p:sldId id="280" r:id="rId2"/>
    <p:sldId id="281" r:id="rId3"/>
    <p:sldId id="277" r:id="rId4"/>
    <p:sldId id="377" r:id="rId5"/>
    <p:sldId id="378" r:id="rId6"/>
    <p:sldId id="275" r:id="rId7"/>
    <p:sldId id="314" r:id="rId8"/>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0099FF"/>
    <a:srgbClr val="3366FF"/>
    <a:srgbClr val="A50021"/>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642" autoAdjust="0"/>
  </p:normalViewPr>
  <p:slideViewPr>
    <p:cSldViewPr>
      <p:cViewPr varScale="1">
        <p:scale>
          <a:sx n="97" d="100"/>
          <a:sy n="97" d="100"/>
        </p:scale>
        <p:origin x="1017" y="42"/>
      </p:cViewPr>
      <p:guideLst>
        <p:guide orient="horz" pos="2160"/>
        <p:guide pos="3840"/>
      </p:guideLst>
    </p:cSldViewPr>
  </p:slideViewPr>
  <p:notesTextViewPr>
    <p:cViewPr>
      <p:scale>
        <a:sx n="1" d="1"/>
        <a:sy n="1" d="1"/>
      </p:scale>
      <p:origin x="0" y="0"/>
    </p:cViewPr>
  </p:notesTextViewPr>
  <p:notesViewPr>
    <p:cSldViewPr>
      <p:cViewPr varScale="1">
        <p:scale>
          <a:sx n="75" d="100"/>
          <a:sy n="75" d="100"/>
        </p:scale>
        <p:origin x="-2914"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823701406914384"/>
          <c:y val="2.547154560830784E-2"/>
          <c:w val="0.75955979638626026"/>
          <c:h val="0.94984283162882677"/>
        </c:manualLayout>
      </c:layout>
      <c:pieChart>
        <c:varyColors val="1"/>
        <c:ser>
          <c:idx val="0"/>
          <c:order val="0"/>
          <c:tx>
            <c:strRef>
              <c:f>Sheet1!$B$1</c:f>
              <c:strCache>
                <c:ptCount val="1"/>
                <c:pt idx="0">
                  <c:v>Sales</c:v>
                </c:pt>
              </c:strCache>
            </c:strRef>
          </c:tx>
          <c:dLbls>
            <c:dLbl>
              <c:idx val="0"/>
              <c:layout>
                <c:manualLayout>
                  <c:x val="-0.13303016836513115"/>
                  <c:y val="0.20638703233784186"/>
                </c:manualLayout>
              </c:layout>
              <c:tx>
                <c:rich>
                  <a:bodyPr/>
                  <a:lstStyle/>
                  <a:p>
                    <a:r>
                      <a:rPr lang="en-US"/>
                      <a:t>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6CC-4344-951F-E54A578B2289}"/>
                </c:ext>
              </c:extLst>
            </c:dLbl>
            <c:dLbl>
              <c:idx val="1"/>
              <c:layout>
                <c:manualLayout>
                  <c:x val="-0.16640449041015645"/>
                  <c:y val="-0.21203718911746314"/>
                </c:manualLayout>
              </c:layout>
              <c:tx>
                <c:rich>
                  <a:bodyPr/>
                  <a:lstStyle/>
                  <a:p>
                    <a:r>
                      <a:rPr lang="en-US"/>
                      <a:t>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6CC-4344-951F-E54A578B2289}"/>
                </c:ext>
              </c:extLst>
            </c:dLbl>
            <c:dLbl>
              <c:idx val="2"/>
              <c:layout>
                <c:manualLayout>
                  <c:x val="0.19696610286544738"/>
                  <c:y val="-1.4723274474879136E-2"/>
                </c:manualLayout>
              </c:layout>
              <c:tx>
                <c:rich>
                  <a:bodyPr/>
                  <a:lstStyle/>
                  <a:p>
                    <a:r>
                      <a:rPr lang="en-US"/>
                      <a:t>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6CC-4344-951F-E54A578B2289}"/>
                </c:ext>
              </c:extLst>
            </c:dLbl>
            <c:dLbl>
              <c:idx val="3"/>
              <c:layout>
                <c:manualLayout>
                  <c:x val="9.2621021906656841E-3"/>
                  <c:y val="5.0590624581891307E-2"/>
                </c:manualLayout>
              </c:layout>
              <c:tx>
                <c:rich>
                  <a:bodyPr/>
                  <a:lstStyle/>
                  <a:p>
                    <a:r>
                      <a:rPr lang="en-US" dirty="0"/>
                      <a:t>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6CC-4344-951F-E54A578B2289}"/>
                </c:ext>
              </c:extLst>
            </c:dLbl>
            <c:spPr>
              <a:noFill/>
              <a:ln>
                <a:noFill/>
              </a:ln>
              <a:effectLst/>
            </c:spPr>
            <c:txPr>
              <a:bodyPr wrap="square" lIns="38100" tIns="19050" rIns="38100" bIns="19050" anchor="ctr">
                <a:spAutoFit/>
              </a:bodyPr>
              <a:lstStyle/>
              <a:p>
                <a:pPr>
                  <a:defRPr sz="2800"/>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numRef>
              <c:f>Sheet1!$A$2:$A$5</c:f>
              <c:numCache>
                <c:formatCode>General</c:formatCode>
                <c:ptCount val="4"/>
                <c:pt idx="0">
                  <c:v>1</c:v>
                </c:pt>
                <c:pt idx="1">
                  <c:v>2</c:v>
                </c:pt>
                <c:pt idx="2">
                  <c:v>3</c:v>
                </c:pt>
                <c:pt idx="3">
                  <c:v>4</c:v>
                </c:pt>
              </c:numCache>
            </c:numRef>
          </c:cat>
          <c:val>
            <c:numRef>
              <c:f>Sheet1!$B$2:$B$5</c:f>
              <c:numCache>
                <c:formatCode>General</c:formatCode>
                <c:ptCount val="4"/>
                <c:pt idx="0">
                  <c:v>2.5</c:v>
                </c:pt>
                <c:pt idx="1">
                  <c:v>3</c:v>
                </c:pt>
                <c:pt idx="2">
                  <c:v>5</c:v>
                </c:pt>
                <c:pt idx="3">
                  <c:v>0.2</c:v>
                </c:pt>
              </c:numCache>
            </c:numRef>
          </c:val>
          <c:extLst>
            <c:ext xmlns:c16="http://schemas.microsoft.com/office/drawing/2014/chart" uri="{C3380CC4-5D6E-409C-BE32-E72D297353CC}">
              <c16:uniqueId val="{00000004-F6CC-4344-951F-E54A578B2289}"/>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6387D0-1216-4FA3-AF01-EA63AC44C2D4}" type="datetimeFigureOut">
              <a:rPr lang="en-US" smtClean="0"/>
              <a:t>9/10/2026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8A642B-1D08-47C1-9385-1FDD33F8CE06}" type="slidenum">
              <a:rPr lang="en-US" smtClean="0"/>
              <a:t>‹#›</a:t>
            </a:fld>
            <a:endParaRPr lang="en-US"/>
          </a:p>
        </p:txBody>
      </p:sp>
    </p:spTree>
    <p:extLst>
      <p:ext uri="{BB962C8B-B14F-4D97-AF65-F5344CB8AC3E}">
        <p14:creationId xmlns:p14="http://schemas.microsoft.com/office/powerpoint/2010/main" val="3212350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faculty.wcas.northwestern.edu/~infocom/Ideas/quantum_timeline.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抽象：质点，刚体</a:t>
            </a:r>
            <a:endParaRPr lang="en-US" altLang="zh-CN" dirty="0"/>
          </a:p>
          <a:p>
            <a:r>
              <a:rPr lang="zh-CN" altLang="en-US" dirty="0"/>
              <a:t>涉及：弹力，摩擦力</a:t>
            </a:r>
            <a:endParaRPr lang="en-US" dirty="0"/>
          </a:p>
        </p:txBody>
      </p:sp>
      <p:sp>
        <p:nvSpPr>
          <p:cNvPr id="4" name="灯片编号占位符 3"/>
          <p:cNvSpPr>
            <a:spLocks noGrp="1"/>
          </p:cNvSpPr>
          <p:nvPr>
            <p:ph type="sldNum" sz="quarter" idx="10"/>
          </p:nvPr>
        </p:nvSpPr>
        <p:spPr/>
        <p:txBody>
          <a:bodyPr/>
          <a:lstStyle/>
          <a:p>
            <a:fld id="{C08A642B-1D08-47C1-9385-1FDD33F8CE06}" type="slidenum">
              <a:rPr lang="en-US" smtClean="0"/>
              <a:t>2</a:t>
            </a:fld>
            <a:endParaRPr lang="en-US"/>
          </a:p>
        </p:txBody>
      </p:sp>
    </p:spTree>
    <p:extLst>
      <p:ext uri="{BB962C8B-B14F-4D97-AF65-F5344CB8AC3E}">
        <p14:creationId xmlns:p14="http://schemas.microsoft.com/office/powerpoint/2010/main" val="1806676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3</a:t>
            </a:fld>
            <a:endParaRPr lang="en-US"/>
          </a:p>
        </p:txBody>
      </p:sp>
    </p:spTree>
    <p:extLst>
      <p:ext uri="{BB962C8B-B14F-4D97-AF65-F5344CB8AC3E}">
        <p14:creationId xmlns:p14="http://schemas.microsoft.com/office/powerpoint/2010/main" val="1734681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5</a:t>
            </a:fld>
            <a:endParaRPr lang="en-US"/>
          </a:p>
        </p:txBody>
      </p:sp>
    </p:spTree>
    <p:extLst>
      <p:ext uri="{BB962C8B-B14F-4D97-AF65-F5344CB8AC3E}">
        <p14:creationId xmlns:p14="http://schemas.microsoft.com/office/powerpoint/2010/main" val="1512483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6</a:t>
            </a:fld>
            <a:endParaRPr lang="en-US"/>
          </a:p>
        </p:txBody>
      </p:sp>
    </p:spTree>
    <p:extLst>
      <p:ext uri="{BB962C8B-B14F-4D97-AF65-F5344CB8AC3E}">
        <p14:creationId xmlns:p14="http://schemas.microsoft.com/office/powerpoint/2010/main" val="1007709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hlinkClick r:id="rId3"/>
              </a:rPr>
              <a:t>http://faculty.wcas.northwestern.edu/~infocom/Ideas/quantum_timeline.html</a:t>
            </a:r>
            <a:endParaRPr lang="zh-CN" altLang="en-US" sz="1200" dirty="0"/>
          </a:p>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7</a:t>
            </a:fld>
            <a:endParaRPr lang="en-US"/>
          </a:p>
        </p:txBody>
      </p:sp>
    </p:spTree>
    <p:extLst>
      <p:ext uri="{BB962C8B-B14F-4D97-AF65-F5344CB8AC3E}">
        <p14:creationId xmlns:p14="http://schemas.microsoft.com/office/powerpoint/2010/main" val="385630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04115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b="1">
                <a:latin typeface="Times New Roman" panose="02020603050405020304" pitchFamily="18" charset="0"/>
                <a:ea typeface="黑体" panose="02010609060101010101" pitchFamily="49" charset="-122"/>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hasCustomPrompt="1"/>
          </p:nvPr>
        </p:nvSpPr>
        <p:spPr/>
        <p:txBody>
          <a:bodyPr/>
          <a:lstStyle>
            <a:lvl1pPr>
              <a:defRPr>
                <a:latin typeface="Times New Roman" panose="02020603050405020304" pitchFamily="18" charset="0"/>
                <a:ea typeface="黑体" panose="02010609060101010101" pitchFamily="49" charset="-122"/>
                <a:cs typeface="Times New Roman" panose="02020603050405020304" pitchFamily="18" charset="0"/>
              </a:defRPr>
            </a:lvl1pPr>
            <a:lvl2pPr>
              <a:defRPr>
                <a:latin typeface="Times New Roman" panose="02020603050405020304" pitchFamily="18" charset="0"/>
                <a:ea typeface="黑体" panose="02010609060101010101" pitchFamily="49" charset="-122"/>
                <a:cs typeface="Times New Roman" panose="02020603050405020304" pitchFamily="18" charset="0"/>
              </a:defRPr>
            </a:lvl2pPr>
            <a:lvl3pPr>
              <a:defRPr>
                <a:latin typeface="Times New Roman" panose="02020603050405020304" pitchFamily="18" charset="0"/>
                <a:ea typeface="黑体" panose="02010609060101010101" pitchFamily="49" charset="-122"/>
                <a:cs typeface="Times New Roman" panose="02020603050405020304" pitchFamily="18" charset="0"/>
              </a:defRPr>
            </a:lvl3pPr>
            <a:lvl4pPr>
              <a:defRPr>
                <a:latin typeface="Times New Roman" panose="02020603050405020304" pitchFamily="18" charset="0"/>
                <a:ea typeface="黑体" panose="02010609060101010101" pitchFamily="49" charset="-122"/>
                <a:cs typeface="Times New Roman" panose="02020603050405020304" pitchFamily="18" charset="0"/>
              </a:defRPr>
            </a:lvl4pPr>
            <a:lvl5pPr>
              <a:defRPr>
                <a:latin typeface="Times New Roman" panose="02020603050405020304" pitchFamily="18" charset="0"/>
                <a:ea typeface="黑体" panose="02010609060101010101" pitchFamily="49" charset="-122"/>
                <a:cs typeface="Times New Roman" panose="02020603050405020304" pitchFamily="18" charset="0"/>
              </a:defRPr>
            </a:lvl5pPr>
          </a:lstStyle>
          <a:p>
            <a:pPr lvl="0"/>
            <a:r>
              <a:rPr lang="en-US" dirty="0"/>
              <a:t>Click to </a:t>
            </a:r>
            <a:r>
              <a:rPr lang="zh-CN" altLang="en-US" dirty="0"/>
              <a:t>可欧</a:t>
            </a: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95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80184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395284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8" name="Footer Placeholder 7"/>
          <p:cNvSpPr>
            <a:spLocks noGrp="1"/>
          </p:cNvSpPr>
          <p:nvPr>
            <p:ph type="ftr" sz="quarter" idx="11"/>
          </p:nvPr>
        </p:nvSpPr>
        <p:spPr>
          <a:xfrm>
            <a:off x="4165600" y="6356351"/>
            <a:ext cx="3860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87001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7230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94952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02820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0465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104889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FBD3D0E2-FFB6-45FA-A865-B24E917AD09C}" type="datetimeFigureOut">
              <a:rPr lang="en-US" smtClean="0"/>
              <a:t>9/10/2026</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114542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2" y="188640"/>
            <a:ext cx="10972800" cy="57606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08720"/>
            <a:ext cx="10972800" cy="56166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6028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haokf@fudan.edu.c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Atomic physics</a:t>
            </a:r>
            <a:endParaRPr lang="zh-CN" altLang="en-US" dirty="0"/>
          </a:p>
        </p:txBody>
      </p:sp>
      <p:sp>
        <p:nvSpPr>
          <p:cNvPr id="3" name="Content Placeholder 2"/>
          <p:cNvSpPr>
            <a:spLocks noGrp="1"/>
          </p:cNvSpPr>
          <p:nvPr>
            <p:ph idx="1"/>
          </p:nvPr>
        </p:nvSpPr>
        <p:spPr>
          <a:xfrm>
            <a:off x="1127448" y="836712"/>
            <a:ext cx="9083352" cy="5688632"/>
          </a:xfrm>
        </p:spPr>
        <p:txBody>
          <a:bodyPr>
            <a:normAutofit/>
          </a:bodyPr>
          <a:lstStyle/>
          <a:p>
            <a:pPr marL="0" indent="0">
              <a:buNone/>
            </a:pPr>
            <a:r>
              <a:rPr lang="en-US" altLang="zh-CN" sz="2800" dirty="0"/>
              <a:t>Instructor:</a:t>
            </a:r>
            <a:r>
              <a:rPr lang="zh-CN" altLang="en-US" sz="2800" dirty="0"/>
              <a:t> </a:t>
            </a:r>
            <a:endParaRPr lang="en-US" altLang="zh-CN" sz="2800" dirty="0"/>
          </a:p>
          <a:p>
            <a:pPr marL="0" indent="0">
              <a:buNone/>
            </a:pPr>
            <a:r>
              <a:rPr lang="en-US" altLang="zh-CN" sz="2800" dirty="0"/>
              <a:t>	Kaifeng Zhao (</a:t>
            </a:r>
            <a:r>
              <a:rPr lang="zh-CN" altLang="en-US" sz="2800" dirty="0"/>
              <a:t>赵凯锋</a:t>
            </a:r>
            <a:r>
              <a:rPr lang="en-US" altLang="zh-CN" sz="2800" dirty="0"/>
              <a:t>)</a:t>
            </a:r>
            <a:r>
              <a:rPr lang="zh-CN" altLang="en-US" sz="2800" dirty="0"/>
              <a:t> </a:t>
            </a:r>
            <a:endParaRPr lang="en-US" altLang="zh-CN" sz="2800" dirty="0"/>
          </a:p>
          <a:p>
            <a:pPr marL="0" indent="0">
              <a:buNone/>
            </a:pPr>
            <a:r>
              <a:rPr lang="en-US" altLang="zh-CN" sz="2800" dirty="0"/>
              <a:t>	</a:t>
            </a:r>
            <a:r>
              <a:rPr lang="en-US" altLang="zh-CN" sz="2800" dirty="0">
                <a:hlinkClick r:id="rId2"/>
              </a:rPr>
              <a:t>zhaokf@fudan.edu.cn</a:t>
            </a:r>
            <a:r>
              <a:rPr lang="en-US" altLang="zh-CN" sz="2800" dirty="0"/>
              <a:t>,</a:t>
            </a:r>
            <a:r>
              <a:rPr lang="zh-CN" altLang="en-US" sz="2800" dirty="0"/>
              <a:t> </a:t>
            </a:r>
            <a:endParaRPr lang="en-US" altLang="zh-CN" sz="2800" dirty="0"/>
          </a:p>
          <a:p>
            <a:pPr marL="0" indent="0">
              <a:buNone/>
            </a:pPr>
            <a:r>
              <a:rPr lang="en-US" altLang="zh-CN" sz="2800" dirty="0"/>
              <a:t>	18019208940 (</a:t>
            </a:r>
            <a:r>
              <a:rPr lang="en-US" altLang="zh-CN" sz="2800" dirty="0" err="1"/>
              <a:t>Wechat</a:t>
            </a:r>
            <a:r>
              <a:rPr lang="en-US" altLang="zh-CN" sz="2800" dirty="0"/>
              <a:t>)</a:t>
            </a:r>
          </a:p>
          <a:p>
            <a:pPr marL="0" indent="0">
              <a:buNone/>
            </a:pPr>
            <a:r>
              <a:rPr lang="en-US" altLang="zh-CN" sz="2800" dirty="0"/>
              <a:t>	Office: building 1, room 215 </a:t>
            </a:r>
          </a:p>
          <a:p>
            <a:pPr marL="0" indent="0">
              <a:buNone/>
            </a:pPr>
            <a:r>
              <a:rPr lang="en-US" altLang="zh-CN" sz="2800" dirty="0"/>
              <a:t>		nuclear science and technology dept.</a:t>
            </a:r>
          </a:p>
          <a:p>
            <a:pPr marL="0" indent="0">
              <a:buNone/>
            </a:pPr>
            <a:endParaRPr lang="en-US" altLang="zh-CN" sz="2800" dirty="0"/>
          </a:p>
          <a:p>
            <a:pPr marL="0" indent="0">
              <a:buNone/>
            </a:pPr>
            <a:r>
              <a:rPr lang="en-US" altLang="zh-CN" sz="2800" dirty="0"/>
              <a:t>	</a:t>
            </a:r>
          </a:p>
          <a:p>
            <a:pPr marL="0" indent="0">
              <a:buNone/>
            </a:pPr>
            <a:endParaRPr lang="zh-CN" altLang="en-US" sz="2800" dirty="0"/>
          </a:p>
        </p:txBody>
      </p:sp>
    </p:spTree>
    <p:extLst>
      <p:ext uri="{BB962C8B-B14F-4D97-AF65-F5344CB8AC3E}">
        <p14:creationId xmlns:p14="http://schemas.microsoft.com/office/powerpoint/2010/main" val="2617334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3200" dirty="0"/>
              <a:t>Study efficiently</a:t>
            </a:r>
            <a:endParaRPr lang="zh-CN" altLang="en-US" sz="3200" dirty="0"/>
          </a:p>
        </p:txBody>
      </p:sp>
      <p:sp>
        <p:nvSpPr>
          <p:cNvPr id="3" name="Content Placeholder 2"/>
          <p:cNvSpPr>
            <a:spLocks noGrp="1"/>
          </p:cNvSpPr>
          <p:nvPr>
            <p:ph idx="1"/>
          </p:nvPr>
        </p:nvSpPr>
        <p:spPr>
          <a:xfrm>
            <a:off x="1847528" y="795968"/>
            <a:ext cx="8568952" cy="5729376"/>
          </a:xfrm>
        </p:spPr>
        <p:txBody>
          <a:bodyPr>
            <a:normAutofit/>
          </a:bodyPr>
          <a:lstStyle/>
          <a:p>
            <a:pPr>
              <a:lnSpc>
                <a:spcPct val="150000"/>
              </a:lnSpc>
            </a:pPr>
            <a:r>
              <a:rPr lang="en-US" altLang="zh-CN" sz="2800" dirty="0"/>
              <a:t>Flipped classroom </a:t>
            </a:r>
          </a:p>
          <a:p>
            <a:pPr>
              <a:lnSpc>
                <a:spcPct val="150000"/>
              </a:lnSpc>
            </a:pPr>
            <a:r>
              <a:rPr lang="en-US" altLang="zh-CN" sz="2800" dirty="0"/>
              <a:t>Lecture notes and assignments centered</a:t>
            </a:r>
          </a:p>
          <a:p>
            <a:pPr>
              <a:lnSpc>
                <a:spcPct val="150000"/>
              </a:lnSpc>
            </a:pPr>
            <a:r>
              <a:rPr lang="en-US" altLang="zh-CN" sz="2800" dirty="0"/>
              <a:t>Pay attention to new concepts and methods</a:t>
            </a:r>
          </a:p>
          <a:p>
            <a:pPr>
              <a:lnSpc>
                <a:spcPct val="150000"/>
              </a:lnSpc>
            </a:pPr>
            <a:r>
              <a:rPr lang="en-US" altLang="zh-CN" sz="2800" dirty="0"/>
              <a:t>Use a pen and a notebook during the lecture</a:t>
            </a:r>
          </a:p>
          <a:p>
            <a:pPr>
              <a:lnSpc>
                <a:spcPct val="150000"/>
              </a:lnSpc>
            </a:pPr>
            <a:r>
              <a:rPr lang="en-US" altLang="zh-CN" sz="2800" dirty="0"/>
              <a:t>Discussion </a:t>
            </a:r>
          </a:p>
          <a:p>
            <a:pPr>
              <a:lnSpc>
                <a:spcPct val="150000"/>
              </a:lnSpc>
              <a:tabLst>
                <a:tab pos="5200650" algn="l"/>
              </a:tabLst>
            </a:pPr>
            <a:r>
              <a:rPr lang="en-US" altLang="zh-CN" sz="2800" dirty="0"/>
              <a:t>Homework</a:t>
            </a:r>
          </a:p>
          <a:p>
            <a:pPr lvl="1">
              <a:lnSpc>
                <a:spcPct val="150000"/>
              </a:lnSpc>
            </a:pPr>
            <a:r>
              <a:rPr lang="en-US" altLang="zh-CN" sz="2400" dirty="0"/>
              <a:t>submit on time</a:t>
            </a:r>
          </a:p>
          <a:p>
            <a:pPr lvl="1">
              <a:lnSpc>
                <a:spcPct val="150000"/>
              </a:lnSpc>
            </a:pPr>
            <a:r>
              <a:rPr lang="en-US" altLang="zh-CN" sz="2400" dirty="0"/>
              <a:t>write your reasoning process, especially where you got stuck.</a:t>
            </a:r>
          </a:p>
          <a:p>
            <a:pPr>
              <a:lnSpc>
                <a:spcPct val="150000"/>
              </a:lnSpc>
            </a:pPr>
            <a:endParaRPr lang="en-US" altLang="zh-CN" sz="2800" dirty="0">
              <a:solidFill>
                <a:srgbClr val="C00000"/>
              </a:solidFill>
            </a:endParaRPr>
          </a:p>
        </p:txBody>
      </p:sp>
    </p:spTree>
    <p:extLst>
      <p:ext uri="{BB962C8B-B14F-4D97-AF65-F5344CB8AC3E}">
        <p14:creationId xmlns:p14="http://schemas.microsoft.com/office/powerpoint/2010/main" val="254243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188640"/>
            <a:ext cx="7776864" cy="576064"/>
          </a:xfrm>
        </p:spPr>
        <p:txBody>
          <a:bodyPr>
            <a:normAutofit fontScale="90000"/>
          </a:bodyPr>
          <a:lstStyle/>
          <a:p>
            <a:r>
              <a:rPr lang="en-US" altLang="zh-CN" dirty="0"/>
              <a:t>The Feynman Lecture on Physics</a:t>
            </a:r>
            <a:endParaRPr lang="en-US" dirty="0"/>
          </a:p>
        </p:txBody>
      </p:sp>
      <p:sp>
        <p:nvSpPr>
          <p:cNvPr id="3" name="Content Placeholder 2"/>
          <p:cNvSpPr>
            <a:spLocks noGrp="1"/>
          </p:cNvSpPr>
          <p:nvPr>
            <p:ph idx="1"/>
          </p:nvPr>
        </p:nvSpPr>
        <p:spPr>
          <a:xfrm>
            <a:off x="1878360" y="980728"/>
            <a:ext cx="8538120" cy="4752528"/>
          </a:xfrm>
        </p:spPr>
        <p:txBody>
          <a:bodyPr>
            <a:normAutofit/>
          </a:bodyPr>
          <a:lstStyle/>
          <a:p>
            <a:pPr marL="0" indent="341313" algn="just">
              <a:buNone/>
            </a:pPr>
            <a:r>
              <a:rPr lang="en-US" altLang="zh-CN" sz="2800" dirty="0"/>
              <a:t>“If, in some cataclysm, all of scientific knowledge were to be destroyed, and only one sentence passed on to the next generations of creatures, what statement would contain the most information in the fewest words?” </a:t>
            </a:r>
          </a:p>
          <a:p>
            <a:pPr marL="0" indent="341313" algn="just">
              <a:buNone/>
            </a:pPr>
            <a:endParaRPr lang="en-US" altLang="zh-CN" sz="2800" dirty="0"/>
          </a:p>
          <a:p>
            <a:pPr marL="0" indent="341313" algn="just">
              <a:buNone/>
            </a:pPr>
            <a:r>
              <a:rPr lang="en-US" altLang="zh-CN" sz="2800" dirty="0"/>
              <a:t>“I believe it is the atomic hypothesis that </a:t>
            </a:r>
            <a:r>
              <a:rPr lang="en-US" altLang="zh-CN" sz="2800" dirty="0">
                <a:solidFill>
                  <a:srgbClr val="C00000"/>
                </a:solidFill>
              </a:rPr>
              <a:t>all things are made of atoms</a:t>
            </a:r>
            <a:r>
              <a:rPr lang="en-US" altLang="zh-CN" sz="2800" dirty="0"/>
              <a:t> — little particles that move around in perpetual motion, attracting each other when they are a little distance apart, but repelling upon being squeezed into one another.</a:t>
            </a:r>
            <a:r>
              <a:rPr lang="zh-CN" altLang="en-US" sz="2800" dirty="0"/>
              <a:t>”</a:t>
            </a:r>
            <a:endParaRPr lang="en-US" altLang="zh-CN" sz="2800" i="1" dirty="0">
              <a:solidFill>
                <a:srgbClr val="FF0000"/>
              </a:solidFill>
            </a:endParaRPr>
          </a:p>
        </p:txBody>
      </p:sp>
    </p:spTree>
    <p:extLst>
      <p:ext uri="{BB962C8B-B14F-4D97-AF65-F5344CB8AC3E}">
        <p14:creationId xmlns:p14="http://schemas.microsoft.com/office/powerpoint/2010/main" val="409289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20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20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D2CE3-3A6E-4E56-B924-3AAEDD40D2E1}"/>
              </a:ext>
            </a:extLst>
          </p:cNvPr>
          <p:cNvSpPr>
            <a:spLocks noGrp="1"/>
          </p:cNvSpPr>
          <p:nvPr>
            <p:ph type="title"/>
          </p:nvPr>
        </p:nvSpPr>
        <p:spPr>
          <a:xfrm>
            <a:off x="335360" y="188640"/>
            <a:ext cx="10972800" cy="576064"/>
          </a:xfrm>
        </p:spPr>
        <p:txBody>
          <a:bodyPr/>
          <a:lstStyle/>
          <a:p>
            <a:r>
              <a:rPr lang="en-US" altLang="zh-CN" sz="2800" dirty="0"/>
              <a:t>Branches of Science heavily reply on atomic physics</a:t>
            </a:r>
            <a:endParaRPr lang="en-US" sz="2800" dirty="0"/>
          </a:p>
        </p:txBody>
      </p:sp>
      <p:sp>
        <p:nvSpPr>
          <p:cNvPr id="3" name="Content Placeholder 2">
            <a:extLst>
              <a:ext uri="{FF2B5EF4-FFF2-40B4-BE49-F238E27FC236}">
                <a16:creationId xmlns:a16="http://schemas.microsoft.com/office/drawing/2014/main" id="{44B00965-DE54-4BBA-86D7-3935A679A00C}"/>
              </a:ext>
            </a:extLst>
          </p:cNvPr>
          <p:cNvSpPr>
            <a:spLocks noGrp="1"/>
          </p:cNvSpPr>
          <p:nvPr>
            <p:ph idx="1"/>
          </p:nvPr>
        </p:nvSpPr>
        <p:spPr>
          <a:xfrm>
            <a:off x="1466860" y="1340768"/>
            <a:ext cx="4125084" cy="5184576"/>
          </a:xfrm>
        </p:spPr>
        <p:txBody>
          <a:bodyPr/>
          <a:lstStyle/>
          <a:p>
            <a:r>
              <a:rPr lang="en-US" dirty="0"/>
              <a:t>Astrophysics</a:t>
            </a:r>
          </a:p>
          <a:p>
            <a:r>
              <a:rPr lang="en-US" dirty="0"/>
              <a:t>plasma physics</a:t>
            </a:r>
          </a:p>
          <a:p>
            <a:r>
              <a:rPr lang="en-US" dirty="0"/>
              <a:t>atmospheric physics</a:t>
            </a:r>
          </a:p>
          <a:p>
            <a:r>
              <a:rPr lang="en-US" dirty="0"/>
              <a:t>solid state physics</a:t>
            </a:r>
          </a:p>
          <a:p>
            <a:r>
              <a:rPr lang="en-US" dirty="0"/>
              <a:t>chemical physics</a:t>
            </a:r>
          </a:p>
          <a:p>
            <a:r>
              <a:rPr lang="en-US" dirty="0"/>
              <a:t>radiation physics</a:t>
            </a:r>
          </a:p>
        </p:txBody>
      </p:sp>
      <p:sp>
        <p:nvSpPr>
          <p:cNvPr id="5" name="TextBox 4">
            <a:extLst>
              <a:ext uri="{FF2B5EF4-FFF2-40B4-BE49-F238E27FC236}">
                <a16:creationId xmlns:a16="http://schemas.microsoft.com/office/drawing/2014/main" id="{5ECFA270-423D-44A6-9579-D0B0F387CBC1}"/>
              </a:ext>
            </a:extLst>
          </p:cNvPr>
          <p:cNvSpPr txBox="1"/>
          <p:nvPr/>
        </p:nvSpPr>
        <p:spPr>
          <a:xfrm>
            <a:off x="6168008" y="1340768"/>
            <a:ext cx="4320480" cy="3933384"/>
          </a:xfrm>
          <a:prstGeom prst="rect">
            <a:avLst/>
          </a:prstGeom>
          <a:noFill/>
        </p:spPr>
        <p:txBody>
          <a:bodyPr wrap="square">
            <a:spAutoFit/>
          </a:bodyPr>
          <a:lstStyle/>
          <a:p>
            <a:pPr marL="342900" indent="-342900">
              <a:spcBef>
                <a:spcPct val="20000"/>
              </a:spcBef>
              <a:buFont typeface="Arial" panose="020B0604020202020204" pitchFamily="34" charset="0"/>
              <a:buChar char="•"/>
            </a:pPr>
            <a:r>
              <a:rPr lang="en-US" sz="3200" dirty="0">
                <a:latin typeface="Times New Roman" panose="02020603050405020304" pitchFamily="18" charset="0"/>
                <a:ea typeface="黑体" panose="02010609060101010101" pitchFamily="49" charset="-122"/>
                <a:cs typeface="Times New Roman" panose="02020603050405020304" pitchFamily="18" charset="0"/>
              </a:rPr>
              <a:t>Chemistry (analysis, reaction rates)</a:t>
            </a:r>
          </a:p>
          <a:p>
            <a:pPr marL="342900" indent="-342900">
              <a:spcBef>
                <a:spcPct val="20000"/>
              </a:spcBef>
              <a:buFont typeface="Arial" panose="020B0604020202020204" pitchFamily="34" charset="0"/>
              <a:buChar char="•"/>
            </a:pPr>
            <a:r>
              <a:rPr lang="en-US" sz="3200" dirty="0">
                <a:latin typeface="Times New Roman" panose="02020603050405020304" pitchFamily="18" charset="0"/>
                <a:ea typeface="黑体" panose="02010609060101010101" pitchFamily="49" charset="-122"/>
                <a:cs typeface="Times New Roman" panose="02020603050405020304" pitchFamily="18" charset="0"/>
              </a:rPr>
              <a:t>biology (molecular structure, physiology)</a:t>
            </a:r>
          </a:p>
          <a:p>
            <a:pPr marL="342900" indent="-342900">
              <a:spcBef>
                <a:spcPct val="20000"/>
              </a:spcBef>
              <a:buFont typeface="Arial" panose="020B0604020202020204" pitchFamily="34" charset="0"/>
              <a:buChar char="•"/>
            </a:pPr>
            <a:r>
              <a:rPr lang="en-US" sz="3200" dirty="0">
                <a:latin typeface="Times New Roman" panose="02020603050405020304" pitchFamily="18" charset="0"/>
                <a:ea typeface="黑体" panose="02010609060101010101" pitchFamily="49" charset="-122"/>
                <a:cs typeface="Times New Roman" panose="02020603050405020304" pitchFamily="18" charset="0"/>
              </a:rPr>
              <a:t> materials science</a:t>
            </a:r>
          </a:p>
          <a:p>
            <a:pPr marL="342900" indent="-342900">
              <a:spcBef>
                <a:spcPct val="20000"/>
              </a:spcBef>
              <a:buFont typeface="Arial" panose="020B0604020202020204" pitchFamily="34" charset="0"/>
              <a:buChar char="•"/>
            </a:pPr>
            <a:r>
              <a:rPr lang="en-US" sz="3200" dirty="0">
                <a:latin typeface="Times New Roman" panose="02020603050405020304" pitchFamily="18" charset="0"/>
                <a:ea typeface="黑体" panose="02010609060101010101" pitchFamily="49" charset="-122"/>
                <a:cs typeface="Times New Roman" panose="02020603050405020304" pitchFamily="18" charset="0"/>
              </a:rPr>
              <a:t>energy research</a:t>
            </a:r>
          </a:p>
          <a:p>
            <a:pPr marL="342900" indent="-342900">
              <a:spcBef>
                <a:spcPct val="20000"/>
              </a:spcBef>
              <a:buFont typeface="Arial" panose="020B0604020202020204" pitchFamily="34" charset="0"/>
              <a:buChar char="•"/>
            </a:pPr>
            <a:r>
              <a:rPr lang="en-US" sz="3200" dirty="0">
                <a:latin typeface="Times New Roman" panose="02020603050405020304" pitchFamily="18" charset="0"/>
                <a:ea typeface="黑体" panose="02010609060101010101" pitchFamily="49" charset="-122"/>
                <a:cs typeface="Times New Roman" panose="02020603050405020304" pitchFamily="18" charset="0"/>
              </a:rPr>
              <a:t>fusion studies</a:t>
            </a:r>
          </a:p>
        </p:txBody>
      </p:sp>
    </p:spTree>
    <p:extLst>
      <p:ext uri="{BB962C8B-B14F-4D97-AF65-F5344CB8AC3E}">
        <p14:creationId xmlns:p14="http://schemas.microsoft.com/office/powerpoint/2010/main" val="186545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116632"/>
            <a:ext cx="11233248" cy="576064"/>
          </a:xfrm>
        </p:spPr>
        <p:txBody>
          <a:bodyPr/>
          <a:lstStyle/>
          <a:p>
            <a:r>
              <a:rPr lang="en-US" altLang="zh-CN" sz="2600" dirty="0">
                <a:latin typeface="Times New Roman" panose="02020603050405020304" pitchFamily="18" charset="0"/>
                <a:cs typeface="Times New Roman" panose="02020603050405020304" pitchFamily="18" charset="0"/>
              </a:rPr>
              <a:t>Modern atomic physics - Atomic, Molecular and Optical (AMO )</a:t>
            </a:r>
            <a:r>
              <a:rPr lang="zh-CN" altLang="en-US" sz="26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Physics </a:t>
            </a:r>
            <a:endParaRPr lang="en-US" sz="2600" b="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5400" y="620688"/>
            <a:ext cx="10801200" cy="6120680"/>
          </a:xfrm>
        </p:spPr>
        <p:txBody>
          <a:bodyPr>
            <a:normAutofit fontScale="92500" lnSpcReduction="10000"/>
          </a:bodyPr>
          <a:lstStyle/>
          <a:p>
            <a:pPr>
              <a:lnSpc>
                <a:spcPct val="150000"/>
              </a:lnSpc>
            </a:pPr>
            <a:r>
              <a:rPr lang="en-US" altLang="zh-CN" sz="2400" dirty="0">
                <a:cs typeface="Times New Roman" panose="02020603050405020304" pitchFamily="18" charset="0"/>
              </a:rPr>
              <a:t>Precision measurement</a:t>
            </a:r>
          </a:p>
          <a:p>
            <a:pPr lvl="1">
              <a:lnSpc>
                <a:spcPct val="150000"/>
              </a:lnSpc>
            </a:pPr>
            <a:r>
              <a:rPr lang="en-US" altLang="zh-CN" sz="2000" dirty="0">
                <a:cs typeface="Times New Roman" panose="02020603050405020304" pitchFamily="18" charset="0"/>
              </a:rPr>
              <a:t>Testing the fundamental laws of physics</a:t>
            </a:r>
          </a:p>
          <a:p>
            <a:pPr lvl="1">
              <a:lnSpc>
                <a:spcPct val="150000"/>
              </a:lnSpc>
            </a:pPr>
            <a:r>
              <a:rPr lang="en-US" altLang="zh-CN" sz="2000" dirty="0">
                <a:cs typeface="Times New Roman" panose="02020603050405020304" pitchFamily="18" charset="0"/>
              </a:rPr>
              <a:t>atomic clock,</a:t>
            </a:r>
            <a:r>
              <a:rPr lang="zh-CN" altLang="en-US" sz="2000" dirty="0">
                <a:cs typeface="Times New Roman" panose="02020603050405020304" pitchFamily="18" charset="0"/>
              </a:rPr>
              <a:t> </a:t>
            </a:r>
            <a:r>
              <a:rPr lang="en-US" altLang="zh-CN" sz="2000" dirty="0">
                <a:cs typeface="Times New Roman" panose="02020603050405020304" pitchFamily="18" charset="0"/>
              </a:rPr>
              <a:t>optical</a:t>
            </a:r>
            <a:r>
              <a:rPr lang="zh-CN" altLang="en-US" sz="2000" dirty="0">
                <a:cs typeface="Times New Roman" panose="02020603050405020304" pitchFamily="18" charset="0"/>
              </a:rPr>
              <a:t> </a:t>
            </a:r>
            <a:r>
              <a:rPr lang="en-US" altLang="zh-CN" sz="2000" dirty="0">
                <a:cs typeface="Times New Roman" panose="02020603050405020304" pitchFamily="18" charset="0"/>
              </a:rPr>
              <a:t>clock,</a:t>
            </a:r>
            <a:r>
              <a:rPr lang="zh-CN" altLang="en-US" sz="2000" dirty="0">
                <a:cs typeface="Times New Roman" panose="02020603050405020304" pitchFamily="18" charset="0"/>
              </a:rPr>
              <a:t> </a:t>
            </a:r>
            <a:r>
              <a:rPr lang="en-US" altLang="zh-CN" sz="2000" dirty="0">
                <a:cs typeface="Times New Roman" panose="02020603050405020304" pitchFamily="18" charset="0"/>
              </a:rPr>
              <a:t>nuclear clock</a:t>
            </a:r>
          </a:p>
          <a:p>
            <a:pPr>
              <a:lnSpc>
                <a:spcPct val="150000"/>
              </a:lnSpc>
            </a:pPr>
            <a:r>
              <a:rPr lang="en-US" altLang="zh-CN" sz="2400" dirty="0">
                <a:cs typeface="Times New Roman" panose="02020603050405020304" pitchFamily="18" charset="0"/>
              </a:rPr>
              <a:t>Quantum sensing</a:t>
            </a:r>
          </a:p>
          <a:p>
            <a:pPr lvl="1">
              <a:lnSpc>
                <a:spcPct val="150000"/>
              </a:lnSpc>
            </a:pPr>
            <a:r>
              <a:rPr lang="en-US" altLang="zh-CN" sz="2000" dirty="0">
                <a:cs typeface="Times New Roman" panose="02020603050405020304" pitchFamily="18" charset="0"/>
              </a:rPr>
              <a:t>Atomic magnetometer(</a:t>
            </a:r>
            <a:r>
              <a:rPr lang="zh-CN" altLang="en-US" sz="2000" dirty="0">
                <a:cs typeface="Times New Roman" panose="02020603050405020304" pitchFamily="18" charset="0"/>
              </a:rPr>
              <a:t>磁力仪</a:t>
            </a:r>
            <a:r>
              <a:rPr lang="en-US" altLang="zh-CN" sz="2000" dirty="0">
                <a:cs typeface="Times New Roman" panose="02020603050405020304" pitchFamily="18" charset="0"/>
              </a:rPr>
              <a:t>), atomic gyroscope (</a:t>
            </a:r>
            <a:r>
              <a:rPr lang="zh-CN" altLang="en-US" sz="2000" dirty="0">
                <a:cs typeface="Times New Roman" panose="02020603050405020304" pitchFamily="18" charset="0"/>
              </a:rPr>
              <a:t>陀螺仪</a:t>
            </a:r>
            <a:r>
              <a:rPr lang="en-US" altLang="zh-CN" sz="2000" dirty="0">
                <a:cs typeface="Times New Roman" panose="02020603050405020304" pitchFamily="18" charset="0"/>
              </a:rPr>
              <a:t>), atomic gravimeter (</a:t>
            </a:r>
            <a:r>
              <a:rPr lang="zh-CN" altLang="en-US" sz="2000" dirty="0">
                <a:cs typeface="Times New Roman" panose="02020603050405020304" pitchFamily="18" charset="0"/>
              </a:rPr>
              <a:t>重力仪</a:t>
            </a:r>
            <a:r>
              <a:rPr lang="en-US" altLang="zh-CN" sz="2000" dirty="0">
                <a:cs typeface="Times New Roman" panose="02020603050405020304" pitchFamily="18" charset="0"/>
              </a:rPr>
              <a:t>)</a:t>
            </a:r>
          </a:p>
          <a:p>
            <a:pPr lvl="1">
              <a:lnSpc>
                <a:spcPct val="150000"/>
              </a:lnSpc>
            </a:pPr>
            <a:r>
              <a:rPr lang="en-US" altLang="zh-CN" sz="2000" dirty="0">
                <a:cs typeface="Times New Roman" panose="02020603050405020304" pitchFamily="18" charset="0"/>
              </a:rPr>
              <a:t>Magnetic Resonance </a:t>
            </a:r>
            <a:r>
              <a:rPr lang="en-US" altLang="zh-CN" sz="2000" dirty="0"/>
              <a:t>I</a:t>
            </a:r>
            <a:r>
              <a:rPr lang="en-US" altLang="zh-CN" sz="2000" dirty="0">
                <a:cs typeface="Times New Roman" panose="02020603050405020304" pitchFamily="18" charset="0"/>
              </a:rPr>
              <a:t>maging (MRI) </a:t>
            </a:r>
            <a:r>
              <a:rPr lang="zh-CN" altLang="en-US" sz="2000" dirty="0">
                <a:cs typeface="Times New Roman" panose="02020603050405020304" pitchFamily="18" charset="0"/>
              </a:rPr>
              <a:t>核磁共振成像</a:t>
            </a:r>
            <a:endParaRPr lang="en-US" altLang="zh-CN" sz="2000" dirty="0">
              <a:cs typeface="Times New Roman" panose="02020603050405020304" pitchFamily="18" charset="0"/>
            </a:endParaRPr>
          </a:p>
          <a:p>
            <a:pPr lvl="1">
              <a:lnSpc>
                <a:spcPct val="150000"/>
              </a:lnSpc>
            </a:pPr>
            <a:r>
              <a:rPr lang="en-US" altLang="zh-CN" sz="2000" dirty="0">
                <a:cs typeface="Times New Roman" panose="02020603050405020304" pitchFamily="18" charset="0"/>
              </a:rPr>
              <a:t>Electromagnetic Induction Imaging (EMI) </a:t>
            </a:r>
            <a:r>
              <a:rPr lang="zh-CN" altLang="en-US" sz="2000" dirty="0">
                <a:cs typeface="Times New Roman" panose="02020603050405020304" pitchFamily="18" charset="0"/>
              </a:rPr>
              <a:t>电磁感应成像</a:t>
            </a:r>
          </a:p>
          <a:p>
            <a:pPr>
              <a:lnSpc>
                <a:spcPct val="150000"/>
              </a:lnSpc>
            </a:pPr>
            <a:r>
              <a:rPr lang="en-US" altLang="zh-CN" sz="2400" dirty="0">
                <a:cs typeface="Times New Roman" panose="02020603050405020304" pitchFamily="18" charset="0"/>
              </a:rPr>
              <a:t>Cold atoms and ions,</a:t>
            </a:r>
            <a:r>
              <a:rPr lang="zh-CN" altLang="en-US" sz="2400" dirty="0">
                <a:cs typeface="Times New Roman" panose="02020603050405020304" pitchFamily="18" charset="0"/>
              </a:rPr>
              <a:t> </a:t>
            </a:r>
            <a:r>
              <a:rPr lang="en-US" altLang="zh-CN" sz="2400" dirty="0">
                <a:cs typeface="Times New Roman" panose="02020603050405020304" pitchFamily="18" charset="0"/>
              </a:rPr>
              <a:t>optical lattices </a:t>
            </a:r>
          </a:p>
          <a:p>
            <a:pPr>
              <a:lnSpc>
                <a:spcPct val="150000"/>
              </a:lnSpc>
            </a:pPr>
            <a:r>
              <a:rPr lang="en-US" altLang="zh-CN" sz="2400" dirty="0">
                <a:cs typeface="Times New Roman" panose="02020603050405020304" pitchFamily="18" charset="0"/>
              </a:rPr>
              <a:t>Quantum information,</a:t>
            </a:r>
            <a:r>
              <a:rPr lang="zh-CN" altLang="en-US" sz="2400" dirty="0">
                <a:cs typeface="Times New Roman" panose="02020603050405020304" pitchFamily="18" charset="0"/>
              </a:rPr>
              <a:t> </a:t>
            </a:r>
            <a:r>
              <a:rPr lang="en-US" altLang="zh-CN" sz="2400" dirty="0">
                <a:cs typeface="Times New Roman" panose="02020603050405020304" pitchFamily="18" charset="0"/>
              </a:rPr>
              <a:t>computation and communication</a:t>
            </a:r>
          </a:p>
          <a:p>
            <a:pPr>
              <a:lnSpc>
                <a:spcPct val="150000"/>
              </a:lnSpc>
            </a:pPr>
            <a:r>
              <a:rPr lang="en-US" altLang="zh-CN" sz="2400" dirty="0">
                <a:cs typeface="Times New Roman" panose="02020603050405020304" pitchFamily="18" charset="0"/>
              </a:rPr>
              <a:t>Ultra-intense and ultrafast lasers</a:t>
            </a:r>
          </a:p>
          <a:p>
            <a:pPr marL="0" indent="0" algn="ctr">
              <a:lnSpc>
                <a:spcPct val="150000"/>
              </a:lnSpc>
              <a:buNone/>
            </a:pPr>
            <a:r>
              <a:rPr lang="en-US" altLang="zh-CN" sz="2400" dirty="0">
                <a:solidFill>
                  <a:srgbClr val="C00000"/>
                </a:solidFill>
                <a:cs typeface="Times New Roman" panose="02020603050405020304" pitchFamily="18" charset="0"/>
              </a:rPr>
              <a:t>We don’t </a:t>
            </a:r>
            <a:r>
              <a:rPr lang="en-US" altLang="zh-CN" sz="2400" dirty="0">
                <a:solidFill>
                  <a:srgbClr val="C00000"/>
                </a:solidFill>
              </a:rPr>
              <a:t>do</a:t>
            </a:r>
            <a:r>
              <a:rPr lang="en-US" altLang="zh-CN" sz="2400" dirty="0">
                <a:solidFill>
                  <a:srgbClr val="C00000"/>
                </a:solidFill>
                <a:cs typeface="Times New Roman" panose="02020603050405020304" pitchFamily="18" charset="0"/>
              </a:rPr>
              <a:t> atomic bombs,</a:t>
            </a:r>
            <a:r>
              <a:rPr lang="zh-CN" altLang="en-US" sz="2400" dirty="0">
                <a:solidFill>
                  <a:srgbClr val="C00000"/>
                </a:solidFill>
                <a:cs typeface="Times New Roman" panose="02020603050405020304" pitchFamily="18" charset="0"/>
              </a:rPr>
              <a:t> </a:t>
            </a:r>
            <a:r>
              <a:rPr lang="en-US" altLang="zh-CN" sz="2400" dirty="0">
                <a:solidFill>
                  <a:srgbClr val="C00000"/>
                </a:solidFill>
                <a:cs typeface="Times New Roman" panose="02020603050405020304" pitchFamily="18" charset="0"/>
              </a:rPr>
              <a:t>which</a:t>
            </a:r>
            <a:r>
              <a:rPr lang="zh-CN" altLang="en-US" sz="2400" dirty="0">
                <a:solidFill>
                  <a:srgbClr val="C00000"/>
                </a:solidFill>
                <a:cs typeface="Times New Roman" panose="02020603050405020304" pitchFamily="18" charset="0"/>
              </a:rPr>
              <a:t> </a:t>
            </a:r>
            <a:r>
              <a:rPr lang="en-US" altLang="zh-CN" sz="2400" dirty="0">
                <a:solidFill>
                  <a:srgbClr val="C00000"/>
                </a:solidFill>
                <a:cs typeface="Times New Roman" panose="02020603050405020304" pitchFamily="18" charset="0"/>
              </a:rPr>
              <a:t>should</a:t>
            </a:r>
            <a:r>
              <a:rPr lang="zh-CN" altLang="en-US" sz="2400" dirty="0">
                <a:solidFill>
                  <a:srgbClr val="C00000"/>
                </a:solidFill>
                <a:cs typeface="Times New Roman" panose="02020603050405020304" pitchFamily="18" charset="0"/>
              </a:rPr>
              <a:t> </a:t>
            </a:r>
            <a:r>
              <a:rPr lang="en-US" altLang="zh-CN" sz="2400" dirty="0">
                <a:solidFill>
                  <a:srgbClr val="C00000"/>
                </a:solidFill>
                <a:cs typeface="Times New Roman" panose="02020603050405020304" pitchFamily="18" charset="0"/>
              </a:rPr>
              <a:t>be</a:t>
            </a:r>
            <a:r>
              <a:rPr lang="zh-CN" altLang="en-US" sz="2400" dirty="0">
                <a:solidFill>
                  <a:srgbClr val="C00000"/>
                </a:solidFill>
                <a:cs typeface="Times New Roman" panose="02020603050405020304" pitchFamily="18" charset="0"/>
              </a:rPr>
              <a:t> </a:t>
            </a:r>
            <a:r>
              <a:rPr lang="en-US" altLang="zh-CN" sz="2400" dirty="0">
                <a:solidFill>
                  <a:srgbClr val="C00000"/>
                </a:solidFill>
                <a:cs typeface="Times New Roman" panose="02020603050405020304" pitchFamily="18" charset="0"/>
              </a:rPr>
              <a:t>called</a:t>
            </a:r>
            <a:r>
              <a:rPr lang="zh-CN" altLang="en-US" sz="2400" dirty="0">
                <a:solidFill>
                  <a:srgbClr val="C00000"/>
                </a:solidFill>
                <a:cs typeface="Times New Roman" panose="02020603050405020304" pitchFamily="18" charset="0"/>
              </a:rPr>
              <a:t> </a:t>
            </a:r>
            <a:r>
              <a:rPr lang="en-US" altLang="zh-CN" sz="2400" dirty="0">
                <a:solidFill>
                  <a:srgbClr val="C00000"/>
                </a:solidFill>
                <a:cs typeface="Times New Roman" panose="02020603050405020304" pitchFamily="18" charset="0"/>
              </a:rPr>
              <a:t>nuclear</a:t>
            </a:r>
            <a:r>
              <a:rPr lang="zh-CN" altLang="en-US" sz="2400" dirty="0">
                <a:solidFill>
                  <a:srgbClr val="C00000"/>
                </a:solidFill>
                <a:cs typeface="Times New Roman" panose="02020603050405020304" pitchFamily="18" charset="0"/>
              </a:rPr>
              <a:t> </a:t>
            </a:r>
            <a:r>
              <a:rPr lang="en-US" altLang="zh-CN" sz="2400" dirty="0">
                <a:solidFill>
                  <a:srgbClr val="C00000"/>
                </a:solidFill>
                <a:cs typeface="Times New Roman" panose="02020603050405020304" pitchFamily="18" charset="0"/>
              </a:rPr>
              <a:t>bombs</a:t>
            </a:r>
            <a:r>
              <a:rPr lang="en-US" altLang="zh-CN" sz="2400" dirty="0">
                <a:solidFill>
                  <a:srgbClr val="C00000"/>
                </a:solidFill>
              </a:rPr>
              <a:t>.</a:t>
            </a:r>
            <a:endParaRPr lang="en-US" altLang="zh-CN" sz="2400" dirty="0">
              <a:solidFill>
                <a:srgbClr val="C00000"/>
              </a:solidFill>
              <a:cs typeface="Times New Roman" panose="02020603050405020304" pitchFamily="18" charset="0"/>
            </a:endParaRPr>
          </a:p>
          <a:p>
            <a:pPr marL="0" indent="0" algn="ctr">
              <a:lnSpc>
                <a:spcPct val="150000"/>
              </a:lnSpc>
              <a:buNone/>
            </a:pPr>
            <a:r>
              <a:rPr lang="en-US" altLang="zh-CN" sz="2400" dirty="0">
                <a:cs typeface="Times New Roman" panose="02020603050405020304" pitchFamily="18" charset="0"/>
              </a:rPr>
              <a:t>We study the </a:t>
            </a:r>
            <a:r>
              <a:rPr lang="en-US" altLang="zh-CN" sz="2400" dirty="0">
                <a:solidFill>
                  <a:srgbClr val="C00000"/>
                </a:solidFill>
                <a:cs typeface="Times New Roman" panose="02020603050405020304" pitchFamily="18" charset="0"/>
              </a:rPr>
              <a:t>electromagnetic</a:t>
            </a:r>
            <a:r>
              <a:rPr lang="en-US" altLang="zh-CN" sz="2400" dirty="0">
                <a:cs typeface="Times New Roman" panose="02020603050405020304" pitchFamily="18" charset="0"/>
              </a:rPr>
              <a:t> interactions between electrons, nucleus and external EM fields </a:t>
            </a:r>
          </a:p>
        </p:txBody>
      </p:sp>
    </p:spTree>
    <p:extLst>
      <p:ext uri="{BB962C8B-B14F-4D97-AF65-F5344CB8AC3E}">
        <p14:creationId xmlns:p14="http://schemas.microsoft.com/office/powerpoint/2010/main" val="1196783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dirty="0"/>
              <a:t>Syllabus</a:t>
            </a:r>
            <a:endParaRPr lang="en-US" b="0" dirty="0"/>
          </a:p>
        </p:txBody>
      </p:sp>
      <p:sp>
        <p:nvSpPr>
          <p:cNvPr id="3" name="Content Placeholder 2"/>
          <p:cNvSpPr>
            <a:spLocks noGrp="1"/>
          </p:cNvSpPr>
          <p:nvPr>
            <p:ph idx="1"/>
          </p:nvPr>
        </p:nvSpPr>
        <p:spPr>
          <a:xfrm>
            <a:off x="609600" y="908720"/>
            <a:ext cx="6926560" cy="5616624"/>
          </a:xfrm>
        </p:spPr>
        <p:txBody>
          <a:bodyPr>
            <a:normAutofit/>
          </a:bodyPr>
          <a:lstStyle/>
          <a:p>
            <a:pPr marL="514350" indent="-514350">
              <a:lnSpc>
                <a:spcPct val="120000"/>
              </a:lnSpc>
              <a:buFont typeface="+mj-lt"/>
              <a:buAutoNum type="arabicPeriod"/>
            </a:pPr>
            <a:r>
              <a:rPr lang="en-US" dirty="0">
                <a:solidFill>
                  <a:srgbClr val="0070C0"/>
                </a:solidFill>
              </a:rPr>
              <a:t>The birth of atomic physics and quantum mechanics</a:t>
            </a:r>
          </a:p>
          <a:p>
            <a:pPr marL="514350" indent="-514350">
              <a:lnSpc>
                <a:spcPct val="120000"/>
              </a:lnSpc>
              <a:buFont typeface="+mj-lt"/>
              <a:buAutoNum type="arabicPeriod"/>
            </a:pPr>
            <a:r>
              <a:rPr lang="en-US" dirty="0">
                <a:solidFill>
                  <a:srgbClr val="A50021"/>
                </a:solidFill>
              </a:rPr>
              <a:t>elements of quantum mechanics</a:t>
            </a:r>
          </a:p>
          <a:p>
            <a:pPr marL="514350" indent="-514350">
              <a:lnSpc>
                <a:spcPct val="120000"/>
              </a:lnSpc>
              <a:buFont typeface="+mj-lt"/>
              <a:buAutoNum type="arabicPeriod"/>
            </a:pPr>
            <a:r>
              <a:rPr lang="en-US" dirty="0">
                <a:solidFill>
                  <a:srgbClr val="009900"/>
                </a:solidFill>
              </a:rPr>
              <a:t>Atomic structure and interaction with EM fields</a:t>
            </a:r>
          </a:p>
          <a:p>
            <a:pPr marL="514350" indent="-514350">
              <a:lnSpc>
                <a:spcPct val="120000"/>
              </a:lnSpc>
              <a:buFont typeface="+mj-lt"/>
              <a:buAutoNum type="arabicPeriod"/>
            </a:pPr>
            <a:r>
              <a:rPr lang="en-US" dirty="0">
                <a:solidFill>
                  <a:srgbClr val="7030A0"/>
                </a:solidFill>
              </a:rPr>
              <a:t>Advances in modern Advances</a:t>
            </a:r>
            <a:br>
              <a:rPr lang="en-US" dirty="0"/>
            </a:br>
            <a:endParaRPr lang="en-US" dirty="0">
              <a:solidFill>
                <a:schemeClr val="accent4"/>
              </a:solidFill>
              <a:ea typeface="黑体" panose="02010609060101010101" pitchFamily="49" charset="-122"/>
            </a:endParaRPr>
          </a:p>
        </p:txBody>
      </p:sp>
      <p:graphicFrame>
        <p:nvGraphicFramePr>
          <p:cNvPr id="5" name="Chart 4">
            <a:extLst>
              <a:ext uri="{FF2B5EF4-FFF2-40B4-BE49-F238E27FC236}">
                <a16:creationId xmlns:a16="http://schemas.microsoft.com/office/drawing/2014/main" id="{0A23287B-BDC6-447C-98D5-4A21D3CF75D4}"/>
              </a:ext>
            </a:extLst>
          </p:cNvPr>
          <p:cNvGraphicFramePr/>
          <p:nvPr>
            <p:extLst>
              <p:ext uri="{D42A27DB-BD31-4B8C-83A1-F6EECF244321}">
                <p14:modId xmlns:p14="http://schemas.microsoft.com/office/powerpoint/2010/main" val="491863711"/>
              </p:ext>
            </p:extLst>
          </p:nvPr>
        </p:nvGraphicFramePr>
        <p:xfrm>
          <a:off x="7752184" y="1340768"/>
          <a:ext cx="3960440" cy="308681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8248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3AC9AC-5F30-42D0-A28C-1DF508F2A0FC}"/>
              </a:ext>
            </a:extLst>
          </p:cNvPr>
          <p:cNvPicPr>
            <a:picLocks noChangeAspect="1"/>
          </p:cNvPicPr>
          <p:nvPr/>
        </p:nvPicPr>
        <p:blipFill>
          <a:blip r:embed="rId3"/>
          <a:stretch>
            <a:fillRect/>
          </a:stretch>
        </p:blipFill>
        <p:spPr>
          <a:xfrm>
            <a:off x="104717" y="0"/>
            <a:ext cx="11982566" cy="6858000"/>
          </a:xfrm>
          <a:prstGeom prst="rect">
            <a:avLst/>
          </a:prstGeom>
        </p:spPr>
      </p:pic>
    </p:spTree>
    <p:extLst>
      <p:ext uri="{BB962C8B-B14F-4D97-AF65-F5344CB8AC3E}">
        <p14:creationId xmlns:p14="http://schemas.microsoft.com/office/powerpoint/2010/main" val="3223353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原子物理学&amp;quot;&quot;/&gt;&lt;property id=&quot;20307&quot; value=&quot;256&quot;/&gt;&lt;/object&gt;&lt;object type=&quot;3&quot; unique_id=&quot;10073&quot;&gt;&lt;property id=&quot;20148&quot; value=&quot;5&quot;/&gt;&lt;property id=&quot;20300&quot; value=&quot;Slide 2 - &amp;quot;《原子物理》日程安排&amp;quot;&quot;/&gt;&lt;property id=&quot;20307&quot; value=&quot;274&quot;/&gt;&lt;/object&gt;&lt;object type=&quot;3&quot; unique_id=&quot;10123&quot;&gt;&lt;property id=&quot;20148&quot; value=&quot;5&quot;/&gt;&lt;property id=&quot;20300&quot; value=&quot;Slide 3 - &amp;quot;参考资料&amp;quot;&quot;/&gt;&lt;property id=&quot;20307&quot; value=&quot;276&quot;/&gt;&lt;/object&gt;&lt;object type=&quot;3&quot; unique_id=&quot;10124&quot;&gt;&lt;property id=&quot;20148&quot; value=&quot;5&quot;/&gt;&lt;property id=&quot;20300&quot; value=&quot;Slide 6 - &amp;quot;课程内容安排&amp;quot;&quot;/&gt;&lt;property id=&quot;20307&quot; value=&quot;275&quot;/&gt;&lt;/object&gt;&lt;object type=&quot;3&quot; unique_id=&quot;10125&quot;&gt;&lt;property id=&quot;20148&quot; value=&quot;5&quot;/&gt;&lt;property id=&quot;20300&quot; value=&quot;Slide 4 - &amp;quot;原子假说&amp;quot;&quot;/&gt;&lt;property id=&quot;20307&quot; value=&quot;277&quot;/&gt;&lt;/object&gt;&lt;object type=&quot;3&quot; unique_id=&quot;10134&quot;&gt;&lt;property id=&quot;20148&quot; value=&quot;5&quot;/&gt;&lt;property id=&quot;20300&quot; value=&quot;Slide 5 - &amp;quot;这句话里的信息&amp;quot;&quot;/&gt;&lt;property id=&quot;20307&quot; value=&quot;278&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5242</TotalTime>
  <Words>406</Words>
  <Application>Microsoft Office PowerPoint</Application>
  <PresentationFormat>Widescreen</PresentationFormat>
  <Paragraphs>64</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Atomic physics</vt:lpstr>
      <vt:lpstr>Study efficiently</vt:lpstr>
      <vt:lpstr>The Feynman Lecture on Physics</vt:lpstr>
      <vt:lpstr>Branches of Science heavily reply on atomic physics</vt:lpstr>
      <vt:lpstr>Modern atomic physics - Atomic, Molecular and Optical (AMO ) Physics </vt:lpstr>
      <vt:lpstr>Syllabus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dc:creator>
  <cp:lastModifiedBy>Zhao KF</cp:lastModifiedBy>
  <cp:revision>247</cp:revision>
  <cp:lastPrinted>2014-09-17T04:56:16Z</cp:lastPrinted>
  <dcterms:created xsi:type="dcterms:W3CDTF">2013-05-26T05:06:15Z</dcterms:created>
  <dcterms:modified xsi:type="dcterms:W3CDTF">2026-09-10T14:52:56Z</dcterms:modified>
</cp:coreProperties>
</file>