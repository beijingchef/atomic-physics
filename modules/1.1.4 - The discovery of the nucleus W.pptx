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7" r:id="rId2"/>
    <p:sldId id="259" r:id="rId3"/>
    <p:sldId id="262" r:id="rId4"/>
    <p:sldId id="261" r:id="rId5"/>
    <p:sldId id="263" r:id="rId6"/>
    <p:sldId id="264" r:id="rId7"/>
    <p:sldId id="276" r:id="rId8"/>
    <p:sldId id="265" r:id="rId9"/>
    <p:sldId id="275" r:id="rId10"/>
    <p:sldId id="268" r:id="rId11"/>
    <p:sldId id="269" r:id="rId12"/>
    <p:sldId id="270" r:id="rId13"/>
    <p:sldId id="272" r:id="rId14"/>
    <p:sldId id="324" r:id="rId15"/>
    <p:sldId id="326" r:id="rId16"/>
    <p:sldId id="273" r:id="rId17"/>
    <p:sldId id="271"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9B909A9-1A0A-4855-B66E-CA5649E46310}">
          <p14:sldIdLst>
            <p14:sldId id="257"/>
            <p14:sldId id="259"/>
            <p14:sldId id="262"/>
          </p14:sldIdLst>
        </p14:section>
        <p14:section name="Rutherford Scattering" id="{66392D74-F1C6-455B-968C-CB4EA08B9A9C}">
          <p14:sldIdLst>
            <p14:sldId id="261"/>
            <p14:sldId id="263"/>
            <p14:sldId id="264"/>
            <p14:sldId id="276"/>
            <p14:sldId id="265"/>
          </p14:sldIdLst>
        </p14:section>
        <p14:section name="Theoretical model" id="{EB4A2199-0905-49EB-87A7-D92948E6E4F1}">
          <p14:sldIdLst>
            <p14:sldId id="275"/>
            <p14:sldId id="268"/>
            <p14:sldId id="269"/>
            <p14:sldId id="270"/>
            <p14:sldId id="272"/>
            <p14:sldId id="324"/>
            <p14:sldId id="326"/>
            <p14:sldId id="273"/>
            <p14:sldId id="271"/>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0" autoAdjust="0"/>
    <p:restoredTop sz="69881" autoAdjust="0"/>
  </p:normalViewPr>
  <p:slideViewPr>
    <p:cSldViewPr snapToGrid="0">
      <p:cViewPr varScale="1">
        <p:scale>
          <a:sx n="83" d="100"/>
          <a:sy n="83" d="100"/>
        </p:scale>
        <p:origin x="1858" y="67"/>
      </p:cViewPr>
      <p:guideLst>
        <p:guide orient="horz" pos="2160"/>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EA3A09-33D8-4FCD-88AE-A0F9585D970D}" type="datetimeFigureOut">
              <a:rPr lang="zh-CN" altLang="en-US" smtClean="0"/>
              <a:t>2025/2/20</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255099-1E2D-467F-BD8A-F48841F916F8}" type="slidenum">
              <a:rPr lang="zh-CN" altLang="en-US" smtClean="0"/>
              <a:t>‹#›</a:t>
            </a:fld>
            <a:endParaRPr lang="zh-CN" altLang="en-US"/>
          </a:p>
        </p:txBody>
      </p:sp>
    </p:spTree>
    <p:extLst>
      <p:ext uri="{BB962C8B-B14F-4D97-AF65-F5344CB8AC3E}">
        <p14:creationId xmlns:p14="http://schemas.microsoft.com/office/powerpoint/2010/main" val="908725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800" b="0" dirty="0">
                <a:latin typeface="宋体" panose="02010600030101010101" pitchFamily="2" charset="-122"/>
                <a:ea typeface="宋体" panose="02010600030101010101" pitchFamily="2" charset="-122"/>
              </a:rPr>
              <a:t>Thomson</a:t>
            </a:r>
            <a:r>
              <a:rPr lang="zh-CN" altLang="en-US" sz="800" b="0" dirty="0">
                <a:latin typeface="宋体" panose="02010600030101010101" pitchFamily="2" charset="-122"/>
                <a:ea typeface="宋体" panose="02010600030101010101" pitchFamily="2" charset="-122"/>
              </a:rPr>
              <a:t>在发现了第一种亚原子粒子</a:t>
            </a:r>
            <a:r>
              <a:rPr lang="en-US" altLang="zh-CN" sz="800" b="0" dirty="0">
                <a:latin typeface="宋体" panose="02010600030101010101" pitchFamily="2" charset="-122"/>
                <a:ea typeface="宋体" panose="02010600030101010101" pitchFamily="2" charset="-122"/>
              </a:rPr>
              <a:t>-</a:t>
            </a:r>
            <a:r>
              <a:rPr lang="zh-CN" altLang="en-US" sz="800" b="0" dirty="0">
                <a:latin typeface="宋体" panose="02010600030101010101" pitchFamily="2" charset="-122"/>
                <a:ea typeface="宋体" panose="02010600030101010101" pitchFamily="2" charset="-122"/>
              </a:rPr>
              <a:t>电子后，就提出了一个原子模型。在那个年代人们刚刚开始接受原子的概念，对原子的图像还是非常模糊的。</a:t>
            </a:r>
            <a:endParaRPr lang="en-US" altLang="zh-CN" sz="800" b="0" dirty="0">
              <a:latin typeface="宋体" panose="02010600030101010101" pitchFamily="2" charset="-122"/>
              <a:ea typeface="宋体" panose="02010600030101010101" pitchFamily="2" charset="-122"/>
            </a:endParaRPr>
          </a:p>
          <a:p>
            <a:endParaRPr lang="en-US" altLang="zh-CN" sz="800" b="0" dirty="0">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800" b="0" dirty="0">
                <a:solidFill>
                  <a:srgbClr val="C00000"/>
                </a:solidFill>
                <a:latin typeface="宋体" panose="02010600030101010101" pitchFamily="2" charset="-122"/>
                <a:ea typeface="宋体" panose="02010600030101010101" pitchFamily="2" charset="-122"/>
              </a:rPr>
              <a:t>Thomson</a:t>
            </a:r>
            <a:r>
              <a:rPr lang="zh-CN" altLang="en-US" sz="800" b="0" dirty="0">
                <a:solidFill>
                  <a:srgbClr val="C00000"/>
                </a:solidFill>
                <a:latin typeface="宋体" panose="02010600030101010101" pitchFamily="2" charset="-122"/>
                <a:ea typeface="宋体" panose="02010600030101010101" pitchFamily="2" charset="-122"/>
              </a:rPr>
              <a:t>认为：由于原子是中性的，电子带负电且质量很小，大约只有氢原子的</a:t>
            </a:r>
            <a:r>
              <a:rPr lang="en-US" altLang="zh-CN" sz="800" b="0" dirty="0">
                <a:solidFill>
                  <a:srgbClr val="C00000"/>
                </a:solidFill>
                <a:latin typeface="宋体" panose="02010600030101010101" pitchFamily="2" charset="-122"/>
                <a:ea typeface="宋体" panose="02010600030101010101" pitchFamily="2" charset="-122"/>
              </a:rPr>
              <a:t>1800</a:t>
            </a:r>
            <a:r>
              <a:rPr lang="zh-CN" altLang="en-US" sz="800" b="0" dirty="0">
                <a:solidFill>
                  <a:srgbClr val="C00000"/>
                </a:solidFill>
                <a:latin typeface="宋体" panose="02010600030101010101" pitchFamily="2" charset="-122"/>
                <a:ea typeface="宋体" panose="02010600030101010101" pitchFamily="2" charset="-122"/>
              </a:rPr>
              <a:t>分之一。原子中应该及质量更大的物质，并且携带和电子总电量相等的正电荷。他认为这些正电荷是均匀分布在这中大质量物质里的。</a:t>
            </a:r>
            <a:r>
              <a:rPr lang="zh-CN" altLang="en-US" sz="800" b="0" dirty="0">
                <a:latin typeface="宋体" panose="02010600030101010101" pitchFamily="2" charset="-122"/>
                <a:ea typeface="宋体" panose="02010600030101010101" pitchFamily="2" charset="-122"/>
              </a:rPr>
              <a:t>这就是</a:t>
            </a:r>
            <a:r>
              <a:rPr lang="en-US" altLang="zh-CN" sz="800" b="0" dirty="0">
                <a:latin typeface="宋体" panose="02010600030101010101" pitchFamily="2" charset="-122"/>
                <a:ea typeface="宋体" panose="02010600030101010101" pitchFamily="2" charset="-122"/>
              </a:rPr>
              <a:t>Thomson</a:t>
            </a:r>
            <a:r>
              <a:rPr lang="zh-CN" altLang="en-US" sz="800" b="0" dirty="0">
                <a:latin typeface="宋体" panose="02010600030101010101" pitchFamily="2" charset="-122"/>
                <a:ea typeface="宋体" panose="02010600030101010101" pitchFamily="2" charset="-122"/>
              </a:rPr>
              <a:t>的原子模型，也称葡萄干布丁模型。 </a:t>
            </a:r>
            <a:endParaRPr lang="en-US" altLang="zh-CN" sz="800" b="0" dirty="0">
              <a:latin typeface="宋体" panose="02010600030101010101" pitchFamily="2" charset="-122"/>
              <a:ea typeface="宋体" panose="02010600030101010101" pitchFamily="2" charset="-122"/>
            </a:endParaRPr>
          </a:p>
        </p:txBody>
      </p:sp>
      <p:sp>
        <p:nvSpPr>
          <p:cNvPr id="4" name="Slide Number Placeholder 3"/>
          <p:cNvSpPr>
            <a:spLocks noGrp="1"/>
          </p:cNvSpPr>
          <p:nvPr>
            <p:ph type="sldNum" sz="quarter" idx="10"/>
          </p:nvPr>
        </p:nvSpPr>
        <p:spPr/>
        <p:txBody>
          <a:bodyPr/>
          <a:lstStyle/>
          <a:p>
            <a:fld id="{47255099-1E2D-467F-BD8A-F48841F916F8}" type="slidenum">
              <a:rPr lang="zh-CN" altLang="en-US" smtClean="0"/>
              <a:t>2</a:t>
            </a:fld>
            <a:endParaRPr lang="zh-CN" altLang="en-US"/>
          </a:p>
        </p:txBody>
      </p:sp>
    </p:spTree>
    <p:extLst>
      <p:ext uri="{BB962C8B-B14F-4D97-AF65-F5344CB8AC3E}">
        <p14:creationId xmlns:p14="http://schemas.microsoft.com/office/powerpoint/2010/main" val="36422780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The golden age of radioactivity.</a:t>
            </a:r>
          </a:p>
          <a:p>
            <a:endParaRPr lang="en-US" altLang="zh-CN" dirty="0"/>
          </a:p>
          <a:p>
            <a:r>
              <a:rPr lang="en-US" altLang="zh-CN" dirty="0"/>
              <a:t>Rutherford came from a farmer’s family in New Zealand. After graduating from university, he received a scholarship for postgraduate study at the Cavendish Laboratory, University of Cambridge. There, he was guided by Thomson. After completing his postgraduate studies in 1898, he joined McGill University in Canada. Inspired by Becquerel's discoveries, he began studying radioactive substances.</a:t>
            </a:r>
          </a:p>
          <a:p>
            <a:endParaRPr lang="en-US" altLang="zh-CN" dirty="0"/>
          </a:p>
          <a:p>
            <a:r>
              <a:rPr lang="en-US" altLang="zh-CN" dirty="0"/>
              <a:t>According to a recent research, the level of academic activity for Nobel Prize winners decreases by 30% after receiving the award. </a:t>
            </a:r>
          </a:p>
          <a:p>
            <a:r>
              <a:rPr lang="en-US" altLang="zh-CN" dirty="0"/>
              <a:t>But Rutherford is the opposite. He is regarded as the greatest experimental physicist since Faraday. </a:t>
            </a:r>
          </a:p>
          <a:p>
            <a:endParaRPr lang="en-US" altLang="zh-CN" dirty="0"/>
          </a:p>
          <a:p>
            <a:r>
              <a:rPr lang="en-US" altLang="zh-CN" b="0" i="0" dirty="0">
                <a:solidFill>
                  <a:srgbClr val="404040"/>
                </a:solidFill>
                <a:effectLst/>
                <a:latin typeface="Inter"/>
              </a:rPr>
              <a:t>Artificial nuclear reaction: Bombarding nitrogen gas with alpha particles to produce oxygen and protons.</a:t>
            </a:r>
          </a:p>
          <a:p>
            <a:endParaRPr lang="en-US" altLang="zh-CN" dirty="0"/>
          </a:p>
        </p:txBody>
      </p:sp>
      <p:sp>
        <p:nvSpPr>
          <p:cNvPr id="4" name="Slide Number Placeholder 3"/>
          <p:cNvSpPr>
            <a:spLocks noGrp="1"/>
          </p:cNvSpPr>
          <p:nvPr>
            <p:ph type="sldNum" sz="quarter" idx="10"/>
          </p:nvPr>
        </p:nvSpPr>
        <p:spPr/>
        <p:txBody>
          <a:bodyPr/>
          <a:lstStyle/>
          <a:p>
            <a:fld id="{C08A642B-1D08-47C1-9385-1FDD33F8CE06}" type="slidenum">
              <a:rPr lang="en-US" smtClean="0"/>
              <a:t>3</a:t>
            </a:fld>
            <a:endParaRPr lang="en-US"/>
          </a:p>
        </p:txBody>
      </p:sp>
    </p:spTree>
    <p:extLst>
      <p:ext uri="{BB962C8B-B14F-4D97-AF65-F5344CB8AC3E}">
        <p14:creationId xmlns:p14="http://schemas.microsoft.com/office/powerpoint/2010/main" val="5339583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Rutherford's discovery of the nucleus was made by alpha particles scattering experiment. </a:t>
            </a:r>
          </a:p>
          <a:p>
            <a:endParaRPr lang="en-US" altLang="zh-CN" dirty="0"/>
          </a:p>
          <a:p>
            <a:r>
              <a:rPr lang="en-US" altLang="zh-CN" dirty="0"/>
              <a:t>In nuclear physics, the three most famous common types of radiation are the alpha, beta, and gamma radiations, where alpha particle are helium+2 ions, beta particles are electrons, and gamma radiation are high-energy </a:t>
            </a:r>
            <a:r>
              <a:rPr lang="en-US" altLang="zh-CN" dirty="0" err="1"/>
              <a:t>em</a:t>
            </a:r>
            <a:r>
              <a:rPr lang="en-US" altLang="zh-CN" dirty="0"/>
              <a:t> waves with wavelengths shorter than that of X-rays.</a:t>
            </a:r>
          </a:p>
          <a:p>
            <a:endParaRPr lang="en-US" altLang="zh-CN" dirty="0"/>
          </a:p>
          <a:p>
            <a:r>
              <a:rPr lang="en-US" altLang="zh-CN" dirty="0"/>
              <a:t>Since alpha rays are positively charged, beta rays are negatively charged, and gamma rays are neutral, they can be easily distinguished using a magnetic field. These three types of radiation were all named by Rutherford.</a:t>
            </a:r>
          </a:p>
          <a:p>
            <a:endParaRPr lang="en-US" altLang="zh-CN" dirty="0"/>
          </a:p>
          <a:p>
            <a:r>
              <a:rPr lang="en-US" altLang="zh-CN" dirty="0"/>
              <a:t>It was Rutherford who discovered that alpha rays are Helium ions with a +2 charge, which is just the nucleus of Helium.</a:t>
            </a:r>
          </a:p>
          <a:p>
            <a:endParaRPr lang="en-US" altLang="zh-CN" dirty="0"/>
          </a:p>
          <a:p>
            <a:r>
              <a:rPr lang="en-US" altLang="zh-CN" dirty="0"/>
              <a:t>Radon gas undergoes alpha decay, emitting alpha particles. This process produces alpha radiation with an energy of around 5 MeV and a speed about 5% of the speed of light.</a:t>
            </a:r>
          </a:p>
        </p:txBody>
      </p:sp>
      <p:sp>
        <p:nvSpPr>
          <p:cNvPr id="4" name="Slide Number Placeholder 3"/>
          <p:cNvSpPr>
            <a:spLocks noGrp="1"/>
          </p:cNvSpPr>
          <p:nvPr>
            <p:ph type="sldNum" sz="quarter" idx="10"/>
          </p:nvPr>
        </p:nvSpPr>
        <p:spPr/>
        <p:txBody>
          <a:bodyPr/>
          <a:lstStyle/>
          <a:p>
            <a:fld id="{47255099-1E2D-467F-BD8A-F48841F916F8}" type="slidenum">
              <a:rPr lang="zh-CN" altLang="en-US" smtClean="0"/>
              <a:t>4</a:t>
            </a:fld>
            <a:endParaRPr lang="zh-CN" altLang="en-US"/>
          </a:p>
        </p:txBody>
      </p:sp>
    </p:spTree>
    <p:extLst>
      <p:ext uri="{BB962C8B-B14F-4D97-AF65-F5344CB8AC3E}">
        <p14:creationId xmlns:p14="http://schemas.microsoft.com/office/powerpoint/2010/main" val="26633090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latin typeface="+mn-lt"/>
                <a:ea typeface="+mn-ea"/>
                <a:cs typeface="+mn-cs"/>
              </a:rPr>
              <a:t>卢瑟福和助手盖革一起开始做这个实验。穿过金箔的</a:t>
            </a:r>
            <a:r>
              <a:rPr lang="en-US" altLang="zh-CN" sz="1200" kern="1200" dirty="0">
                <a:solidFill>
                  <a:schemeClr val="tx1"/>
                </a:solidFill>
                <a:latin typeface="+mn-lt"/>
                <a:ea typeface="+mn-ea"/>
                <a:cs typeface="+mn-cs"/>
              </a:rPr>
              <a:t>alpha</a:t>
            </a:r>
            <a:r>
              <a:rPr lang="zh-CN" altLang="en-US" sz="1200" kern="1200" dirty="0">
                <a:solidFill>
                  <a:schemeClr val="tx1"/>
                </a:solidFill>
                <a:latin typeface="+mn-lt"/>
                <a:ea typeface="+mn-ea"/>
                <a:cs typeface="+mn-cs"/>
              </a:rPr>
              <a:t>粒子打在一个闪烁屏上会发出荧</a:t>
            </a:r>
            <a:r>
              <a:rPr lang="zh-CN" altLang="en-US" sz="1200" kern="1200">
                <a:solidFill>
                  <a:schemeClr val="tx1"/>
                </a:solidFill>
                <a:latin typeface="+mn-lt"/>
                <a:ea typeface="+mn-ea"/>
                <a:cs typeface="+mn-cs"/>
              </a:rPr>
              <a:t>光，被</a:t>
            </a:r>
            <a:r>
              <a:rPr lang="zh-CN" altLang="en-US" sz="1200" kern="1200" dirty="0">
                <a:solidFill>
                  <a:schemeClr val="tx1"/>
                </a:solidFill>
                <a:latin typeface="+mn-lt"/>
                <a:ea typeface="+mn-ea"/>
                <a:cs typeface="+mn-cs"/>
              </a:rPr>
              <a:t>后面的显微镜观察到。</a:t>
            </a:r>
            <a:endParaRPr lang="en-US" altLang="zh-CN" sz="1200" kern="1200" dirty="0">
              <a:solidFill>
                <a:schemeClr val="tx1"/>
              </a:solidFill>
              <a:latin typeface="+mn-lt"/>
              <a:ea typeface="+mn-ea"/>
              <a:cs typeface="+mn-cs"/>
            </a:endParaRPr>
          </a:p>
          <a:p>
            <a:endParaRPr lang="en-US" altLang="zh-CN" sz="1200" kern="1200" dirty="0">
              <a:solidFill>
                <a:schemeClr val="tx1"/>
              </a:solidFill>
              <a:latin typeface="+mn-lt"/>
              <a:ea typeface="+mn-ea"/>
              <a:cs typeface="+mn-cs"/>
            </a:endParaRPr>
          </a:p>
          <a:p>
            <a:r>
              <a:rPr lang="en-US" altLang="zh-CN" sz="1200" kern="1200" dirty="0">
                <a:solidFill>
                  <a:schemeClr val="tx1"/>
                </a:solidFill>
                <a:latin typeface="+mn-lt"/>
                <a:ea typeface="+mn-ea"/>
                <a:cs typeface="+mn-cs"/>
              </a:rPr>
              <a:t>At first t</a:t>
            </a:r>
            <a:r>
              <a:rPr lang="en-US" sz="1200" kern="1200" dirty="0">
                <a:solidFill>
                  <a:schemeClr val="tx1"/>
                </a:solidFill>
                <a:latin typeface="+mn-lt"/>
                <a:ea typeface="+mn-ea"/>
                <a:cs typeface="+mn-cs"/>
              </a:rPr>
              <a:t>he experiments was quite difficult. Observations could only be taken in a dark laboratory, and it took about half an hour for the observer's eyes to adjust to seeing the traces. Each observer could only count accurately for about a minute before they needed to swap over. </a:t>
            </a:r>
          </a:p>
          <a:p>
            <a:endParaRPr lang="en-US" sz="1200" kern="1200" dirty="0">
              <a:solidFill>
                <a:schemeClr val="tx1"/>
              </a:solidFill>
              <a:latin typeface="+mn-lt"/>
              <a:ea typeface="+mn-ea"/>
              <a:cs typeface="+mn-cs"/>
            </a:endParaRPr>
          </a:p>
          <a:p>
            <a:r>
              <a:rPr lang="en-US" altLang="zh-CN" sz="1200" b="0" i="0" u="none" strike="noStrike" kern="1200" baseline="0" dirty="0">
                <a:solidFill>
                  <a:schemeClr val="accent2">
                    <a:lumMod val="75000"/>
                  </a:schemeClr>
                </a:solidFill>
                <a:latin typeface="+mn-lt"/>
                <a:ea typeface="+mn-ea"/>
                <a:cs typeface="+mn-cs"/>
              </a:rPr>
              <a:t>*</a:t>
            </a:r>
            <a:r>
              <a:rPr lang="zh-CN" altLang="en-US" sz="1200" b="0" i="0" u="none" strike="noStrike" kern="1200" baseline="0" dirty="0">
                <a:solidFill>
                  <a:schemeClr val="accent2">
                    <a:lumMod val="75000"/>
                  </a:schemeClr>
                </a:solidFill>
                <a:latin typeface="+mn-lt"/>
                <a:ea typeface="+mn-ea"/>
                <a:cs typeface="+mn-cs"/>
              </a:rPr>
              <a:t>*</a:t>
            </a:r>
            <a:r>
              <a:rPr lang="en-US" altLang="zh-CN" sz="1200" b="0" i="0" u="none" strike="noStrike" kern="1200" baseline="0" dirty="0">
                <a:solidFill>
                  <a:schemeClr val="accent2">
                    <a:lumMod val="75000"/>
                  </a:schemeClr>
                </a:solidFill>
                <a:latin typeface="+mn-lt"/>
                <a:ea typeface="+mn-ea"/>
                <a:cs typeface="+mn-cs"/>
              </a:rPr>
              <a:t>If the reader wants to see scintillations, all he has to do is to look at the figures on a luminous watch dial with a magnifying glass. </a:t>
            </a:r>
          </a:p>
          <a:p>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Geiger later</a:t>
            </a:r>
            <a:r>
              <a:rPr lang="zh-CN" altLang="en-US" sz="1200" kern="1200" dirty="0">
                <a:solidFill>
                  <a:schemeClr val="tx1"/>
                </a:solidFill>
                <a:latin typeface="+mn-lt"/>
                <a:ea typeface="+mn-ea"/>
                <a:cs typeface="+mn-cs"/>
              </a:rPr>
              <a:t>（</a:t>
            </a:r>
            <a:r>
              <a:rPr lang="en-US" altLang="zh-CN" sz="1200" kern="1200" dirty="0">
                <a:solidFill>
                  <a:schemeClr val="tx1"/>
                </a:solidFill>
                <a:latin typeface="+mn-lt"/>
                <a:ea typeface="+mn-ea"/>
                <a:cs typeface="+mn-cs"/>
              </a:rPr>
              <a:t>1908</a:t>
            </a:r>
            <a:r>
              <a:rPr lang="zh-CN" altLang="en-US" sz="1200" kern="1200" dirty="0">
                <a:solidFill>
                  <a:schemeClr val="tx1"/>
                </a:solidFill>
                <a:latin typeface="+mn-lt"/>
                <a:ea typeface="+mn-ea"/>
                <a:cs typeface="+mn-cs"/>
              </a:rPr>
              <a:t>）</a:t>
            </a:r>
            <a:r>
              <a:rPr lang="en-US" sz="1200" kern="1200" dirty="0">
                <a:solidFill>
                  <a:schemeClr val="tx1"/>
                </a:solidFill>
                <a:latin typeface="+mn-lt"/>
                <a:ea typeface="+mn-ea"/>
                <a:cs typeface="+mn-cs"/>
              </a:rPr>
              <a:t> developed the 'Geiger counter', which could count these pulses automatically in normal light. It made similar experiments much easier!</a:t>
            </a:r>
          </a:p>
          <a:p>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In 1909 Geiger needed an experiment for a research student, Ernest Marsden. Rutherford suggested that Marsden look for alpha-particle scattering at large angles.  </a:t>
            </a:r>
            <a:r>
              <a:rPr lang="zh-CN" altLang="en-US" sz="1200" kern="1200" dirty="0">
                <a:solidFill>
                  <a:schemeClr val="tx1"/>
                </a:solidFill>
                <a:latin typeface="+mn-lt"/>
                <a:ea typeface="+mn-ea"/>
                <a:cs typeface="+mn-cs"/>
              </a:rPr>
              <a:t>盖革要给报名“曦源项目” 的</a:t>
            </a:r>
            <a:r>
              <a:rPr lang="en-US" altLang="zh-CN" sz="1200" kern="1200" dirty="0">
                <a:solidFill>
                  <a:schemeClr val="tx1"/>
                </a:solidFill>
                <a:latin typeface="+mn-lt"/>
                <a:ea typeface="+mn-ea"/>
                <a:cs typeface="+mn-cs"/>
              </a:rPr>
              <a:t>Marsden</a:t>
            </a:r>
            <a:r>
              <a:rPr lang="zh-CN" altLang="en-US" sz="1200" kern="1200" dirty="0">
                <a:solidFill>
                  <a:schemeClr val="tx1"/>
                </a:solidFill>
                <a:latin typeface="+mn-lt"/>
                <a:ea typeface="+mn-ea"/>
                <a:cs typeface="+mn-cs"/>
              </a:rPr>
              <a:t>找件事做做。于是卢瑟福建议让</a:t>
            </a:r>
            <a:r>
              <a:rPr lang="en-US" altLang="zh-CN" sz="1200" kern="1200" dirty="0">
                <a:solidFill>
                  <a:schemeClr val="tx1"/>
                </a:solidFill>
                <a:latin typeface="+mn-lt"/>
                <a:ea typeface="+mn-ea"/>
                <a:cs typeface="+mn-cs"/>
              </a:rPr>
              <a:t>Marsden</a:t>
            </a:r>
            <a:r>
              <a:rPr lang="zh-CN" altLang="en-US" sz="1200" kern="1200" dirty="0">
                <a:solidFill>
                  <a:schemeClr val="tx1"/>
                </a:solidFill>
                <a:latin typeface="+mn-lt"/>
                <a:ea typeface="+mn-ea"/>
                <a:cs typeface="+mn-cs"/>
              </a:rPr>
              <a:t>观察一下大角度散射的情况。</a:t>
            </a:r>
            <a:endParaRPr lang="en-US" dirty="0"/>
          </a:p>
        </p:txBody>
      </p:sp>
      <p:sp>
        <p:nvSpPr>
          <p:cNvPr id="4" name="Slide Number Placeholder 3"/>
          <p:cNvSpPr>
            <a:spLocks noGrp="1"/>
          </p:cNvSpPr>
          <p:nvPr>
            <p:ph type="sldNum" sz="quarter" idx="10"/>
          </p:nvPr>
        </p:nvSpPr>
        <p:spPr/>
        <p:txBody>
          <a:bodyPr/>
          <a:lstStyle/>
          <a:p>
            <a:fld id="{C08A642B-1D08-47C1-9385-1FDD33F8CE06}" type="slidenum">
              <a:rPr lang="en-US" smtClean="0"/>
              <a:t>5</a:t>
            </a:fld>
            <a:endParaRPr lang="en-US"/>
          </a:p>
        </p:txBody>
      </p:sp>
    </p:spTree>
    <p:extLst>
      <p:ext uri="{BB962C8B-B14F-4D97-AF65-F5344CB8AC3E}">
        <p14:creationId xmlns:p14="http://schemas.microsoft.com/office/powerpoint/2010/main" val="41439387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实验结果发现的确有背散射的现象，而且大约有八千分之一的粒子偏转角超过了</a:t>
            </a:r>
            <a:r>
              <a:rPr lang="en-US" altLang="zh-CN" dirty="0"/>
              <a:t>90</a:t>
            </a:r>
            <a:r>
              <a:rPr lang="zh-CN" altLang="en-US" dirty="0"/>
              <a:t>度！</a:t>
            </a:r>
          </a:p>
          <a:p>
            <a:r>
              <a:rPr lang="zh-CN" altLang="en-US" dirty="0"/>
              <a:t>卢瑟福大为吃惊。让我们来看看他为何惊讶。</a:t>
            </a:r>
          </a:p>
        </p:txBody>
      </p:sp>
      <p:sp>
        <p:nvSpPr>
          <p:cNvPr id="4" name="Slide Number Placeholder 3"/>
          <p:cNvSpPr>
            <a:spLocks noGrp="1"/>
          </p:cNvSpPr>
          <p:nvPr>
            <p:ph type="sldNum" sz="quarter" idx="10"/>
          </p:nvPr>
        </p:nvSpPr>
        <p:spPr/>
        <p:txBody>
          <a:bodyPr/>
          <a:lstStyle/>
          <a:p>
            <a:fld id="{47255099-1E2D-467F-BD8A-F48841F916F8}" type="slidenum">
              <a:rPr lang="zh-CN" altLang="en-US" smtClean="0"/>
              <a:t>6</a:t>
            </a:fld>
            <a:endParaRPr lang="zh-CN" altLang="en-US"/>
          </a:p>
        </p:txBody>
      </p:sp>
    </p:spTree>
    <p:extLst>
      <p:ext uri="{BB962C8B-B14F-4D97-AF65-F5344CB8AC3E}">
        <p14:creationId xmlns:p14="http://schemas.microsoft.com/office/powerpoint/2010/main" val="13820474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尽管不同物质质量密度差别很大，但数密度和原子半径差别很小</a:t>
            </a:r>
            <a:r>
              <a:rPr lang="en-US" altLang="zh-CN" sz="1200" dirty="0"/>
              <a:t>. </a:t>
            </a:r>
            <a:r>
              <a:rPr lang="zh-CN" altLang="en-US" sz="1200" dirty="0"/>
              <a:t>这个现象的原因要等我们学了量子力学才能够解释。</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600" dirty="0"/>
          </a:p>
          <a:p>
            <a:endParaRPr lang="zh-CN" altLang="en-US" dirty="0"/>
          </a:p>
        </p:txBody>
      </p:sp>
      <p:sp>
        <p:nvSpPr>
          <p:cNvPr id="4" name="Slide Number Placeholder 3"/>
          <p:cNvSpPr>
            <a:spLocks noGrp="1"/>
          </p:cNvSpPr>
          <p:nvPr>
            <p:ph type="sldNum" sz="quarter" idx="10"/>
          </p:nvPr>
        </p:nvSpPr>
        <p:spPr/>
        <p:txBody>
          <a:bodyPr/>
          <a:lstStyle/>
          <a:p>
            <a:fld id="{47255099-1E2D-467F-BD8A-F48841F916F8}" type="slidenum">
              <a:rPr lang="zh-CN" altLang="en-US" smtClean="0"/>
              <a:t>7</a:t>
            </a:fld>
            <a:endParaRPr lang="zh-CN" altLang="en-US"/>
          </a:p>
        </p:txBody>
      </p:sp>
    </p:spTree>
    <p:extLst>
      <p:ext uri="{BB962C8B-B14F-4D97-AF65-F5344CB8AC3E}">
        <p14:creationId xmlns:p14="http://schemas.microsoft.com/office/powerpoint/2010/main" val="11094827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根据</a:t>
            </a:r>
            <a:r>
              <a:rPr lang="en-US" altLang="zh-CN" dirty="0"/>
              <a:t>Thomson</a:t>
            </a:r>
            <a:r>
              <a:rPr lang="zh-CN" altLang="en-US" dirty="0"/>
              <a:t>模型。。。。，大角度散射的几率极低</a:t>
            </a:r>
            <a:r>
              <a:rPr lang="en-US" altLang="zh-CN" dirty="0"/>
              <a:t>,</a:t>
            </a:r>
            <a:r>
              <a:rPr lang="en-US" altLang="zh-CN" baseline="0" dirty="0"/>
              <a:t> </a:t>
            </a:r>
            <a:r>
              <a:rPr lang="zh-CN" altLang="en-US" dirty="0"/>
              <a:t>“就像炮弹打到纸上被弹了回来</a:t>
            </a:r>
            <a:r>
              <a:rPr lang="en-US" altLang="zh-CN" dirty="0"/>
              <a:t>”</a:t>
            </a:r>
          </a:p>
          <a:p>
            <a:endParaRPr lang="en-US" altLang="zh-CN" dirty="0"/>
          </a:p>
          <a:p>
            <a:r>
              <a:rPr lang="zh-CN" altLang="en-US" dirty="0"/>
              <a:t>因此这个实验结果启发卢瑟福马上想到一个新的原子模型， 即如左图所示：</a:t>
            </a:r>
            <a:endParaRPr lang="en-US" altLang="zh-CN" dirty="0"/>
          </a:p>
          <a:p>
            <a:r>
              <a:rPr lang="zh-CN" altLang="en-US" dirty="0"/>
              <a:t>除了电子，原子中的其他物质全部集中在很小的区域里，形成一个所谓的原子核。它带正电，并且质量很大。</a:t>
            </a:r>
            <a:endParaRPr lang="en-US" altLang="zh-CN" dirty="0"/>
          </a:p>
          <a:p>
            <a:r>
              <a:rPr lang="zh-CN" altLang="en-US" dirty="0"/>
              <a:t>只有这样才能够对</a:t>
            </a:r>
            <a:r>
              <a:rPr lang="en-US" altLang="zh-CN" dirty="0"/>
              <a:t>alpha</a:t>
            </a:r>
            <a:r>
              <a:rPr lang="zh-CN" altLang="en-US" dirty="0"/>
              <a:t>粒子产生大角度散射。（试试看，你能不能提出其他模型？比如还有部分中性物质是均匀分布的）</a:t>
            </a:r>
            <a:endParaRPr lang="en-US" altLang="zh-CN" dirty="0"/>
          </a:p>
          <a:p>
            <a:endParaRPr lang="en-US" altLang="zh-CN" dirty="0"/>
          </a:p>
          <a:p>
            <a:r>
              <a:rPr lang="zh-CN" altLang="en-US" dirty="0"/>
              <a:t>这个实验室</a:t>
            </a:r>
            <a:r>
              <a:rPr lang="en-US" altLang="zh-CN" dirty="0"/>
              <a:t>1909</a:t>
            </a:r>
            <a:r>
              <a:rPr lang="zh-CN" altLang="en-US" dirty="0"/>
              <a:t>年做的，但是卢瑟福并没有马上发表这一结果。因为一个好的物理理论必须能够量化，才可以和实验做比较。</a:t>
            </a:r>
            <a:endParaRPr lang="en-US" altLang="zh-CN" dirty="0"/>
          </a:p>
          <a:p>
            <a:endParaRPr lang="zh-CN" altLang="en-US" dirty="0"/>
          </a:p>
        </p:txBody>
      </p:sp>
      <p:sp>
        <p:nvSpPr>
          <p:cNvPr id="4" name="Slide Number Placeholder 3"/>
          <p:cNvSpPr>
            <a:spLocks noGrp="1"/>
          </p:cNvSpPr>
          <p:nvPr>
            <p:ph type="sldNum" sz="quarter" idx="10"/>
          </p:nvPr>
        </p:nvSpPr>
        <p:spPr/>
        <p:txBody>
          <a:bodyPr/>
          <a:lstStyle/>
          <a:p>
            <a:fld id="{47255099-1E2D-467F-BD8A-F48841F916F8}" type="slidenum">
              <a:rPr lang="zh-CN" altLang="en-US" smtClean="0"/>
              <a:t>8</a:t>
            </a:fld>
            <a:endParaRPr lang="zh-CN" altLang="en-US"/>
          </a:p>
        </p:txBody>
      </p:sp>
    </p:spTree>
    <p:extLst>
      <p:ext uri="{BB962C8B-B14F-4D97-AF65-F5344CB8AC3E}">
        <p14:creationId xmlns:p14="http://schemas.microsoft.com/office/powerpoint/2010/main" val="25095032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0" i="0" dirty="0">
                <a:solidFill>
                  <a:srgbClr val="800080"/>
                </a:solidFill>
                <a:effectLst/>
                <a:latin typeface="Inter"/>
              </a:rPr>
              <a:t>Since the interaction between two charged particles during a collision is governed by the Coulomb force, this process is referred to as </a:t>
            </a:r>
            <a:r>
              <a:rPr lang="en-US" altLang="zh-CN" b="1" i="0" dirty="0">
                <a:solidFill>
                  <a:srgbClr val="800080"/>
                </a:solidFill>
                <a:effectLst/>
                <a:latin typeface="Inter"/>
              </a:rPr>
              <a:t>Coulomb scattering</a:t>
            </a:r>
            <a:r>
              <a:rPr lang="en-US" altLang="zh-CN" b="0" i="0" dirty="0">
                <a:solidFill>
                  <a:srgbClr val="800080"/>
                </a:solidFill>
                <a:effectLst/>
                <a:latin typeface="Inter"/>
              </a:rPr>
              <a:t>.</a:t>
            </a:r>
          </a:p>
          <a:p>
            <a:pPr algn="l"/>
            <a:r>
              <a:rPr lang="en-US" altLang="zh-CN" b="0" i="0" dirty="0">
                <a:solidFill>
                  <a:srgbClr val="800080"/>
                </a:solidFill>
                <a:effectLst/>
                <a:latin typeface="Inter"/>
              </a:rPr>
              <a:t>Let us first examine the trajectory of the particles in this scattering process. Since the mass of the target (gold nucleus) is much larger than that of the incident alpha particle. We can approximate the target nucleus as having an infinite mass, meaning it does not move during the scattering process.</a:t>
            </a:r>
          </a:p>
          <a:p>
            <a:pPr algn="l"/>
            <a:endParaRPr lang="en-US" altLang="zh-CN" b="0" i="0" dirty="0">
              <a:solidFill>
                <a:srgbClr val="800080"/>
              </a:solidFill>
              <a:effectLst/>
              <a:latin typeface="Inter"/>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solidFill>
                  <a:srgbClr val="800080"/>
                </a:solidFill>
                <a:effectLst/>
                <a:latin typeface="Inter"/>
              </a:rPr>
              <a:t>Let </a:t>
            </a:r>
            <a:r>
              <a:rPr lang="en-US" altLang="zh-CN" b="0" i="1" dirty="0">
                <a:solidFill>
                  <a:srgbClr val="800080"/>
                </a:solidFill>
                <a:effectLst/>
                <a:latin typeface="KaTeX_Math"/>
              </a:rPr>
              <a:t>Z</a:t>
            </a:r>
            <a:r>
              <a:rPr lang="en-US" altLang="zh-CN" b="0" i="0" dirty="0">
                <a:solidFill>
                  <a:srgbClr val="800080"/>
                </a:solidFill>
                <a:effectLst/>
                <a:latin typeface="KaTeX_Main"/>
              </a:rPr>
              <a:t>1​</a:t>
            </a:r>
            <a:r>
              <a:rPr lang="en-US" altLang="zh-CN" b="0" i="0" dirty="0">
                <a:solidFill>
                  <a:srgbClr val="800080"/>
                </a:solidFill>
                <a:effectLst/>
                <a:latin typeface="Inter"/>
              </a:rPr>
              <a:t> and </a:t>
            </a:r>
            <a:r>
              <a:rPr lang="en-US" altLang="zh-CN" b="0" i="1" dirty="0">
                <a:solidFill>
                  <a:srgbClr val="800080"/>
                </a:solidFill>
                <a:effectLst/>
                <a:latin typeface="KaTeX_Math"/>
              </a:rPr>
              <a:t>Z</a:t>
            </a:r>
            <a:r>
              <a:rPr lang="en-US" altLang="zh-CN" b="0" i="0" dirty="0">
                <a:solidFill>
                  <a:srgbClr val="800080"/>
                </a:solidFill>
                <a:effectLst/>
                <a:latin typeface="KaTeX_Main"/>
              </a:rPr>
              <a:t>2​ denote the charge number of the incident and target particles</a:t>
            </a:r>
            <a:r>
              <a:rPr lang="en-US" altLang="zh-CN" b="0" i="0" dirty="0">
                <a:solidFill>
                  <a:srgbClr val="800080"/>
                </a:solidFill>
                <a:effectLst/>
                <a:latin typeface="Inter"/>
              </a:rPr>
              <a:t>, </a:t>
            </a:r>
            <a:r>
              <a:rPr lang="en-US" altLang="zh-CN" b="0" i="1" dirty="0" err="1">
                <a:solidFill>
                  <a:srgbClr val="800080"/>
                </a:solidFill>
                <a:effectLst/>
                <a:latin typeface="KaTeX_Math"/>
              </a:rPr>
              <a:t>Ek</a:t>
            </a:r>
            <a:r>
              <a:rPr lang="en-US" altLang="zh-CN" b="0" i="0" dirty="0">
                <a:solidFill>
                  <a:srgbClr val="800080"/>
                </a:solidFill>
                <a:effectLst/>
                <a:latin typeface="Inter"/>
              </a:rPr>
              <a:t> denotes the initial kinetic energy of the incident particle</a:t>
            </a:r>
            <a:r>
              <a:rPr lang="en-US" altLang="zh-CN" b="0" i="0" dirty="0">
                <a:solidFill>
                  <a:srgbClr val="800080"/>
                </a:solidFill>
                <a:effectLst/>
                <a:latin typeface="KaTeX_Main"/>
              </a:rPr>
              <a:t>​</a:t>
            </a:r>
            <a:r>
              <a:rPr lang="en-US" altLang="zh-CN" b="0" i="0" dirty="0">
                <a:solidFill>
                  <a:srgbClr val="800080"/>
                </a:solidFill>
                <a:effectLst/>
                <a:latin typeface="Inter"/>
              </a:rPr>
              <a:t>, and </a:t>
            </a:r>
            <a:r>
              <a:rPr lang="en-US" altLang="zh-CN" b="0" i="1" dirty="0">
                <a:solidFill>
                  <a:srgbClr val="800080"/>
                </a:solidFill>
                <a:effectLst/>
                <a:latin typeface="KaTeX_Math"/>
              </a:rPr>
              <a:t>b </a:t>
            </a:r>
            <a:r>
              <a:rPr lang="en-US" altLang="zh-CN" b="0" i="0" dirty="0">
                <a:solidFill>
                  <a:srgbClr val="800080"/>
                </a:solidFill>
                <a:effectLst/>
                <a:latin typeface="KaTeX_Math"/>
              </a:rPr>
              <a:t>denotes the </a:t>
            </a:r>
            <a:r>
              <a:rPr lang="en-US" altLang="zh-CN" b="1" i="0" dirty="0">
                <a:solidFill>
                  <a:srgbClr val="800080"/>
                </a:solidFill>
                <a:effectLst/>
                <a:latin typeface="Inter"/>
              </a:rPr>
              <a:t>impact parameter</a:t>
            </a:r>
            <a:r>
              <a:rPr lang="en-US" altLang="zh-CN" b="0" i="0" dirty="0">
                <a:solidFill>
                  <a:srgbClr val="800080"/>
                </a:solidFill>
                <a:effectLst/>
                <a:latin typeface="Inter"/>
              </a:rPr>
              <a:t>, which is the perpendicular distance between the incident velocity and the target nucleus.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solidFill>
                  <a:srgbClr val="800080"/>
                </a:solidFill>
                <a:effectLst/>
                <a:latin typeface="Inter"/>
              </a:rPr>
              <a:t>Our goal is to determine the moving direction of the alpha particle after the scattering, referred to as the </a:t>
            </a:r>
            <a:r>
              <a:rPr lang="en-US" altLang="zh-CN" b="1" i="0" dirty="0">
                <a:solidFill>
                  <a:srgbClr val="800080"/>
                </a:solidFill>
                <a:effectLst/>
                <a:latin typeface="Inter"/>
              </a:rPr>
              <a:t>scattering angle</a:t>
            </a:r>
            <a:r>
              <a:rPr lang="en-US" altLang="zh-CN" b="0" i="0" dirty="0">
                <a:solidFill>
                  <a:srgbClr val="800080"/>
                </a:solidFill>
                <a:effectLst/>
                <a:latin typeface="Inter"/>
              </a:rPr>
              <a:t> </a:t>
            </a:r>
            <a:r>
              <a:rPr lang="en-US" altLang="zh-CN" b="0" i="1" dirty="0">
                <a:solidFill>
                  <a:srgbClr val="800080"/>
                </a:solidFill>
                <a:effectLst/>
                <a:latin typeface="KaTeX_Math"/>
              </a:rPr>
              <a:t>θ</a:t>
            </a:r>
            <a:r>
              <a:rPr lang="en-US" altLang="zh-CN" b="0" i="0" dirty="0">
                <a:solidFill>
                  <a:srgbClr val="800080"/>
                </a:solidFill>
                <a:effectLst/>
                <a:latin typeface="Inter"/>
              </a:rPr>
              <a:t> </a:t>
            </a:r>
          </a:p>
          <a:p>
            <a:pPr algn="l"/>
            <a:endParaRPr lang="en-US" altLang="zh-CN" b="0" i="0" dirty="0">
              <a:solidFill>
                <a:srgbClr val="800080"/>
              </a:solidFill>
              <a:effectLst/>
              <a:latin typeface="Inter"/>
            </a:endParaRPr>
          </a:p>
          <a:p>
            <a:pPr algn="l"/>
            <a:r>
              <a:rPr lang="en-US" altLang="zh-CN" b="0" i="0" dirty="0">
                <a:solidFill>
                  <a:srgbClr val="800080"/>
                </a:solidFill>
                <a:effectLst/>
                <a:latin typeface="Inter"/>
              </a:rPr>
              <a:t>Let us start by making an educated guess. When </a:t>
            </a:r>
            <a:r>
              <a:rPr lang="en-US" altLang="zh-CN" b="0" i="1" dirty="0">
                <a:solidFill>
                  <a:srgbClr val="800080"/>
                </a:solidFill>
                <a:effectLst/>
                <a:latin typeface="KaTeX_Math"/>
              </a:rPr>
              <a:t>b</a:t>
            </a:r>
            <a:r>
              <a:rPr lang="en-US" altLang="zh-CN" b="0" i="0" dirty="0">
                <a:solidFill>
                  <a:srgbClr val="800080"/>
                </a:solidFill>
                <a:effectLst/>
                <a:latin typeface="KaTeX_Main"/>
              </a:rPr>
              <a:t>=0</a:t>
            </a:r>
            <a:r>
              <a:rPr lang="en-US" altLang="zh-CN" b="0" i="0" dirty="0">
                <a:solidFill>
                  <a:srgbClr val="800080"/>
                </a:solidFill>
                <a:effectLst/>
                <a:latin typeface="Inter"/>
              </a:rPr>
              <a:t>, the incident particle directed at the target nucleus head-on, so it will eventually be bounced back along its original path, meaning </a:t>
            </a:r>
            <a:r>
              <a:rPr lang="en-US" altLang="zh-CN" b="0" i="1" dirty="0">
                <a:solidFill>
                  <a:srgbClr val="800080"/>
                </a:solidFill>
                <a:effectLst/>
                <a:latin typeface="KaTeX_Math"/>
              </a:rPr>
              <a:t>θ</a:t>
            </a:r>
            <a:r>
              <a:rPr lang="en-US" altLang="zh-CN" b="0" i="0" dirty="0">
                <a:solidFill>
                  <a:srgbClr val="800080"/>
                </a:solidFill>
                <a:effectLst/>
                <a:latin typeface="Inter"/>
              </a:rPr>
              <a:t>=π. When </a:t>
            </a:r>
            <a:r>
              <a:rPr lang="en-US" altLang="zh-CN" b="0" i="1" dirty="0">
                <a:solidFill>
                  <a:srgbClr val="800080"/>
                </a:solidFill>
                <a:effectLst/>
                <a:latin typeface="KaTeX_Math"/>
              </a:rPr>
              <a:t>b</a:t>
            </a:r>
            <a:r>
              <a:rPr lang="en-US" altLang="zh-CN" b="0" i="0" dirty="0">
                <a:solidFill>
                  <a:srgbClr val="800080"/>
                </a:solidFill>
                <a:effectLst/>
                <a:latin typeface="Inter"/>
              </a:rPr>
              <a:t> becomes very large, the Coulomb force weakens significantly, so the scattering angle </a:t>
            </a:r>
            <a:r>
              <a:rPr lang="en-US" altLang="zh-CN" b="0" i="1" dirty="0">
                <a:solidFill>
                  <a:srgbClr val="800080"/>
                </a:solidFill>
                <a:effectLst/>
                <a:latin typeface="KaTeX_Math"/>
              </a:rPr>
              <a:t>θ</a:t>
            </a:r>
            <a:r>
              <a:rPr lang="en-US" altLang="zh-CN" b="0" i="0" dirty="0">
                <a:solidFill>
                  <a:srgbClr val="800080"/>
                </a:solidFill>
                <a:effectLst/>
                <a:latin typeface="Inter"/>
              </a:rPr>
              <a:t> will approach 0.</a:t>
            </a:r>
          </a:p>
          <a:p>
            <a:pPr algn="l"/>
            <a:endParaRPr lang="en-US" altLang="zh-CN" b="0" i="0" dirty="0">
              <a:solidFill>
                <a:srgbClr val="800080"/>
              </a:solidFill>
              <a:effectLst/>
              <a:latin typeface="Inter"/>
            </a:endParaRPr>
          </a:p>
          <a:p>
            <a:pPr algn="l"/>
            <a:r>
              <a:rPr lang="en-US" altLang="zh-CN" b="0" i="0" dirty="0">
                <a:solidFill>
                  <a:srgbClr val="800080"/>
                </a:solidFill>
                <a:effectLst/>
                <a:latin typeface="Inter"/>
              </a:rPr>
              <a:t>But what defines “large” or “small” for </a:t>
            </a:r>
            <a:r>
              <a:rPr lang="en-US" altLang="zh-CN" b="0" i="1" dirty="0">
                <a:solidFill>
                  <a:srgbClr val="800080"/>
                </a:solidFill>
                <a:effectLst/>
                <a:latin typeface="KaTeX_Math"/>
              </a:rPr>
              <a:t>b</a:t>
            </a:r>
            <a:r>
              <a:rPr lang="en-US" altLang="zh-CN" b="0" i="0" dirty="0">
                <a:solidFill>
                  <a:srgbClr val="800080"/>
                </a:solidFill>
                <a:effectLst/>
                <a:latin typeface="Inter"/>
              </a:rPr>
              <a:t>? What is the characteristic length scale of this system? </a:t>
            </a:r>
          </a:p>
          <a:p>
            <a:pPr algn="l"/>
            <a:r>
              <a:rPr lang="en-US" altLang="zh-CN" b="0" i="0" dirty="0">
                <a:solidFill>
                  <a:srgbClr val="800080"/>
                </a:solidFill>
                <a:effectLst/>
                <a:latin typeface="Inter"/>
              </a:rPr>
              <a:t>For a 5 MeV alpha particle, the </a:t>
            </a:r>
            <a:r>
              <a:rPr lang="en-US" altLang="zh-CN" b="1" i="0" dirty="0">
                <a:solidFill>
                  <a:srgbClr val="800080"/>
                </a:solidFill>
                <a:effectLst/>
                <a:latin typeface="Inter"/>
              </a:rPr>
              <a:t>distance of the</a:t>
            </a:r>
            <a:r>
              <a:rPr lang="zh-CN" altLang="en-US" b="1" i="0" dirty="0">
                <a:solidFill>
                  <a:srgbClr val="800080"/>
                </a:solidFill>
                <a:effectLst/>
                <a:latin typeface="Inter"/>
              </a:rPr>
              <a:t> </a:t>
            </a:r>
            <a:r>
              <a:rPr lang="en-US" altLang="zh-CN" b="1" i="0" dirty="0">
                <a:solidFill>
                  <a:srgbClr val="800080"/>
                </a:solidFill>
                <a:effectLst/>
                <a:latin typeface="Inter"/>
              </a:rPr>
              <a:t>closest approach</a:t>
            </a:r>
            <a:r>
              <a:rPr lang="en-US" altLang="zh-CN" b="0" i="0" dirty="0">
                <a:solidFill>
                  <a:srgbClr val="800080"/>
                </a:solidFill>
                <a:effectLst/>
                <a:latin typeface="Inter"/>
              </a:rPr>
              <a:t> </a:t>
            </a:r>
            <a:r>
              <a:rPr lang="en-US" altLang="zh-CN" b="0" i="1" dirty="0">
                <a:solidFill>
                  <a:srgbClr val="800080"/>
                </a:solidFill>
                <a:effectLst/>
                <a:latin typeface="KaTeX_Math"/>
              </a:rPr>
              <a:t>a</a:t>
            </a:r>
            <a:r>
              <a:rPr lang="en-US" altLang="zh-CN" b="0" i="0" dirty="0">
                <a:solidFill>
                  <a:srgbClr val="800080"/>
                </a:solidFill>
                <a:effectLst/>
                <a:latin typeface="Inter"/>
              </a:rPr>
              <a:t> is approximately 45 </a:t>
            </a:r>
            <a:r>
              <a:rPr lang="en-US" altLang="zh-CN" b="0" i="0" dirty="0" err="1">
                <a:solidFill>
                  <a:srgbClr val="800080"/>
                </a:solidFill>
                <a:effectLst/>
                <a:latin typeface="Inter"/>
              </a:rPr>
              <a:t>fm</a:t>
            </a:r>
            <a:r>
              <a:rPr lang="en-US" altLang="zh-CN" b="0" i="0" dirty="0">
                <a:solidFill>
                  <a:srgbClr val="800080"/>
                </a:solidFill>
                <a:effectLst/>
                <a:latin typeface="Inter"/>
              </a:rPr>
              <a:t> (femtometer).</a:t>
            </a:r>
          </a:p>
          <a:p>
            <a:pPr algn="l"/>
            <a:endParaRPr lang="en-US" altLang="zh-CN" b="0" i="0" dirty="0">
              <a:solidFill>
                <a:srgbClr val="800080"/>
              </a:solidFill>
              <a:effectLst/>
              <a:latin typeface="Inter"/>
            </a:endParaRPr>
          </a:p>
          <a:p>
            <a:pPr algn="l"/>
            <a:r>
              <a:rPr lang="en-US" altLang="zh-CN" b="0" i="0" dirty="0">
                <a:solidFill>
                  <a:srgbClr val="800080"/>
                </a:solidFill>
                <a:effectLst/>
                <a:latin typeface="Inter"/>
              </a:rPr>
              <a:t>The process of calculating the scattering angle is quite complex and does not offer much new insight, so we will skip the detailed steps and directly present the </a:t>
            </a:r>
            <a:r>
              <a:rPr lang="en-US" altLang="zh-CN" b="0" i="0" dirty="0" err="1">
                <a:solidFill>
                  <a:srgbClr val="800080"/>
                </a:solidFill>
                <a:effectLst/>
                <a:latin typeface="Inter"/>
              </a:rPr>
              <a:t>fina</a:t>
            </a:r>
            <a:r>
              <a:rPr lang="en-US" altLang="zh-CN" b="0" i="0" dirty="0">
                <a:solidFill>
                  <a:srgbClr val="800080"/>
                </a:solidFill>
                <a:effectLst/>
                <a:latin typeface="Inter"/>
              </a:rPr>
              <a:t> relationship. The result is surprisingly simple and is known as the </a:t>
            </a:r>
            <a:r>
              <a:rPr lang="en-US" altLang="zh-CN" b="1" i="0" dirty="0">
                <a:solidFill>
                  <a:srgbClr val="800080"/>
                </a:solidFill>
                <a:effectLst/>
                <a:latin typeface="Inter"/>
              </a:rPr>
              <a:t>Coulomb scattering formula</a:t>
            </a:r>
            <a:r>
              <a:rPr lang="en-US" altLang="zh-CN" b="0" i="0" dirty="0">
                <a:solidFill>
                  <a:srgbClr val="800080"/>
                </a:solidFill>
                <a:effectLst/>
                <a:latin typeface="Inter"/>
              </a:rPr>
              <a:t>. To our delight, the curve plotting </a:t>
            </a:r>
            <a:r>
              <a:rPr lang="en-US" altLang="zh-CN" b="0" i="0" dirty="0" err="1">
                <a:solidFill>
                  <a:srgbClr val="800080"/>
                </a:solidFill>
                <a:effectLst/>
                <a:latin typeface="KaTeX_Main"/>
              </a:rPr>
              <a:t>θ</a:t>
            </a:r>
            <a:r>
              <a:rPr lang="en-US" altLang="zh-CN" b="0" i="1" dirty="0" err="1">
                <a:solidFill>
                  <a:srgbClr val="800080"/>
                </a:solidFill>
                <a:effectLst/>
                <a:latin typeface="KaTeX_Math"/>
              </a:rPr>
              <a:t>θ</a:t>
            </a:r>
            <a:r>
              <a:rPr lang="en-US" altLang="zh-CN" b="0" i="0" dirty="0">
                <a:solidFill>
                  <a:srgbClr val="800080"/>
                </a:solidFill>
                <a:effectLst/>
                <a:latin typeface="Inter"/>
              </a:rPr>
              <a:t> versus </a:t>
            </a:r>
            <a:r>
              <a:rPr lang="en-US" altLang="zh-CN" b="0" i="0" dirty="0">
                <a:solidFill>
                  <a:srgbClr val="800080"/>
                </a:solidFill>
                <a:effectLst/>
                <a:latin typeface="KaTeX_Main"/>
              </a:rPr>
              <a:t>b</a:t>
            </a:r>
            <a:r>
              <a:rPr lang="en-US" altLang="zh-CN" b="0" i="1" dirty="0">
                <a:solidFill>
                  <a:srgbClr val="800080"/>
                </a:solidFill>
                <a:effectLst/>
                <a:latin typeface="KaTeX_Math"/>
              </a:rPr>
              <a:t>b</a:t>
            </a:r>
            <a:r>
              <a:rPr lang="en-US" altLang="zh-CN" b="0" i="0" dirty="0">
                <a:solidFill>
                  <a:srgbClr val="800080"/>
                </a:solidFill>
                <a:effectLst/>
                <a:latin typeface="Inter"/>
              </a:rPr>
              <a:t> based on this formula aligns very well with our earlier estimates.</a:t>
            </a:r>
          </a:p>
          <a:p>
            <a:pPr algn="l"/>
            <a:r>
              <a:rPr lang="en-US" altLang="zh-CN" b="0" i="0" dirty="0">
                <a:solidFill>
                  <a:srgbClr val="4D6BFE"/>
                </a:solidFill>
                <a:effectLst/>
                <a:latin typeface="Inter"/>
              </a:rPr>
              <a:t>New chat</a:t>
            </a:r>
          </a:p>
          <a:p>
            <a:br>
              <a:rPr lang="en-US" altLang="zh-CN" dirty="0"/>
            </a:br>
            <a:endParaRPr lang="zh-CN" altLang="en-US" dirty="0"/>
          </a:p>
        </p:txBody>
      </p:sp>
      <p:sp>
        <p:nvSpPr>
          <p:cNvPr id="4" name="Slide Number Placeholder 3"/>
          <p:cNvSpPr>
            <a:spLocks noGrp="1"/>
          </p:cNvSpPr>
          <p:nvPr>
            <p:ph type="sldNum" sz="quarter" idx="10"/>
          </p:nvPr>
        </p:nvSpPr>
        <p:spPr/>
        <p:txBody>
          <a:bodyPr/>
          <a:lstStyle/>
          <a:p>
            <a:fld id="{47255099-1E2D-467F-BD8A-F48841F916F8}" type="slidenum">
              <a:rPr lang="zh-CN" altLang="en-US" smtClean="0"/>
              <a:t>10</a:t>
            </a:fld>
            <a:endParaRPr lang="zh-CN" altLang="en-US"/>
          </a:p>
        </p:txBody>
      </p:sp>
    </p:spTree>
    <p:extLst>
      <p:ext uri="{BB962C8B-B14F-4D97-AF65-F5344CB8AC3E}">
        <p14:creationId xmlns:p14="http://schemas.microsoft.com/office/powerpoint/2010/main" val="27522827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solidFill>
                  <a:srgbClr val="404040"/>
                </a:solidFill>
                <a:effectLst/>
                <a:latin typeface="Inter"/>
              </a:rPr>
              <a:t>Consider one target nucleus, such a scattering process exhibits rotational symmetry around the axis that passes through the target nucleus in the incident direction.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solidFill>
                  <a:srgbClr val="404040"/>
                </a:solidFill>
                <a:effectLst/>
                <a:latin typeface="Inter"/>
              </a:rPr>
              <a:t>For incident particles with the same impact parameter </a:t>
            </a:r>
            <a:r>
              <a:rPr lang="en-US" altLang="zh-CN" b="0" i="1" dirty="0">
                <a:solidFill>
                  <a:srgbClr val="404040"/>
                </a:solidFill>
                <a:effectLst/>
                <a:latin typeface="KaTeX_Math"/>
              </a:rPr>
              <a:t>b</a:t>
            </a:r>
            <a:r>
              <a:rPr lang="en-US" altLang="zh-CN" b="0" i="0" dirty="0">
                <a:solidFill>
                  <a:srgbClr val="404040"/>
                </a:solidFill>
                <a:effectLst/>
                <a:latin typeface="Inter"/>
              </a:rPr>
              <a:t>, the scattering angles </a:t>
            </a:r>
            <a:r>
              <a:rPr lang="en-US" altLang="zh-CN" b="0" i="1" dirty="0">
                <a:solidFill>
                  <a:srgbClr val="404040"/>
                </a:solidFill>
                <a:effectLst/>
                <a:latin typeface="KaTeX_Math"/>
              </a:rPr>
              <a:t>θ</a:t>
            </a:r>
            <a:r>
              <a:rPr lang="en-US" altLang="zh-CN" b="0" i="0" dirty="0">
                <a:solidFill>
                  <a:srgbClr val="404040"/>
                </a:solidFill>
                <a:effectLst/>
                <a:latin typeface="KaTeX_Main"/>
              </a:rPr>
              <a:t>(</a:t>
            </a:r>
            <a:r>
              <a:rPr lang="en-US" altLang="zh-CN" b="0" i="1" dirty="0">
                <a:solidFill>
                  <a:srgbClr val="404040"/>
                </a:solidFill>
                <a:effectLst/>
                <a:latin typeface="KaTeX_Math"/>
              </a:rPr>
              <a:t>b</a:t>
            </a:r>
            <a:r>
              <a:rPr lang="en-US" altLang="zh-CN" b="0" i="0" dirty="0">
                <a:solidFill>
                  <a:srgbClr val="404040"/>
                </a:solidFill>
                <a:effectLst/>
                <a:latin typeface="KaTeX_Main"/>
              </a:rPr>
              <a:t>)</a:t>
            </a:r>
            <a:r>
              <a:rPr lang="en-US" altLang="zh-CN" b="0" i="0" dirty="0">
                <a:solidFill>
                  <a:srgbClr val="404040"/>
                </a:solidFill>
                <a:effectLst/>
                <a:latin typeface="Inter"/>
              </a:rPr>
              <a:t> are identical.</a:t>
            </a:r>
          </a:p>
          <a:p>
            <a:pPr algn="l"/>
            <a:r>
              <a:rPr lang="en-US" altLang="zh-CN" b="0" i="0" dirty="0">
                <a:solidFill>
                  <a:srgbClr val="404040"/>
                </a:solidFill>
                <a:effectLst/>
                <a:latin typeface="Inter"/>
              </a:rPr>
              <a:t>All and only the alpha particles incident on the shaded area </a:t>
            </a:r>
            <a:r>
              <a:rPr lang="en-US" altLang="zh-CN" b="0" i="1" dirty="0" err="1">
                <a:solidFill>
                  <a:srgbClr val="404040"/>
                </a:solidFill>
                <a:effectLst/>
                <a:latin typeface="Inter"/>
              </a:rPr>
              <a:t>d</a:t>
            </a:r>
            <a:r>
              <a:rPr lang="en-US" altLang="zh-CN" b="0" i="0" dirty="0" err="1">
                <a:solidFill>
                  <a:srgbClr val="404040"/>
                </a:solidFill>
                <a:effectLst/>
                <a:latin typeface="Inter"/>
              </a:rPr>
              <a:t>σ</a:t>
            </a:r>
            <a:r>
              <a:rPr lang="en-US" altLang="zh-CN" b="0" i="0" dirty="0">
                <a:solidFill>
                  <a:srgbClr val="404040"/>
                </a:solidFill>
                <a:effectLst/>
                <a:latin typeface="Inter"/>
              </a:rPr>
              <a:t> will be scattered into the solid angle </a:t>
            </a:r>
            <a:r>
              <a:rPr lang="en-US" altLang="zh-CN" b="0" i="1" dirty="0" err="1">
                <a:solidFill>
                  <a:srgbClr val="404040"/>
                </a:solidFill>
                <a:effectLst/>
                <a:latin typeface="Inter"/>
              </a:rPr>
              <a:t>d</a:t>
            </a:r>
            <a:r>
              <a:rPr lang="en-US" altLang="zh-CN" b="0" i="0" dirty="0" err="1">
                <a:solidFill>
                  <a:srgbClr val="404040"/>
                </a:solidFill>
                <a:effectLst/>
                <a:latin typeface="Inter"/>
              </a:rPr>
              <a:t>Ω</a:t>
            </a:r>
            <a:r>
              <a:rPr lang="en-US" altLang="zh-CN" b="0" i="0" dirty="0">
                <a:solidFill>
                  <a:srgbClr val="404040"/>
                </a:solidFill>
                <a:effectLst/>
                <a:latin typeface="Inter"/>
              </a:rPr>
              <a:t>.</a:t>
            </a:r>
          </a:p>
          <a:p>
            <a:pPr algn="l"/>
            <a:endParaRPr lang="en-US" altLang="zh-CN" b="0" i="0" dirty="0">
              <a:solidFill>
                <a:srgbClr val="404040"/>
              </a:solidFill>
              <a:effectLst/>
              <a:latin typeface="Inter"/>
            </a:endParaRPr>
          </a:p>
          <a:p>
            <a:pPr algn="l"/>
            <a:endParaRPr lang="en-US" altLang="zh-CN" b="0" i="0" dirty="0">
              <a:solidFill>
                <a:srgbClr val="404040"/>
              </a:solidFill>
              <a:effectLst/>
              <a:latin typeface="Inter"/>
            </a:endParaRPr>
          </a:p>
          <a:p>
            <a:pPr algn="l"/>
            <a:endParaRPr lang="en-US" altLang="zh-CN" b="0" i="0" dirty="0">
              <a:solidFill>
                <a:srgbClr val="404040"/>
              </a:solidFill>
              <a:effectLst/>
              <a:latin typeface="Inter"/>
            </a:endParaRPr>
          </a:p>
        </p:txBody>
      </p:sp>
      <p:sp>
        <p:nvSpPr>
          <p:cNvPr id="4" name="Slide Number Placeholder 3"/>
          <p:cNvSpPr>
            <a:spLocks noGrp="1"/>
          </p:cNvSpPr>
          <p:nvPr>
            <p:ph type="sldNum" sz="quarter" idx="10"/>
          </p:nvPr>
        </p:nvSpPr>
        <p:spPr/>
        <p:txBody>
          <a:bodyPr/>
          <a:lstStyle/>
          <a:p>
            <a:fld id="{47255099-1E2D-467F-BD8A-F48841F916F8}" type="slidenum">
              <a:rPr lang="zh-CN" altLang="en-US" smtClean="0"/>
              <a:t>11</a:t>
            </a:fld>
            <a:endParaRPr lang="zh-CN" altLang="en-US"/>
          </a:p>
        </p:txBody>
      </p:sp>
    </p:spTree>
    <p:extLst>
      <p:ext uri="{BB962C8B-B14F-4D97-AF65-F5344CB8AC3E}">
        <p14:creationId xmlns:p14="http://schemas.microsoft.com/office/powerpoint/2010/main" val="10126280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Now, let’s apply this formula to the real situation in the experiment.</a:t>
            </a:r>
            <a:endParaRPr lang="zh-CN" altLang="en-US" dirty="0"/>
          </a:p>
        </p:txBody>
      </p:sp>
      <p:sp>
        <p:nvSpPr>
          <p:cNvPr id="4" name="Slide Number Placeholder 3"/>
          <p:cNvSpPr>
            <a:spLocks noGrp="1"/>
          </p:cNvSpPr>
          <p:nvPr>
            <p:ph type="sldNum" sz="quarter" idx="10"/>
          </p:nvPr>
        </p:nvSpPr>
        <p:spPr/>
        <p:txBody>
          <a:bodyPr/>
          <a:lstStyle/>
          <a:p>
            <a:fld id="{47255099-1E2D-467F-BD8A-F48841F916F8}" type="slidenum">
              <a:rPr lang="zh-CN" altLang="en-US" smtClean="0"/>
              <a:t>12</a:t>
            </a:fld>
            <a:endParaRPr lang="zh-CN" altLang="en-US"/>
          </a:p>
        </p:txBody>
      </p:sp>
    </p:spTree>
    <p:extLst>
      <p:ext uri="{BB962C8B-B14F-4D97-AF65-F5344CB8AC3E}">
        <p14:creationId xmlns:p14="http://schemas.microsoft.com/office/powerpoint/2010/main" val="25348908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0" i="0" dirty="0">
                <a:solidFill>
                  <a:srgbClr val="404040"/>
                </a:solidFill>
                <a:effectLst/>
                <a:latin typeface="Inter"/>
              </a:rPr>
              <a:t>Rutherford‘s reply was: “My model only answers what exists inside an atom. It is not responsible for explaining what happens between the nucleus and the electrons.“</a:t>
            </a:r>
          </a:p>
          <a:p>
            <a:pPr algn="l"/>
            <a:r>
              <a:rPr lang="en-US" altLang="zh-CN" b="0" i="0" dirty="0">
                <a:solidFill>
                  <a:srgbClr val="404040"/>
                </a:solidFill>
                <a:effectLst/>
                <a:latin typeface="Inter"/>
              </a:rPr>
              <a:t>This statement sounds confident, but it implies that he could not resolve this contradiction.</a:t>
            </a:r>
          </a:p>
          <a:p>
            <a:pPr algn="l"/>
            <a:r>
              <a:rPr lang="en-US" altLang="zh-CN" b="0" i="0" dirty="0">
                <a:solidFill>
                  <a:srgbClr val="404040"/>
                </a:solidFill>
                <a:effectLst/>
                <a:latin typeface="Inter"/>
              </a:rPr>
              <a:t>Physics is a rigorous science; it does not allow any internal contradictions. Whenever a contradiction arises, it shows that something is wrong within</a:t>
            </a:r>
          </a:p>
          <a:p>
            <a:pPr algn="l"/>
            <a:r>
              <a:rPr lang="en-US" altLang="zh-CN" b="0" i="0" dirty="0">
                <a:solidFill>
                  <a:srgbClr val="404040"/>
                </a:solidFill>
                <a:effectLst/>
                <a:latin typeface="Inter"/>
              </a:rPr>
              <a:t> the existing theory.</a:t>
            </a:r>
          </a:p>
          <a:p>
            <a:pPr algn="l"/>
            <a:r>
              <a:rPr lang="en-US" altLang="zh-CN" b="0" i="0" dirty="0">
                <a:solidFill>
                  <a:srgbClr val="404040"/>
                </a:solidFill>
                <a:effectLst/>
                <a:latin typeface="Inter"/>
              </a:rPr>
              <a:t>If Rutherford's atomic model were correct, then classical electrodynamics must be wrong? </a:t>
            </a:r>
          </a:p>
          <a:p>
            <a:pPr algn="l"/>
            <a:r>
              <a:rPr lang="en-US" altLang="zh-CN" b="0" i="0" dirty="0">
                <a:solidFill>
                  <a:srgbClr val="404040"/>
                </a:solidFill>
                <a:effectLst/>
                <a:latin typeface="Inter"/>
              </a:rPr>
              <a:t>Do we really understand electromagnetic waves?</a:t>
            </a:r>
          </a:p>
        </p:txBody>
      </p:sp>
      <p:sp>
        <p:nvSpPr>
          <p:cNvPr id="4" name="Slide Number Placeholder 3"/>
          <p:cNvSpPr>
            <a:spLocks noGrp="1"/>
          </p:cNvSpPr>
          <p:nvPr>
            <p:ph type="sldNum" sz="quarter" idx="10"/>
          </p:nvPr>
        </p:nvSpPr>
        <p:spPr/>
        <p:txBody>
          <a:bodyPr/>
          <a:lstStyle/>
          <a:p>
            <a:fld id="{47255099-1E2D-467F-BD8A-F48841F916F8}" type="slidenum">
              <a:rPr lang="zh-CN" altLang="en-US" smtClean="0"/>
              <a:t>13</a:t>
            </a:fld>
            <a:endParaRPr lang="zh-CN" altLang="en-US"/>
          </a:p>
        </p:txBody>
      </p:sp>
    </p:spTree>
    <p:extLst>
      <p:ext uri="{BB962C8B-B14F-4D97-AF65-F5344CB8AC3E}">
        <p14:creationId xmlns:p14="http://schemas.microsoft.com/office/powerpoint/2010/main" val="25810553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本来</a:t>
            </a:r>
            <a:r>
              <a:rPr lang="en-US" altLang="zh-CN" dirty="0"/>
              <a:t>m1</a:t>
            </a:r>
            <a:r>
              <a:rPr lang="zh-CN" altLang="en-US" dirty="0"/>
              <a:t>的运动方程里有</a:t>
            </a:r>
            <a:r>
              <a:rPr lang="en-US" altLang="zh-CN" dirty="0"/>
              <a:t>x2</a:t>
            </a:r>
            <a:r>
              <a:rPr lang="zh-CN" altLang="en-US" dirty="0"/>
              <a:t>，</a:t>
            </a:r>
            <a:r>
              <a:rPr lang="en-US" altLang="zh-CN" dirty="0"/>
              <a:t>m2</a:t>
            </a:r>
            <a:r>
              <a:rPr lang="zh-CN" altLang="en-US" dirty="0"/>
              <a:t>的方程里有</a:t>
            </a:r>
            <a:r>
              <a:rPr lang="en-US" altLang="zh-CN" dirty="0"/>
              <a:t>x1</a:t>
            </a:r>
            <a:endParaRPr lang="zh-CN" altLang="en-US" dirty="0"/>
          </a:p>
        </p:txBody>
      </p:sp>
      <p:sp>
        <p:nvSpPr>
          <p:cNvPr id="4" name="Slide Number Placeholder 3"/>
          <p:cNvSpPr>
            <a:spLocks noGrp="1"/>
          </p:cNvSpPr>
          <p:nvPr>
            <p:ph type="sldNum" sz="quarter" idx="10"/>
          </p:nvPr>
        </p:nvSpPr>
        <p:spPr/>
        <p:txBody>
          <a:bodyPr/>
          <a:lstStyle/>
          <a:p>
            <a:fld id="{47255099-1E2D-467F-BD8A-F48841F916F8}" type="slidenum">
              <a:rPr lang="zh-CN" altLang="en-US" smtClean="0"/>
              <a:t>14</a:t>
            </a:fld>
            <a:endParaRPr lang="zh-CN" altLang="en-US"/>
          </a:p>
        </p:txBody>
      </p:sp>
    </p:spTree>
    <p:extLst>
      <p:ext uri="{BB962C8B-B14F-4D97-AF65-F5344CB8AC3E}">
        <p14:creationId xmlns:p14="http://schemas.microsoft.com/office/powerpoint/2010/main" val="963654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If m2 is initially at rest,</a:t>
            </a:r>
            <a:r>
              <a:rPr lang="zh-CN" altLang="en-US" dirty="0"/>
              <a:t> </a:t>
            </a:r>
            <a:r>
              <a:rPr lang="en-US" altLang="zh-CN" dirty="0"/>
              <a:t>the</a:t>
            </a:r>
            <a:r>
              <a:rPr lang="zh-CN" altLang="en-US" dirty="0"/>
              <a:t> </a:t>
            </a:r>
            <a:r>
              <a:rPr lang="en-US" altLang="zh-CN" dirty="0"/>
              <a:t>angle between the momenta of</a:t>
            </a:r>
            <a:r>
              <a:rPr lang="zh-CN" altLang="en-US" dirty="0"/>
              <a:t> </a:t>
            </a:r>
            <a:r>
              <a:rPr lang="en-US" altLang="zh-CN" dirty="0"/>
              <a:t>the</a:t>
            </a:r>
            <a:r>
              <a:rPr lang="zh-CN" altLang="en-US" dirty="0"/>
              <a:t> </a:t>
            </a:r>
            <a:r>
              <a:rPr lang="en-US" altLang="zh-CN" dirty="0"/>
              <a:t>two</a:t>
            </a:r>
            <a:r>
              <a:rPr lang="zh-CN" altLang="en-US" dirty="0"/>
              <a:t> </a:t>
            </a:r>
            <a:r>
              <a:rPr lang="en-US" altLang="zh-CN" dirty="0"/>
              <a:t>particles after the</a:t>
            </a:r>
            <a:r>
              <a:rPr lang="zh-CN" altLang="en-US" dirty="0"/>
              <a:t> </a:t>
            </a:r>
            <a:r>
              <a:rPr lang="en-US" altLang="zh-CN" dirty="0"/>
              <a:t>collision</a:t>
            </a:r>
            <a:r>
              <a:rPr lang="zh-CN" altLang="en-US" dirty="0"/>
              <a:t> </a:t>
            </a:r>
            <a:r>
              <a:rPr lang="en-US" altLang="zh-CN" dirty="0"/>
              <a:t>depends</a:t>
            </a:r>
            <a:r>
              <a:rPr lang="zh-CN" altLang="en-US" dirty="0"/>
              <a:t> </a:t>
            </a:r>
            <a:r>
              <a:rPr lang="en-US" altLang="zh-CN" dirty="0"/>
              <a:t>on the mass ratio m1/m2</a:t>
            </a:r>
          </a:p>
          <a:p>
            <a:r>
              <a:rPr lang="en-US" altLang="zh-CN" dirty="0"/>
              <a:t>If m1=m2</a:t>
            </a:r>
            <a:r>
              <a:rPr lang="zh-CN" altLang="en-US" dirty="0"/>
              <a:t>，</a:t>
            </a:r>
            <a:r>
              <a:rPr lang="en-US" altLang="zh-CN" dirty="0"/>
              <a:t>the angle = 90°</a:t>
            </a:r>
          </a:p>
          <a:p>
            <a:r>
              <a:rPr lang="en-US" altLang="zh-CN" dirty="0"/>
              <a:t>If m1&gt;m2</a:t>
            </a:r>
            <a:r>
              <a:rPr lang="zh-CN" altLang="en-US" dirty="0"/>
              <a:t>，</a:t>
            </a:r>
            <a:r>
              <a:rPr lang="en-US" altLang="zh-CN" dirty="0"/>
              <a:t>the angle &lt; 90°</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If m1&lt;m2</a:t>
            </a:r>
            <a:r>
              <a:rPr lang="zh-CN" altLang="en-US" dirty="0"/>
              <a:t>，</a:t>
            </a:r>
            <a:r>
              <a:rPr lang="en-US" altLang="zh-CN" dirty="0"/>
              <a:t>the angle &gt; 90°</a:t>
            </a:r>
            <a:endParaRPr lang="en-US" dirty="0"/>
          </a:p>
          <a:p>
            <a:endParaRPr lang="en-US" dirty="0"/>
          </a:p>
        </p:txBody>
      </p:sp>
      <p:sp>
        <p:nvSpPr>
          <p:cNvPr id="4" name="Slide Number Placeholder 3"/>
          <p:cNvSpPr>
            <a:spLocks noGrp="1"/>
          </p:cNvSpPr>
          <p:nvPr>
            <p:ph type="sldNum" sz="quarter" idx="10"/>
          </p:nvPr>
        </p:nvSpPr>
        <p:spPr/>
        <p:txBody>
          <a:bodyPr/>
          <a:lstStyle/>
          <a:p>
            <a:fld id="{C08A642B-1D08-47C1-9385-1FDD33F8CE06}" type="slidenum">
              <a:rPr lang="en-US" smtClean="0"/>
              <a:t>17</a:t>
            </a:fld>
            <a:endParaRPr lang="en-US"/>
          </a:p>
        </p:txBody>
      </p:sp>
    </p:spTree>
    <p:extLst>
      <p:ext uri="{BB962C8B-B14F-4D97-AF65-F5344CB8AC3E}">
        <p14:creationId xmlns:p14="http://schemas.microsoft.com/office/powerpoint/2010/main" val="14846376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ltLang="zh-CN"/>
              <a:t>Click to edit Master title style</a:t>
            </a:r>
            <a:endParaRPr lang="zh-CN" alt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zh-CN" altLang="en-US"/>
          </a:p>
        </p:txBody>
      </p:sp>
      <p:sp>
        <p:nvSpPr>
          <p:cNvPr id="4" name="Date Placeholder 3"/>
          <p:cNvSpPr>
            <a:spLocks noGrp="1"/>
          </p:cNvSpPr>
          <p:nvPr>
            <p:ph type="dt" sz="half" idx="10"/>
          </p:nvPr>
        </p:nvSpPr>
        <p:spPr/>
        <p:txBody>
          <a:bodyPr/>
          <a:lstStyle/>
          <a:p>
            <a:fld id="{FE569D62-DBC0-42A0-9163-AE55763238E5}" type="datetimeFigureOut">
              <a:rPr lang="zh-CN" altLang="en-US" smtClean="0"/>
              <a:t>2025/2/20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AFA05E0-2979-49F0-892A-7EC1FB9D50B6}" type="slidenum">
              <a:rPr lang="zh-CN" altLang="en-US" smtClean="0"/>
              <a:t>‹#›</a:t>
            </a:fld>
            <a:endParaRPr lang="zh-CN" altLang="en-US"/>
          </a:p>
        </p:txBody>
      </p:sp>
    </p:spTree>
    <p:extLst>
      <p:ext uri="{BB962C8B-B14F-4D97-AF65-F5344CB8AC3E}">
        <p14:creationId xmlns:p14="http://schemas.microsoft.com/office/powerpoint/2010/main" val="1114550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184150"/>
            <a:ext cx="10515600" cy="644525"/>
          </a:xfrm>
        </p:spPr>
        <p:txBody>
          <a:bodyPr>
            <a:normAutofit/>
          </a:bodyPr>
          <a:lstStyle>
            <a:lvl1pPr>
              <a:defRPr sz="3200" b="1">
                <a:latin typeface="Times New Roman" panose="02020603050405020304" pitchFamily="18" charset="0"/>
                <a:cs typeface="Times New Roman" panose="02020603050405020304" pitchFamily="18" charset="0"/>
              </a:defRPr>
            </a:lvl1pPr>
          </a:lstStyle>
          <a:p>
            <a:r>
              <a:rPr lang="en-US" altLang="zh-CN" dirty="0"/>
              <a:t>Click to edit Master title style</a:t>
            </a:r>
            <a:endParaRPr lang="zh-CN" altLang="en-US" dirty="0"/>
          </a:p>
        </p:txBody>
      </p:sp>
      <p:sp>
        <p:nvSpPr>
          <p:cNvPr id="3" name="Content Placeholder 2"/>
          <p:cNvSpPr>
            <a:spLocks noGrp="1"/>
          </p:cNvSpPr>
          <p:nvPr>
            <p:ph idx="1"/>
          </p:nvPr>
        </p:nvSpPr>
        <p:spPr>
          <a:xfrm>
            <a:off x="838200" y="962025"/>
            <a:ext cx="10515600" cy="5214938"/>
          </a:xfrm>
        </p:spPr>
        <p:txBody>
          <a:bodyPr/>
          <a:lstStyle>
            <a:lvl1pPr>
              <a:defRPr>
                <a:latin typeface="Times New Roman" panose="02020603050405020304" pitchFamily="18" charset="0"/>
                <a:ea typeface="微软雅黑 Light" panose="020B0502040204020203" pitchFamily="34" charset="-122"/>
                <a:cs typeface="Times New Roman" panose="02020603050405020304" pitchFamily="18" charset="0"/>
              </a:defRPr>
            </a:lvl1pPr>
            <a:lvl2pPr>
              <a:defRPr>
                <a:latin typeface="Times New Roman" panose="02020603050405020304" pitchFamily="18" charset="0"/>
                <a:ea typeface="微软雅黑 Light" panose="020B0502040204020203" pitchFamily="34" charset="-122"/>
                <a:cs typeface="Times New Roman" panose="02020603050405020304" pitchFamily="18" charset="0"/>
              </a:defRPr>
            </a:lvl2pPr>
            <a:lvl3pPr>
              <a:defRPr>
                <a:latin typeface="Times New Roman" panose="02020603050405020304" pitchFamily="18" charset="0"/>
                <a:ea typeface="微软雅黑 Light" panose="020B0502040204020203" pitchFamily="34" charset="-122"/>
                <a:cs typeface="Times New Roman" panose="02020603050405020304" pitchFamily="18" charset="0"/>
              </a:defRPr>
            </a:lvl3pPr>
            <a:lvl4pPr>
              <a:defRPr>
                <a:latin typeface="Times New Roman" panose="02020603050405020304" pitchFamily="18" charset="0"/>
                <a:ea typeface="微软雅黑 Light" panose="020B0502040204020203" pitchFamily="34" charset="-122"/>
                <a:cs typeface="Times New Roman" panose="02020603050405020304" pitchFamily="18" charset="0"/>
              </a:defRPr>
            </a:lvl4pPr>
            <a:lvl5pPr>
              <a:defRPr>
                <a:latin typeface="Times New Roman" panose="02020603050405020304" pitchFamily="18" charset="0"/>
                <a:ea typeface="微软雅黑 Light" panose="020B0502040204020203" pitchFamily="34" charset="-122"/>
                <a:cs typeface="Times New Roman" panose="02020603050405020304" pitchFamily="18" charset="0"/>
              </a:defRPr>
            </a:lvl5pPr>
          </a:lstStyle>
          <a:p>
            <a:pPr lvl="0"/>
            <a:r>
              <a:rPr lang="en-US" altLang="zh-CN" dirty="0"/>
              <a:t>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sp>
        <p:nvSpPr>
          <p:cNvPr id="4" name="Date Placeholder 3"/>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fld id="{FE569D62-DBC0-42A0-9163-AE55763238E5}" type="datetimeFigureOut">
              <a:rPr lang="zh-CN" altLang="en-US" smtClean="0"/>
              <a:pPr/>
              <a:t>2025/2/20</a:t>
            </a:fld>
            <a:endParaRPr lang="zh-CN" altLang="en-US"/>
          </a:p>
        </p:txBody>
      </p:sp>
      <p:sp>
        <p:nvSpPr>
          <p:cNvPr id="5" name="Footer Placeholder 4"/>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endParaRPr lang="zh-CN" altLang="en-US"/>
          </a:p>
        </p:txBody>
      </p:sp>
      <p:sp>
        <p:nvSpPr>
          <p:cNvPr id="6" name="Slide Number Placeholder 5"/>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2AFA05E0-2979-49F0-892A-7EC1FB9D50B6}" type="slidenum">
              <a:rPr lang="zh-CN" altLang="en-US" smtClean="0"/>
              <a:pPr/>
              <a:t>‹#›</a:t>
            </a:fld>
            <a:endParaRPr lang="zh-CN" altLang="en-US"/>
          </a:p>
        </p:txBody>
      </p:sp>
    </p:spTree>
    <p:extLst>
      <p:ext uri="{BB962C8B-B14F-4D97-AF65-F5344CB8AC3E}">
        <p14:creationId xmlns:p14="http://schemas.microsoft.com/office/powerpoint/2010/main" val="20446184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ltLang="zh-CN"/>
              <a:t>Click to edit Master title style</a:t>
            </a:r>
            <a:endParaRPr lang="zh-CN" alt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a:t>Edit Master text styles</a:t>
            </a:r>
          </a:p>
        </p:txBody>
      </p:sp>
      <p:sp>
        <p:nvSpPr>
          <p:cNvPr id="4" name="Date Placeholder 3"/>
          <p:cNvSpPr>
            <a:spLocks noGrp="1"/>
          </p:cNvSpPr>
          <p:nvPr>
            <p:ph type="dt" sz="half" idx="10"/>
          </p:nvPr>
        </p:nvSpPr>
        <p:spPr/>
        <p:txBody>
          <a:bodyPr/>
          <a:lstStyle/>
          <a:p>
            <a:fld id="{FE569D62-DBC0-42A0-9163-AE55763238E5}" type="datetimeFigureOut">
              <a:rPr lang="zh-CN" altLang="en-US" smtClean="0"/>
              <a:t>2025/2/20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AFA05E0-2979-49F0-892A-7EC1FB9D50B6}" type="slidenum">
              <a:rPr lang="zh-CN" altLang="en-US" smtClean="0"/>
              <a:t>‹#›</a:t>
            </a:fld>
            <a:endParaRPr lang="zh-CN" altLang="en-US"/>
          </a:p>
        </p:txBody>
      </p:sp>
    </p:spTree>
    <p:extLst>
      <p:ext uri="{BB962C8B-B14F-4D97-AF65-F5344CB8AC3E}">
        <p14:creationId xmlns:p14="http://schemas.microsoft.com/office/powerpoint/2010/main" val="3261170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sz="half" idx="1"/>
          </p:nvPr>
        </p:nvSpPr>
        <p:spPr>
          <a:xfrm>
            <a:off x="838200" y="1825625"/>
            <a:ext cx="5181600" cy="4351338"/>
          </a:xfrm>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p:cNvSpPr>
            <a:spLocks noGrp="1"/>
          </p:cNvSpPr>
          <p:nvPr>
            <p:ph sz="half" idx="2"/>
          </p:nvPr>
        </p:nvSpPr>
        <p:spPr>
          <a:xfrm>
            <a:off x="6172200" y="1825625"/>
            <a:ext cx="5181600" cy="4351338"/>
          </a:xfrm>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Date Placeholder 4"/>
          <p:cNvSpPr>
            <a:spLocks noGrp="1"/>
          </p:cNvSpPr>
          <p:nvPr>
            <p:ph type="dt" sz="half" idx="10"/>
          </p:nvPr>
        </p:nvSpPr>
        <p:spPr/>
        <p:txBody>
          <a:bodyPr/>
          <a:lstStyle/>
          <a:p>
            <a:fld id="{FE569D62-DBC0-42A0-9163-AE55763238E5}" type="datetimeFigureOut">
              <a:rPr lang="zh-CN" altLang="en-US" smtClean="0"/>
              <a:t>2025/2/20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AFA05E0-2979-49F0-892A-7EC1FB9D50B6}" type="slidenum">
              <a:rPr lang="zh-CN" altLang="en-US" smtClean="0"/>
              <a:t>‹#›</a:t>
            </a:fld>
            <a:endParaRPr lang="zh-CN" altLang="en-US"/>
          </a:p>
        </p:txBody>
      </p:sp>
    </p:spTree>
    <p:extLst>
      <p:ext uri="{BB962C8B-B14F-4D97-AF65-F5344CB8AC3E}">
        <p14:creationId xmlns:p14="http://schemas.microsoft.com/office/powerpoint/2010/main" val="41954822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ltLang="zh-CN"/>
              <a:t>Click to edit Master title style</a:t>
            </a:r>
            <a:endParaRPr lang="zh-CN" alt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Date Placeholder 6"/>
          <p:cNvSpPr>
            <a:spLocks noGrp="1"/>
          </p:cNvSpPr>
          <p:nvPr>
            <p:ph type="dt" sz="half" idx="10"/>
          </p:nvPr>
        </p:nvSpPr>
        <p:spPr/>
        <p:txBody>
          <a:bodyPr/>
          <a:lstStyle/>
          <a:p>
            <a:fld id="{FE569D62-DBC0-42A0-9163-AE55763238E5}" type="datetimeFigureOut">
              <a:rPr lang="zh-CN" altLang="en-US" smtClean="0"/>
              <a:t>2025/2/20</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2AFA05E0-2979-49F0-892A-7EC1FB9D50B6}" type="slidenum">
              <a:rPr lang="zh-CN" altLang="en-US" smtClean="0"/>
              <a:t>‹#›</a:t>
            </a:fld>
            <a:endParaRPr lang="zh-CN" altLang="en-US"/>
          </a:p>
        </p:txBody>
      </p:sp>
    </p:spTree>
    <p:extLst>
      <p:ext uri="{BB962C8B-B14F-4D97-AF65-F5344CB8AC3E}">
        <p14:creationId xmlns:p14="http://schemas.microsoft.com/office/powerpoint/2010/main" val="22915159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Date Placeholder 2"/>
          <p:cNvSpPr>
            <a:spLocks noGrp="1"/>
          </p:cNvSpPr>
          <p:nvPr>
            <p:ph type="dt" sz="half" idx="10"/>
          </p:nvPr>
        </p:nvSpPr>
        <p:spPr/>
        <p:txBody>
          <a:bodyPr/>
          <a:lstStyle/>
          <a:p>
            <a:fld id="{FE569D62-DBC0-42A0-9163-AE55763238E5}" type="datetimeFigureOut">
              <a:rPr lang="zh-CN" altLang="en-US" smtClean="0"/>
              <a:t>2025/2/20</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2AFA05E0-2979-49F0-892A-7EC1FB9D50B6}" type="slidenum">
              <a:rPr lang="zh-CN" altLang="en-US" smtClean="0"/>
              <a:t>‹#›</a:t>
            </a:fld>
            <a:endParaRPr lang="zh-CN" altLang="en-US"/>
          </a:p>
        </p:txBody>
      </p:sp>
    </p:spTree>
    <p:extLst>
      <p:ext uri="{BB962C8B-B14F-4D97-AF65-F5344CB8AC3E}">
        <p14:creationId xmlns:p14="http://schemas.microsoft.com/office/powerpoint/2010/main" val="23265382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E569D62-DBC0-42A0-9163-AE55763238E5}" type="datetimeFigureOut">
              <a:rPr lang="zh-CN" altLang="en-US" smtClean="0"/>
              <a:t>2025/2/20</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2AFA05E0-2979-49F0-892A-7EC1FB9D50B6}" type="slidenum">
              <a:rPr lang="zh-CN" altLang="en-US" smtClean="0"/>
              <a:t>‹#›</a:t>
            </a:fld>
            <a:endParaRPr lang="zh-CN" altLang="en-US"/>
          </a:p>
        </p:txBody>
      </p:sp>
    </p:spTree>
    <p:extLst>
      <p:ext uri="{BB962C8B-B14F-4D97-AF65-F5344CB8AC3E}">
        <p14:creationId xmlns:p14="http://schemas.microsoft.com/office/powerpoint/2010/main" val="28663946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Edit Master text styles</a:t>
            </a:r>
          </a:p>
        </p:txBody>
      </p:sp>
      <p:sp>
        <p:nvSpPr>
          <p:cNvPr id="5" name="Date Placeholder 4"/>
          <p:cNvSpPr>
            <a:spLocks noGrp="1"/>
          </p:cNvSpPr>
          <p:nvPr>
            <p:ph type="dt" sz="half" idx="10"/>
          </p:nvPr>
        </p:nvSpPr>
        <p:spPr/>
        <p:txBody>
          <a:bodyPr/>
          <a:lstStyle/>
          <a:p>
            <a:fld id="{FE569D62-DBC0-42A0-9163-AE55763238E5}" type="datetimeFigureOut">
              <a:rPr lang="zh-CN" altLang="en-US" smtClean="0"/>
              <a:t>2025/2/20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AFA05E0-2979-49F0-892A-7EC1FB9D50B6}" type="slidenum">
              <a:rPr lang="zh-CN" altLang="en-US" smtClean="0"/>
              <a:t>‹#›</a:t>
            </a:fld>
            <a:endParaRPr lang="zh-CN" altLang="en-US"/>
          </a:p>
        </p:txBody>
      </p:sp>
    </p:spTree>
    <p:extLst>
      <p:ext uri="{BB962C8B-B14F-4D97-AF65-F5344CB8AC3E}">
        <p14:creationId xmlns:p14="http://schemas.microsoft.com/office/powerpoint/2010/main" val="36544555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Edit Master text styles</a:t>
            </a:r>
          </a:p>
        </p:txBody>
      </p:sp>
      <p:sp>
        <p:nvSpPr>
          <p:cNvPr id="5" name="Date Placeholder 4"/>
          <p:cNvSpPr>
            <a:spLocks noGrp="1"/>
          </p:cNvSpPr>
          <p:nvPr>
            <p:ph type="dt" sz="half" idx="10"/>
          </p:nvPr>
        </p:nvSpPr>
        <p:spPr/>
        <p:txBody>
          <a:bodyPr/>
          <a:lstStyle/>
          <a:p>
            <a:fld id="{FE569D62-DBC0-42A0-9163-AE55763238E5}" type="datetimeFigureOut">
              <a:rPr lang="zh-CN" altLang="en-US" smtClean="0"/>
              <a:t>2025/2/20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AFA05E0-2979-49F0-892A-7EC1FB9D50B6}" type="slidenum">
              <a:rPr lang="zh-CN" altLang="en-US" smtClean="0"/>
              <a:t>‹#›</a:t>
            </a:fld>
            <a:endParaRPr lang="zh-CN" altLang="en-US"/>
          </a:p>
        </p:txBody>
      </p:sp>
    </p:spTree>
    <p:extLst>
      <p:ext uri="{BB962C8B-B14F-4D97-AF65-F5344CB8AC3E}">
        <p14:creationId xmlns:p14="http://schemas.microsoft.com/office/powerpoint/2010/main" val="25862940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Vertical Text Placeholder 2"/>
          <p:cNvSpPr>
            <a:spLocks noGrp="1"/>
          </p:cNvSpPr>
          <p:nvPr>
            <p:ph type="body" orient="vert" idx="1"/>
          </p:nvPr>
        </p:nvSpPr>
        <p:spPr/>
        <p:txBody>
          <a:bodyPr vert="eaVert"/>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p:cNvSpPr>
            <a:spLocks noGrp="1"/>
          </p:cNvSpPr>
          <p:nvPr>
            <p:ph type="dt" sz="half" idx="10"/>
          </p:nvPr>
        </p:nvSpPr>
        <p:spPr/>
        <p:txBody>
          <a:bodyPr/>
          <a:lstStyle/>
          <a:p>
            <a:fld id="{FE569D62-DBC0-42A0-9163-AE55763238E5}" type="datetimeFigureOut">
              <a:rPr lang="zh-CN" altLang="en-US" smtClean="0"/>
              <a:t>2025/2/20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AFA05E0-2979-49F0-892A-7EC1FB9D50B6}" type="slidenum">
              <a:rPr lang="zh-CN" altLang="en-US" smtClean="0"/>
              <a:t>‹#›</a:t>
            </a:fld>
            <a:endParaRPr lang="zh-CN" altLang="en-US"/>
          </a:p>
        </p:txBody>
      </p:sp>
    </p:spTree>
    <p:extLst>
      <p:ext uri="{BB962C8B-B14F-4D97-AF65-F5344CB8AC3E}">
        <p14:creationId xmlns:p14="http://schemas.microsoft.com/office/powerpoint/2010/main" val="31731083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ltLang="zh-CN"/>
              <a:t>Click to edit Master title style</a:t>
            </a:r>
            <a:endParaRPr lang="zh-CN" alt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p:cNvSpPr>
            <a:spLocks noGrp="1"/>
          </p:cNvSpPr>
          <p:nvPr>
            <p:ph type="dt" sz="half" idx="10"/>
          </p:nvPr>
        </p:nvSpPr>
        <p:spPr/>
        <p:txBody>
          <a:bodyPr/>
          <a:lstStyle/>
          <a:p>
            <a:fld id="{FE569D62-DBC0-42A0-9163-AE55763238E5}" type="datetimeFigureOut">
              <a:rPr lang="zh-CN" altLang="en-US" smtClean="0"/>
              <a:t>2025/2/20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AFA05E0-2979-49F0-892A-7EC1FB9D50B6}" type="slidenum">
              <a:rPr lang="zh-CN" altLang="en-US" smtClean="0"/>
              <a:t>‹#›</a:t>
            </a:fld>
            <a:endParaRPr lang="zh-CN" altLang="en-US"/>
          </a:p>
        </p:txBody>
      </p:sp>
    </p:spTree>
    <p:extLst>
      <p:ext uri="{BB962C8B-B14F-4D97-AF65-F5344CB8AC3E}">
        <p14:creationId xmlns:p14="http://schemas.microsoft.com/office/powerpoint/2010/main" val="15064493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CN"/>
              <a:t>Click to edit Master title style</a:t>
            </a:r>
            <a:endParaRPr lang="zh-CN" alt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E569D62-DBC0-42A0-9163-AE55763238E5}" type="datetimeFigureOut">
              <a:rPr lang="zh-CN" altLang="en-US" smtClean="0"/>
              <a:t>2025/2/20</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FA05E0-2979-49F0-892A-7EC1FB9D50B6}" type="slidenum">
              <a:rPr lang="zh-CN" altLang="en-US" smtClean="0"/>
              <a:t>‹#›</a:t>
            </a:fld>
            <a:endParaRPr lang="zh-CN" altLang="en-US"/>
          </a:p>
        </p:txBody>
      </p:sp>
    </p:spTree>
    <p:extLst>
      <p:ext uri="{BB962C8B-B14F-4D97-AF65-F5344CB8AC3E}">
        <p14:creationId xmlns:p14="http://schemas.microsoft.com/office/powerpoint/2010/main" val="33515359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hyperlink" Target="https://socratic.org/questions/how-did-rutherford-s-gold-foil-experiment-disprove-the-plum-pudding-model"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en.wikipedia.org/wiki/Alpha_decay"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emf"/></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9.gif"/><Relationship Id="rId7"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2.xml"/><Relationship Id="rId11" Type="http://schemas.openxmlformats.org/officeDocument/2006/relationships/image" Target="../media/image27.png"/><Relationship Id="rId5" Type="http://schemas.openxmlformats.org/officeDocument/2006/relationships/image" Target="../media/image24.png"/><Relationship Id="rId10" Type="http://schemas.openxmlformats.org/officeDocument/2006/relationships/image" Target="../media/image25.png"/><Relationship Id="rId4" Type="http://schemas.openxmlformats.org/officeDocument/2006/relationships/image" Target="../media/image23.png"/><Relationship Id="rId9" Type="http://schemas.openxmlformats.org/officeDocument/2006/relationships/image" Target="../media/image20.emf"/></Relationships>
</file>

<file path=ppt/slides/_rels/slide11.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4.png"/><Relationship Id="rId7" Type="http://schemas.openxmlformats.org/officeDocument/2006/relationships/image" Target="../media/image37.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36.png"/><Relationship Id="rId4" Type="http://schemas.openxmlformats.org/officeDocument/2006/relationships/image" Target="../media/image35.png"/></Relationships>
</file>

<file path=ppt/slides/_rels/slide1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230.png"/><Relationship Id="rId3" Type="http://schemas.openxmlformats.org/officeDocument/2006/relationships/image" Target="../media/image40.png"/><Relationship Id="rId7" Type="http://schemas.openxmlformats.org/officeDocument/2006/relationships/image" Target="../media/image220.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11.png"/><Relationship Id="rId5" Type="http://schemas.openxmlformats.org/officeDocument/2006/relationships/image" Target="../media/image201.png"/><Relationship Id="rId4" Type="http://schemas.openxmlformats.org/officeDocument/2006/relationships/image" Target="../media/image41.png"/><Relationship Id="rId9" Type="http://schemas.openxmlformats.org/officeDocument/2006/relationships/image" Target="../media/image240.png"/></Relationships>
</file>

<file path=ppt/slides/_rels/slide1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1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5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6832" y="2564904"/>
            <a:ext cx="8554075" cy="864096"/>
          </a:xfrm>
        </p:spPr>
        <p:txBody>
          <a:bodyPr>
            <a:normAutofit fontScale="90000"/>
          </a:bodyPr>
          <a:lstStyle/>
          <a:p>
            <a:r>
              <a:rPr lang="en-US" altLang="zh-CN" sz="6000" dirty="0"/>
              <a:t>The discovery of the nucleus</a:t>
            </a:r>
            <a:endParaRPr lang="en-US" sz="6000" dirty="0"/>
          </a:p>
        </p:txBody>
      </p:sp>
    </p:spTree>
    <p:extLst>
      <p:ext uri="{BB962C8B-B14F-4D97-AF65-F5344CB8AC3E}">
        <p14:creationId xmlns:p14="http://schemas.microsoft.com/office/powerpoint/2010/main" val="17119545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Thomson’s plum-pudding model of atoms</a:t>
            </a:r>
            <a:endParaRPr lang="en-US" dirty="0"/>
          </a:p>
        </p:txBody>
      </p:sp>
      <p:sp>
        <p:nvSpPr>
          <p:cNvPr id="3" name="Content Placeholder 2"/>
          <p:cNvSpPr>
            <a:spLocks noGrp="1"/>
          </p:cNvSpPr>
          <p:nvPr>
            <p:ph idx="1"/>
          </p:nvPr>
        </p:nvSpPr>
        <p:spPr>
          <a:xfrm>
            <a:off x="838200" y="1091809"/>
            <a:ext cx="10750420" cy="4787078"/>
          </a:xfrm>
        </p:spPr>
        <p:txBody>
          <a:bodyPr>
            <a:normAutofit/>
          </a:bodyPr>
          <a:lstStyle/>
          <a:p>
            <a:pPr marL="0" indent="0">
              <a:buNone/>
            </a:pPr>
            <a:r>
              <a:rPr lang="en-US" altLang="zh-CN" dirty="0"/>
              <a:t>Negatively charged electrons are embedded in a uniform positively charged sphere.</a:t>
            </a:r>
            <a:endParaRPr lang="en-US"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37627" y="2255601"/>
            <a:ext cx="2949572" cy="29495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6">
            <a:hlinkClick r:id="rId4"/>
          </p:cNvPr>
          <p:cNvPicPr>
            <a:picLocks noChangeAspect="1"/>
          </p:cNvPicPr>
          <p:nvPr/>
        </p:nvPicPr>
        <p:blipFill>
          <a:blip r:embed="rId5"/>
          <a:stretch>
            <a:fillRect/>
          </a:stretch>
        </p:blipFill>
        <p:spPr>
          <a:xfrm>
            <a:off x="2304801" y="2141781"/>
            <a:ext cx="3264090" cy="3177213"/>
          </a:xfrm>
          <a:prstGeom prst="rect">
            <a:avLst/>
          </a:prstGeom>
        </p:spPr>
      </p:pic>
    </p:spTree>
    <p:extLst>
      <p:ext uri="{BB962C8B-B14F-4D97-AF65-F5344CB8AC3E}">
        <p14:creationId xmlns:p14="http://schemas.microsoft.com/office/powerpoint/2010/main" val="3418240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50"/>
                                        </p:tgtEl>
                                        <p:attrNameLst>
                                          <p:attrName>style.visibility</p:attrName>
                                        </p:attrNameLst>
                                      </p:cBhvr>
                                      <p:to>
                                        <p:strVal val="visible"/>
                                      </p:to>
                                    </p:set>
                                    <p:animEffect transition="in" filter="fade">
                                      <p:cBhvr>
                                        <p:cTn id="12"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4150"/>
            <a:ext cx="10515600" cy="644525"/>
          </a:xfrm>
        </p:spPr>
        <p:txBody>
          <a:bodyPr>
            <a:normAutofit/>
          </a:bodyPr>
          <a:lstStyle/>
          <a:p>
            <a:pPr algn="ctr"/>
            <a:r>
              <a:rPr lang="en-US" altLang="zh-CN" dirty="0"/>
              <a:t>Ernest Rutherford</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61338" y="1026679"/>
                <a:ext cx="8829964" cy="5451475"/>
              </a:xfrm>
            </p:spPr>
            <p:txBody>
              <a:bodyPr>
                <a:normAutofit/>
              </a:bodyPr>
              <a:lstStyle/>
              <a:p>
                <a:pPr marL="0" indent="0">
                  <a:lnSpc>
                    <a:spcPct val="120000"/>
                  </a:lnSpc>
                  <a:buNone/>
                </a:pPr>
                <a:r>
                  <a:rPr lang="en-US" altLang="zh-CN" sz="2400" dirty="0"/>
                  <a:t>In the wake of Becquerel’s discovery radioactivity in 1896, </a:t>
                </a:r>
                <a:r>
                  <a:rPr lang="en-US" sz="2400" dirty="0"/>
                  <a:t>Rutherford</a:t>
                </a:r>
                <a:r>
                  <a:rPr lang="zh-CN" altLang="en-US" sz="2400" dirty="0"/>
                  <a:t> </a:t>
                </a:r>
                <a:r>
                  <a:rPr lang="en-US" altLang="zh-CN" sz="2400" dirty="0"/>
                  <a:t>started studying radioactivity from 1898.</a:t>
                </a:r>
              </a:p>
              <a:p>
                <a:pPr lvl="1">
                  <a:lnSpc>
                    <a:spcPct val="120000"/>
                  </a:lnSpc>
                </a:pPr>
                <a:r>
                  <a:rPr lang="en-US" altLang="zh-CN" dirty="0"/>
                  <a:t>Named </a:t>
                </a:r>
                <a14:m>
                  <m:oMath xmlns:m="http://schemas.openxmlformats.org/officeDocument/2006/math">
                    <m:r>
                      <a:rPr lang="en-US" altLang="zh-CN" i="1">
                        <a:latin typeface="Cambria Math"/>
                      </a:rPr>
                      <m:t>𝛼</m:t>
                    </m:r>
                    <m:r>
                      <a:rPr lang="en-US" altLang="zh-CN" i="1">
                        <a:latin typeface="Cambria Math"/>
                      </a:rPr>
                      <m:t>,</m:t>
                    </m:r>
                    <m:r>
                      <a:rPr lang="en-US" altLang="zh-CN" i="1">
                        <a:latin typeface="Cambria Math"/>
                      </a:rPr>
                      <m:t>𝛽</m:t>
                    </m:r>
                    <m:r>
                      <a:rPr lang="en-US" altLang="zh-CN" i="1">
                        <a:latin typeface="Cambria Math"/>
                      </a:rPr>
                      <m:t>,</m:t>
                    </m:r>
                    <m:r>
                      <a:rPr lang="en-US" altLang="zh-CN" i="1">
                        <a:latin typeface="Cambria Math"/>
                      </a:rPr>
                      <m:t>𝛾</m:t>
                    </m:r>
                  </m:oMath>
                </a14:m>
                <a:r>
                  <a:rPr lang="zh-CN" altLang="en-US" dirty="0"/>
                  <a:t> </a:t>
                </a:r>
                <a:r>
                  <a:rPr lang="en-US" altLang="zh-CN" dirty="0"/>
                  <a:t>ray</a:t>
                </a:r>
                <a:r>
                  <a:rPr lang="zh-CN" altLang="en-US" dirty="0"/>
                  <a:t> </a:t>
                </a:r>
                <a:r>
                  <a:rPr lang="en-US" altLang="zh-CN" dirty="0"/>
                  <a:t>and proved </a:t>
                </a:r>
                <a14:m>
                  <m:oMath xmlns:m="http://schemas.openxmlformats.org/officeDocument/2006/math">
                    <m:r>
                      <a:rPr lang="en-US" altLang="zh-CN" i="1" smtClean="0">
                        <a:latin typeface="Cambria Math"/>
                      </a:rPr>
                      <m:t>𝛼</m:t>
                    </m:r>
                  </m:oMath>
                </a14:m>
                <a:r>
                  <a:rPr lang="en-US" altLang="zh-CN" dirty="0"/>
                  <a:t>-ray is Helium</a:t>
                </a:r>
                <a:r>
                  <a:rPr lang="en-US" altLang="zh-CN" baseline="30000" dirty="0"/>
                  <a:t>+2</a:t>
                </a:r>
                <a:endParaRPr lang="en-US" altLang="zh-CN" dirty="0"/>
              </a:p>
              <a:p>
                <a:pPr lvl="1">
                  <a:lnSpc>
                    <a:spcPct val="120000"/>
                  </a:lnSpc>
                </a:pPr>
                <a:r>
                  <a:rPr lang="en-US" altLang="zh-CN" dirty="0"/>
                  <a:t>Discovered spontaneous radioactive decay</a:t>
                </a:r>
              </a:p>
              <a:p>
                <a:pPr lvl="1">
                  <a:lnSpc>
                    <a:spcPct val="120000"/>
                  </a:lnSpc>
                </a:pPr>
                <a:r>
                  <a:rPr lang="en-US" altLang="zh-CN" dirty="0"/>
                  <a:t>1902 transmutation of elements</a:t>
                </a:r>
                <a:r>
                  <a:rPr lang="zh-CN" altLang="en-US" dirty="0"/>
                  <a:t> </a:t>
                </a:r>
                <a:r>
                  <a:rPr lang="en-US" altLang="zh-CN" dirty="0"/>
                  <a:t>(1908</a:t>
                </a:r>
                <a:r>
                  <a:rPr lang="zh-CN" altLang="en-US" dirty="0"/>
                  <a:t> </a:t>
                </a:r>
                <a:r>
                  <a:rPr lang="en-US" altLang="zh-CN" dirty="0"/>
                  <a:t>Nobel prize in Chemistry)</a:t>
                </a:r>
              </a:p>
              <a:p>
                <a:pPr marL="0" indent="0">
                  <a:lnSpc>
                    <a:spcPct val="120000"/>
                  </a:lnSpc>
                  <a:buNone/>
                </a:pPr>
                <a:r>
                  <a:rPr lang="en-US" altLang="zh-CN" sz="2400" dirty="0"/>
                  <a:t>But those are still not his most famous achievements</a:t>
                </a:r>
              </a:p>
              <a:p>
                <a:pPr lvl="1">
                  <a:lnSpc>
                    <a:spcPct val="120000"/>
                  </a:lnSpc>
                </a:pPr>
                <a:r>
                  <a:rPr lang="en-US" altLang="zh-CN" dirty="0">
                    <a:solidFill>
                      <a:srgbClr val="C00000"/>
                    </a:solidFill>
                  </a:rPr>
                  <a:t>1911 discovery of the nucleus</a:t>
                </a:r>
              </a:p>
              <a:p>
                <a:pPr lvl="1">
                  <a:lnSpc>
                    <a:spcPct val="120000"/>
                  </a:lnSpc>
                </a:pPr>
                <a:r>
                  <a:rPr lang="en-US" altLang="zh-CN" dirty="0"/>
                  <a:t>1917-19 artificial nuclear reaction, discovery of proton</a:t>
                </a:r>
              </a:p>
              <a:p>
                <a:pPr lvl="1">
                  <a:lnSpc>
                    <a:spcPct val="120000"/>
                  </a:lnSpc>
                </a:pPr>
                <a:r>
                  <a:rPr lang="en-US" altLang="zh-CN" dirty="0"/>
                  <a:t>1921 neutron hypothesis</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661338" y="1026679"/>
                <a:ext cx="8829964" cy="5451475"/>
              </a:xfrm>
              <a:blipFill>
                <a:blip r:embed="rId3"/>
                <a:stretch>
                  <a:fillRect l="-1035" t="-223" r="-828"/>
                </a:stretch>
              </a:blipFill>
            </p:spPr>
            <p:txBody>
              <a:bodyPr/>
              <a:lstStyle/>
              <a:p>
                <a:r>
                  <a:rPr lang="zh-CN" altLang="en-US">
                    <a:noFill/>
                  </a:rPr>
                  <a:t> </a:t>
                </a:r>
              </a:p>
            </p:txBody>
          </p:sp>
        </mc:Fallback>
      </mc:AlternateContent>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83880" y="962024"/>
            <a:ext cx="1846782" cy="2073274"/>
          </a:xfrm>
          <a:prstGeom prst="rect">
            <a:avLst/>
          </a:prstGeom>
        </p:spPr>
      </p:pic>
    </p:spTree>
    <p:extLst>
      <p:ext uri="{BB962C8B-B14F-4D97-AF65-F5344CB8AC3E}">
        <p14:creationId xmlns:p14="http://schemas.microsoft.com/office/powerpoint/2010/main" val="2149011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7147" y="1048745"/>
            <a:ext cx="5331235" cy="5134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normAutofit/>
          </a:bodyPr>
          <a:lstStyle/>
          <a:p>
            <a:r>
              <a:rPr lang="en-US" dirty="0"/>
              <a:t>Alpha, Beta and Gamma rays</a:t>
            </a:r>
          </a:p>
        </p:txBody>
      </p:sp>
      <p:grpSp>
        <p:nvGrpSpPr>
          <p:cNvPr id="11" name="Group 10"/>
          <p:cNvGrpSpPr/>
          <p:nvPr/>
        </p:nvGrpSpPr>
        <p:grpSpPr>
          <a:xfrm>
            <a:off x="4665480" y="3019457"/>
            <a:ext cx="226337" cy="244444"/>
            <a:chOff x="2372008" y="2725093"/>
            <a:chExt cx="226337" cy="244444"/>
          </a:xfrm>
        </p:grpSpPr>
        <p:cxnSp>
          <p:nvCxnSpPr>
            <p:cNvPr id="6" name="Straight Connector 5"/>
            <p:cNvCxnSpPr/>
            <p:nvPr/>
          </p:nvCxnSpPr>
          <p:spPr>
            <a:xfrm>
              <a:off x="2372008" y="2725093"/>
              <a:ext cx="226337" cy="244444"/>
            </a:xfrm>
            <a:prstGeom prst="line">
              <a:avLst/>
            </a:prstGeom>
            <a:ln w="25400">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V="1">
              <a:off x="2372008" y="2725093"/>
              <a:ext cx="226337" cy="244444"/>
            </a:xfrm>
            <a:prstGeom prst="line">
              <a:avLst/>
            </a:prstGeom>
            <a:ln w="25400">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nvGrpSpPr>
          <p:cNvPr id="23" name="Group 22"/>
          <p:cNvGrpSpPr/>
          <p:nvPr/>
        </p:nvGrpSpPr>
        <p:grpSpPr>
          <a:xfrm>
            <a:off x="3185234" y="3036056"/>
            <a:ext cx="226337" cy="244444"/>
            <a:chOff x="2372008" y="2725093"/>
            <a:chExt cx="226337" cy="244444"/>
          </a:xfrm>
        </p:grpSpPr>
        <p:cxnSp>
          <p:nvCxnSpPr>
            <p:cNvPr id="24" name="Straight Connector 23"/>
            <p:cNvCxnSpPr/>
            <p:nvPr/>
          </p:nvCxnSpPr>
          <p:spPr>
            <a:xfrm>
              <a:off x="2372008" y="2725093"/>
              <a:ext cx="226337" cy="244444"/>
            </a:xfrm>
            <a:prstGeom prst="line">
              <a:avLst/>
            </a:prstGeom>
            <a:ln w="25400">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V="1">
              <a:off x="2372008" y="2725093"/>
              <a:ext cx="226337" cy="244444"/>
            </a:xfrm>
            <a:prstGeom prst="line">
              <a:avLst/>
            </a:prstGeom>
            <a:ln w="25400">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nvGrpSpPr>
          <p:cNvPr id="26" name="Group 25"/>
          <p:cNvGrpSpPr/>
          <p:nvPr/>
        </p:nvGrpSpPr>
        <p:grpSpPr>
          <a:xfrm>
            <a:off x="3180712" y="3799563"/>
            <a:ext cx="226337" cy="244444"/>
            <a:chOff x="2372008" y="2725093"/>
            <a:chExt cx="226337" cy="244444"/>
          </a:xfrm>
        </p:grpSpPr>
        <p:cxnSp>
          <p:nvCxnSpPr>
            <p:cNvPr id="27" name="Straight Connector 26"/>
            <p:cNvCxnSpPr/>
            <p:nvPr/>
          </p:nvCxnSpPr>
          <p:spPr>
            <a:xfrm>
              <a:off x="2372008" y="2725093"/>
              <a:ext cx="226337" cy="244444"/>
            </a:xfrm>
            <a:prstGeom prst="line">
              <a:avLst/>
            </a:prstGeom>
            <a:ln w="25400">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V="1">
              <a:off x="2372008" y="2725093"/>
              <a:ext cx="226337" cy="244444"/>
            </a:xfrm>
            <a:prstGeom prst="line">
              <a:avLst/>
            </a:prstGeom>
            <a:ln w="25400">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nvGrpSpPr>
          <p:cNvPr id="29" name="Group 28"/>
          <p:cNvGrpSpPr/>
          <p:nvPr/>
        </p:nvGrpSpPr>
        <p:grpSpPr>
          <a:xfrm>
            <a:off x="4656428" y="3799563"/>
            <a:ext cx="226337" cy="244444"/>
            <a:chOff x="2372008" y="2725093"/>
            <a:chExt cx="226337" cy="244444"/>
          </a:xfrm>
        </p:grpSpPr>
        <p:cxnSp>
          <p:nvCxnSpPr>
            <p:cNvPr id="30" name="Straight Connector 29"/>
            <p:cNvCxnSpPr/>
            <p:nvPr/>
          </p:nvCxnSpPr>
          <p:spPr>
            <a:xfrm>
              <a:off x="2372008" y="2725093"/>
              <a:ext cx="226337" cy="244444"/>
            </a:xfrm>
            <a:prstGeom prst="line">
              <a:avLst/>
            </a:prstGeom>
            <a:ln w="25400">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V="1">
              <a:off x="2372008" y="2725093"/>
              <a:ext cx="226337" cy="244444"/>
            </a:xfrm>
            <a:prstGeom prst="line">
              <a:avLst/>
            </a:prstGeom>
            <a:ln w="25400">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nvGrpSpPr>
          <p:cNvPr id="32" name="Group 31"/>
          <p:cNvGrpSpPr/>
          <p:nvPr/>
        </p:nvGrpSpPr>
        <p:grpSpPr>
          <a:xfrm>
            <a:off x="5931452" y="2993801"/>
            <a:ext cx="226337" cy="244444"/>
            <a:chOff x="2372008" y="2725093"/>
            <a:chExt cx="226337" cy="244444"/>
          </a:xfrm>
        </p:grpSpPr>
        <p:cxnSp>
          <p:nvCxnSpPr>
            <p:cNvPr id="33" name="Straight Connector 32"/>
            <p:cNvCxnSpPr/>
            <p:nvPr/>
          </p:nvCxnSpPr>
          <p:spPr>
            <a:xfrm>
              <a:off x="2372008" y="2725093"/>
              <a:ext cx="226337" cy="244444"/>
            </a:xfrm>
            <a:prstGeom prst="line">
              <a:avLst/>
            </a:prstGeom>
            <a:ln w="25400">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V="1">
              <a:off x="2372008" y="2725093"/>
              <a:ext cx="226337" cy="244444"/>
            </a:xfrm>
            <a:prstGeom prst="line">
              <a:avLst/>
            </a:prstGeom>
            <a:ln w="25400">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nvGrpSpPr>
          <p:cNvPr id="35" name="Group 34"/>
          <p:cNvGrpSpPr/>
          <p:nvPr/>
        </p:nvGrpSpPr>
        <p:grpSpPr>
          <a:xfrm>
            <a:off x="5949559" y="3796545"/>
            <a:ext cx="226337" cy="244444"/>
            <a:chOff x="2372008" y="2725093"/>
            <a:chExt cx="226337" cy="244444"/>
          </a:xfrm>
        </p:grpSpPr>
        <p:cxnSp>
          <p:nvCxnSpPr>
            <p:cNvPr id="36" name="Straight Connector 35"/>
            <p:cNvCxnSpPr/>
            <p:nvPr/>
          </p:nvCxnSpPr>
          <p:spPr>
            <a:xfrm>
              <a:off x="2372008" y="2725093"/>
              <a:ext cx="226337" cy="244444"/>
            </a:xfrm>
            <a:prstGeom prst="line">
              <a:avLst/>
            </a:prstGeom>
            <a:ln w="25400">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V="1">
              <a:off x="2372008" y="2725093"/>
              <a:ext cx="226337" cy="244444"/>
            </a:xfrm>
            <a:prstGeom prst="line">
              <a:avLst/>
            </a:prstGeom>
            <a:ln w="25400">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nvGrpSpPr>
          <p:cNvPr id="38" name="Group 37"/>
          <p:cNvGrpSpPr/>
          <p:nvPr/>
        </p:nvGrpSpPr>
        <p:grpSpPr>
          <a:xfrm>
            <a:off x="3188264" y="4522302"/>
            <a:ext cx="226337" cy="244444"/>
            <a:chOff x="2372008" y="2725093"/>
            <a:chExt cx="226337" cy="244444"/>
          </a:xfrm>
        </p:grpSpPr>
        <p:cxnSp>
          <p:nvCxnSpPr>
            <p:cNvPr id="39" name="Straight Connector 38"/>
            <p:cNvCxnSpPr/>
            <p:nvPr/>
          </p:nvCxnSpPr>
          <p:spPr>
            <a:xfrm>
              <a:off x="2372008" y="2725093"/>
              <a:ext cx="226337" cy="244444"/>
            </a:xfrm>
            <a:prstGeom prst="line">
              <a:avLst/>
            </a:prstGeom>
            <a:ln w="25400">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V="1">
              <a:off x="2372008" y="2725093"/>
              <a:ext cx="226337" cy="244444"/>
            </a:xfrm>
            <a:prstGeom prst="line">
              <a:avLst/>
            </a:prstGeom>
            <a:ln w="25400">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nvGrpSpPr>
          <p:cNvPr id="41" name="Group 40"/>
          <p:cNvGrpSpPr/>
          <p:nvPr/>
        </p:nvGrpSpPr>
        <p:grpSpPr>
          <a:xfrm>
            <a:off x="4673033" y="4522302"/>
            <a:ext cx="226337" cy="244444"/>
            <a:chOff x="2372008" y="2725093"/>
            <a:chExt cx="226337" cy="244444"/>
          </a:xfrm>
        </p:grpSpPr>
        <p:cxnSp>
          <p:nvCxnSpPr>
            <p:cNvPr id="42" name="Straight Connector 41"/>
            <p:cNvCxnSpPr/>
            <p:nvPr/>
          </p:nvCxnSpPr>
          <p:spPr>
            <a:xfrm>
              <a:off x="2372008" y="2725093"/>
              <a:ext cx="226337" cy="244444"/>
            </a:xfrm>
            <a:prstGeom prst="line">
              <a:avLst/>
            </a:prstGeom>
            <a:ln w="25400">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flipV="1">
              <a:off x="2372008" y="2725093"/>
              <a:ext cx="226337" cy="244444"/>
            </a:xfrm>
            <a:prstGeom prst="line">
              <a:avLst/>
            </a:prstGeom>
            <a:ln w="25400">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nvGrpSpPr>
          <p:cNvPr id="44" name="Group 43"/>
          <p:cNvGrpSpPr/>
          <p:nvPr/>
        </p:nvGrpSpPr>
        <p:grpSpPr>
          <a:xfrm>
            <a:off x="5966164" y="4528337"/>
            <a:ext cx="226337" cy="244444"/>
            <a:chOff x="2372008" y="2725093"/>
            <a:chExt cx="226337" cy="244444"/>
          </a:xfrm>
        </p:grpSpPr>
        <p:cxnSp>
          <p:nvCxnSpPr>
            <p:cNvPr id="45" name="Straight Connector 44"/>
            <p:cNvCxnSpPr/>
            <p:nvPr/>
          </p:nvCxnSpPr>
          <p:spPr>
            <a:xfrm>
              <a:off x="2372008" y="2725093"/>
              <a:ext cx="226337" cy="244444"/>
            </a:xfrm>
            <a:prstGeom prst="line">
              <a:avLst/>
            </a:prstGeom>
            <a:ln w="25400">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flipV="1">
              <a:off x="2372008" y="2725093"/>
              <a:ext cx="226337" cy="244444"/>
            </a:xfrm>
            <a:prstGeom prst="line">
              <a:avLst/>
            </a:prstGeom>
            <a:ln w="25400">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3" name="TextBox 2"/>
          <p:cNvSpPr txBox="1"/>
          <p:nvPr/>
        </p:nvSpPr>
        <p:spPr>
          <a:xfrm>
            <a:off x="2500694" y="3710205"/>
            <a:ext cx="800219" cy="461665"/>
          </a:xfrm>
          <a:prstGeom prst="rect">
            <a:avLst/>
          </a:prstGeom>
          <a:noFill/>
        </p:spPr>
        <p:txBody>
          <a:bodyPr wrap="none" rtlCol="0">
            <a:spAutoFit/>
          </a:bodyPr>
          <a:lstStyle/>
          <a:p>
            <a:r>
              <a:rPr lang="en-US" altLang="zh-CN" sz="2400" dirty="0">
                <a:solidFill>
                  <a:srgbClr val="C00000"/>
                </a:solidFill>
              </a:rPr>
              <a:t>He</a:t>
            </a:r>
            <a:r>
              <a:rPr lang="en-US" altLang="zh-CN" sz="2400" baseline="30000" dirty="0">
                <a:solidFill>
                  <a:srgbClr val="C00000"/>
                </a:solidFill>
              </a:rPr>
              <a:t>+2</a:t>
            </a:r>
            <a:endParaRPr lang="zh-CN" altLang="en-US" sz="2400" dirty="0">
              <a:solidFill>
                <a:srgbClr val="C00000"/>
              </a:solidFill>
            </a:endParaRPr>
          </a:p>
        </p:txBody>
      </p:sp>
      <p:sp>
        <p:nvSpPr>
          <p:cNvPr id="48" name="TextBox 47"/>
          <p:cNvSpPr txBox="1"/>
          <p:nvPr/>
        </p:nvSpPr>
        <p:spPr>
          <a:xfrm>
            <a:off x="6744601" y="3744638"/>
            <a:ext cx="1258678" cy="461665"/>
          </a:xfrm>
          <a:prstGeom prst="rect">
            <a:avLst/>
          </a:prstGeom>
          <a:noFill/>
        </p:spPr>
        <p:txBody>
          <a:bodyPr wrap="none" rtlCol="0">
            <a:spAutoFit/>
          </a:bodyPr>
          <a:lstStyle/>
          <a:p>
            <a:r>
              <a:rPr lang="en-US" altLang="zh-CN" sz="2400" dirty="0">
                <a:solidFill>
                  <a:srgbClr val="C00000"/>
                </a:solidFill>
              </a:rPr>
              <a:t>electron</a:t>
            </a:r>
            <a:endParaRPr lang="zh-CN" altLang="en-US" sz="2400" dirty="0">
              <a:solidFill>
                <a:srgbClr val="C00000"/>
              </a:solidFill>
            </a:endParaRPr>
          </a:p>
        </p:txBody>
      </p:sp>
      <p:sp>
        <p:nvSpPr>
          <p:cNvPr id="49" name="TextBox 48"/>
          <p:cNvSpPr txBox="1"/>
          <p:nvPr/>
        </p:nvSpPr>
        <p:spPr>
          <a:xfrm>
            <a:off x="5049106" y="1233421"/>
            <a:ext cx="6918882" cy="461665"/>
          </a:xfrm>
          <a:prstGeom prst="rect">
            <a:avLst/>
          </a:prstGeom>
          <a:noFill/>
        </p:spPr>
        <p:txBody>
          <a:bodyPr wrap="none" rtlCol="0">
            <a:spAutoFit/>
          </a:bodyPr>
          <a:lstStyle/>
          <a:p>
            <a:r>
              <a:rPr lang="en-US" altLang="zh-CN" sz="2400" dirty="0">
                <a:solidFill>
                  <a:srgbClr val="C00000"/>
                </a:solidFill>
              </a:rPr>
              <a:t>X-rays like radiation with even shorter wavelengths</a:t>
            </a:r>
            <a:endParaRPr lang="zh-CN" altLang="en-US" sz="2400" dirty="0">
              <a:solidFill>
                <a:srgbClr val="C00000"/>
              </a:solidFill>
            </a:endParaRPr>
          </a:p>
        </p:txBody>
      </p:sp>
      <p:sp>
        <p:nvSpPr>
          <p:cNvPr id="50" name="Rectangle 49"/>
          <p:cNvSpPr/>
          <p:nvPr/>
        </p:nvSpPr>
        <p:spPr>
          <a:xfrm>
            <a:off x="2060650" y="6154208"/>
            <a:ext cx="5777544" cy="369332"/>
          </a:xfrm>
          <a:prstGeom prst="rect">
            <a:avLst/>
          </a:prstGeom>
        </p:spPr>
        <p:txBody>
          <a:bodyPr wrap="none">
            <a:spAutoFit/>
          </a:bodyPr>
          <a:lstStyle/>
          <a:p>
            <a:r>
              <a:rPr lang="en-US" altLang="zh-CN" dirty="0">
                <a:hlinkClick r:id="rId4"/>
              </a:rPr>
              <a:t>Alpha </a:t>
            </a:r>
            <a:r>
              <a:rPr lang="zh-CN" altLang="en-US" dirty="0">
                <a:hlinkClick r:id="rId4"/>
              </a:rPr>
              <a:t>衰变： </a:t>
            </a:r>
            <a:r>
              <a:rPr lang="en-US" altLang="zh-CN" dirty="0">
                <a:hlinkClick r:id="rId4"/>
              </a:rPr>
              <a:t>https://en.wikipedia.org/wiki/Alpha_decay</a:t>
            </a:r>
            <a:r>
              <a:rPr lang="en-US" altLang="zh-CN" dirty="0"/>
              <a:t> </a:t>
            </a:r>
            <a:endParaRPr lang="zh-CN" altLang="en-US" dirty="0"/>
          </a:p>
        </p:txBody>
      </p:sp>
    </p:spTree>
    <p:extLst>
      <p:ext uri="{BB962C8B-B14F-4D97-AF65-F5344CB8AC3E}">
        <p14:creationId xmlns:p14="http://schemas.microsoft.com/office/powerpoint/2010/main" val="2073521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fade">
                                      <p:cBhvr>
                                        <p:cTn id="12" dur="500"/>
                                        <p:tgtEl>
                                          <p:spTgt spid="4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9"/>
                                        </p:tgtEl>
                                        <p:attrNameLst>
                                          <p:attrName>style.visibility</p:attrName>
                                        </p:attrNameLst>
                                      </p:cBhvr>
                                      <p:to>
                                        <p:strVal val="visible"/>
                                      </p:to>
                                    </p:set>
                                    <p:animEffect transition="in" filter="fade">
                                      <p:cBhvr>
                                        <p:cTn id="17"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8" grpId="0"/>
      <p:bldP spid="4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8949" y="222318"/>
            <a:ext cx="8719260" cy="499423"/>
          </a:xfrm>
        </p:spPr>
        <p:txBody>
          <a:bodyPr>
            <a:normAutofit fontScale="90000"/>
          </a:bodyPr>
          <a:lstStyle/>
          <a:p>
            <a:r>
              <a:rPr lang="en-US" altLang="zh-CN" dirty="0"/>
              <a:t>Rutherford-Geiger-Marsden experiment</a:t>
            </a:r>
            <a:r>
              <a:rPr lang="zh-CN" altLang="en-US" dirty="0"/>
              <a:t> </a:t>
            </a:r>
            <a:r>
              <a:rPr lang="en-US" altLang="zh-CN" dirty="0"/>
              <a:t>(1909-1911)</a:t>
            </a:r>
            <a:endParaRPr lang="en-US" dirty="0"/>
          </a:p>
        </p:txBody>
      </p:sp>
      <p:pic>
        <p:nvPicPr>
          <p:cNvPr id="3074" name="Picture 2" descr="http://www-outreach.phy.cam.ac.uk/camphy/nucleus/side4_nucleus.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4474" y="991934"/>
            <a:ext cx="4437752" cy="4757422"/>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271145" y="5938465"/>
            <a:ext cx="9427510" cy="400110"/>
          </a:xfrm>
          <a:prstGeom prst="rect">
            <a:avLst/>
          </a:prstGeom>
        </p:spPr>
        <p:txBody>
          <a:bodyPr wrap="square">
            <a:spAutoFit/>
          </a:bodyPr>
          <a:lstStyle/>
          <a:p>
            <a:r>
              <a:rPr lang="en-US" sz="2000" dirty="0">
                <a:latin typeface="Times New Roman" panose="02020603050405020304" pitchFamily="18" charset="0"/>
                <a:cs typeface="Times New Roman" panose="02020603050405020304" pitchFamily="18" charset="0"/>
              </a:rPr>
              <a:t>F: gold</a:t>
            </a:r>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foil</a:t>
            </a:r>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a:t>
            </a:r>
            <a:r>
              <a:rPr lang="en-US" altLang="zh-CN" sz="2000" dirty="0">
                <a:solidFill>
                  <a:srgbClr val="C00000"/>
                </a:solidFill>
                <a:latin typeface="Times New Roman" panose="02020603050405020304" pitchFamily="18" charset="0"/>
                <a:cs typeface="Times New Roman" panose="02020603050405020304" pitchFamily="18" charset="0"/>
              </a:rPr>
              <a:t>0.1 micron</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R: radon-222</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 scintillation screen</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M: microscope</a:t>
            </a:r>
            <a:endParaRPr lang="en-US" sz="20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6827973" y="4259157"/>
            <a:ext cx="4537085" cy="707886"/>
          </a:xfrm>
          <a:prstGeom prst="rect">
            <a:avLst/>
          </a:prstGeom>
          <a:ln>
            <a:noFill/>
          </a:ln>
        </p:spPr>
        <p:style>
          <a:lnRef idx="2">
            <a:schemeClr val="accent1"/>
          </a:lnRef>
          <a:fillRef idx="1001">
            <a:schemeClr val="lt1"/>
          </a:fillRef>
          <a:effectRef idx="0">
            <a:schemeClr val="accent1"/>
          </a:effectRef>
          <a:fontRef idx="minor">
            <a:schemeClr val="dk1"/>
          </a:fontRef>
        </p:style>
        <p:txBody>
          <a:bodyPr wrap="square" rtlCol="0">
            <a:spAutoFit/>
          </a:bodyPr>
          <a:lstStyle/>
          <a:p>
            <a:r>
              <a:rPr lang="en-US" altLang="zh-CN" sz="2000" dirty="0">
                <a:solidFill>
                  <a:schemeClr val="tx1"/>
                </a:solidFill>
                <a:ea typeface="黑体" panose="02010609060101010101" pitchFamily="49" charset="-122"/>
              </a:rPr>
              <a:t>Initially, the counting was done by eyes. </a:t>
            </a:r>
          </a:p>
          <a:p>
            <a:r>
              <a:rPr lang="en-US" altLang="zh-CN" sz="2000" dirty="0">
                <a:solidFill>
                  <a:schemeClr val="tx1"/>
                </a:solidFill>
                <a:ea typeface="黑体" panose="02010609060101010101" pitchFamily="49" charset="-122"/>
              </a:rPr>
              <a:t>Latter, Geiger</a:t>
            </a:r>
            <a:r>
              <a:rPr lang="zh-CN" altLang="en-US" sz="2000" dirty="0">
                <a:solidFill>
                  <a:schemeClr val="tx1"/>
                </a:solidFill>
                <a:ea typeface="黑体" panose="02010609060101010101" pitchFamily="49" charset="-122"/>
              </a:rPr>
              <a:t> </a:t>
            </a:r>
            <a:r>
              <a:rPr lang="en-US" altLang="zh-CN" sz="2000" dirty="0">
                <a:solidFill>
                  <a:schemeClr val="tx1"/>
                </a:solidFill>
                <a:ea typeface="黑体" panose="02010609060101010101" pitchFamily="49" charset="-122"/>
              </a:rPr>
              <a:t>invented Geiger counter.</a:t>
            </a:r>
            <a:endParaRPr lang="en-US" sz="2000" dirty="0">
              <a:solidFill>
                <a:schemeClr val="tx1"/>
              </a:solidFill>
              <a:ea typeface="黑体" panose="02010609060101010101" pitchFamily="49" charset="-122"/>
            </a:endParaRPr>
          </a:p>
        </p:txBody>
      </p:sp>
      <p:grpSp>
        <p:nvGrpSpPr>
          <p:cNvPr id="17" name="Group 16"/>
          <p:cNvGrpSpPr/>
          <p:nvPr/>
        </p:nvGrpSpPr>
        <p:grpSpPr>
          <a:xfrm>
            <a:off x="487792" y="1292804"/>
            <a:ext cx="1548829" cy="2257897"/>
            <a:chOff x="335388" y="1199472"/>
            <a:chExt cx="1548829" cy="2257897"/>
          </a:xfrm>
        </p:grpSpPr>
        <p:pic>
          <p:nvPicPr>
            <p:cNvPr id="13" name="Picture 12"/>
            <p:cNvPicPr>
              <a:picLocks noChangeAspect="1"/>
            </p:cNvPicPr>
            <p:nvPr/>
          </p:nvPicPr>
          <p:blipFill>
            <a:blip r:embed="rId4"/>
            <a:stretch>
              <a:fillRect/>
            </a:stretch>
          </p:blipFill>
          <p:spPr>
            <a:xfrm>
              <a:off x="335388" y="1199472"/>
              <a:ext cx="1548829" cy="1901208"/>
            </a:xfrm>
            <a:prstGeom prst="rect">
              <a:avLst/>
            </a:prstGeom>
          </p:spPr>
        </p:pic>
        <p:sp>
          <p:nvSpPr>
            <p:cNvPr id="15" name="Rectangle 14"/>
            <p:cNvSpPr/>
            <p:nvPr/>
          </p:nvSpPr>
          <p:spPr>
            <a:xfrm>
              <a:off x="689653" y="3088037"/>
              <a:ext cx="877163" cy="369332"/>
            </a:xfrm>
            <a:prstGeom prst="rect">
              <a:avLst/>
            </a:prstGeom>
          </p:spPr>
          <p:txBody>
            <a:bodyPr wrap="none">
              <a:spAutoFit/>
            </a:bodyPr>
            <a:lstStyle/>
            <a:p>
              <a:r>
                <a:rPr lang="en-US" altLang="zh-CN" b="1" dirty="0"/>
                <a:t>Geiger</a:t>
              </a:r>
              <a:endParaRPr lang="zh-CN" altLang="en-US" b="1" dirty="0"/>
            </a:p>
          </p:txBody>
        </p:sp>
      </p:grpSp>
      <p:grpSp>
        <p:nvGrpSpPr>
          <p:cNvPr id="18" name="Group 17"/>
          <p:cNvGrpSpPr/>
          <p:nvPr/>
        </p:nvGrpSpPr>
        <p:grpSpPr>
          <a:xfrm>
            <a:off x="487792" y="3550701"/>
            <a:ext cx="1548829" cy="2212479"/>
            <a:chOff x="335387" y="3578411"/>
            <a:chExt cx="1548829" cy="2212479"/>
          </a:xfrm>
        </p:grpSpPr>
        <p:pic>
          <p:nvPicPr>
            <p:cNvPr id="14" name="Picture 13"/>
            <p:cNvPicPr>
              <a:picLocks noChangeAspect="1"/>
            </p:cNvPicPr>
            <p:nvPr/>
          </p:nvPicPr>
          <p:blipFill>
            <a:blip r:embed="rId5"/>
            <a:stretch>
              <a:fillRect/>
            </a:stretch>
          </p:blipFill>
          <p:spPr>
            <a:xfrm>
              <a:off x="335387" y="3578411"/>
              <a:ext cx="1548829" cy="1853063"/>
            </a:xfrm>
            <a:prstGeom prst="rect">
              <a:avLst/>
            </a:prstGeom>
          </p:spPr>
        </p:pic>
        <p:sp>
          <p:nvSpPr>
            <p:cNvPr id="16" name="Rectangle 15"/>
            <p:cNvSpPr/>
            <p:nvPr/>
          </p:nvSpPr>
          <p:spPr>
            <a:xfrm>
              <a:off x="583854" y="5421558"/>
              <a:ext cx="1099981" cy="369332"/>
            </a:xfrm>
            <a:prstGeom prst="rect">
              <a:avLst/>
            </a:prstGeom>
          </p:spPr>
          <p:txBody>
            <a:bodyPr wrap="none">
              <a:spAutoFit/>
            </a:bodyPr>
            <a:lstStyle/>
            <a:p>
              <a:r>
                <a:rPr lang="en-US" altLang="zh-CN" b="1" dirty="0"/>
                <a:t>Marsden</a:t>
              </a:r>
              <a:endParaRPr lang="zh-CN" altLang="en-US" b="1" dirty="0"/>
            </a:p>
          </p:txBody>
        </p:sp>
      </p:grpSp>
      <p:pic>
        <p:nvPicPr>
          <p:cNvPr id="21" name="Picture 20"/>
          <p:cNvPicPr>
            <a:picLocks noChangeAspect="1"/>
          </p:cNvPicPr>
          <p:nvPr/>
        </p:nvPicPr>
        <p:blipFill>
          <a:blip r:embed="rId6"/>
          <a:stretch>
            <a:fillRect/>
          </a:stretch>
        </p:blipFill>
        <p:spPr>
          <a:xfrm>
            <a:off x="6984900" y="1464347"/>
            <a:ext cx="4126444" cy="2298717"/>
          </a:xfrm>
          <a:prstGeom prst="rect">
            <a:avLst/>
          </a:prstGeom>
        </p:spPr>
      </p:pic>
    </p:spTree>
    <p:extLst>
      <p:ext uri="{BB962C8B-B14F-4D97-AF65-F5344CB8AC3E}">
        <p14:creationId xmlns:p14="http://schemas.microsoft.com/office/powerpoint/2010/main" val="3046006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The result of the scattering experiment</a:t>
            </a:r>
            <a:endParaRPr lang="zh-CN" altLang="en-US" dirty="0"/>
          </a:p>
        </p:txBody>
      </p:sp>
      <mc:AlternateContent xmlns:mc="http://schemas.openxmlformats.org/markup-compatibility/2006" xmlns:a14="http://schemas.microsoft.com/office/drawing/2010/main">
        <mc:Choice Requires="a14">
          <p:sp>
            <p:nvSpPr>
              <p:cNvPr id="4" name="Rectangle 3"/>
              <p:cNvSpPr/>
              <p:nvPr/>
            </p:nvSpPr>
            <p:spPr>
              <a:xfrm>
                <a:off x="2595596" y="5898499"/>
                <a:ext cx="7145563" cy="461665"/>
              </a:xfrm>
              <a:prstGeom prst="rect">
                <a:avLst/>
              </a:prstGeom>
            </p:spPr>
            <p:txBody>
              <a:bodyPr wrap="square">
                <a:spAutoFit/>
              </a:bodyPr>
              <a:lstStyle/>
              <a:p>
                <a:r>
                  <a:rPr lang="en-US" altLang="zh-CN" sz="2400" dirty="0">
                    <a:latin typeface="Times New Roman" panose="02020603050405020304" pitchFamily="18" charset="0"/>
                    <a:cs typeface="Times New Roman" panose="02020603050405020304" pitchFamily="18" charset="0"/>
                  </a:rPr>
                  <a:t>About 1 in 8000 particles deflected more than</a:t>
                </a:r>
                <a:r>
                  <a:rPr lang="zh-CN" altLang="en-US" sz="2400" dirty="0">
                    <a:latin typeface="Times New Roman" panose="02020603050405020304" pitchFamily="18" charset="0"/>
                    <a:cs typeface="Times New Roman" panose="02020603050405020304" pitchFamily="18" charset="0"/>
                  </a:rPr>
                  <a:t> </a:t>
                </a:r>
                <a14:m>
                  <m:oMath xmlns:m="http://schemas.openxmlformats.org/officeDocument/2006/math">
                    <m:r>
                      <a:rPr lang="en-US" altLang="zh-CN" sz="2400" b="0" i="1" smtClean="0">
                        <a:latin typeface="Cambria Math" panose="02040503050406030204" pitchFamily="18" charset="0"/>
                      </a:rPr>
                      <m:t>90</m:t>
                    </m:r>
                    <m:r>
                      <a:rPr lang="en-US" altLang="zh-CN" sz="2400" b="0" i="1" smtClean="0">
                        <a:latin typeface="Cambria Math" panose="02040503050406030204" pitchFamily="18" charset="0"/>
                        <a:ea typeface="Cambria Math" panose="02040503050406030204" pitchFamily="18" charset="0"/>
                      </a:rPr>
                      <m:t>°</m:t>
                    </m:r>
                  </m:oMath>
                </a14:m>
                <a:endParaRPr lang="zh-CN" altLang="en-US" sz="2400" dirty="0">
                  <a:latin typeface="Times New Roman" panose="02020603050405020304" pitchFamily="18" charset="0"/>
                  <a:cs typeface="Times New Roman" panose="02020603050405020304" pitchFamily="18" charset="0"/>
                </a:endParaRPr>
              </a:p>
            </p:txBody>
          </p:sp>
        </mc:Choice>
        <mc:Fallback xmlns="">
          <p:sp>
            <p:nvSpPr>
              <p:cNvPr id="4" name="Rectangle 3"/>
              <p:cNvSpPr>
                <a:spLocks noRot="1" noChangeAspect="1" noMove="1" noResize="1" noEditPoints="1" noAdjustHandles="1" noChangeArrowheads="1" noChangeShapeType="1" noTextEdit="1"/>
              </p:cNvSpPr>
              <p:nvPr/>
            </p:nvSpPr>
            <p:spPr>
              <a:xfrm>
                <a:off x="2595596" y="5898499"/>
                <a:ext cx="7145563" cy="461665"/>
              </a:xfrm>
              <a:prstGeom prst="rect">
                <a:avLst/>
              </a:prstGeom>
              <a:blipFill>
                <a:blip r:embed="rId3"/>
                <a:stretch>
                  <a:fillRect l="-1365" t="-10667" b="-30667"/>
                </a:stretch>
              </a:blipFill>
            </p:spPr>
            <p:txBody>
              <a:bodyPr/>
              <a:lstStyle/>
              <a:p>
                <a:r>
                  <a:rPr lang="en-US">
                    <a:noFill/>
                  </a:rPr>
                  <a:t> </a:t>
                </a:r>
              </a:p>
            </p:txBody>
          </p:sp>
        </mc:Fallback>
      </mc:AlternateContent>
      <p:grpSp>
        <p:nvGrpSpPr>
          <p:cNvPr id="12" name="Group 11"/>
          <p:cNvGrpSpPr/>
          <p:nvPr/>
        </p:nvGrpSpPr>
        <p:grpSpPr>
          <a:xfrm>
            <a:off x="1389241" y="828675"/>
            <a:ext cx="6791827" cy="4656132"/>
            <a:chOff x="1074517" y="977583"/>
            <a:chExt cx="6791827" cy="4656132"/>
          </a:xfrm>
        </p:grpSpPr>
        <p:grpSp>
          <p:nvGrpSpPr>
            <p:cNvPr id="7" name="Group 6"/>
            <p:cNvGrpSpPr/>
            <p:nvPr/>
          </p:nvGrpSpPr>
          <p:grpSpPr>
            <a:xfrm>
              <a:off x="1074517" y="977583"/>
              <a:ext cx="6791827" cy="4656132"/>
              <a:chOff x="1500402" y="906309"/>
              <a:chExt cx="6791827" cy="4656132"/>
            </a:xfrm>
          </p:grpSpPr>
          <p:pic>
            <p:nvPicPr>
              <p:cNvPr id="6" name="Picture 5"/>
              <p:cNvPicPr>
                <a:picLocks noChangeAspect="1"/>
              </p:cNvPicPr>
              <p:nvPr/>
            </p:nvPicPr>
            <p:blipFill>
              <a:blip r:embed="rId4"/>
              <a:stretch>
                <a:fillRect/>
              </a:stretch>
            </p:blipFill>
            <p:spPr>
              <a:xfrm>
                <a:off x="1500402" y="906309"/>
                <a:ext cx="6791827" cy="4656132"/>
              </a:xfrm>
              <a:prstGeom prst="rect">
                <a:avLst/>
              </a:prstGeom>
            </p:spPr>
          </p:pic>
          <p:sp>
            <p:nvSpPr>
              <p:cNvPr id="5" name="Rectangle 4"/>
              <p:cNvSpPr/>
              <p:nvPr/>
            </p:nvSpPr>
            <p:spPr>
              <a:xfrm>
                <a:off x="6797286" y="4997978"/>
                <a:ext cx="877163" cy="369332"/>
              </a:xfrm>
              <a:prstGeom prst="rect">
                <a:avLst/>
              </a:prstGeom>
            </p:spPr>
            <p:txBody>
              <a:bodyPr wrap="none">
                <a:spAutoFit/>
              </a:bodyPr>
              <a:lstStyle/>
              <a:p>
                <a:r>
                  <a:rPr lang="zh-CN" altLang="en-US" b="1" dirty="0">
                    <a:latin typeface="Times New Roman" panose="02020603050405020304" pitchFamily="18" charset="0"/>
                    <a:cs typeface="Times New Roman" panose="02020603050405020304" pitchFamily="18" charset="0"/>
                  </a:rPr>
                  <a:t>闪烁屏</a:t>
                </a:r>
                <a:endParaRPr lang="zh-CN" altLang="en-US" b="1" dirty="0"/>
              </a:p>
            </p:txBody>
          </p:sp>
        </p:grpSp>
        <p:sp>
          <p:nvSpPr>
            <p:cNvPr id="10" name="Arc 9"/>
            <p:cNvSpPr/>
            <p:nvPr/>
          </p:nvSpPr>
          <p:spPr>
            <a:xfrm rot="1887993">
              <a:off x="5160870" y="2424206"/>
              <a:ext cx="587467" cy="288832"/>
            </a:xfrm>
            <a:prstGeom prst="arc">
              <a:avLst>
                <a:gd name="adj1" fmla="val 11380020"/>
                <a:gd name="adj2" fmla="val 20589111"/>
              </a:avLst>
            </a:prstGeom>
            <a:ln w="25400">
              <a:solidFill>
                <a:srgbClr val="00B050"/>
              </a:solidFill>
              <a:headEnd type="triangle"/>
            </a:ln>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dirty="0">
                <a:solidFill>
                  <a:srgbClr val="C00000"/>
                </a:solidFill>
                <a:highlight>
                  <a:srgbClr val="000080"/>
                </a:highlight>
              </a:endParaRPr>
            </a:p>
          </p:txBody>
        </p:sp>
        <mc:AlternateContent xmlns:mc="http://schemas.openxmlformats.org/markup-compatibility/2006" xmlns:a14="http://schemas.microsoft.com/office/drawing/2010/main">
          <mc:Choice Requires="a14">
            <p:sp>
              <p:nvSpPr>
                <p:cNvPr id="11" name="TextBox 10"/>
                <p:cNvSpPr txBox="1"/>
                <p:nvPr/>
              </p:nvSpPr>
              <p:spPr>
                <a:xfrm>
                  <a:off x="5456631" y="2119115"/>
                  <a:ext cx="323897" cy="400110"/>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solidFill>
                              <a:srgbClr val="00B050"/>
                            </a:solidFill>
                            <a:latin typeface="Cambria Math" panose="02040503050406030204" pitchFamily="18" charset="0"/>
                          </a:rPr>
                          <m:t>𝜃</m:t>
                        </m:r>
                      </m:oMath>
                    </m:oMathPara>
                  </a14:m>
                  <a:endParaRPr lang="zh-CN" altLang="en-US" sz="2000" dirty="0">
                    <a:solidFill>
                      <a:srgbClr val="C00000"/>
                    </a:solidFill>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5456631" y="2119115"/>
                  <a:ext cx="323897" cy="400110"/>
                </a:xfrm>
                <a:prstGeom prst="rect">
                  <a:avLst/>
                </a:prstGeom>
                <a:blipFill>
                  <a:blip r:embed="rId5"/>
                  <a:stretch>
                    <a:fillRect r="-1887"/>
                  </a:stretch>
                </a:blipFill>
                <a:ln>
                  <a:noFill/>
                </a:ln>
              </p:spPr>
              <p:txBody>
                <a:bodyPr/>
                <a:lstStyle/>
                <a:p>
                  <a:r>
                    <a:rPr lang="zh-CN" altLang="en-US">
                      <a:noFill/>
                    </a:rPr>
                    <a:t> </a:t>
                  </a:r>
                </a:p>
              </p:txBody>
            </p:sp>
          </mc:Fallback>
        </mc:AlternateContent>
      </p:grpSp>
    </p:spTree>
    <p:extLst>
      <p:ext uri="{BB962C8B-B14F-4D97-AF65-F5344CB8AC3E}">
        <p14:creationId xmlns:p14="http://schemas.microsoft.com/office/powerpoint/2010/main" val="1352873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88772"/>
            <a:ext cx="10515600" cy="644525"/>
          </a:xfrm>
        </p:spPr>
        <p:txBody>
          <a:bodyPr>
            <a:noAutofit/>
          </a:bodyPr>
          <a:lstStyle/>
          <a:p>
            <a:r>
              <a:rPr lang="en-US" altLang="zh-CN" sz="4000" dirty="0"/>
              <a:t>The size of an atom</a:t>
            </a:r>
            <a:endParaRPr lang="en-US" sz="4000" dirty="0"/>
          </a:p>
        </p:txBody>
      </p:sp>
      <mc:AlternateContent xmlns:mc="http://schemas.openxmlformats.org/markup-compatibility/2006" xmlns:a14="http://schemas.microsoft.com/office/drawing/2010/main">
        <mc:Choice Requires="a14">
          <p:sp>
            <p:nvSpPr>
              <p:cNvPr id="3" name="TextBox 2"/>
              <p:cNvSpPr txBox="1"/>
              <p:nvPr/>
            </p:nvSpPr>
            <p:spPr>
              <a:xfrm>
                <a:off x="6081399" y="864045"/>
                <a:ext cx="3015890" cy="85696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rPr>
                          </m:ctrlPr>
                        </m:fPr>
                        <m:num>
                          <m:r>
                            <m:rPr>
                              <m:sty m:val="p"/>
                            </m:rPr>
                            <a:rPr lang="en-US" altLang="zh-CN" sz="2400" b="0" i="0" smtClean="0">
                              <a:latin typeface="Cambria Math" panose="02040503050406030204" pitchFamily="18" charset="0"/>
                            </a:rPr>
                            <m:t>Molar</m:t>
                          </m:r>
                          <m:r>
                            <a:rPr lang="en-US" altLang="zh-CN" sz="2400" b="0" i="0" smtClean="0">
                              <a:latin typeface="Cambria Math" panose="02040503050406030204" pitchFamily="18" charset="0"/>
                            </a:rPr>
                            <m:t> </m:t>
                          </m:r>
                          <m:r>
                            <m:rPr>
                              <m:sty m:val="p"/>
                            </m:rPr>
                            <a:rPr lang="en-US" altLang="zh-CN" sz="2400" b="0" i="0" smtClean="0">
                              <a:latin typeface="Cambria Math" panose="02040503050406030204" pitchFamily="18" charset="0"/>
                            </a:rPr>
                            <m:t>mass</m:t>
                          </m:r>
                        </m:num>
                        <m:den>
                          <m:sSub>
                            <m:sSubPr>
                              <m:ctrlPr>
                                <a:rPr lang="en-US" sz="2400" i="1">
                                  <a:latin typeface="Cambria Math" panose="02040503050406030204" pitchFamily="18" charset="0"/>
                                </a:rPr>
                              </m:ctrlPr>
                            </m:sSubPr>
                            <m:e>
                              <m:r>
                                <a:rPr lang="en-US" sz="2400" i="1">
                                  <a:latin typeface="Cambria Math"/>
                                </a:rPr>
                                <m:t>𝑁</m:t>
                              </m:r>
                            </m:e>
                            <m:sub>
                              <m:r>
                                <a:rPr lang="en-US" sz="2400" i="1">
                                  <a:latin typeface="Cambria Math"/>
                                </a:rPr>
                                <m:t>𝐴</m:t>
                              </m:r>
                            </m:sub>
                          </m:sSub>
                          <m:r>
                            <a:rPr lang="en-US" altLang="zh-CN" sz="2400" i="1">
                              <a:latin typeface="Cambria Math" panose="02040503050406030204" pitchFamily="18" charset="0"/>
                            </a:rPr>
                            <m:t>·</m:t>
                          </m:r>
                          <m:r>
                            <m:rPr>
                              <m:sty m:val="p"/>
                            </m:rPr>
                            <a:rPr lang="en-US" altLang="zh-CN" sz="2400" b="0" i="0" smtClean="0">
                              <a:latin typeface="Cambria Math" panose="02040503050406030204" pitchFamily="18" charset="0"/>
                            </a:rPr>
                            <m:t>Density</m:t>
                          </m:r>
                        </m:den>
                      </m:f>
                      <m:r>
                        <a:rPr lang="en-US" sz="2400" i="1">
                          <a:latin typeface="Cambria Math" panose="02040503050406030204" pitchFamily="18" charset="0"/>
                          <a:ea typeface="Cambria Math" panose="02040503050406030204" pitchFamily="18" charset="0"/>
                        </a:rPr>
                        <m:t>≈</m:t>
                      </m:r>
                      <m:f>
                        <m:fPr>
                          <m:ctrlPr>
                            <a:rPr lang="en-US" altLang="zh-CN" sz="2400" i="1">
                              <a:latin typeface="Cambria Math" panose="02040503050406030204" pitchFamily="18" charset="0"/>
                            </a:rPr>
                          </m:ctrlPr>
                        </m:fPr>
                        <m:num>
                          <m:r>
                            <a:rPr lang="en-US" altLang="zh-CN" sz="2400" i="1">
                              <a:latin typeface="Cambria Math"/>
                            </a:rPr>
                            <m:t>4</m:t>
                          </m:r>
                        </m:num>
                        <m:den>
                          <m:r>
                            <a:rPr lang="en-US" altLang="zh-CN" sz="2400" i="1">
                              <a:latin typeface="Cambria Math"/>
                            </a:rPr>
                            <m:t>3</m:t>
                          </m:r>
                        </m:den>
                      </m:f>
                      <m:r>
                        <a:rPr lang="en-US" altLang="zh-CN" sz="2400" i="1">
                          <a:latin typeface="Cambria Math"/>
                        </a:rPr>
                        <m:t>𝜋</m:t>
                      </m:r>
                      <m:sSup>
                        <m:sSupPr>
                          <m:ctrlPr>
                            <a:rPr lang="en-US" altLang="zh-CN" sz="2400" i="1">
                              <a:latin typeface="Cambria Math" panose="02040503050406030204" pitchFamily="18" charset="0"/>
                            </a:rPr>
                          </m:ctrlPr>
                        </m:sSupPr>
                        <m:e>
                          <m:r>
                            <a:rPr lang="en-US" altLang="zh-CN" sz="2400" i="1">
                              <a:latin typeface="Cambria Math"/>
                            </a:rPr>
                            <m:t>𝑟</m:t>
                          </m:r>
                        </m:e>
                        <m:sup>
                          <m:r>
                            <a:rPr lang="en-US" altLang="zh-CN" sz="2400" i="1">
                              <a:latin typeface="Cambria Math"/>
                            </a:rPr>
                            <m:t>3</m:t>
                          </m:r>
                        </m:sup>
                      </m:sSup>
                    </m:oMath>
                  </m:oMathPara>
                </a14:m>
                <a:endParaRPr lang="en-US" sz="2400" dirty="0"/>
              </a:p>
            </p:txBody>
          </p:sp>
        </mc:Choice>
        <mc:Fallback xmlns="">
          <p:sp>
            <p:nvSpPr>
              <p:cNvPr id="3" name="TextBox 2"/>
              <p:cNvSpPr txBox="1">
                <a:spLocks noRot="1" noChangeAspect="1" noMove="1" noResize="1" noEditPoints="1" noAdjustHandles="1" noChangeArrowheads="1" noChangeShapeType="1" noTextEdit="1"/>
              </p:cNvSpPr>
              <p:nvPr/>
            </p:nvSpPr>
            <p:spPr>
              <a:xfrm>
                <a:off x="6081399" y="864045"/>
                <a:ext cx="3015890" cy="856966"/>
              </a:xfrm>
              <a:prstGeom prst="rect">
                <a:avLst/>
              </a:prstGeom>
              <a:blipFill>
                <a:blip r:embed="rId3"/>
                <a:stretch>
                  <a:fillRect/>
                </a:stretch>
              </a:blipFill>
            </p:spPr>
            <p:txBody>
              <a:bodyPr/>
              <a:lstStyle/>
              <a:p>
                <a:r>
                  <a:rPr lang="en-US">
                    <a:noFill/>
                  </a:rPr>
                  <a:t> </a:t>
                </a:r>
              </a:p>
            </p:txBody>
          </p:sp>
        </mc:Fallback>
      </mc:AlternateContent>
      <p:pic>
        <p:nvPicPr>
          <p:cNvPr id="1025"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78982" y="2007345"/>
            <a:ext cx="6986115" cy="42418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822950" y="1069874"/>
            <a:ext cx="3304110" cy="461665"/>
          </a:xfrm>
          <a:prstGeom prst="rect">
            <a:avLst/>
          </a:prstGeom>
          <a:noFill/>
        </p:spPr>
        <p:txBody>
          <a:bodyPr wrap="none" rtlCol="0">
            <a:spAutoFit/>
          </a:bodyPr>
          <a:lstStyle/>
          <a:p>
            <a:r>
              <a:rPr lang="en-US" altLang="zh-CN" sz="2400" dirty="0"/>
              <a:t>Assuming dens packing</a:t>
            </a:r>
          </a:p>
        </p:txBody>
      </p:sp>
      <p:pic>
        <p:nvPicPr>
          <p:cNvPr id="9" name="Picture 8"/>
          <p:cNvPicPr>
            <a:picLocks noChangeAspect="1"/>
          </p:cNvPicPr>
          <p:nvPr/>
        </p:nvPicPr>
        <p:blipFill>
          <a:blip r:embed="rId5"/>
          <a:stretch>
            <a:fillRect/>
          </a:stretch>
        </p:blipFill>
        <p:spPr>
          <a:xfrm>
            <a:off x="772214" y="2246574"/>
            <a:ext cx="2771085" cy="2883862"/>
          </a:xfrm>
          <a:prstGeom prst="rect">
            <a:avLst/>
          </a:prstGeom>
        </p:spPr>
      </p:pic>
    </p:spTree>
    <p:extLst>
      <p:ext uri="{BB962C8B-B14F-4D97-AF65-F5344CB8AC3E}">
        <p14:creationId xmlns:p14="http://schemas.microsoft.com/office/powerpoint/2010/main" val="3817893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00000"/>
              </a:lnSpc>
            </a:pPr>
            <a:r>
              <a:rPr lang="en-US" altLang="zh-CN" dirty="0"/>
              <a:t>The failure of Thomson’s model</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41693" y="1147332"/>
                <a:ext cx="7155024" cy="2750012"/>
              </a:xfrm>
            </p:spPr>
            <p:txBody>
              <a:bodyPr>
                <a:noAutofit/>
              </a:bodyPr>
              <a:lstStyle/>
              <a:p>
                <a:pPr marL="0" indent="0">
                  <a:lnSpc>
                    <a:spcPct val="100000"/>
                  </a:lnSpc>
                  <a:buNone/>
                </a:pPr>
                <a:r>
                  <a:rPr lang="en-US" altLang="zh-CN" dirty="0"/>
                  <a:t>Thomson’s model</a:t>
                </a:r>
              </a:p>
              <a:p>
                <a:pPr lvl="1">
                  <a:lnSpc>
                    <a:spcPct val="150000"/>
                  </a:lnSpc>
                </a:pPr>
                <a:r>
                  <a:rPr lang="en-US" altLang="zh-CN" dirty="0"/>
                  <a:t>Deflection angle &lt;10</a:t>
                </a:r>
                <a:r>
                  <a:rPr lang="en-US" altLang="zh-CN" baseline="30000" dirty="0"/>
                  <a:t>-3</a:t>
                </a:r>
                <a:r>
                  <a:rPr lang="en-US" altLang="zh-CN" dirty="0"/>
                  <a:t> rad for each collision</a:t>
                </a:r>
              </a:p>
              <a:p>
                <a:pPr lvl="1">
                  <a:lnSpc>
                    <a:spcPct val="150000"/>
                  </a:lnSpc>
                </a:pPr>
                <a:r>
                  <a:rPr lang="en-US" altLang="zh-CN" dirty="0"/>
                  <a:t>A </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a:rPr>
                          <m:t>90</m:t>
                        </m:r>
                      </m:e>
                      <m:sup>
                        <m:r>
                          <a:rPr lang="en-US" altLang="zh-CN" i="1">
                            <a:latin typeface="Cambria Math"/>
                            <a:ea typeface="Cambria Math"/>
                          </a:rPr>
                          <m:t>°</m:t>
                        </m:r>
                      </m:sup>
                    </m:sSup>
                  </m:oMath>
                </a14:m>
                <a:r>
                  <a:rPr lang="zh-CN" altLang="en-US" dirty="0"/>
                  <a:t> </a:t>
                </a:r>
                <a:r>
                  <a:rPr lang="en-US" altLang="zh-CN" dirty="0"/>
                  <a:t>deflection needs </a:t>
                </a:r>
                <a14:m>
                  <m:oMath xmlns:m="http://schemas.openxmlformats.org/officeDocument/2006/math">
                    <m:sSup>
                      <m:sSupPr>
                        <m:ctrlPr>
                          <a:rPr lang="en-US" altLang="zh-CN" i="1">
                            <a:latin typeface="Cambria Math" panose="02040503050406030204" pitchFamily="18" charset="0"/>
                          </a:rPr>
                        </m:ctrlPr>
                      </m:sSupPr>
                      <m:e>
                        <m:d>
                          <m:dPr>
                            <m:ctrlPr>
                              <a:rPr lang="en-US" altLang="zh-CN" i="1">
                                <a:latin typeface="Cambria Math" panose="02040503050406030204" pitchFamily="18" charset="0"/>
                              </a:rPr>
                            </m:ctrlPr>
                          </m:dPr>
                          <m:e>
                            <m:f>
                              <m:fPr>
                                <m:ctrlPr>
                                  <a:rPr lang="en-US" altLang="zh-CN" i="1">
                                    <a:latin typeface="Cambria Math" panose="02040503050406030204" pitchFamily="18" charset="0"/>
                                  </a:rPr>
                                </m:ctrlPr>
                              </m:fPr>
                              <m:num>
                                <m:r>
                                  <a:rPr lang="en-US" altLang="zh-CN" i="1">
                                    <a:latin typeface="Cambria Math"/>
                                  </a:rPr>
                                  <m:t>𝜋</m:t>
                                </m:r>
                                <m:r>
                                  <a:rPr lang="en-US" altLang="zh-CN" i="1">
                                    <a:latin typeface="Cambria Math"/>
                                  </a:rPr>
                                  <m:t>/2</m:t>
                                </m:r>
                              </m:num>
                              <m:den>
                                <m:sSup>
                                  <m:sSupPr>
                                    <m:ctrlPr>
                                      <a:rPr lang="en-US" altLang="zh-CN" i="1">
                                        <a:latin typeface="Cambria Math" panose="02040503050406030204" pitchFamily="18" charset="0"/>
                                        <a:ea typeface="Cambria Math"/>
                                      </a:rPr>
                                    </m:ctrlPr>
                                  </m:sSupPr>
                                  <m:e>
                                    <m:r>
                                      <a:rPr lang="en-US" altLang="zh-CN" i="1">
                                        <a:latin typeface="Cambria Math"/>
                                        <a:ea typeface="Cambria Math"/>
                                      </a:rPr>
                                      <m:t>10</m:t>
                                    </m:r>
                                  </m:e>
                                  <m:sup>
                                    <m:r>
                                      <a:rPr lang="en-US" altLang="zh-CN" i="1">
                                        <a:latin typeface="Cambria Math"/>
                                        <a:ea typeface="Cambria Math"/>
                                      </a:rPr>
                                      <m:t>−3</m:t>
                                    </m:r>
                                  </m:sup>
                                </m:sSup>
                              </m:den>
                            </m:f>
                          </m:e>
                        </m:d>
                      </m:e>
                      <m:sup>
                        <m:r>
                          <a:rPr lang="en-US" altLang="zh-CN" i="1">
                            <a:latin typeface="Cambria Math"/>
                          </a:rPr>
                          <m:t>2</m:t>
                        </m:r>
                      </m:sup>
                    </m:sSup>
                    <m:r>
                      <a:rPr lang="en-US" altLang="zh-CN" i="1" smtClean="0">
                        <a:latin typeface="Cambria Math" panose="02040503050406030204" pitchFamily="18" charset="0"/>
                        <a:ea typeface="Cambria Math" panose="02040503050406030204" pitchFamily="18" charset="0"/>
                      </a:rPr>
                      <m:t>≈</m:t>
                    </m:r>
                    <m:sSup>
                      <m:sSupPr>
                        <m:ctrlPr>
                          <a:rPr lang="en-US" altLang="zh-CN" i="1">
                            <a:latin typeface="Cambria Math" panose="02040503050406030204" pitchFamily="18" charset="0"/>
                            <a:ea typeface="Cambria Math"/>
                          </a:rPr>
                        </m:ctrlPr>
                      </m:sSupPr>
                      <m:e>
                        <m:r>
                          <a:rPr lang="en-US" altLang="zh-CN" i="1">
                            <a:latin typeface="Cambria Math"/>
                            <a:ea typeface="Cambria Math"/>
                          </a:rPr>
                          <m:t>10</m:t>
                        </m:r>
                      </m:e>
                      <m:sup>
                        <m:r>
                          <a:rPr lang="en-US" altLang="zh-CN" i="1">
                            <a:latin typeface="Cambria Math"/>
                            <a:ea typeface="Cambria Math"/>
                          </a:rPr>
                          <m:t>6</m:t>
                        </m:r>
                      </m:sup>
                    </m:sSup>
                  </m:oMath>
                </a14:m>
                <a:r>
                  <a:rPr lang="en-US" altLang="zh-CN" dirty="0"/>
                  <a:t> collsions</a:t>
                </a:r>
              </a:p>
              <a:p>
                <a:pPr lvl="1">
                  <a:lnSpc>
                    <a:spcPct val="150000"/>
                  </a:lnSpc>
                </a:pPr>
                <a:r>
                  <a:rPr lang="en-US" altLang="zh-CN" dirty="0"/>
                  <a:t>0.1 micron Gold foil is </a:t>
                </a:r>
                <a14:m>
                  <m:oMath xmlns:m="http://schemas.openxmlformats.org/officeDocument/2006/math">
                    <m:r>
                      <a:rPr lang="en-US" altLang="zh-CN" i="1" dirty="0" smtClean="0">
                        <a:latin typeface="Cambria Math" panose="02040503050406030204" pitchFamily="18" charset="0"/>
                        <a:ea typeface="Cambria Math" panose="02040503050406030204" pitchFamily="18" charset="0"/>
                      </a:rPr>
                      <m:t>~</m:t>
                    </m:r>
                    <m:r>
                      <a:rPr lang="en-US" altLang="zh-CN" i="1" dirty="0" smtClean="0">
                        <a:latin typeface="Cambria Math" panose="02040503050406030204" pitchFamily="18" charset="0"/>
                      </a:rPr>
                      <m:t>400</m:t>
                    </m:r>
                  </m:oMath>
                </a14:m>
                <a:r>
                  <a:rPr lang="en-US" altLang="zh-CN" dirty="0"/>
                  <a:t> atoms thick.</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41693" y="1147332"/>
                <a:ext cx="7155024" cy="2750012"/>
              </a:xfrm>
              <a:blipFill>
                <a:blip r:embed="rId3"/>
                <a:stretch>
                  <a:fillRect l="-1790" t="-2217" b="-2217"/>
                </a:stretch>
              </a:blipFill>
            </p:spPr>
            <p:txBody>
              <a:bodyPr/>
              <a:lstStyle/>
              <a:p>
                <a:r>
                  <a:rPr lang="en-US">
                    <a:noFill/>
                  </a:rPr>
                  <a:t> </a:t>
                </a:r>
              </a:p>
            </p:txBody>
          </p:sp>
        </mc:Fallback>
      </mc:AlternateContent>
      <p:pic>
        <p:nvPicPr>
          <p:cNvPr id="5" name="Picture 4"/>
          <p:cNvPicPr>
            <a:picLocks noChangeAspect="1"/>
          </p:cNvPicPr>
          <p:nvPr/>
        </p:nvPicPr>
        <p:blipFill>
          <a:blip r:embed="rId4"/>
          <a:stretch>
            <a:fillRect/>
          </a:stretch>
        </p:blipFill>
        <p:spPr>
          <a:xfrm>
            <a:off x="7896717" y="1302843"/>
            <a:ext cx="2870834" cy="1864995"/>
          </a:xfrm>
          <a:prstGeom prst="rect">
            <a:avLst/>
          </a:prstGeom>
        </p:spPr>
      </p:pic>
      <p:grpSp>
        <p:nvGrpSpPr>
          <p:cNvPr id="7" name="Group 6"/>
          <p:cNvGrpSpPr/>
          <p:nvPr/>
        </p:nvGrpSpPr>
        <p:grpSpPr>
          <a:xfrm>
            <a:off x="2028993" y="4206929"/>
            <a:ext cx="6748026" cy="2025649"/>
            <a:chOff x="3478349" y="4097488"/>
            <a:chExt cx="6748026" cy="2025649"/>
          </a:xfrm>
        </p:grpSpPr>
        <p:pic>
          <p:nvPicPr>
            <p:cNvPr id="6" name="Picture 5"/>
            <p:cNvPicPr>
              <a:picLocks noChangeAspect="1"/>
            </p:cNvPicPr>
            <p:nvPr/>
          </p:nvPicPr>
          <p:blipFill>
            <a:blip r:embed="rId5"/>
            <a:stretch>
              <a:fillRect/>
            </a:stretch>
          </p:blipFill>
          <p:spPr>
            <a:xfrm>
              <a:off x="7355541" y="4097488"/>
              <a:ext cx="2870834" cy="2025649"/>
            </a:xfrm>
            <a:prstGeom prst="rect">
              <a:avLst/>
            </a:prstGeom>
          </p:spPr>
        </p:pic>
        <p:sp>
          <p:nvSpPr>
            <p:cNvPr id="4" name="Rectangle 3"/>
            <p:cNvSpPr/>
            <p:nvPr/>
          </p:nvSpPr>
          <p:spPr>
            <a:xfrm>
              <a:off x="3478349" y="4848702"/>
              <a:ext cx="2986138" cy="523220"/>
            </a:xfrm>
            <a:prstGeom prst="rect">
              <a:avLst/>
            </a:prstGeom>
          </p:spPr>
          <p:txBody>
            <a:bodyPr wrap="none">
              <a:spAutoFit/>
            </a:bodyPr>
            <a:lstStyle/>
            <a:p>
              <a:r>
                <a:rPr lang="en-US" altLang="zh-CN" sz="2800" dirty="0">
                  <a:solidFill>
                    <a:srgbClr val="C00000"/>
                  </a:solidFill>
                  <a:latin typeface="Times New Roman" panose="02020603050405020304" pitchFamily="18" charset="0"/>
                  <a:cs typeface="Times New Roman" panose="02020603050405020304" pitchFamily="18" charset="0"/>
                </a:rPr>
                <a:t>Rutherford’s model</a:t>
              </a:r>
              <a:endParaRPr lang="zh-CN" altLang="en-US" sz="2800" dirty="0">
                <a:solidFill>
                  <a:srgbClr val="C00000"/>
                </a:solidFill>
                <a:latin typeface="Times New Roman" panose="02020603050405020304" pitchFamily="18" charset="0"/>
                <a:cs typeface="Times New Roman" panose="02020603050405020304" pitchFamily="18" charset="0"/>
              </a:endParaRPr>
            </a:p>
          </p:txBody>
        </p:sp>
      </p:grpSp>
      <p:sp>
        <p:nvSpPr>
          <p:cNvPr id="8" name="Rectangle 7">
            <a:extLst>
              <a:ext uri="{FF2B5EF4-FFF2-40B4-BE49-F238E27FC236}">
                <a16:creationId xmlns:a16="http://schemas.microsoft.com/office/drawing/2014/main" id="{C8AA49FD-959A-4DBE-B681-B60585C8F8E4}"/>
              </a:ext>
            </a:extLst>
          </p:cNvPr>
          <p:cNvSpPr/>
          <p:nvPr/>
        </p:nvSpPr>
        <p:spPr>
          <a:xfrm>
            <a:off x="4391608" y="2500604"/>
            <a:ext cx="926841" cy="6672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40808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grpId="1" nodeType="clickEffect">
                                  <p:stCondLst>
                                    <p:cond delay="0"/>
                                  </p:stCondLst>
                                  <p:childTnLst>
                                    <p:animEffect transition="out" filter="fade">
                                      <p:cBhvr>
                                        <p:cTn id="19" dur="500"/>
                                        <p:tgtEl>
                                          <p:spTgt spid="8"/>
                                        </p:tgtEl>
                                      </p:cBhvr>
                                    </p:animEffect>
                                    <p:set>
                                      <p:cBhvr>
                                        <p:cTn id="20" dur="1" fill="hold">
                                          <p:stCondLst>
                                            <p:cond delay="499"/>
                                          </p:stCondLst>
                                        </p:cTn>
                                        <p:tgtEl>
                                          <p:spTgt spid="8"/>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fade">
                                      <p:cBhvr>
                                        <p:cTn id="30" dur="500"/>
                                        <p:tgtEl>
                                          <p:spTgt spid="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3960" y="306044"/>
            <a:ext cx="11606464" cy="644525"/>
          </a:xfrm>
        </p:spPr>
        <p:txBody>
          <a:bodyPr>
            <a:normAutofit fontScale="90000"/>
          </a:bodyPr>
          <a:lstStyle/>
          <a:p>
            <a:pPr>
              <a:lnSpc>
                <a:spcPct val="150000"/>
              </a:lnSpc>
            </a:pPr>
            <a:r>
              <a:rPr lang="en-US" altLang="zh-CN" dirty="0"/>
              <a:t>The proof of Rutherford’s model (1911)</a:t>
            </a:r>
            <a:endParaRPr lang="zh-CN" altLang="en-US" dirty="0"/>
          </a:p>
        </p:txBody>
      </p:sp>
      <p:pic>
        <p:nvPicPr>
          <p:cNvPr id="4" name="Picture 3"/>
          <p:cNvPicPr>
            <a:picLocks noChangeAspect="1"/>
          </p:cNvPicPr>
          <p:nvPr/>
        </p:nvPicPr>
        <p:blipFill>
          <a:blip r:embed="rId2"/>
          <a:stretch>
            <a:fillRect/>
          </a:stretch>
        </p:blipFill>
        <p:spPr>
          <a:xfrm>
            <a:off x="583494" y="1663698"/>
            <a:ext cx="6144706" cy="3423029"/>
          </a:xfrm>
          <a:prstGeom prst="rect">
            <a:avLst/>
          </a:prstGeom>
        </p:spPr>
      </p:pic>
      <p:grpSp>
        <p:nvGrpSpPr>
          <p:cNvPr id="5" name="Group 4"/>
          <p:cNvGrpSpPr/>
          <p:nvPr/>
        </p:nvGrpSpPr>
        <p:grpSpPr>
          <a:xfrm>
            <a:off x="7129778" y="1663699"/>
            <a:ext cx="4404775" cy="4763303"/>
            <a:chOff x="6809056" y="1335596"/>
            <a:chExt cx="4242265" cy="5074941"/>
          </a:xfrm>
        </p:grpSpPr>
        <p:grpSp>
          <p:nvGrpSpPr>
            <p:cNvPr id="6" name="Group 5"/>
            <p:cNvGrpSpPr/>
            <p:nvPr/>
          </p:nvGrpSpPr>
          <p:grpSpPr>
            <a:xfrm>
              <a:off x="6809056" y="1335596"/>
              <a:ext cx="3719996" cy="4598386"/>
              <a:chOff x="6981832" y="1038462"/>
              <a:chExt cx="3719996" cy="5362380"/>
            </a:xfrm>
          </p:grpSpPr>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73436" y="1097081"/>
                <a:ext cx="3528392" cy="53037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9" name="Rectangle 8"/>
                  <p:cNvSpPr/>
                  <p:nvPr/>
                </p:nvSpPr>
                <p:spPr>
                  <a:xfrm>
                    <a:off x="8563074" y="2832587"/>
                    <a:ext cx="2138754" cy="1347937"/>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400" i="1" smtClean="0">
                              <a:solidFill>
                                <a:srgbClr val="C00000"/>
                              </a:solidFill>
                              <a:latin typeface="Cambria Math"/>
                              <a:ea typeface="Cambria Math"/>
                            </a:rPr>
                            <m:t>𝛥</m:t>
                          </m:r>
                          <m:r>
                            <a:rPr lang="zh-CN" altLang="en-US" sz="2400" i="1" smtClean="0">
                              <a:solidFill>
                                <a:srgbClr val="C00000"/>
                              </a:solidFill>
                              <a:latin typeface="Cambria Math"/>
                              <a:ea typeface="Cambria Math"/>
                            </a:rPr>
                            <m:t>𝑁</m:t>
                          </m:r>
                          <m:r>
                            <a:rPr lang="en-US" altLang="zh-CN" sz="2400" b="0" i="1" smtClean="0">
                              <a:solidFill>
                                <a:srgbClr val="C00000"/>
                              </a:solidFill>
                              <a:latin typeface="Cambria Math" panose="02040503050406030204" pitchFamily="18" charset="0"/>
                              <a:ea typeface="Cambria Math"/>
                            </a:rPr>
                            <m:t>(</m:t>
                          </m:r>
                          <m:r>
                            <a:rPr lang="en-US" altLang="zh-CN" sz="2400" b="0" i="1" smtClean="0">
                              <a:solidFill>
                                <a:srgbClr val="C00000"/>
                              </a:solidFill>
                              <a:latin typeface="Cambria Math" panose="02040503050406030204" pitchFamily="18" charset="0"/>
                              <a:ea typeface="Cambria Math"/>
                            </a:rPr>
                            <m:t>𝜃</m:t>
                          </m:r>
                          <m:r>
                            <a:rPr lang="en-US" altLang="zh-CN" sz="2400" b="0" i="1" smtClean="0">
                              <a:solidFill>
                                <a:srgbClr val="C00000"/>
                              </a:solidFill>
                              <a:latin typeface="Cambria Math" panose="02040503050406030204" pitchFamily="18" charset="0"/>
                              <a:ea typeface="Cambria Math"/>
                            </a:rPr>
                            <m:t>)∝</m:t>
                          </m:r>
                          <m:f>
                            <m:fPr>
                              <m:ctrlPr>
                                <a:rPr lang="en-US" altLang="zh-CN" sz="2400" i="1">
                                  <a:solidFill>
                                    <a:srgbClr val="C00000"/>
                                  </a:solidFill>
                                  <a:latin typeface="Cambria Math" panose="02040503050406030204" pitchFamily="18" charset="0"/>
                                </a:rPr>
                              </m:ctrlPr>
                            </m:fPr>
                            <m:num>
                              <m:r>
                                <a:rPr lang="en-US" altLang="zh-CN" sz="2400" i="1">
                                  <a:solidFill>
                                    <a:srgbClr val="C00000"/>
                                  </a:solidFill>
                                  <a:latin typeface="Cambria Math"/>
                                </a:rPr>
                                <m:t>1</m:t>
                              </m:r>
                            </m:num>
                            <m:den>
                              <m:func>
                                <m:funcPr>
                                  <m:ctrlPr>
                                    <a:rPr lang="en-US" altLang="zh-CN" sz="2400" i="1">
                                      <a:solidFill>
                                        <a:srgbClr val="C00000"/>
                                      </a:solidFill>
                                      <a:latin typeface="Cambria Math" panose="02040503050406030204" pitchFamily="18" charset="0"/>
                                    </a:rPr>
                                  </m:ctrlPr>
                                </m:funcPr>
                                <m:fName>
                                  <m:sSup>
                                    <m:sSupPr>
                                      <m:ctrlPr>
                                        <a:rPr lang="en-US" altLang="zh-CN" sz="2400" i="1">
                                          <a:solidFill>
                                            <a:srgbClr val="C00000"/>
                                          </a:solidFill>
                                          <a:latin typeface="Cambria Math" panose="02040503050406030204" pitchFamily="18" charset="0"/>
                                        </a:rPr>
                                      </m:ctrlPr>
                                    </m:sSupPr>
                                    <m:e>
                                      <m:r>
                                        <m:rPr>
                                          <m:sty m:val="p"/>
                                        </m:rPr>
                                        <a:rPr lang="en-US" altLang="zh-CN" sz="2400">
                                          <a:solidFill>
                                            <a:srgbClr val="C00000"/>
                                          </a:solidFill>
                                          <a:latin typeface="Cambria Math"/>
                                        </a:rPr>
                                        <m:t>sin</m:t>
                                      </m:r>
                                    </m:e>
                                    <m:sup>
                                      <m:r>
                                        <a:rPr lang="en-US" altLang="zh-CN" sz="2400" i="1">
                                          <a:solidFill>
                                            <a:srgbClr val="C00000"/>
                                          </a:solidFill>
                                          <a:latin typeface="Cambria Math"/>
                                        </a:rPr>
                                        <m:t>4</m:t>
                                      </m:r>
                                    </m:sup>
                                  </m:sSup>
                                </m:fName>
                                <m:e>
                                  <m:f>
                                    <m:fPr>
                                      <m:ctrlPr>
                                        <a:rPr lang="en-US" altLang="zh-CN" sz="2400" i="1">
                                          <a:solidFill>
                                            <a:srgbClr val="C00000"/>
                                          </a:solidFill>
                                          <a:latin typeface="Cambria Math" panose="02040503050406030204" pitchFamily="18" charset="0"/>
                                        </a:rPr>
                                      </m:ctrlPr>
                                    </m:fPr>
                                    <m:num>
                                      <m:r>
                                        <a:rPr lang="en-US" altLang="zh-CN" sz="2400" i="1">
                                          <a:solidFill>
                                            <a:srgbClr val="C00000"/>
                                          </a:solidFill>
                                          <a:latin typeface="Cambria Math"/>
                                        </a:rPr>
                                        <m:t>𝜃</m:t>
                                      </m:r>
                                    </m:num>
                                    <m:den>
                                      <m:r>
                                        <a:rPr lang="en-US" altLang="zh-CN" sz="2400" i="1">
                                          <a:solidFill>
                                            <a:srgbClr val="C00000"/>
                                          </a:solidFill>
                                          <a:latin typeface="Cambria Math"/>
                                        </a:rPr>
                                        <m:t>2</m:t>
                                      </m:r>
                                    </m:den>
                                  </m:f>
                                </m:e>
                              </m:func>
                            </m:den>
                          </m:f>
                        </m:oMath>
                      </m:oMathPara>
                    </a14:m>
                    <a:endParaRPr lang="zh-CN" altLang="en-US" sz="2400" dirty="0">
                      <a:solidFill>
                        <a:srgbClr val="C00000"/>
                      </a:solidFill>
                    </a:endParaRPr>
                  </a:p>
                </p:txBody>
              </p:sp>
            </mc:Choice>
            <mc:Fallback xmlns="">
              <p:sp>
                <p:nvSpPr>
                  <p:cNvPr id="9" name="Rectangle 8"/>
                  <p:cNvSpPr>
                    <a:spLocks noRot="1" noChangeAspect="1" noMove="1" noResize="1" noEditPoints="1" noAdjustHandles="1" noChangeArrowheads="1" noChangeShapeType="1" noTextEdit="1"/>
                  </p:cNvSpPr>
                  <p:nvPr/>
                </p:nvSpPr>
                <p:spPr>
                  <a:xfrm>
                    <a:off x="8563074" y="2832587"/>
                    <a:ext cx="2138754" cy="134793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6981832" y="1038462"/>
                    <a:ext cx="572593" cy="369332"/>
                  </a:xfrm>
                  <a:prstGeom prst="rect">
                    <a:avLst/>
                  </a:prstGeom>
                  <a:solidFill>
                    <a:schemeClr val="bg1"/>
                  </a:solidFill>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tx1"/>
                              </a:solidFill>
                              <a:latin typeface="Cambria Math" panose="02040503050406030204" pitchFamily="18" charset="0"/>
                            </a:rPr>
                            <m:t>𝚫</m:t>
                          </m:r>
                          <m:r>
                            <a:rPr lang="en-US" altLang="zh-CN" b="1" i="1">
                              <a:solidFill>
                                <a:schemeClr val="tx1"/>
                              </a:solidFill>
                              <a:latin typeface="Cambria Math"/>
                            </a:rPr>
                            <m:t>𝑵</m:t>
                          </m:r>
                        </m:oMath>
                      </m:oMathPara>
                    </a14:m>
                    <a:endParaRPr lang="zh-CN" altLang="en-US" b="1" dirty="0">
                      <a:solidFill>
                        <a:schemeClr val="tx1"/>
                      </a:solidFill>
                    </a:endParaRPr>
                  </a:p>
                </p:txBody>
              </p:sp>
            </mc:Choice>
            <mc:Fallback xmlns="">
              <p:sp>
                <p:nvSpPr>
                  <p:cNvPr id="9" name="Rectangle 8"/>
                  <p:cNvSpPr>
                    <a:spLocks noRot="1" noChangeAspect="1" noMove="1" noResize="1" noEditPoints="1" noAdjustHandles="1" noChangeArrowheads="1" noChangeShapeType="1" noTextEdit="1"/>
                  </p:cNvSpPr>
                  <p:nvPr/>
                </p:nvSpPr>
                <p:spPr>
                  <a:xfrm>
                    <a:off x="6981832" y="1038462"/>
                    <a:ext cx="572593" cy="369332"/>
                  </a:xfrm>
                  <a:prstGeom prst="rect">
                    <a:avLst/>
                  </a:prstGeom>
                  <a:blipFill>
                    <a:blip r:embed="rId7"/>
                    <a:stretch>
                      <a:fillRect/>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7" name="Rectangle 6"/>
                <p:cNvSpPr/>
                <p:nvPr/>
              </p:nvSpPr>
              <p:spPr>
                <a:xfrm>
                  <a:off x="7102926" y="5984250"/>
                  <a:ext cx="3948395" cy="426287"/>
                </a:xfrm>
                <a:prstGeom prst="rect">
                  <a:avLst/>
                </a:prstGeom>
              </p:spPr>
              <p:txBody>
                <a:bodyPr wrap="none">
                  <a:spAutoFit/>
                </a:bodyPr>
                <a:lstStyle/>
                <a:p>
                  <a14:m>
                    <m:oMath xmlns:m="http://schemas.openxmlformats.org/officeDocument/2006/math">
                      <m:r>
                        <m:rPr>
                          <m:sty m:val="p"/>
                        </m:rPr>
                        <a:rPr lang="en-US" altLang="zh-CN" sz="2000" b="0" i="0" smtClean="0">
                          <a:latin typeface="Cambria Math" panose="02040503050406030204" pitchFamily="18" charset="0"/>
                        </a:rPr>
                        <m:t>Δ</m:t>
                      </m:r>
                      <m:r>
                        <a:rPr lang="en-US" altLang="zh-CN" sz="2000" b="0" i="1" smtClean="0">
                          <a:latin typeface="Cambria Math" panose="02040503050406030204" pitchFamily="18" charset="0"/>
                        </a:rPr>
                        <m:t>𝑁</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𝜃</m:t>
                      </m:r>
                      <m:r>
                        <a:rPr lang="en-US" altLang="zh-CN" sz="2000" b="0" i="1" smtClean="0">
                          <a:latin typeface="Cambria Math" panose="02040503050406030204" pitchFamily="18" charset="0"/>
                        </a:rPr>
                        <m:t>)</m:t>
                      </m:r>
                    </m:oMath>
                  </a14:m>
                  <a:r>
                    <a:rPr lang="en-US" altLang="zh-CN" sz="2000" dirty="0"/>
                    <a:t>: # of particles deflected by </a:t>
                  </a:r>
                  <a14:m>
                    <m:oMath xmlns:m="http://schemas.openxmlformats.org/officeDocument/2006/math">
                      <m:r>
                        <a:rPr lang="en-US" altLang="zh-CN" sz="2000" i="1" smtClean="0">
                          <a:solidFill>
                            <a:schemeClr val="tx1"/>
                          </a:solidFill>
                          <a:latin typeface="Cambria Math"/>
                        </a:rPr>
                        <m:t>𝜃</m:t>
                      </m:r>
                    </m:oMath>
                  </a14:m>
                  <a:endParaRPr lang="zh-CN" altLang="en-US" sz="2000" dirty="0"/>
                </a:p>
              </p:txBody>
            </p:sp>
          </mc:Choice>
          <mc:Fallback xmlns="">
            <p:sp>
              <p:nvSpPr>
                <p:cNvPr id="7" name="Rectangle 6"/>
                <p:cNvSpPr>
                  <a:spLocks noRot="1" noChangeAspect="1" noMove="1" noResize="1" noEditPoints="1" noAdjustHandles="1" noChangeArrowheads="1" noChangeShapeType="1" noTextEdit="1"/>
                </p:cNvSpPr>
                <p:nvPr/>
              </p:nvSpPr>
              <p:spPr>
                <a:xfrm>
                  <a:off x="7102926" y="5984250"/>
                  <a:ext cx="3948395" cy="426287"/>
                </a:xfrm>
                <a:prstGeom prst="rect">
                  <a:avLst/>
                </a:prstGeom>
                <a:blipFill>
                  <a:blip r:embed="rId8"/>
                  <a:stretch>
                    <a:fillRect t="-9231" b="-27692"/>
                  </a:stretch>
                </a:blipFill>
              </p:spPr>
              <p:txBody>
                <a:bodyPr/>
                <a:lstStyle/>
                <a:p>
                  <a:r>
                    <a:rPr lang="en-US">
                      <a:noFill/>
                    </a:rPr>
                    <a:t> </a:t>
                  </a:r>
                </a:p>
              </p:txBody>
            </p:sp>
          </mc:Fallback>
        </mc:AlternateContent>
      </p:grpSp>
      <p:sp>
        <p:nvSpPr>
          <p:cNvPr id="3" name="Rectangle 2">
            <a:extLst>
              <a:ext uri="{FF2B5EF4-FFF2-40B4-BE49-F238E27FC236}">
                <a16:creationId xmlns:a16="http://schemas.microsoft.com/office/drawing/2014/main" id="{B7A21B22-F79C-425B-A2F9-094507CCC31C}"/>
              </a:ext>
            </a:extLst>
          </p:cNvPr>
          <p:cNvSpPr/>
          <p:nvPr/>
        </p:nvSpPr>
        <p:spPr>
          <a:xfrm>
            <a:off x="492660" y="5396280"/>
            <a:ext cx="6096000" cy="923330"/>
          </a:xfrm>
          <a:prstGeom prst="rect">
            <a:avLst/>
          </a:prstGeom>
        </p:spPr>
        <p:txBody>
          <a:bodyPr>
            <a:spAutoFit/>
          </a:bodyPr>
          <a:lstStyle/>
          <a:p>
            <a:r>
              <a:rPr lang="en-US" altLang="zh-CN" dirty="0">
                <a:latin typeface="Cambria Math"/>
              </a:rPr>
              <a:t>Rutherford</a:t>
            </a:r>
            <a:r>
              <a:rPr lang="zh-CN" altLang="en-US" dirty="0">
                <a:latin typeface="Cambria Math"/>
              </a:rPr>
              <a:t> </a:t>
            </a:r>
            <a:r>
              <a:rPr lang="en-US" altLang="zh-CN" dirty="0">
                <a:latin typeface="Cambria Math"/>
              </a:rPr>
              <a:t>spent</a:t>
            </a:r>
            <a:r>
              <a:rPr lang="zh-CN" altLang="en-US" dirty="0">
                <a:latin typeface="Cambria Math"/>
              </a:rPr>
              <a:t> </a:t>
            </a:r>
            <a:r>
              <a:rPr lang="en-US" altLang="zh-CN" dirty="0">
                <a:latin typeface="Cambria Math"/>
              </a:rPr>
              <a:t>2 years on measuring the deflection angle dependence of the scattering probability</a:t>
            </a:r>
            <a:r>
              <a:rPr lang="zh-CN" altLang="en-US" dirty="0">
                <a:latin typeface="Cambria Math"/>
              </a:rPr>
              <a:t> </a:t>
            </a:r>
            <a:r>
              <a:rPr lang="en-US" altLang="zh-CN" dirty="0">
                <a:latin typeface="Cambria Math"/>
              </a:rPr>
              <a:t>before</a:t>
            </a:r>
            <a:r>
              <a:rPr lang="zh-CN" altLang="en-US" dirty="0">
                <a:latin typeface="Cambria Math"/>
              </a:rPr>
              <a:t> </a:t>
            </a:r>
            <a:r>
              <a:rPr lang="en-US" altLang="zh-CN" dirty="0">
                <a:latin typeface="Cambria Math"/>
              </a:rPr>
              <a:t>finally</a:t>
            </a:r>
            <a:r>
              <a:rPr lang="zh-CN" altLang="en-US" dirty="0">
                <a:latin typeface="Cambria Math"/>
              </a:rPr>
              <a:t> </a:t>
            </a:r>
            <a:r>
              <a:rPr lang="en-US" altLang="zh-CN" dirty="0">
                <a:latin typeface="Cambria Math"/>
              </a:rPr>
              <a:t>published</a:t>
            </a:r>
            <a:r>
              <a:rPr lang="zh-CN" altLang="en-US" dirty="0">
                <a:latin typeface="Cambria Math"/>
              </a:rPr>
              <a:t> </a:t>
            </a:r>
            <a:r>
              <a:rPr lang="en-US" altLang="zh-CN" dirty="0">
                <a:latin typeface="Cambria Math"/>
              </a:rPr>
              <a:t>his</a:t>
            </a:r>
            <a:r>
              <a:rPr lang="zh-CN" altLang="en-US" dirty="0">
                <a:latin typeface="Cambria Math"/>
              </a:rPr>
              <a:t> </a:t>
            </a:r>
            <a:r>
              <a:rPr lang="en-US" altLang="zh-CN" dirty="0">
                <a:latin typeface="Cambria Math"/>
              </a:rPr>
              <a:t>atomic</a:t>
            </a:r>
            <a:r>
              <a:rPr lang="zh-CN" altLang="en-US" dirty="0">
                <a:latin typeface="Cambria Math"/>
              </a:rPr>
              <a:t> </a:t>
            </a:r>
            <a:r>
              <a:rPr lang="en-US" altLang="zh-CN" dirty="0">
                <a:latin typeface="Cambria Math"/>
              </a:rPr>
              <a:t>model</a:t>
            </a:r>
          </a:p>
        </p:txBody>
      </p:sp>
    </p:spTree>
    <p:extLst>
      <p:ext uri="{BB962C8B-B14F-4D97-AF65-F5344CB8AC3E}">
        <p14:creationId xmlns:p14="http://schemas.microsoft.com/office/powerpoint/2010/main" val="11820090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EF1BECA-FDAC-490A-BC4E-B82CBB4A5562}"/>
              </a:ext>
            </a:extLst>
          </p:cNvPr>
          <p:cNvGrpSpPr/>
          <p:nvPr/>
        </p:nvGrpSpPr>
        <p:grpSpPr>
          <a:xfrm>
            <a:off x="321413" y="1148740"/>
            <a:ext cx="7158960" cy="2886408"/>
            <a:chOff x="626140" y="1009948"/>
            <a:chExt cx="7158960" cy="2886408"/>
          </a:xfrm>
        </p:grpSpPr>
        <p:grpSp>
          <p:nvGrpSpPr>
            <p:cNvPr id="7" name="Group 6"/>
            <p:cNvGrpSpPr/>
            <p:nvPr/>
          </p:nvGrpSpPr>
          <p:grpSpPr>
            <a:xfrm>
              <a:off x="626140" y="1009948"/>
              <a:ext cx="7158960" cy="2886408"/>
              <a:chOff x="23853" y="1777997"/>
              <a:chExt cx="8548575" cy="3157931"/>
            </a:xfrm>
          </p:grpSpPr>
          <p:pic>
            <p:nvPicPr>
              <p:cNvPr id="8" name="Picture 2" descr="http://www.pha.jhu.edu/~c173_608/rutherford/fig/cross-section-sketch.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654" y="1777997"/>
                <a:ext cx="7776774" cy="3157931"/>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p:cNvSpPr txBox="1"/>
                  <p:nvPr/>
                </p:nvSpPr>
                <p:spPr>
                  <a:xfrm>
                    <a:off x="23853" y="3460959"/>
                    <a:ext cx="926759" cy="437748"/>
                  </a:xfrm>
                  <a:prstGeom prst="rect">
                    <a:avLst/>
                  </a:prstGeom>
                  <a:noFill/>
                </p:spPr>
                <p:txBody>
                  <a:bodyPr wrap="none" lIns="0" rIns="0" rtlCol="0">
                    <a:spAutoFit/>
                  </a:bodyPr>
                  <a:lstStyle/>
                  <a:p>
                    <a:pPr/>
                    <a14:m>
                      <m:oMathPara xmlns:m="http://schemas.openxmlformats.org/officeDocument/2006/math">
                        <m:oMathParaPr>
                          <m:jc m:val="centerGroup"/>
                        </m:oMathParaPr>
                        <m:oMath xmlns:m="http://schemas.openxmlformats.org/officeDocument/2006/math">
                          <m:r>
                            <a:rPr lang="en-US" sz="2000" b="0" i="1" smtClean="0">
                              <a:solidFill>
                                <a:srgbClr val="0070C0"/>
                              </a:solidFill>
                              <a:latin typeface="Cambria Math" panose="02040503050406030204" pitchFamily="18" charset="0"/>
                            </a:rPr>
                            <m:t>𝑚</m:t>
                          </m:r>
                          <m:r>
                            <a:rPr lang="en-US" sz="2000" b="0" i="1" smtClean="0">
                              <a:solidFill>
                                <a:srgbClr val="0070C0"/>
                              </a:solidFill>
                              <a:latin typeface="Cambria Math" panose="02040503050406030204" pitchFamily="18" charset="0"/>
                            </a:rPr>
                            <m:t>,</m:t>
                          </m:r>
                          <m:sSub>
                            <m:sSubPr>
                              <m:ctrlPr>
                                <a:rPr lang="en-US" sz="2000" i="1" smtClean="0">
                                  <a:solidFill>
                                    <a:srgbClr val="0070C0"/>
                                  </a:solidFill>
                                  <a:latin typeface="Cambria Math" panose="02040503050406030204" pitchFamily="18" charset="0"/>
                                </a:rPr>
                              </m:ctrlPr>
                            </m:sSubPr>
                            <m:e>
                              <m:r>
                                <a:rPr lang="en-US" sz="2000" i="1">
                                  <a:solidFill>
                                    <a:srgbClr val="0070C0"/>
                                  </a:solidFill>
                                  <a:latin typeface="Cambria Math"/>
                                </a:rPr>
                                <m:t>𝑍</m:t>
                              </m:r>
                            </m:e>
                            <m:sub>
                              <m:r>
                                <a:rPr lang="en-US" sz="2000" i="1">
                                  <a:solidFill>
                                    <a:srgbClr val="0070C0"/>
                                  </a:solidFill>
                                  <a:latin typeface="Cambria Math"/>
                                </a:rPr>
                                <m:t>1</m:t>
                              </m:r>
                            </m:sub>
                          </m:sSub>
                          <m:r>
                            <a:rPr lang="en-US" sz="2000" i="1">
                              <a:solidFill>
                                <a:srgbClr val="0070C0"/>
                              </a:solidFill>
                              <a:latin typeface="Cambria Math"/>
                            </a:rPr>
                            <m:t>𝑒</m:t>
                          </m:r>
                        </m:oMath>
                      </m:oMathPara>
                    </a14:m>
                    <a:endParaRPr lang="en-US" sz="2000" dirty="0"/>
                  </a:p>
                </p:txBody>
              </p:sp>
            </mc:Choice>
            <mc:Fallback xmlns="">
              <p:sp>
                <p:nvSpPr>
                  <p:cNvPr id="10" name="TextBox 9"/>
                  <p:cNvSpPr txBox="1">
                    <a:spLocks noRot="1" noChangeAspect="1" noMove="1" noResize="1" noEditPoints="1" noAdjustHandles="1" noChangeArrowheads="1" noChangeShapeType="1" noTextEdit="1"/>
                  </p:cNvSpPr>
                  <p:nvPr/>
                </p:nvSpPr>
                <p:spPr>
                  <a:xfrm>
                    <a:off x="23853" y="3460959"/>
                    <a:ext cx="926759" cy="437748"/>
                  </a:xfrm>
                  <a:prstGeom prst="rect">
                    <a:avLst/>
                  </a:prstGeom>
                  <a:blipFill>
                    <a:blip r:embed="rId4"/>
                    <a:stretch>
                      <a:fillRect l="-3937" r="-3150"/>
                    </a:stretch>
                  </a:blipFill>
                </p:spPr>
                <p:txBody>
                  <a:bodyPr/>
                  <a:lstStyle/>
                  <a:p>
                    <a:r>
                      <a:rPr lang="en-US">
                        <a:noFill/>
                      </a:rPr>
                      <a:t> </a:t>
                    </a:r>
                  </a:p>
                </p:txBody>
              </p:sp>
            </mc:Fallback>
          </mc:AlternateContent>
          <p:sp>
            <p:nvSpPr>
              <p:cNvPr id="11" name="Oval 10"/>
              <p:cNvSpPr/>
              <p:nvPr/>
            </p:nvSpPr>
            <p:spPr>
              <a:xfrm>
                <a:off x="795654" y="3854919"/>
                <a:ext cx="154960" cy="1557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 name="TextBox 11"/>
                  <p:cNvSpPr txBox="1"/>
                  <p:nvPr/>
                </p:nvSpPr>
                <p:spPr>
                  <a:xfrm>
                    <a:off x="3647973" y="4236649"/>
                    <a:ext cx="1026821" cy="416272"/>
                  </a:xfrm>
                  <a:prstGeom prst="rect">
                    <a:avLst/>
                  </a:prstGeom>
                  <a:solidFill>
                    <a:schemeClr val="bg1"/>
                  </a:solidFill>
                </p:spPr>
                <p:txBody>
                  <a:bodyPr wrap="none" lIns="36000" tIns="36000" rIns="36000" bIns="36000" rtlCol="0">
                    <a:spAutoFit/>
                  </a:bodyPr>
                  <a:lstStyle/>
                  <a:p>
                    <a:pPr/>
                    <a14:m>
                      <m:oMathPara xmlns:m="http://schemas.openxmlformats.org/officeDocument/2006/math">
                        <m:oMathParaPr>
                          <m:jc m:val="centerGroup"/>
                        </m:oMathParaPr>
                        <m:oMath xmlns:m="http://schemas.openxmlformats.org/officeDocument/2006/math">
                          <m:r>
                            <a:rPr lang="en-US" sz="2000" b="0" i="1" smtClean="0">
                              <a:solidFill>
                                <a:srgbClr val="0070C0"/>
                              </a:solidFill>
                              <a:latin typeface="Cambria Math" panose="02040503050406030204" pitchFamily="18" charset="0"/>
                            </a:rPr>
                            <m:t>𝑀</m:t>
                          </m:r>
                          <m:r>
                            <a:rPr lang="en-US" sz="2000" b="0" i="1" smtClean="0">
                              <a:solidFill>
                                <a:srgbClr val="0070C0"/>
                              </a:solidFill>
                              <a:latin typeface="Cambria Math" panose="02040503050406030204" pitchFamily="18" charset="0"/>
                            </a:rPr>
                            <m:t>, </m:t>
                          </m:r>
                          <m:sSub>
                            <m:sSubPr>
                              <m:ctrlPr>
                                <a:rPr lang="en-US" sz="2000" i="1" smtClean="0">
                                  <a:solidFill>
                                    <a:srgbClr val="0070C0"/>
                                  </a:solidFill>
                                  <a:latin typeface="Cambria Math" panose="02040503050406030204" pitchFamily="18" charset="0"/>
                                </a:rPr>
                              </m:ctrlPr>
                            </m:sSubPr>
                            <m:e>
                              <m:r>
                                <a:rPr lang="en-US" sz="2000" i="1">
                                  <a:solidFill>
                                    <a:srgbClr val="0070C0"/>
                                  </a:solidFill>
                                  <a:latin typeface="Cambria Math"/>
                                </a:rPr>
                                <m:t>𝑍</m:t>
                              </m:r>
                            </m:e>
                            <m:sub>
                              <m:r>
                                <a:rPr lang="en-US" sz="2000" i="1">
                                  <a:solidFill>
                                    <a:srgbClr val="0070C0"/>
                                  </a:solidFill>
                                  <a:latin typeface="Cambria Math"/>
                                </a:rPr>
                                <m:t>2</m:t>
                              </m:r>
                            </m:sub>
                          </m:sSub>
                          <m:r>
                            <a:rPr lang="en-US" sz="2000" i="1">
                              <a:solidFill>
                                <a:srgbClr val="0070C0"/>
                              </a:solidFill>
                              <a:latin typeface="Cambria Math"/>
                            </a:rPr>
                            <m:t>𝑒</m:t>
                          </m:r>
                        </m:oMath>
                      </m:oMathPara>
                    </a14:m>
                    <a:endParaRPr lang="en-US" sz="2000" dirty="0"/>
                  </a:p>
                </p:txBody>
              </p:sp>
            </mc:Choice>
            <mc:Fallback xmlns="">
              <p:sp>
                <p:nvSpPr>
                  <p:cNvPr id="12" name="TextBox 11"/>
                  <p:cNvSpPr txBox="1">
                    <a:spLocks noRot="1" noChangeAspect="1" noMove="1" noResize="1" noEditPoints="1" noAdjustHandles="1" noChangeArrowheads="1" noChangeShapeType="1" noTextEdit="1"/>
                  </p:cNvSpPr>
                  <p:nvPr/>
                </p:nvSpPr>
                <p:spPr>
                  <a:xfrm>
                    <a:off x="3647973" y="4236649"/>
                    <a:ext cx="1026821" cy="416272"/>
                  </a:xfrm>
                  <a:prstGeom prst="rect">
                    <a:avLst/>
                  </a:prstGeom>
                  <a:blipFill>
                    <a:blip r:embed="rId5"/>
                    <a:stretch>
                      <a:fillRect l="-2128" b="-1587"/>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8" name="Rectangle 17"/>
                <p:cNvSpPr/>
                <p:nvPr/>
              </p:nvSpPr>
              <p:spPr>
                <a:xfrm>
                  <a:off x="868701" y="3117009"/>
                  <a:ext cx="1191673" cy="369332"/>
                </a:xfrm>
                <a:prstGeom prst="rect">
                  <a:avLst/>
                </a:prstGeom>
                <a:solidFill>
                  <a:schemeClr val="bg1"/>
                </a:solidFill>
              </p:spPr>
              <p:txBody>
                <a:bodyPr wrap="none" lIns="0" rIns="0">
                  <a:spAutoFit/>
                </a:bodyPr>
                <a:lstStyle/>
                <a:p>
                  <a:r>
                    <a:rPr lang="zh-CN" altLang="en-US" dirty="0">
                      <a:solidFill>
                        <a:srgbClr val="0070C0"/>
                      </a:solidFill>
                    </a:rPr>
                    <a:t>初始动能</a:t>
                  </a:r>
                  <a14:m>
                    <m:oMath xmlns:m="http://schemas.openxmlformats.org/officeDocument/2006/math">
                      <m:sSub>
                        <m:sSubPr>
                          <m:ctrlPr>
                            <a:rPr lang="en-US" altLang="zh-CN" i="1">
                              <a:solidFill>
                                <a:srgbClr val="0070C0"/>
                              </a:solidFill>
                              <a:latin typeface="Cambria Math" panose="02040503050406030204" pitchFamily="18" charset="0"/>
                            </a:rPr>
                          </m:ctrlPr>
                        </m:sSubPr>
                        <m:e>
                          <m:r>
                            <a:rPr lang="en-US" altLang="zh-CN" i="1">
                              <a:solidFill>
                                <a:srgbClr val="0070C0"/>
                              </a:solidFill>
                              <a:latin typeface="Cambria Math"/>
                            </a:rPr>
                            <m:t>𝐸</m:t>
                          </m:r>
                        </m:e>
                        <m:sub>
                          <m:r>
                            <a:rPr lang="en-US" altLang="zh-CN" i="1">
                              <a:solidFill>
                                <a:srgbClr val="0070C0"/>
                              </a:solidFill>
                              <a:latin typeface="Cambria Math" panose="02040503050406030204" pitchFamily="18" charset="0"/>
                            </a:rPr>
                            <m:t>𝐾</m:t>
                          </m:r>
                        </m:sub>
                      </m:sSub>
                    </m:oMath>
                  </a14:m>
                  <a:endParaRPr lang="zh-CN" altLang="en-US" dirty="0">
                    <a:solidFill>
                      <a:srgbClr val="0070C0"/>
                    </a:solidFill>
                  </a:endParaRPr>
                </a:p>
              </p:txBody>
            </p:sp>
          </mc:Choice>
          <mc:Fallback xmlns="">
            <p:sp>
              <p:nvSpPr>
                <p:cNvPr id="18" name="Rectangle 17"/>
                <p:cNvSpPr>
                  <a:spLocks noRot="1" noChangeAspect="1" noMove="1" noResize="1" noEditPoints="1" noAdjustHandles="1" noChangeArrowheads="1" noChangeShapeType="1" noTextEdit="1"/>
                </p:cNvSpPr>
                <p:nvPr/>
              </p:nvSpPr>
              <p:spPr>
                <a:xfrm>
                  <a:off x="868701" y="3117009"/>
                  <a:ext cx="1191673" cy="369332"/>
                </a:xfrm>
                <a:prstGeom prst="rect">
                  <a:avLst/>
                </a:prstGeom>
                <a:blipFill>
                  <a:blip r:embed="rId7"/>
                  <a:stretch>
                    <a:fillRect l="-11735" t="-8197" r="-4082" b="-24590"/>
                  </a:stretch>
                </a:blipFill>
              </p:spPr>
              <p:txBody>
                <a:bodyPr/>
                <a:lstStyle/>
                <a:p>
                  <a:r>
                    <a:rPr lang="en-US">
                      <a:noFill/>
                    </a:rPr>
                    <a:t> </a:t>
                  </a:r>
                </a:p>
              </p:txBody>
            </p:sp>
          </mc:Fallback>
        </mc:AlternateContent>
      </p:grpSp>
      <p:sp>
        <p:nvSpPr>
          <p:cNvPr id="2" name="Title 1"/>
          <p:cNvSpPr>
            <a:spLocks noGrp="1"/>
          </p:cNvSpPr>
          <p:nvPr>
            <p:ph type="title"/>
          </p:nvPr>
        </p:nvSpPr>
        <p:spPr/>
        <p:txBody>
          <a:bodyPr>
            <a:normAutofit/>
          </a:bodyPr>
          <a:lstStyle/>
          <a:p>
            <a:r>
              <a:rPr lang="en-US" altLang="zh-CN" dirty="0"/>
              <a:t>Coulomb scattering</a:t>
            </a:r>
            <a:endParaRPr lang="en-US" dirty="0"/>
          </a:p>
        </p:txBody>
      </p:sp>
      <mc:AlternateContent xmlns:mc="http://schemas.openxmlformats.org/markup-compatibility/2006" xmlns:a14="http://schemas.microsoft.com/office/drawing/2010/main">
        <mc:Choice Requires="a14">
          <p:sp>
            <p:nvSpPr>
              <p:cNvPr id="3" name="TextBox 2"/>
              <p:cNvSpPr txBox="1"/>
              <p:nvPr/>
            </p:nvSpPr>
            <p:spPr>
              <a:xfrm>
                <a:off x="7551577" y="4503452"/>
                <a:ext cx="4257186" cy="1945341"/>
              </a:xfrm>
              <a:prstGeom prst="rect">
                <a:avLst/>
              </a:prstGeom>
              <a:noFill/>
            </p:spPr>
            <p:txBody>
              <a:bodyPr wrap="square" rtlCol="0">
                <a:spAutoFit/>
              </a:bodyPr>
              <a:lstStyle/>
              <a:p>
                <a:r>
                  <a:rPr lang="en-US" altLang="zh-CN" sz="2000" dirty="0">
                    <a:ea typeface="黑体" panose="02010609060101010101" pitchFamily="49" charset="-122"/>
                  </a:rPr>
                  <a:t>The </a:t>
                </a:r>
                <a:r>
                  <a:rPr lang="en-US" altLang="zh-CN" sz="2000" dirty="0">
                    <a:solidFill>
                      <a:srgbClr val="C00000"/>
                    </a:solidFill>
                    <a:ea typeface="黑体" panose="02010609060101010101" pitchFamily="49" charset="-122"/>
                  </a:rPr>
                  <a:t>characteristic length</a:t>
                </a:r>
                <a:r>
                  <a:rPr lang="en-US" altLang="zh-CN" sz="2000" dirty="0">
                    <a:ea typeface="黑体" panose="02010609060101010101" pitchFamily="49" charset="-122"/>
                  </a:rPr>
                  <a:t> </a:t>
                </a:r>
                <a:r>
                  <a:rPr lang="en-US" altLang="zh-CN" sz="2000" dirty="0">
                    <a:solidFill>
                      <a:srgbClr val="C00000"/>
                    </a:solidFill>
                    <a:ea typeface="黑体" panose="02010609060101010101" pitchFamily="49" charset="-122"/>
                  </a:rPr>
                  <a:t>scale</a:t>
                </a:r>
                <a:r>
                  <a:rPr lang="en-US" altLang="zh-CN" sz="2000" dirty="0">
                    <a:ea typeface="黑体" panose="02010609060101010101" pitchFamily="49" charset="-122"/>
                  </a:rPr>
                  <a:t> of the Coulomb scattering, </a:t>
                </a:r>
                <a14:m>
                  <m:oMath xmlns:m="http://schemas.openxmlformats.org/officeDocument/2006/math">
                    <m:r>
                      <a:rPr lang="en-US" altLang="zh-CN" sz="2400" i="1" smtClean="0">
                        <a:solidFill>
                          <a:srgbClr val="0070C0"/>
                        </a:solidFill>
                        <a:latin typeface="Cambria Math"/>
                      </a:rPr>
                      <m:t>𝑎</m:t>
                    </m:r>
                    <m:r>
                      <a:rPr lang="en-US" altLang="zh-CN" sz="2400" i="1" smtClean="0">
                        <a:solidFill>
                          <a:srgbClr val="0070C0"/>
                        </a:solidFill>
                        <a:latin typeface="Cambria Math" panose="02040503050406030204" pitchFamily="18" charset="0"/>
                        <a:ea typeface="Cambria Math" panose="02040503050406030204" pitchFamily="18" charset="0"/>
                      </a:rPr>
                      <m:t>≡</m:t>
                    </m:r>
                    <m:f>
                      <m:fPr>
                        <m:ctrlPr>
                          <a:rPr lang="en-US" altLang="zh-CN" sz="2400" i="1">
                            <a:solidFill>
                              <a:srgbClr val="0070C0"/>
                            </a:solidFill>
                            <a:latin typeface="Cambria Math" panose="02040503050406030204" pitchFamily="18" charset="0"/>
                          </a:rPr>
                        </m:ctrlPr>
                      </m:fPr>
                      <m:num>
                        <m:sSub>
                          <m:sSubPr>
                            <m:ctrlPr>
                              <a:rPr lang="en-US" altLang="zh-CN" sz="2400" i="1">
                                <a:solidFill>
                                  <a:srgbClr val="0070C0"/>
                                </a:solidFill>
                                <a:latin typeface="Cambria Math" panose="02040503050406030204" pitchFamily="18" charset="0"/>
                              </a:rPr>
                            </m:ctrlPr>
                          </m:sSubPr>
                          <m:e>
                            <m:r>
                              <a:rPr lang="en-US" altLang="zh-CN" sz="2400" i="1">
                                <a:solidFill>
                                  <a:srgbClr val="0070C0"/>
                                </a:solidFill>
                                <a:latin typeface="Cambria Math"/>
                              </a:rPr>
                              <m:t>𝑍</m:t>
                            </m:r>
                          </m:e>
                          <m:sub>
                            <m:r>
                              <a:rPr lang="en-US" altLang="zh-CN" sz="2400" i="1">
                                <a:solidFill>
                                  <a:srgbClr val="0070C0"/>
                                </a:solidFill>
                                <a:latin typeface="Cambria Math"/>
                              </a:rPr>
                              <m:t>1</m:t>
                            </m:r>
                          </m:sub>
                        </m:sSub>
                        <m:sSub>
                          <m:sSubPr>
                            <m:ctrlPr>
                              <a:rPr lang="en-US" altLang="zh-CN" sz="2400" i="1">
                                <a:solidFill>
                                  <a:srgbClr val="0070C0"/>
                                </a:solidFill>
                                <a:latin typeface="Cambria Math" panose="02040503050406030204" pitchFamily="18" charset="0"/>
                              </a:rPr>
                            </m:ctrlPr>
                          </m:sSubPr>
                          <m:e>
                            <m:r>
                              <a:rPr lang="en-US" altLang="zh-CN" sz="2400" i="1">
                                <a:solidFill>
                                  <a:srgbClr val="0070C0"/>
                                </a:solidFill>
                                <a:latin typeface="Cambria Math"/>
                              </a:rPr>
                              <m:t>𝑍</m:t>
                            </m:r>
                          </m:e>
                          <m:sub>
                            <m:r>
                              <a:rPr lang="en-US" altLang="zh-CN" sz="2400" i="1">
                                <a:solidFill>
                                  <a:srgbClr val="0070C0"/>
                                </a:solidFill>
                                <a:latin typeface="Cambria Math"/>
                              </a:rPr>
                              <m:t>2</m:t>
                            </m:r>
                          </m:sub>
                        </m:sSub>
                        <m:sSup>
                          <m:sSupPr>
                            <m:ctrlPr>
                              <a:rPr lang="en-US" altLang="zh-CN" sz="2400" i="1">
                                <a:solidFill>
                                  <a:srgbClr val="0070C0"/>
                                </a:solidFill>
                                <a:latin typeface="Cambria Math" panose="02040503050406030204" pitchFamily="18" charset="0"/>
                              </a:rPr>
                            </m:ctrlPr>
                          </m:sSupPr>
                          <m:e>
                            <m:r>
                              <a:rPr lang="en-US" altLang="zh-CN" sz="2400" i="1">
                                <a:solidFill>
                                  <a:srgbClr val="0070C0"/>
                                </a:solidFill>
                                <a:latin typeface="Cambria Math"/>
                              </a:rPr>
                              <m:t>𝑒</m:t>
                            </m:r>
                          </m:e>
                          <m:sup>
                            <m:r>
                              <a:rPr lang="en-US" altLang="zh-CN" sz="2400" i="1">
                                <a:solidFill>
                                  <a:srgbClr val="0070C0"/>
                                </a:solidFill>
                                <a:latin typeface="Cambria Math"/>
                              </a:rPr>
                              <m:t>2</m:t>
                            </m:r>
                          </m:sup>
                        </m:sSup>
                      </m:num>
                      <m:den>
                        <m:r>
                          <a:rPr lang="en-US" altLang="zh-CN" sz="2400" i="1">
                            <a:solidFill>
                              <a:srgbClr val="0070C0"/>
                            </a:solidFill>
                            <a:latin typeface="Cambria Math"/>
                          </a:rPr>
                          <m:t>4</m:t>
                        </m:r>
                        <m:r>
                          <a:rPr lang="en-US" altLang="zh-CN" sz="2400" i="1">
                            <a:solidFill>
                              <a:srgbClr val="0070C0"/>
                            </a:solidFill>
                            <a:latin typeface="Cambria Math"/>
                          </a:rPr>
                          <m:t>𝜋</m:t>
                        </m:r>
                        <m:sSub>
                          <m:sSubPr>
                            <m:ctrlPr>
                              <a:rPr lang="en-US" altLang="zh-CN" sz="2400" i="1">
                                <a:solidFill>
                                  <a:srgbClr val="0070C0"/>
                                </a:solidFill>
                                <a:latin typeface="Cambria Math" panose="02040503050406030204" pitchFamily="18" charset="0"/>
                              </a:rPr>
                            </m:ctrlPr>
                          </m:sSubPr>
                          <m:e>
                            <m:r>
                              <a:rPr lang="en-US" altLang="zh-CN" sz="2400" i="1">
                                <a:solidFill>
                                  <a:srgbClr val="0070C0"/>
                                </a:solidFill>
                                <a:latin typeface="Cambria Math"/>
                              </a:rPr>
                              <m:t>𝜖</m:t>
                            </m:r>
                          </m:e>
                          <m:sub>
                            <m:r>
                              <a:rPr lang="en-US" altLang="zh-CN" sz="2400" i="1">
                                <a:solidFill>
                                  <a:srgbClr val="0070C0"/>
                                </a:solidFill>
                                <a:latin typeface="Cambria Math"/>
                              </a:rPr>
                              <m:t>0</m:t>
                            </m:r>
                          </m:sub>
                        </m:sSub>
                        <m:sSub>
                          <m:sSubPr>
                            <m:ctrlPr>
                              <a:rPr lang="en-US" altLang="zh-CN" sz="2400" b="0" i="1" smtClean="0">
                                <a:solidFill>
                                  <a:srgbClr val="0070C0"/>
                                </a:solidFill>
                                <a:latin typeface="Cambria Math" panose="02040503050406030204" pitchFamily="18" charset="0"/>
                              </a:rPr>
                            </m:ctrlPr>
                          </m:sSubPr>
                          <m:e>
                            <m:r>
                              <a:rPr lang="en-US" altLang="zh-CN" sz="2400" i="1">
                                <a:solidFill>
                                  <a:srgbClr val="0070C0"/>
                                </a:solidFill>
                                <a:latin typeface="Cambria Math"/>
                              </a:rPr>
                              <m:t>𝐸</m:t>
                            </m:r>
                          </m:e>
                          <m:sub>
                            <m:r>
                              <a:rPr lang="en-US" altLang="zh-CN" sz="2400" b="0" i="1" smtClean="0">
                                <a:solidFill>
                                  <a:srgbClr val="0070C0"/>
                                </a:solidFill>
                                <a:latin typeface="Cambria Math" panose="02040503050406030204" pitchFamily="18" charset="0"/>
                              </a:rPr>
                              <m:t>𝐾</m:t>
                            </m:r>
                          </m:sub>
                        </m:sSub>
                      </m:den>
                    </m:f>
                  </m:oMath>
                </a14:m>
                <a:r>
                  <a:rPr lang="en-US" altLang="zh-CN" sz="2000" dirty="0">
                    <a:ea typeface="黑体" panose="02010609060101010101" pitchFamily="49" charset="-122"/>
                  </a:rPr>
                  <a:t>,</a:t>
                </a:r>
                <a:r>
                  <a:rPr lang="zh-CN" altLang="en-US" sz="2000" dirty="0">
                    <a:ea typeface="黑体" panose="02010609060101010101" pitchFamily="49" charset="-122"/>
                  </a:rPr>
                  <a:t> </a:t>
                </a:r>
                <a:r>
                  <a:rPr lang="en-US" altLang="zh-CN" sz="2000" dirty="0">
                    <a:ea typeface="黑体" panose="02010609060101010101" pitchFamily="49" charset="-122"/>
                  </a:rPr>
                  <a:t>is the closest distance that an incident particle can approach the target during a head-on collision.</a:t>
                </a:r>
              </a:p>
            </p:txBody>
          </p:sp>
        </mc:Choice>
        <mc:Fallback xmlns="">
          <p:sp>
            <p:nvSpPr>
              <p:cNvPr id="3" name="TextBox 2"/>
              <p:cNvSpPr txBox="1">
                <a:spLocks noRot="1" noChangeAspect="1" noMove="1" noResize="1" noEditPoints="1" noAdjustHandles="1" noChangeArrowheads="1" noChangeShapeType="1" noTextEdit="1"/>
              </p:cNvSpPr>
              <p:nvPr/>
            </p:nvSpPr>
            <p:spPr>
              <a:xfrm>
                <a:off x="7551577" y="4503452"/>
                <a:ext cx="4257186" cy="1945341"/>
              </a:xfrm>
              <a:prstGeom prst="rect">
                <a:avLst/>
              </a:prstGeom>
              <a:blipFill>
                <a:blip r:embed="rId8"/>
                <a:stretch>
                  <a:fillRect l="-1576" t="-1881" r="-573" b="-4702"/>
                </a:stretch>
              </a:blipFill>
            </p:spPr>
            <p:txBody>
              <a:bodyPr/>
              <a:lstStyle/>
              <a:p>
                <a:r>
                  <a:rPr lang="zh-CN" altLang="en-US">
                    <a:noFill/>
                  </a:rPr>
                  <a:t> </a:t>
                </a:r>
              </a:p>
            </p:txBody>
          </p:sp>
        </mc:Fallback>
      </mc:AlternateContent>
      <p:grpSp>
        <p:nvGrpSpPr>
          <p:cNvPr id="17" name="Group 16"/>
          <p:cNvGrpSpPr/>
          <p:nvPr/>
        </p:nvGrpSpPr>
        <p:grpSpPr>
          <a:xfrm>
            <a:off x="7247585" y="633198"/>
            <a:ext cx="4743959" cy="3826409"/>
            <a:chOff x="723444" y="2837588"/>
            <a:chExt cx="4986881" cy="3823912"/>
          </a:xfrm>
        </p:grpSpPr>
        <p:pic>
          <p:nvPicPr>
            <p:cNvPr id="16" name="Picture 15"/>
            <p:cNvPicPr>
              <a:picLocks noChangeAspect="1"/>
            </p:cNvPicPr>
            <p:nvPr/>
          </p:nvPicPr>
          <p:blipFill>
            <a:blip r:embed="rId9"/>
            <a:stretch>
              <a:fillRect/>
            </a:stretch>
          </p:blipFill>
          <p:spPr>
            <a:xfrm>
              <a:off x="723444" y="2837588"/>
              <a:ext cx="4986881" cy="3823912"/>
            </a:xfrm>
            <a:prstGeom prst="rect">
              <a:avLst/>
            </a:prstGeom>
          </p:spPr>
        </p:pic>
        <mc:AlternateContent xmlns:mc="http://schemas.openxmlformats.org/markup-compatibility/2006" xmlns:a14="http://schemas.microsoft.com/office/drawing/2010/main">
          <mc:Choice Requires="a14">
            <p:sp>
              <p:nvSpPr>
                <p:cNvPr id="4" name="Rectangle 3"/>
                <p:cNvSpPr/>
                <p:nvPr/>
              </p:nvSpPr>
              <p:spPr>
                <a:xfrm>
                  <a:off x="2472816" y="4168399"/>
                  <a:ext cx="2166147" cy="92157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en-US" altLang="zh-CN" sz="2400" i="1" smtClean="0">
                                <a:solidFill>
                                  <a:srgbClr val="C00000"/>
                                </a:solidFill>
                                <a:latin typeface="Cambria Math" panose="02040503050406030204" pitchFamily="18" charset="0"/>
                              </a:rPr>
                            </m:ctrlPr>
                          </m:funcPr>
                          <m:fName>
                            <m:r>
                              <m:rPr>
                                <m:sty m:val="p"/>
                              </m:rPr>
                              <a:rPr lang="en-US" altLang="zh-CN" sz="2400" i="0" smtClean="0">
                                <a:solidFill>
                                  <a:srgbClr val="C00000"/>
                                </a:solidFill>
                                <a:latin typeface="Cambria Math" panose="02040503050406030204" pitchFamily="18" charset="0"/>
                              </a:rPr>
                              <m:t>cot</m:t>
                            </m:r>
                          </m:fName>
                          <m:e>
                            <m:d>
                              <m:dPr>
                                <m:ctrlPr>
                                  <a:rPr lang="en-US" altLang="zh-CN" sz="2400" i="1">
                                    <a:solidFill>
                                      <a:srgbClr val="C00000"/>
                                    </a:solidFill>
                                    <a:latin typeface="Cambria Math" panose="02040503050406030204" pitchFamily="18" charset="0"/>
                                  </a:rPr>
                                </m:ctrlPr>
                              </m:dPr>
                              <m:e>
                                <m:f>
                                  <m:fPr>
                                    <m:ctrlPr>
                                      <a:rPr lang="en-US" altLang="zh-CN" sz="2400" i="1">
                                        <a:solidFill>
                                          <a:srgbClr val="C00000"/>
                                        </a:solidFill>
                                        <a:latin typeface="Cambria Math" panose="02040503050406030204" pitchFamily="18" charset="0"/>
                                      </a:rPr>
                                    </m:ctrlPr>
                                  </m:fPr>
                                  <m:num>
                                    <m:r>
                                      <a:rPr lang="en-US" altLang="zh-CN" sz="2400" i="1">
                                        <a:solidFill>
                                          <a:srgbClr val="C00000"/>
                                        </a:solidFill>
                                        <a:latin typeface="Cambria Math"/>
                                      </a:rPr>
                                      <m:t>𝜃</m:t>
                                    </m:r>
                                  </m:num>
                                  <m:den>
                                    <m:r>
                                      <a:rPr lang="en-US" altLang="zh-CN" sz="2400" i="1">
                                        <a:solidFill>
                                          <a:srgbClr val="C00000"/>
                                        </a:solidFill>
                                        <a:latin typeface="Cambria Math"/>
                                      </a:rPr>
                                      <m:t>2</m:t>
                                    </m:r>
                                  </m:den>
                                </m:f>
                              </m:e>
                            </m:d>
                          </m:e>
                        </m:func>
                        <m:r>
                          <a:rPr lang="en-US" altLang="zh-CN" sz="2400" i="1">
                            <a:solidFill>
                              <a:srgbClr val="C00000"/>
                            </a:solidFill>
                            <a:latin typeface="Cambria Math"/>
                          </a:rPr>
                          <m:t>=</m:t>
                        </m:r>
                        <m:r>
                          <a:rPr lang="en-US" altLang="zh-CN" sz="2400" b="0" i="1" smtClean="0">
                            <a:solidFill>
                              <a:srgbClr val="C00000"/>
                            </a:solidFill>
                            <a:latin typeface="Cambria Math" panose="02040503050406030204" pitchFamily="18" charset="0"/>
                          </a:rPr>
                          <m:t>2</m:t>
                        </m:r>
                        <m:f>
                          <m:fPr>
                            <m:ctrlPr>
                              <a:rPr lang="en-US" altLang="zh-CN" sz="2400" i="1">
                                <a:solidFill>
                                  <a:srgbClr val="C00000"/>
                                </a:solidFill>
                                <a:latin typeface="Cambria Math" panose="02040503050406030204" pitchFamily="18" charset="0"/>
                              </a:rPr>
                            </m:ctrlPr>
                          </m:fPr>
                          <m:num>
                            <m:r>
                              <a:rPr lang="en-US" altLang="zh-CN" sz="2400" i="1">
                                <a:solidFill>
                                  <a:srgbClr val="C00000"/>
                                </a:solidFill>
                                <a:latin typeface="Cambria Math"/>
                              </a:rPr>
                              <m:t>𝑏</m:t>
                            </m:r>
                          </m:num>
                          <m:den>
                            <m:r>
                              <a:rPr lang="en-US" altLang="zh-CN" sz="2400" i="1">
                                <a:solidFill>
                                  <a:srgbClr val="C00000"/>
                                </a:solidFill>
                                <a:latin typeface="Cambria Math"/>
                              </a:rPr>
                              <m:t>𝑎</m:t>
                            </m:r>
                          </m:den>
                        </m:f>
                      </m:oMath>
                    </m:oMathPara>
                  </a14:m>
                  <a:endParaRPr lang="en-US" altLang="zh-CN" sz="2400" dirty="0">
                    <a:solidFill>
                      <a:srgbClr val="C00000"/>
                    </a:solidFill>
                  </a:endParaRPr>
                </a:p>
              </p:txBody>
            </p:sp>
          </mc:Choice>
          <mc:Fallback xmlns="">
            <p:sp>
              <p:nvSpPr>
                <p:cNvPr id="4" name="Rectangle 3"/>
                <p:cNvSpPr>
                  <a:spLocks noRot="1" noChangeAspect="1" noMove="1" noResize="1" noEditPoints="1" noAdjustHandles="1" noChangeArrowheads="1" noChangeShapeType="1" noTextEdit="1"/>
                </p:cNvSpPr>
                <p:nvPr/>
              </p:nvSpPr>
              <p:spPr>
                <a:xfrm>
                  <a:off x="2472816" y="4168399"/>
                  <a:ext cx="2166147" cy="921574"/>
                </a:xfrm>
                <a:prstGeom prst="rect">
                  <a:avLst/>
                </a:prstGeom>
                <a:blipFill>
                  <a:blip r:embed="rId10"/>
                  <a:stretch>
                    <a:fillRect/>
                  </a:stretch>
                </a:blipFill>
              </p:spPr>
              <p:txBody>
                <a:bodyPr/>
                <a:lstStyle/>
                <a:p>
                  <a:r>
                    <a:rPr lang="zh-CN" altLang="en-US">
                      <a:noFill/>
                    </a:rPr>
                    <a:t> </a:t>
                  </a:r>
                </a:p>
              </p:txBody>
            </p:sp>
          </mc:Fallback>
        </mc:AlternateContent>
      </p:grpSp>
      <p:sp>
        <p:nvSpPr>
          <p:cNvPr id="5" name="Rectangle 4"/>
          <p:cNvSpPr/>
          <p:nvPr/>
        </p:nvSpPr>
        <p:spPr>
          <a:xfrm>
            <a:off x="5977217" y="3244334"/>
            <a:ext cx="247184" cy="369332"/>
          </a:xfrm>
          <a:prstGeom prst="rect">
            <a:avLst/>
          </a:prstGeom>
        </p:spPr>
        <p:txBody>
          <a:bodyPr wrap="none">
            <a:spAutoFit/>
          </a:bodyPr>
          <a:lstStyle/>
          <a:p>
            <a:r>
              <a:rPr lang="en-US" dirty="0"/>
              <a:t> </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35C3242-8697-4481-90AB-473C836FDBBB}"/>
                  </a:ext>
                </a:extLst>
              </p:cNvPr>
              <p:cNvSpPr txBox="1"/>
              <p:nvPr/>
            </p:nvSpPr>
            <p:spPr>
              <a:xfrm>
                <a:off x="383238" y="4355213"/>
                <a:ext cx="6802311" cy="1508105"/>
              </a:xfrm>
              <a:prstGeom prst="rect">
                <a:avLst/>
              </a:prstGeom>
              <a:noFill/>
            </p:spPr>
            <p:txBody>
              <a:bodyPr wrap="none" rtlCol="0">
                <a:spAutoFit/>
              </a:bodyPr>
              <a:lstStyle/>
              <a:p>
                <a:endParaRPr lang="en-US" altLang="zh-CN" sz="2000" dirty="0">
                  <a:latin typeface="Cambria Math" panose="02040503050406030204" pitchFamily="18" charset="0"/>
                </a:endParaRPr>
              </a:p>
              <a:p>
                <a:r>
                  <a:rPr lang="en-US" altLang="zh-CN" sz="2400" dirty="0">
                    <a:latin typeface="Cambria Math" panose="02040503050406030204" pitchFamily="18" charset="0"/>
                  </a:rPr>
                  <a:t>For </a:t>
                </a:r>
                <a14:m>
                  <m:oMath xmlns:m="http://schemas.openxmlformats.org/officeDocument/2006/math">
                    <m:r>
                      <a:rPr lang="en-US" altLang="zh-CN" sz="2400" b="0" i="1" dirty="0" smtClean="0">
                        <a:latin typeface="Cambria Math" panose="02040503050406030204" pitchFamily="18" charset="0"/>
                      </a:rPr>
                      <m:t>𝑀</m:t>
                    </m:r>
                    <m:r>
                      <a:rPr lang="zh-CN" altLang="en-US" sz="2400" i="1">
                        <a:latin typeface="Cambria Math" panose="02040503050406030204" pitchFamily="18" charset="0"/>
                      </a:rPr>
                      <m:t>≫</m:t>
                    </m:r>
                    <m:r>
                      <a:rPr lang="en-US" altLang="zh-CN" sz="2400" b="0" i="1" dirty="0" smtClean="0">
                        <a:latin typeface="Cambria Math" panose="02040503050406030204" pitchFamily="18" charset="0"/>
                      </a:rPr>
                      <m:t>𝑚</m:t>
                    </m:r>
                  </m:oMath>
                </a14:m>
                <a:endParaRPr lang="en-US" altLang="zh-CN" sz="2400"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𝑭</m:t>
                      </m:r>
                      <m:r>
                        <a:rPr lang="en-US" sz="2400" b="0" i="1" smtClean="0">
                          <a:latin typeface="Cambria Math" panose="02040503050406030204" pitchFamily="18" charset="0"/>
                        </a:rPr>
                        <m:t>=</m:t>
                      </m:r>
                      <m:r>
                        <a:rPr lang="en-US" sz="2400" b="0" i="1" smtClean="0">
                          <a:latin typeface="Cambria Math" panose="02040503050406030204" pitchFamily="18" charset="0"/>
                        </a:rPr>
                        <m:t>𝑚</m:t>
                      </m:r>
                      <m:acc>
                        <m:accPr>
                          <m:chr m:val="̈"/>
                          <m:ctrlPr>
                            <a:rPr lang="en-US" sz="2400" b="0" i="1" smtClean="0">
                              <a:latin typeface="Cambria Math" panose="02040503050406030204" pitchFamily="18" charset="0"/>
                            </a:rPr>
                          </m:ctrlPr>
                        </m:accPr>
                        <m:e>
                          <m:r>
                            <a:rPr lang="en-US" sz="2400" b="1" i="1">
                              <a:latin typeface="Cambria Math" panose="02040503050406030204" pitchFamily="18" charset="0"/>
                            </a:rPr>
                            <m:t>𝒓</m:t>
                          </m:r>
                        </m:e>
                      </m:acc>
                    </m:oMath>
                  </m:oMathPara>
                </a14:m>
                <a:endParaRPr lang="en-US" sz="2400" b="1" dirty="0"/>
              </a:p>
              <a:p>
                <a14:m>
                  <m:oMath xmlns:m="http://schemas.openxmlformats.org/officeDocument/2006/math">
                    <m:r>
                      <a:rPr lang="en-US" sz="2400" i="1" dirty="0" smtClean="0">
                        <a:latin typeface="Cambria Math" panose="02040503050406030204" pitchFamily="18" charset="0"/>
                      </a:rPr>
                      <m:t>𝑚</m:t>
                    </m:r>
                    <m:r>
                      <a:rPr lang="en-US" sz="2400" b="0" i="1" dirty="0" smtClean="0">
                        <a:latin typeface="Cambria Math" panose="02040503050406030204" pitchFamily="18" charset="0"/>
                      </a:rPr>
                      <m:t>,</m:t>
                    </m:r>
                    <m:r>
                      <a:rPr lang="en-US" sz="2400" b="1" i="1" dirty="0" smtClean="0">
                        <a:latin typeface="Cambria Math" panose="02040503050406030204" pitchFamily="18" charset="0"/>
                      </a:rPr>
                      <m:t>𝒓</m:t>
                    </m:r>
                  </m:oMath>
                </a14:m>
                <a:r>
                  <a:rPr lang="en-US" altLang="zh-CN" sz="2400" dirty="0"/>
                  <a:t> are the mass and position of the light particle</a:t>
                </a:r>
                <a:endParaRPr lang="en-US" altLang="zh-CN" sz="2000" dirty="0"/>
              </a:p>
            </p:txBody>
          </p:sp>
        </mc:Choice>
        <mc:Fallback xmlns="">
          <p:sp>
            <p:nvSpPr>
              <p:cNvPr id="13" name="TextBox 12">
                <a:extLst>
                  <a:ext uri="{FF2B5EF4-FFF2-40B4-BE49-F238E27FC236}">
                    <a16:creationId xmlns:a16="http://schemas.microsoft.com/office/drawing/2014/main" id="{935C3242-8697-4481-90AB-473C836FDBBB}"/>
                  </a:ext>
                </a:extLst>
              </p:cNvPr>
              <p:cNvSpPr txBox="1">
                <a:spLocks noRot="1" noChangeAspect="1" noMove="1" noResize="1" noEditPoints="1" noAdjustHandles="1" noChangeArrowheads="1" noChangeShapeType="1" noTextEdit="1"/>
              </p:cNvSpPr>
              <p:nvPr/>
            </p:nvSpPr>
            <p:spPr>
              <a:xfrm>
                <a:off x="383238" y="4355213"/>
                <a:ext cx="6802311" cy="1508105"/>
              </a:xfrm>
              <a:prstGeom prst="rect">
                <a:avLst/>
              </a:prstGeom>
              <a:blipFill>
                <a:blip r:embed="rId11"/>
                <a:stretch>
                  <a:fillRect l="-1434" r="-448" b="-8468"/>
                </a:stretch>
              </a:blipFill>
            </p:spPr>
            <p:txBody>
              <a:bodyPr/>
              <a:lstStyle/>
              <a:p>
                <a:r>
                  <a:rPr lang="en-US">
                    <a:noFill/>
                  </a:rPr>
                  <a:t> </a:t>
                </a:r>
              </a:p>
            </p:txBody>
          </p:sp>
        </mc:Fallback>
      </mc:AlternateContent>
    </p:spTree>
    <p:extLst>
      <p:ext uri="{BB962C8B-B14F-4D97-AF65-F5344CB8AC3E}">
        <p14:creationId xmlns:p14="http://schemas.microsoft.com/office/powerpoint/2010/main" val="3991039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Differential scattering cross-section</a:t>
            </a:r>
            <a:endParaRPr lang="en-US" dirty="0"/>
          </a:p>
        </p:txBody>
      </p:sp>
      <mc:AlternateContent xmlns:mc="http://schemas.openxmlformats.org/markup-compatibility/2006" xmlns:a14="http://schemas.microsoft.com/office/drawing/2010/main">
        <mc:Choice Requires="a14">
          <p:sp>
            <p:nvSpPr>
              <p:cNvPr id="5" name="TextBox 4"/>
              <p:cNvSpPr txBox="1"/>
              <p:nvPr/>
            </p:nvSpPr>
            <p:spPr>
              <a:xfrm>
                <a:off x="6946343" y="1031371"/>
                <a:ext cx="4838661" cy="1136337"/>
              </a:xfrm>
              <a:prstGeom prst="rect">
                <a:avLst/>
              </a:prstGeom>
              <a:noFill/>
            </p:spPr>
            <p:txBody>
              <a:bodyPr wrap="square" rtlCol="0">
                <a:spAutoFit/>
              </a:bodyPr>
              <a:lstStyle/>
              <a:p>
                <a:pPr>
                  <a:spcAft>
                    <a:spcPts val="600"/>
                  </a:spcAft>
                </a:pPr>
                <a:r>
                  <a:rPr lang="en-US" altLang="zh-CN" sz="2000" dirty="0">
                    <a:latin typeface="Times New Roman" panose="02020603050405020304" pitchFamily="18" charset="0"/>
                    <a:cs typeface="Times New Roman" panose="02020603050405020304" pitchFamily="18" charset="0"/>
                  </a:rPr>
                  <a:t>solid angle within </a:t>
                </a:r>
                <a14:m>
                  <m:oMath xmlns:m="http://schemas.openxmlformats.org/officeDocument/2006/math">
                    <m:r>
                      <a:rPr lang="en-US" altLang="zh-CN" sz="2000" i="1" dirty="0">
                        <a:latin typeface="Cambria Math"/>
                      </a:rPr>
                      <m:t>𝜃</m:t>
                    </m:r>
                    <m:r>
                      <a:rPr lang="en-US" altLang="zh-CN" sz="2000" i="1" dirty="0">
                        <a:latin typeface="Cambria Math"/>
                      </a:rPr>
                      <m:t>~</m:t>
                    </m:r>
                    <m:r>
                      <a:rPr lang="en-US" altLang="zh-CN" sz="2000" i="1" dirty="0">
                        <a:latin typeface="Cambria Math"/>
                      </a:rPr>
                      <m:t>𝜃</m:t>
                    </m:r>
                    <m:r>
                      <a:rPr lang="en-US" altLang="zh-CN" sz="2000" i="1" dirty="0">
                        <a:latin typeface="Cambria Math"/>
                      </a:rPr>
                      <m:t>+</m:t>
                    </m:r>
                    <m:r>
                      <a:rPr lang="en-US" altLang="zh-CN" sz="2000" i="1" dirty="0">
                        <a:latin typeface="Cambria Math"/>
                      </a:rPr>
                      <m:t>𝑑</m:t>
                    </m:r>
                    <m:r>
                      <a:rPr lang="en-US" altLang="zh-CN" sz="2000" i="1" dirty="0">
                        <a:latin typeface="Cambria Math"/>
                      </a:rPr>
                      <m:t>𝜃</m:t>
                    </m:r>
                  </m:oMath>
                </a14:m>
                <a:r>
                  <a:rPr lang="en-US" altLang="zh-CN" sz="2000" i="1" dirty="0">
                    <a:latin typeface="Cambria Math"/>
                  </a:rPr>
                  <a:t> </a:t>
                </a:r>
                <a:r>
                  <a:rPr lang="en-US" altLang="zh-CN" sz="2000" dirty="0">
                    <a:latin typeface="Cambria Math"/>
                  </a:rPr>
                  <a:t>and </a:t>
                </a:r>
                <a14:m>
                  <m:oMath xmlns:m="http://schemas.openxmlformats.org/officeDocument/2006/math">
                    <m:r>
                      <a:rPr lang="en-US" altLang="zh-CN" sz="2000" i="1" dirty="0">
                        <a:latin typeface="Cambria Math" panose="02040503050406030204" pitchFamily="18" charset="0"/>
                      </a:rPr>
                      <m:t>𝜙</m:t>
                    </m:r>
                    <m:r>
                      <a:rPr lang="en-US" altLang="zh-CN" sz="2000" i="1" dirty="0">
                        <a:latin typeface="Cambria Math"/>
                      </a:rPr>
                      <m:t>~</m:t>
                    </m:r>
                    <m:r>
                      <a:rPr lang="en-US" altLang="zh-CN" sz="2000" i="1" dirty="0">
                        <a:latin typeface="Cambria Math" panose="02040503050406030204" pitchFamily="18" charset="0"/>
                      </a:rPr>
                      <m:t>𝜙</m:t>
                    </m:r>
                    <m:r>
                      <a:rPr lang="en-US" altLang="zh-CN" sz="2000" i="1" dirty="0">
                        <a:latin typeface="Cambria Math"/>
                      </a:rPr>
                      <m:t>+</m:t>
                    </m:r>
                    <m:r>
                      <a:rPr lang="en-US" altLang="zh-CN" sz="2000" i="1" dirty="0">
                        <a:latin typeface="Cambria Math"/>
                      </a:rPr>
                      <m:t>𝑑</m:t>
                    </m:r>
                    <m:r>
                      <a:rPr lang="en-US" altLang="zh-CN" sz="2000" i="1" dirty="0">
                        <a:latin typeface="Cambria Math" panose="02040503050406030204" pitchFamily="18" charset="0"/>
                      </a:rPr>
                      <m:t>𝜙</m:t>
                    </m:r>
                  </m:oMath>
                </a14:m>
                <a:endParaRPr lang="en-US" altLang="zh-CN" sz="2000" dirty="0">
                  <a:latin typeface="Cambria Math"/>
                </a:endParaRPr>
              </a:p>
              <a:p>
                <a:pPr>
                  <a:spcAft>
                    <a:spcPts val="600"/>
                  </a:spcAft>
                </a:pPr>
                <a14:m>
                  <m:oMathPara xmlns:m="http://schemas.openxmlformats.org/officeDocument/2006/math">
                    <m:oMathParaPr>
                      <m:jc m:val="centerGroup"/>
                    </m:oMathParaPr>
                    <m:oMath xmlns:m="http://schemas.openxmlformats.org/officeDocument/2006/math">
                      <m:r>
                        <a:rPr lang="en-US" altLang="zh-CN" sz="2000" i="1" dirty="0">
                          <a:latin typeface="Cambria Math"/>
                        </a:rPr>
                        <m:t>𝑑</m:t>
                      </m:r>
                      <m:r>
                        <m:rPr>
                          <m:sty m:val="p"/>
                        </m:rPr>
                        <a:rPr lang="en-US" altLang="zh-CN" sz="2000" dirty="0">
                          <a:latin typeface="Cambria Math"/>
                        </a:rPr>
                        <m:t>Ω</m:t>
                      </m:r>
                      <m:d>
                        <m:dPr>
                          <m:ctrlPr>
                            <a:rPr lang="en-US" altLang="zh-CN" sz="2000" i="1" dirty="0">
                              <a:latin typeface="Cambria Math" panose="02040503050406030204" pitchFamily="18" charset="0"/>
                            </a:rPr>
                          </m:ctrlPr>
                        </m:dPr>
                        <m:e>
                          <m:r>
                            <a:rPr lang="en-US" altLang="zh-CN" sz="2000" i="1" dirty="0">
                              <a:latin typeface="Cambria Math"/>
                            </a:rPr>
                            <m:t>𝜃</m:t>
                          </m:r>
                        </m:e>
                      </m:d>
                      <m:r>
                        <a:rPr lang="en-US" altLang="zh-CN" sz="2000" i="1" dirty="0">
                          <a:latin typeface="Cambria Math"/>
                        </a:rPr>
                        <m:t>=</m:t>
                      </m:r>
                      <m:f>
                        <m:fPr>
                          <m:ctrlPr>
                            <a:rPr lang="en-US" altLang="zh-CN" sz="2000" i="1" dirty="0" smtClean="0">
                              <a:solidFill>
                                <a:schemeClr val="tx1"/>
                              </a:solidFill>
                              <a:latin typeface="Cambria Math" panose="02040503050406030204" pitchFamily="18" charset="0"/>
                            </a:rPr>
                          </m:ctrlPr>
                        </m:fPr>
                        <m:num>
                          <m:r>
                            <a:rPr lang="en-US" altLang="zh-CN" sz="2000" i="1" dirty="0">
                              <a:solidFill>
                                <a:schemeClr val="tx1"/>
                              </a:solidFill>
                              <a:latin typeface="Cambria Math" panose="02040503050406030204" pitchFamily="18" charset="0"/>
                            </a:rPr>
                            <m:t>𝑑𝑆</m:t>
                          </m:r>
                        </m:num>
                        <m:den>
                          <m:sSup>
                            <m:sSupPr>
                              <m:ctrlPr>
                                <a:rPr lang="en-US" altLang="zh-CN" sz="2000" i="1" dirty="0">
                                  <a:solidFill>
                                    <a:schemeClr val="tx1"/>
                                  </a:solidFill>
                                  <a:latin typeface="Cambria Math" panose="02040503050406030204" pitchFamily="18" charset="0"/>
                                </a:rPr>
                              </m:ctrlPr>
                            </m:sSupPr>
                            <m:e>
                              <m:r>
                                <a:rPr lang="en-US" altLang="zh-CN" sz="2000" i="1" dirty="0">
                                  <a:solidFill>
                                    <a:schemeClr val="tx1"/>
                                  </a:solidFill>
                                  <a:latin typeface="Cambria Math" panose="02040503050406030204" pitchFamily="18" charset="0"/>
                                </a:rPr>
                                <m:t>𝑟</m:t>
                              </m:r>
                            </m:e>
                            <m:sup>
                              <m:r>
                                <a:rPr lang="en-US" altLang="zh-CN" sz="2000" i="1" dirty="0">
                                  <a:solidFill>
                                    <a:schemeClr val="tx1"/>
                                  </a:solidFill>
                                  <a:latin typeface="Cambria Math" panose="02040503050406030204" pitchFamily="18" charset="0"/>
                                </a:rPr>
                                <m:t>2</m:t>
                              </m:r>
                            </m:sup>
                          </m:sSup>
                        </m:den>
                      </m:f>
                      <m:r>
                        <a:rPr lang="en-US" altLang="zh-CN" sz="2000" b="0" i="1" dirty="0" smtClean="0">
                          <a:solidFill>
                            <a:schemeClr val="tx1"/>
                          </a:solidFill>
                          <a:latin typeface="Cambria Math" panose="02040503050406030204" pitchFamily="18" charset="0"/>
                        </a:rPr>
                        <m:t>=</m:t>
                      </m:r>
                      <m:func>
                        <m:funcPr>
                          <m:ctrlPr>
                            <a:rPr lang="en-US" altLang="zh-CN" sz="2000" i="1" dirty="0">
                              <a:latin typeface="Cambria Math" panose="02040503050406030204" pitchFamily="18" charset="0"/>
                            </a:rPr>
                          </m:ctrlPr>
                        </m:funcPr>
                        <m:fName>
                          <m:r>
                            <m:rPr>
                              <m:sty m:val="p"/>
                            </m:rPr>
                            <a:rPr lang="en-US" altLang="zh-CN" sz="2000" dirty="0">
                              <a:latin typeface="Cambria Math"/>
                            </a:rPr>
                            <m:t>sin</m:t>
                          </m:r>
                        </m:fName>
                        <m:e>
                          <m:r>
                            <a:rPr lang="en-US" altLang="zh-CN" sz="2000" i="1" dirty="0">
                              <a:latin typeface="Cambria Math"/>
                            </a:rPr>
                            <m:t>𝜃</m:t>
                          </m:r>
                        </m:e>
                      </m:func>
                      <m:r>
                        <a:rPr lang="en-US" altLang="zh-CN" sz="2000" i="1" dirty="0">
                          <a:latin typeface="Cambria Math"/>
                        </a:rPr>
                        <m:t>𝑑</m:t>
                      </m:r>
                      <m:r>
                        <a:rPr lang="en-US" altLang="zh-CN" sz="2000" i="1" dirty="0">
                          <a:latin typeface="Cambria Math"/>
                        </a:rPr>
                        <m:t>𝜃</m:t>
                      </m:r>
                      <m:r>
                        <a:rPr lang="en-US" altLang="zh-CN" sz="2000" i="1" dirty="0" smtClean="0">
                          <a:latin typeface="Cambria Math" panose="02040503050406030204" pitchFamily="18" charset="0"/>
                        </a:rPr>
                        <m:t>𝑑</m:t>
                      </m:r>
                      <m:r>
                        <a:rPr lang="en-US" altLang="zh-CN" sz="2000" i="1" dirty="0">
                          <a:latin typeface="Cambria Math" panose="02040503050406030204" pitchFamily="18" charset="0"/>
                        </a:rPr>
                        <m:t>𝜙</m:t>
                      </m:r>
                    </m:oMath>
                  </m:oMathPara>
                </a14:m>
                <a:endParaRPr lang="zh-CN" altLang="en-US" sz="2000" dirty="0">
                  <a:latin typeface="Times New Roman" panose="02020603050405020304" pitchFamily="18" charset="0"/>
                  <a:cs typeface="Times New Roman" panose="02020603050405020304" pitchFamily="18" charset="0"/>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6946343" y="1031371"/>
                <a:ext cx="4838661" cy="1136337"/>
              </a:xfrm>
              <a:prstGeom prst="rect">
                <a:avLst/>
              </a:prstGeom>
              <a:blipFill>
                <a:blip r:embed="rId3"/>
                <a:stretch>
                  <a:fillRect l="-1259" t="-3209" r="-25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6946343" y="2460076"/>
                <a:ext cx="5078372" cy="1785104"/>
              </a:xfrm>
              <a:prstGeom prst="rect">
                <a:avLst/>
              </a:prstGeom>
            </p:spPr>
            <p:txBody>
              <a:bodyPr wrap="square">
                <a:spAutoFit/>
              </a:bodyPr>
              <a:lstStyle/>
              <a:p>
                <a:pPr>
                  <a:spcAft>
                    <a:spcPts val="600"/>
                  </a:spcAft>
                </a:pPr>
                <a:r>
                  <a:rPr lang="en-US" altLang="zh-CN" sz="2000" b="0" dirty="0">
                    <a:latin typeface="Times New Roman" panose="02020603050405020304" pitchFamily="18" charset="0"/>
                    <a:cs typeface="Times New Roman" panose="02020603050405020304" pitchFamily="18" charset="0"/>
                  </a:rPr>
                  <a:t>Scattering cross-section: </a:t>
                </a:r>
                <a:r>
                  <a:rPr lang="en-US" altLang="zh-CN" sz="2000" dirty="0">
                    <a:latin typeface="Times New Roman" panose="02020603050405020304" pitchFamily="18" charset="0"/>
                    <a:cs typeface="Times New Roman" panose="02020603050405020304" pitchFamily="18" charset="0"/>
                  </a:rPr>
                  <a:t>the area around the target nucleus, </a:t>
                </a:r>
                <a:r>
                  <a:rPr lang="en-US" altLang="zh-CN" sz="2000" b="0" dirty="0">
                    <a:latin typeface="Times New Roman" panose="02020603050405020304" pitchFamily="18" charset="0"/>
                    <a:cs typeface="Times New Roman" panose="02020603050405020304" pitchFamily="18" charset="0"/>
                  </a:rPr>
                  <a:t>which an incident particle has to aim at in order to be </a:t>
                </a:r>
                <a:r>
                  <a:rPr lang="en-US" altLang="zh-CN" sz="2000" dirty="0">
                    <a:latin typeface="Times New Roman" panose="02020603050405020304" pitchFamily="18" charset="0"/>
                    <a:cs typeface="Times New Roman" panose="02020603050405020304" pitchFamily="18" charset="0"/>
                  </a:rPr>
                  <a:t>scattered </a:t>
                </a:r>
                <a:r>
                  <a:rPr lang="en-US" altLang="zh-CN" sz="2000" b="0" dirty="0">
                    <a:latin typeface="Times New Roman" panose="02020603050405020304" pitchFamily="18" charset="0"/>
                    <a:cs typeface="Times New Roman" panose="02020603050405020304" pitchFamily="18" charset="0"/>
                  </a:rPr>
                  <a:t>in</a:t>
                </a:r>
                <a:r>
                  <a:rPr lang="en-US" altLang="zh-CN" sz="2000" dirty="0">
                    <a:latin typeface="Times New Roman" panose="02020603050405020304" pitchFamily="18" charset="0"/>
                    <a:cs typeface="Times New Roman" panose="02020603050405020304" pitchFamily="18" charset="0"/>
                  </a:rPr>
                  <a:t>to</a:t>
                </a:r>
                <a:r>
                  <a:rPr lang="en-US" altLang="zh-CN" sz="2000" b="0" dirty="0">
                    <a:latin typeface="Times New Roman" panose="02020603050405020304" pitchFamily="18" charset="0"/>
                    <a:cs typeface="Times New Roman" panose="02020603050405020304" pitchFamily="18" charset="0"/>
                  </a:rPr>
                  <a:t> the solid angle </a:t>
                </a:r>
                <a14:m>
                  <m:oMath xmlns:m="http://schemas.openxmlformats.org/officeDocument/2006/math">
                    <m:r>
                      <a:rPr lang="en-US" altLang="zh-CN" sz="2000" i="1" dirty="0">
                        <a:latin typeface="Cambria Math"/>
                      </a:rPr>
                      <m:t>𝑑</m:t>
                    </m:r>
                    <m:r>
                      <m:rPr>
                        <m:sty m:val="p"/>
                      </m:rPr>
                      <a:rPr lang="en-US" altLang="zh-CN" sz="2000" dirty="0">
                        <a:latin typeface="Cambria Math"/>
                      </a:rPr>
                      <m:t>Ω</m:t>
                    </m:r>
                  </m:oMath>
                </a14:m>
                <a:endParaRPr lang="en-US" altLang="zh-CN" sz="2000" i="1" dirty="0">
                  <a:latin typeface="Cambria Math"/>
                </a:endParaRPr>
              </a:p>
              <a:p>
                <a:pPr>
                  <a:spcAft>
                    <a:spcPts val="600"/>
                  </a:spcAft>
                </a:pPr>
                <a14:m>
                  <m:oMathPara xmlns:m="http://schemas.openxmlformats.org/officeDocument/2006/math">
                    <m:oMathParaPr>
                      <m:jc m:val="centerGroup"/>
                    </m:oMathParaPr>
                    <m:oMath xmlns:m="http://schemas.openxmlformats.org/officeDocument/2006/math">
                      <m:r>
                        <a:rPr lang="en-US" altLang="zh-CN" sz="2000" b="0" i="1" dirty="0" smtClean="0">
                          <a:latin typeface="Cambria Math" panose="02040503050406030204" pitchFamily="18" charset="0"/>
                        </a:rPr>
                        <m:t>𝑑</m:t>
                      </m:r>
                      <m:r>
                        <a:rPr lang="en-US" altLang="zh-CN" sz="2000" b="0" i="1" dirty="0" smtClean="0">
                          <a:latin typeface="Cambria Math" panose="02040503050406030204" pitchFamily="18" charset="0"/>
                        </a:rPr>
                        <m:t>𝜎</m:t>
                      </m:r>
                      <m:r>
                        <a:rPr lang="en-US" altLang="zh-CN" sz="2000" b="0" i="1" dirty="0" smtClean="0">
                          <a:latin typeface="Cambria Math" panose="02040503050406030204" pitchFamily="18" charset="0"/>
                        </a:rPr>
                        <m:t>=</m:t>
                      </m:r>
                      <m:r>
                        <a:rPr lang="en-US" altLang="zh-CN" sz="2000" i="1" dirty="0">
                          <a:latin typeface="Cambria Math"/>
                        </a:rPr>
                        <m:t>𝑏</m:t>
                      </m:r>
                      <m:r>
                        <a:rPr lang="en-US" altLang="zh-CN" sz="2000" i="1" dirty="0" smtClean="0">
                          <a:latin typeface="Cambria Math" panose="02040503050406030204" pitchFamily="18" charset="0"/>
                        </a:rPr>
                        <m:t>𝑑</m:t>
                      </m:r>
                      <m:r>
                        <a:rPr lang="en-US" altLang="zh-CN" sz="2000" i="1" dirty="0">
                          <a:latin typeface="Cambria Math" panose="02040503050406030204" pitchFamily="18" charset="0"/>
                        </a:rPr>
                        <m:t>𝜙</m:t>
                      </m:r>
                      <m:r>
                        <a:rPr lang="en-US" altLang="zh-CN" sz="2000" i="1" dirty="0">
                          <a:latin typeface="Cambria Math"/>
                        </a:rPr>
                        <m:t>𝑑𝑏</m:t>
                      </m:r>
                    </m:oMath>
                  </m:oMathPara>
                </a14:m>
                <a:endParaRPr lang="en-US" altLang="zh-CN" sz="2000" dirty="0">
                  <a:latin typeface="Times New Roman" panose="02020603050405020304" pitchFamily="18" charset="0"/>
                </a:endParaRPr>
              </a:p>
            </p:txBody>
          </p:sp>
        </mc:Choice>
        <mc:Fallback xmlns="">
          <p:sp>
            <p:nvSpPr>
              <p:cNvPr id="6" name="Rectangle 5"/>
              <p:cNvSpPr>
                <a:spLocks noRot="1" noChangeAspect="1" noMove="1" noResize="1" noEditPoints="1" noAdjustHandles="1" noChangeArrowheads="1" noChangeShapeType="1" noTextEdit="1"/>
              </p:cNvSpPr>
              <p:nvPr/>
            </p:nvSpPr>
            <p:spPr>
              <a:xfrm>
                <a:off x="6946343" y="2460076"/>
                <a:ext cx="5078372" cy="1785104"/>
              </a:xfrm>
              <a:prstGeom prst="rect">
                <a:avLst/>
              </a:prstGeom>
              <a:blipFill>
                <a:blip r:embed="rId4"/>
                <a:stretch>
                  <a:fillRect l="-1199" t="-2055" r="-1079"/>
                </a:stretch>
              </a:blipFill>
            </p:spPr>
            <p:txBody>
              <a:bodyPr/>
              <a:lstStyle/>
              <a:p>
                <a:r>
                  <a:rPr lang="zh-CN" altLang="en-US">
                    <a:noFill/>
                  </a:rPr>
                  <a:t> </a:t>
                </a:r>
              </a:p>
            </p:txBody>
          </p:sp>
        </mc:Fallback>
      </mc:AlternateContent>
      <p:grpSp>
        <p:nvGrpSpPr>
          <p:cNvPr id="15" name="Group 14">
            <a:extLst>
              <a:ext uri="{FF2B5EF4-FFF2-40B4-BE49-F238E27FC236}">
                <a16:creationId xmlns:a16="http://schemas.microsoft.com/office/drawing/2014/main" id="{A01A8C9F-92A7-4AD0-8B6E-06E96C5BB89D}"/>
              </a:ext>
            </a:extLst>
          </p:cNvPr>
          <p:cNvGrpSpPr/>
          <p:nvPr/>
        </p:nvGrpSpPr>
        <p:grpSpPr>
          <a:xfrm>
            <a:off x="456994" y="1129535"/>
            <a:ext cx="6357984" cy="3667152"/>
            <a:chOff x="685533" y="1079620"/>
            <a:chExt cx="6357984" cy="3667152"/>
          </a:xfrm>
        </p:grpSpPr>
        <p:pic>
          <p:nvPicPr>
            <p:cNvPr id="11" name="Picture 10">
              <a:extLst>
                <a:ext uri="{FF2B5EF4-FFF2-40B4-BE49-F238E27FC236}">
                  <a16:creationId xmlns:a16="http://schemas.microsoft.com/office/drawing/2014/main" id="{5FA11BCE-379D-402B-B03C-31D25C05F936}"/>
                </a:ext>
              </a:extLst>
            </p:cNvPr>
            <p:cNvPicPr>
              <a:picLocks noChangeAspect="1"/>
            </p:cNvPicPr>
            <p:nvPr/>
          </p:nvPicPr>
          <p:blipFill>
            <a:blip r:embed="rId5"/>
            <a:stretch>
              <a:fillRect/>
            </a:stretch>
          </p:blipFill>
          <p:spPr>
            <a:xfrm>
              <a:off x="685533" y="1079620"/>
              <a:ext cx="6357984" cy="3667152"/>
            </a:xfrm>
            <a:prstGeom prst="rect">
              <a:avLst/>
            </a:prstGeom>
          </p:spPr>
        </p:pic>
        <p:cxnSp>
          <p:nvCxnSpPr>
            <p:cNvPr id="13" name="Straight Arrow Connector 12">
              <a:extLst>
                <a:ext uri="{FF2B5EF4-FFF2-40B4-BE49-F238E27FC236}">
                  <a16:creationId xmlns:a16="http://schemas.microsoft.com/office/drawing/2014/main" id="{ED418A1A-D2A1-456D-B103-ACEB28D95091}"/>
                </a:ext>
              </a:extLst>
            </p:cNvPr>
            <p:cNvCxnSpPr>
              <a:cxnSpLocks/>
            </p:cNvCxnSpPr>
            <p:nvPr/>
          </p:nvCxnSpPr>
          <p:spPr>
            <a:xfrm flipV="1">
              <a:off x="6711820" y="1107232"/>
              <a:ext cx="317241" cy="289158"/>
            </a:xfrm>
            <a:prstGeom prst="straightConnector1">
              <a:avLst/>
            </a:prstGeom>
            <a:ln w="25400">
              <a:tailEnd type="triangle" w="lg" len="lg"/>
            </a:ln>
          </p:spPr>
          <p:style>
            <a:lnRef idx="3">
              <a:schemeClr val="dk1"/>
            </a:lnRef>
            <a:fillRef idx="0">
              <a:schemeClr val="dk1"/>
            </a:fillRef>
            <a:effectRef idx="2">
              <a:schemeClr val="dk1"/>
            </a:effectRef>
            <a:fontRef idx="minor">
              <a:schemeClr val="tx1"/>
            </a:fontRef>
          </p:style>
        </p:cxnSp>
      </p:gr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FF081CF-BAA8-4D9C-8B02-09ADF5C759DF}"/>
                  </a:ext>
                </a:extLst>
              </p:cNvPr>
              <p:cNvSpPr txBox="1"/>
              <p:nvPr/>
            </p:nvSpPr>
            <p:spPr>
              <a:xfrm>
                <a:off x="2826326" y="1633272"/>
                <a:ext cx="22167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sz="1800" i="0" dirty="0" smtClean="0">
                          <a:latin typeface="Cambria Math"/>
                        </a:rPr>
                        <m:t>d</m:t>
                      </m:r>
                    </m:oMath>
                  </m:oMathPara>
                </a14:m>
                <a:endParaRPr lang="zh-CN" altLang="en-US" dirty="0"/>
              </a:p>
            </p:txBody>
          </p:sp>
        </mc:Choice>
        <mc:Fallback xmlns="">
          <p:sp>
            <p:nvSpPr>
              <p:cNvPr id="14" name="TextBox 13">
                <a:extLst>
                  <a:ext uri="{FF2B5EF4-FFF2-40B4-BE49-F238E27FC236}">
                    <a16:creationId xmlns:a16="http://schemas.microsoft.com/office/drawing/2014/main" id="{9FF081CF-BAA8-4D9C-8B02-09ADF5C759DF}"/>
                  </a:ext>
                </a:extLst>
              </p:cNvPr>
              <p:cNvSpPr txBox="1">
                <a:spLocks noRot="1" noChangeAspect="1" noMove="1" noResize="1" noEditPoints="1" noAdjustHandles="1" noChangeArrowheads="1" noChangeShapeType="1" noTextEdit="1"/>
              </p:cNvSpPr>
              <p:nvPr/>
            </p:nvSpPr>
            <p:spPr>
              <a:xfrm>
                <a:off x="2826326" y="1633272"/>
                <a:ext cx="221673" cy="369332"/>
              </a:xfrm>
              <a:prstGeom prst="rect">
                <a:avLst/>
              </a:prstGeom>
              <a:blipFill>
                <a:blip r:embed="rId6"/>
                <a:stretch>
                  <a:fillRect r="-3888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962891" y="4820946"/>
                <a:ext cx="10266218" cy="1408975"/>
              </a:xfrm>
              <a:prstGeom prst="rect">
                <a:avLst/>
              </a:prstGeom>
              <a:solidFill>
                <a:schemeClr val="bg1"/>
              </a:solidFill>
            </p:spPr>
            <p:style>
              <a:lnRef idx="2">
                <a:schemeClr val="accent2"/>
              </a:lnRef>
              <a:fillRef idx="1">
                <a:schemeClr val="lt1"/>
              </a:fillRef>
              <a:effectRef idx="0">
                <a:schemeClr val="accent2"/>
              </a:effectRef>
              <a:fontRef idx="minor">
                <a:schemeClr val="dk1"/>
              </a:fontRef>
            </p:style>
            <p:txBody>
              <a:bodyPr wrap="square">
                <a:spAutoFit/>
              </a:bodyPr>
              <a:lstStyle/>
              <a:p>
                <a:r>
                  <a:rPr lang="en-US" altLang="zh-CN" dirty="0">
                    <a:latin typeface="Times New Roman" panose="02020603050405020304" pitchFamily="18" charset="0"/>
                    <a:cs typeface="Times New Roman" panose="02020603050405020304" pitchFamily="18" charset="0"/>
                  </a:rPr>
                  <a:t>Thus we can write			</a:t>
                </a:r>
                <a14:m>
                  <m:oMath xmlns:m="http://schemas.openxmlformats.org/officeDocument/2006/math">
                    <m:r>
                      <a:rPr lang="en-US" altLang="zh-CN" b="0" i="1" smtClean="0">
                        <a:latin typeface="Cambria Math" panose="02040503050406030204" pitchFamily="18" charset="0"/>
                        <a:cs typeface="Times New Roman" panose="02020603050405020304" pitchFamily="18" charset="0"/>
                      </a:rPr>
                      <m:t>𝑑</m:t>
                    </m:r>
                    <m:r>
                      <a:rPr lang="en-US" altLang="zh-CN" b="0" i="1" smtClean="0">
                        <a:latin typeface="Cambria Math" panose="02040503050406030204" pitchFamily="18" charset="0"/>
                        <a:cs typeface="Times New Roman" panose="02020603050405020304" pitchFamily="18" charset="0"/>
                      </a:rPr>
                      <m:t>𝜎</m:t>
                    </m:r>
                    <m:r>
                      <a:rPr lang="en-US" altLang="zh-CN" b="0" i="1" smtClean="0">
                        <a:latin typeface="Cambria Math" panose="02040503050406030204" pitchFamily="18" charset="0"/>
                        <a:cs typeface="Times New Roman" panose="02020603050405020304" pitchFamily="18" charset="0"/>
                      </a:rPr>
                      <m:t>=</m:t>
                    </m:r>
                    <m:sSub>
                      <m:sSubPr>
                        <m:ctrlPr>
                          <a:rPr lang="en-US" altLang="zh-CN" b="0" i="1" smtClean="0">
                            <a:latin typeface="Cambria Math" panose="02040503050406030204" pitchFamily="18" charset="0"/>
                            <a:cs typeface="Times New Roman" panose="02020603050405020304" pitchFamily="18" charset="0"/>
                          </a:rPr>
                        </m:ctrlPr>
                      </m:sSubPr>
                      <m:e>
                        <m:r>
                          <a:rPr lang="en-US" altLang="zh-CN" b="0" i="1" smtClean="0">
                            <a:latin typeface="Cambria Math" panose="02040503050406030204" pitchFamily="18" charset="0"/>
                            <a:cs typeface="Times New Roman" panose="02020603050405020304" pitchFamily="18" charset="0"/>
                          </a:rPr>
                          <m:t>𝜎</m:t>
                        </m:r>
                      </m:e>
                      <m:sub>
                        <m:r>
                          <a:rPr lang="en-US" altLang="zh-CN" b="0" i="1" smtClean="0">
                            <a:latin typeface="Cambria Math" panose="02040503050406030204" pitchFamily="18" charset="0"/>
                            <a:cs typeface="Times New Roman" panose="02020603050405020304" pitchFamily="18" charset="0"/>
                          </a:rPr>
                          <m:t>𝑐</m:t>
                        </m:r>
                      </m:sub>
                    </m:sSub>
                    <m:r>
                      <a:rPr lang="en-US" altLang="zh-CN" b="0" i="1" smtClean="0">
                        <a:latin typeface="Cambria Math" panose="02040503050406030204" pitchFamily="18" charset="0"/>
                        <a:cs typeface="Times New Roman" panose="02020603050405020304" pitchFamily="18" charset="0"/>
                      </a:rPr>
                      <m:t>𝑑</m:t>
                    </m:r>
                    <m:r>
                      <m:rPr>
                        <m:sty m:val="p"/>
                      </m:rPr>
                      <a:rPr lang="en-US" altLang="zh-CN" b="0" i="0" smtClean="0">
                        <a:latin typeface="Cambria Math" panose="02040503050406030204" pitchFamily="18" charset="0"/>
                        <a:cs typeface="Times New Roman" panose="02020603050405020304" pitchFamily="18" charset="0"/>
                      </a:rPr>
                      <m:t>Ω</m:t>
                    </m:r>
                  </m:oMath>
                </a14:m>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where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a:rPr>
                          <m:t>𝜎</m:t>
                        </m:r>
                      </m:e>
                      <m:sub>
                        <m:r>
                          <a:rPr lang="en-US" altLang="zh-CN" i="1">
                            <a:latin typeface="Cambria Math"/>
                          </a:rPr>
                          <m:t>𝑐</m:t>
                        </m:r>
                      </m:sub>
                    </m:sSub>
                    <m:d>
                      <m:dPr>
                        <m:ctrlPr>
                          <a:rPr lang="en-US" altLang="zh-CN" i="1">
                            <a:latin typeface="Cambria Math" panose="02040503050406030204" pitchFamily="18" charset="0"/>
                          </a:rPr>
                        </m:ctrlPr>
                      </m:dPr>
                      <m:e>
                        <m:r>
                          <a:rPr lang="en-US" altLang="zh-CN" i="1">
                            <a:latin typeface="Cambria Math"/>
                          </a:rPr>
                          <m:t>𝜃</m:t>
                        </m:r>
                      </m:e>
                    </m:d>
                    <m:r>
                      <a:rPr lang="en-US" altLang="zh-CN" i="1">
                        <a:latin typeface="Cambria Math" panose="02040503050406030204" pitchFamily="18" charset="0"/>
                      </a:rPr>
                      <m:t> </m:t>
                    </m:r>
                  </m:oMath>
                </a14:m>
                <a:r>
                  <a:rPr lang="en-US" altLang="zh-CN" dirty="0">
                    <a:latin typeface="Times New Roman" panose="02020603050405020304" pitchFamily="18" charset="0"/>
                    <a:cs typeface="Times New Roman" panose="02020603050405020304" pitchFamily="18" charset="0"/>
                  </a:rPr>
                  <a:t>is called the differential scattering cross-section and is given by</a:t>
                </a:r>
                <a:endParaRPr lang="en-US" altLang="zh-CN" b="0"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a:rPr>
                            <m:t>𝜎</m:t>
                          </m:r>
                        </m:e>
                        <m:sub>
                          <m:r>
                            <a:rPr lang="en-US" altLang="zh-CN" i="1">
                              <a:latin typeface="Cambria Math"/>
                            </a:rPr>
                            <m:t>𝑐</m:t>
                          </m:r>
                        </m:sub>
                      </m:sSub>
                      <m:d>
                        <m:dPr>
                          <m:ctrlPr>
                            <a:rPr lang="en-US" altLang="zh-CN" i="1">
                              <a:latin typeface="Cambria Math" panose="02040503050406030204" pitchFamily="18" charset="0"/>
                            </a:rPr>
                          </m:ctrlPr>
                        </m:dPr>
                        <m:e>
                          <m:r>
                            <a:rPr lang="en-US" altLang="zh-CN" i="1">
                              <a:latin typeface="Cambria Math"/>
                            </a:rPr>
                            <m:t>𝜃</m:t>
                          </m:r>
                        </m:e>
                      </m:d>
                      <m:r>
                        <a:rPr lang="en-US" altLang="zh-CN" i="1">
                          <a:latin typeface="Cambria Math"/>
                        </a:rPr>
                        <m:t>=</m:t>
                      </m:r>
                      <m:f>
                        <m:fPr>
                          <m:ctrlPr>
                            <a:rPr lang="en-US" altLang="zh-CN" i="1">
                              <a:latin typeface="Cambria Math" panose="02040503050406030204" pitchFamily="18" charset="0"/>
                            </a:rPr>
                          </m:ctrlPr>
                        </m:fPr>
                        <m:num>
                          <m:r>
                            <a:rPr lang="en-US" altLang="zh-CN" i="1" dirty="0">
                              <a:latin typeface="Cambria Math" panose="02040503050406030204" pitchFamily="18" charset="0"/>
                            </a:rPr>
                            <m:t>𝑑</m:t>
                          </m:r>
                          <m:r>
                            <a:rPr lang="en-US" altLang="zh-CN" i="1" dirty="0">
                              <a:latin typeface="Cambria Math" panose="02040503050406030204" pitchFamily="18" charset="0"/>
                            </a:rPr>
                            <m:t>𝜎</m:t>
                          </m:r>
                        </m:num>
                        <m:den>
                          <m:r>
                            <a:rPr lang="en-US" altLang="zh-CN" i="1">
                              <a:latin typeface="Cambria Math"/>
                            </a:rPr>
                            <m:t>𝑑</m:t>
                          </m:r>
                          <m:r>
                            <m:rPr>
                              <m:sty m:val="p"/>
                            </m:rPr>
                            <a:rPr lang="en-US" altLang="zh-CN">
                              <a:latin typeface="Cambria Math"/>
                            </a:rPr>
                            <m:t>Ω</m:t>
                          </m:r>
                        </m:den>
                      </m:f>
                      <m:r>
                        <a:rPr lang="en-US" altLang="zh-CN" i="1">
                          <a:latin typeface="Cambria Math"/>
                        </a:rPr>
                        <m:t>=</m:t>
                      </m:r>
                      <m:f>
                        <m:fPr>
                          <m:ctrlPr>
                            <a:rPr lang="en-US" altLang="zh-CN" i="1">
                              <a:latin typeface="Cambria Math" panose="02040503050406030204" pitchFamily="18" charset="0"/>
                            </a:rPr>
                          </m:ctrlPr>
                        </m:fPr>
                        <m:num>
                          <m:r>
                            <a:rPr lang="en-US" altLang="zh-CN" i="1">
                              <a:latin typeface="Cambria Math"/>
                            </a:rPr>
                            <m:t>𝑏</m:t>
                          </m:r>
                        </m:num>
                        <m:den>
                          <m:func>
                            <m:funcPr>
                              <m:ctrlPr>
                                <a:rPr lang="en-US" altLang="zh-CN" i="1">
                                  <a:latin typeface="Cambria Math" panose="02040503050406030204" pitchFamily="18" charset="0"/>
                                </a:rPr>
                              </m:ctrlPr>
                            </m:funcPr>
                            <m:fName>
                              <m:r>
                                <m:rPr>
                                  <m:sty m:val="p"/>
                                </m:rPr>
                                <a:rPr lang="en-US" altLang="zh-CN">
                                  <a:latin typeface="Cambria Math"/>
                                </a:rPr>
                                <m:t>sin</m:t>
                              </m:r>
                            </m:fName>
                            <m:e>
                              <m:r>
                                <a:rPr lang="en-US" altLang="zh-CN" i="1">
                                  <a:latin typeface="Cambria Math"/>
                                </a:rPr>
                                <m:t>𝜃</m:t>
                              </m:r>
                            </m:e>
                          </m:func>
                        </m:den>
                      </m:f>
                      <m:f>
                        <m:fPr>
                          <m:ctrlPr>
                            <a:rPr lang="en-US" altLang="zh-CN" i="1">
                              <a:latin typeface="Cambria Math" panose="02040503050406030204" pitchFamily="18" charset="0"/>
                            </a:rPr>
                          </m:ctrlPr>
                        </m:fPr>
                        <m:num>
                          <m:r>
                            <a:rPr lang="en-US" altLang="zh-CN" i="1">
                              <a:latin typeface="Cambria Math"/>
                            </a:rPr>
                            <m:t>𝑑𝑏</m:t>
                          </m:r>
                        </m:num>
                        <m:den>
                          <m:r>
                            <a:rPr lang="en-US" altLang="zh-CN" i="1">
                              <a:latin typeface="Cambria Math"/>
                            </a:rPr>
                            <m:t>𝑑</m:t>
                          </m:r>
                          <m:r>
                            <a:rPr lang="en-US" altLang="zh-CN" i="1">
                              <a:latin typeface="Cambria Math"/>
                            </a:rPr>
                            <m:t>𝜃</m:t>
                          </m:r>
                        </m:den>
                      </m:f>
                      <m:r>
                        <a:rPr lang="en-US" altLang="zh-CN" i="1">
                          <a:latin typeface="Cambria Math"/>
                        </a:rPr>
                        <m:t>=</m:t>
                      </m:r>
                      <m:sSup>
                        <m:sSupPr>
                          <m:ctrlPr>
                            <a:rPr lang="en-US" altLang="zh-CN" i="1">
                              <a:latin typeface="Cambria Math" panose="02040503050406030204" pitchFamily="18" charset="0"/>
                            </a:rPr>
                          </m:ctrlPr>
                        </m:sSupPr>
                        <m:e>
                          <m:d>
                            <m:dPr>
                              <m:ctrlPr>
                                <a:rPr lang="en-US" altLang="zh-CN" i="1">
                                  <a:latin typeface="Cambria Math" panose="02040503050406030204" pitchFamily="18" charset="0"/>
                                </a:rPr>
                              </m:ctrlPr>
                            </m:dPr>
                            <m:e>
                              <m:f>
                                <m:fPr>
                                  <m:ctrlPr>
                                    <a:rPr lang="en-US" altLang="zh-CN" i="1">
                                      <a:latin typeface="Cambria Math" panose="02040503050406030204" pitchFamily="18" charset="0"/>
                                    </a:rPr>
                                  </m:ctrlPr>
                                </m:fPr>
                                <m:num>
                                  <m:r>
                                    <a:rPr lang="en-US" altLang="zh-CN" i="1">
                                      <a:latin typeface="Cambria Math"/>
                                    </a:rPr>
                                    <m:t>𝑎</m:t>
                                  </m:r>
                                </m:num>
                                <m:den>
                                  <m:r>
                                    <a:rPr lang="en-US" altLang="zh-CN" i="1">
                                      <a:latin typeface="Cambria Math"/>
                                    </a:rPr>
                                    <m:t>4</m:t>
                                  </m:r>
                                </m:den>
                              </m:f>
                            </m:e>
                          </m:d>
                        </m:e>
                        <m:sup>
                          <m:r>
                            <a:rPr lang="en-US" altLang="zh-CN" i="1">
                              <a:latin typeface="Cambria Math"/>
                            </a:rPr>
                            <m:t>2</m:t>
                          </m:r>
                        </m:sup>
                      </m:sSup>
                      <m:f>
                        <m:fPr>
                          <m:ctrlPr>
                            <a:rPr lang="en-US" altLang="zh-CN" i="1">
                              <a:latin typeface="Cambria Math" panose="02040503050406030204" pitchFamily="18" charset="0"/>
                            </a:rPr>
                          </m:ctrlPr>
                        </m:fPr>
                        <m:num>
                          <m:r>
                            <a:rPr lang="en-US" altLang="zh-CN" i="1">
                              <a:latin typeface="Cambria Math"/>
                            </a:rPr>
                            <m:t>1</m:t>
                          </m:r>
                        </m:num>
                        <m:den>
                          <m:func>
                            <m:funcPr>
                              <m:ctrlPr>
                                <a:rPr lang="en-US" altLang="zh-CN" i="1">
                                  <a:latin typeface="Cambria Math" panose="02040503050406030204" pitchFamily="18" charset="0"/>
                                </a:rPr>
                              </m:ctrlPr>
                            </m:funcPr>
                            <m:fName>
                              <m:sSup>
                                <m:sSupPr>
                                  <m:ctrlPr>
                                    <a:rPr lang="en-US" altLang="zh-CN" i="1">
                                      <a:latin typeface="Cambria Math" panose="02040503050406030204" pitchFamily="18" charset="0"/>
                                    </a:rPr>
                                  </m:ctrlPr>
                                </m:sSupPr>
                                <m:e>
                                  <m:r>
                                    <m:rPr>
                                      <m:sty m:val="p"/>
                                    </m:rPr>
                                    <a:rPr lang="en-US" altLang="zh-CN">
                                      <a:latin typeface="Cambria Math"/>
                                    </a:rPr>
                                    <m:t>sin</m:t>
                                  </m:r>
                                </m:e>
                                <m:sup>
                                  <m:r>
                                    <a:rPr lang="en-US" altLang="zh-CN" i="1">
                                      <a:latin typeface="Cambria Math"/>
                                    </a:rPr>
                                    <m:t>4</m:t>
                                  </m:r>
                                </m:sup>
                              </m:sSup>
                            </m:fName>
                            <m:e>
                              <m:f>
                                <m:fPr>
                                  <m:ctrlPr>
                                    <a:rPr lang="en-US" altLang="zh-CN" i="1">
                                      <a:latin typeface="Cambria Math" panose="02040503050406030204" pitchFamily="18" charset="0"/>
                                    </a:rPr>
                                  </m:ctrlPr>
                                </m:fPr>
                                <m:num>
                                  <m:r>
                                    <a:rPr lang="en-US" altLang="zh-CN" i="1">
                                      <a:latin typeface="Cambria Math"/>
                                    </a:rPr>
                                    <m:t>𝜃</m:t>
                                  </m:r>
                                </m:num>
                                <m:den>
                                  <m:r>
                                    <a:rPr lang="en-US" altLang="zh-CN" i="1">
                                      <a:latin typeface="Cambria Math"/>
                                    </a:rPr>
                                    <m:t>2</m:t>
                                  </m:r>
                                </m:den>
                              </m:f>
                            </m:e>
                          </m:func>
                        </m:den>
                      </m:f>
                    </m:oMath>
                  </m:oMathPara>
                </a14:m>
                <a:endParaRPr lang="zh-CN" altLang="en-US" dirty="0">
                  <a:latin typeface="Times New Roman" panose="02020603050405020304" pitchFamily="18" charset="0"/>
                  <a:cs typeface="Times New Roman" panose="02020603050405020304" pitchFamily="18" charset="0"/>
                </a:endParaRPr>
              </a:p>
            </p:txBody>
          </p:sp>
        </mc:Choice>
        <mc:Fallback xmlns="">
          <p:sp>
            <p:nvSpPr>
              <p:cNvPr id="4" name="Rectangle 3"/>
              <p:cNvSpPr>
                <a:spLocks noRot="1" noChangeAspect="1" noMove="1" noResize="1" noEditPoints="1" noAdjustHandles="1" noChangeArrowheads="1" noChangeShapeType="1" noTextEdit="1"/>
              </p:cNvSpPr>
              <p:nvPr/>
            </p:nvSpPr>
            <p:spPr>
              <a:xfrm>
                <a:off x="962891" y="4820946"/>
                <a:ext cx="10266218" cy="1408975"/>
              </a:xfrm>
              <a:prstGeom prst="rect">
                <a:avLst/>
              </a:prstGeom>
              <a:blipFill>
                <a:blip r:embed="rId7"/>
                <a:stretch>
                  <a:fillRect l="-474" t="-214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6771FB4C-F32D-458C-A3E0-438A9C7C47D9}"/>
                  </a:ext>
                </a:extLst>
              </p:cNvPr>
              <p:cNvSpPr/>
              <p:nvPr/>
            </p:nvSpPr>
            <p:spPr>
              <a:xfrm>
                <a:off x="2251883" y="3429000"/>
                <a:ext cx="1592231" cy="714683"/>
              </a:xfrm>
              <a:prstGeom prst="rect">
                <a:avLst/>
              </a:prstGeom>
              <a:ln w="12700">
                <a:noFill/>
              </a:ln>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smtClean="0">
                          <a:solidFill>
                            <a:srgbClr val="C00000"/>
                          </a:solidFill>
                          <a:latin typeface="Cambria Math"/>
                        </a:rPr>
                        <m:t>𝑏</m:t>
                      </m:r>
                      <m:r>
                        <a:rPr lang="en-US" altLang="zh-CN" b="0" i="1" smtClean="0">
                          <a:solidFill>
                            <a:srgbClr val="C00000"/>
                          </a:solidFill>
                          <a:latin typeface="Cambria Math" panose="02040503050406030204" pitchFamily="18" charset="0"/>
                        </a:rPr>
                        <m:t>=</m:t>
                      </m:r>
                      <m:f>
                        <m:fPr>
                          <m:ctrlPr>
                            <a:rPr lang="en-US" altLang="zh-CN" b="0" i="1" smtClean="0">
                              <a:solidFill>
                                <a:srgbClr val="C00000"/>
                              </a:solidFill>
                              <a:latin typeface="Cambria Math" panose="02040503050406030204" pitchFamily="18" charset="0"/>
                            </a:rPr>
                          </m:ctrlPr>
                        </m:fPr>
                        <m:num>
                          <m:r>
                            <a:rPr lang="en-US" altLang="zh-CN" b="0" i="1" smtClean="0">
                              <a:solidFill>
                                <a:srgbClr val="C00000"/>
                              </a:solidFill>
                              <a:latin typeface="Cambria Math" panose="02040503050406030204" pitchFamily="18" charset="0"/>
                            </a:rPr>
                            <m:t>𝑎</m:t>
                          </m:r>
                        </m:num>
                        <m:den>
                          <m:r>
                            <a:rPr lang="en-US" altLang="zh-CN" b="0" i="1" smtClean="0">
                              <a:solidFill>
                                <a:srgbClr val="C00000"/>
                              </a:solidFill>
                              <a:latin typeface="Cambria Math" panose="02040503050406030204" pitchFamily="18" charset="0"/>
                            </a:rPr>
                            <m:t>2</m:t>
                          </m:r>
                        </m:den>
                      </m:f>
                      <m:func>
                        <m:funcPr>
                          <m:ctrlPr>
                            <a:rPr lang="en-US" altLang="zh-CN" i="1" smtClean="0">
                              <a:solidFill>
                                <a:srgbClr val="C00000"/>
                              </a:solidFill>
                              <a:latin typeface="Cambria Math" panose="02040503050406030204" pitchFamily="18" charset="0"/>
                            </a:rPr>
                          </m:ctrlPr>
                        </m:funcPr>
                        <m:fName>
                          <m:r>
                            <m:rPr>
                              <m:sty m:val="p"/>
                            </m:rPr>
                            <a:rPr lang="en-US" altLang="zh-CN">
                              <a:solidFill>
                                <a:srgbClr val="C00000"/>
                              </a:solidFill>
                              <a:latin typeface="Cambria Math" panose="02040503050406030204" pitchFamily="18" charset="0"/>
                            </a:rPr>
                            <m:t>cot</m:t>
                          </m:r>
                        </m:fName>
                        <m:e>
                          <m:d>
                            <m:dPr>
                              <m:ctrlPr>
                                <a:rPr lang="en-US" altLang="zh-CN" i="1">
                                  <a:solidFill>
                                    <a:srgbClr val="C00000"/>
                                  </a:solidFill>
                                  <a:latin typeface="Cambria Math" panose="02040503050406030204" pitchFamily="18" charset="0"/>
                                </a:rPr>
                              </m:ctrlPr>
                            </m:dPr>
                            <m:e>
                              <m:f>
                                <m:fPr>
                                  <m:ctrlPr>
                                    <a:rPr lang="en-US" altLang="zh-CN" i="1">
                                      <a:solidFill>
                                        <a:srgbClr val="C00000"/>
                                      </a:solidFill>
                                      <a:latin typeface="Cambria Math" panose="02040503050406030204" pitchFamily="18" charset="0"/>
                                    </a:rPr>
                                  </m:ctrlPr>
                                </m:fPr>
                                <m:num>
                                  <m:r>
                                    <a:rPr lang="en-US" altLang="zh-CN" i="1">
                                      <a:solidFill>
                                        <a:srgbClr val="C00000"/>
                                      </a:solidFill>
                                      <a:latin typeface="Cambria Math"/>
                                    </a:rPr>
                                    <m:t>𝜃</m:t>
                                  </m:r>
                                </m:num>
                                <m:den>
                                  <m:r>
                                    <a:rPr lang="en-US" altLang="zh-CN" i="1">
                                      <a:solidFill>
                                        <a:srgbClr val="C00000"/>
                                      </a:solidFill>
                                      <a:latin typeface="Cambria Math"/>
                                    </a:rPr>
                                    <m:t>2</m:t>
                                  </m:r>
                                </m:den>
                              </m:f>
                            </m:e>
                          </m:d>
                        </m:e>
                      </m:func>
                    </m:oMath>
                  </m:oMathPara>
                </a14:m>
                <a:endParaRPr lang="zh-CN" altLang="en-US" dirty="0">
                  <a:solidFill>
                    <a:srgbClr val="C00000"/>
                  </a:solidFill>
                </a:endParaRPr>
              </a:p>
            </p:txBody>
          </p:sp>
        </mc:Choice>
        <mc:Fallback xmlns="">
          <p:sp>
            <p:nvSpPr>
              <p:cNvPr id="12" name="Rectangle 11">
                <a:extLst>
                  <a:ext uri="{FF2B5EF4-FFF2-40B4-BE49-F238E27FC236}">
                    <a16:creationId xmlns:a16="http://schemas.microsoft.com/office/drawing/2014/main" id="{6771FB4C-F32D-458C-A3E0-438A9C7C47D9}"/>
                  </a:ext>
                </a:extLst>
              </p:cNvPr>
              <p:cNvSpPr>
                <a:spLocks noRot="1" noChangeAspect="1" noMove="1" noResize="1" noEditPoints="1" noAdjustHandles="1" noChangeArrowheads="1" noChangeShapeType="1" noTextEdit="1"/>
              </p:cNvSpPr>
              <p:nvPr/>
            </p:nvSpPr>
            <p:spPr>
              <a:xfrm>
                <a:off x="2251883" y="3429000"/>
                <a:ext cx="1592231" cy="714683"/>
              </a:xfrm>
              <a:prstGeom prst="rect">
                <a:avLst/>
              </a:prstGeom>
              <a:blipFill>
                <a:blip r:embed="rId8"/>
                <a:stretch>
                  <a:fillRect/>
                </a:stretch>
              </a:blipFill>
              <a:ln w="12700">
                <a:noFill/>
              </a:ln>
            </p:spPr>
            <p:txBody>
              <a:bodyPr/>
              <a:lstStyle/>
              <a:p>
                <a:r>
                  <a:rPr lang="zh-CN" altLang="en-US">
                    <a:noFill/>
                  </a:rPr>
                  <a:t> </a:t>
                </a:r>
              </a:p>
            </p:txBody>
          </p:sp>
        </mc:Fallback>
      </mc:AlternateContent>
    </p:spTree>
    <p:extLst>
      <p:ext uri="{BB962C8B-B14F-4D97-AF65-F5344CB8AC3E}">
        <p14:creationId xmlns:p14="http://schemas.microsoft.com/office/powerpoint/2010/main" val="2450687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487817" y="146985"/>
                <a:ext cx="10865984" cy="644525"/>
              </a:xfrm>
            </p:spPr>
            <p:txBody>
              <a:bodyPr>
                <a:normAutofit/>
              </a:bodyPr>
              <a:lstStyle/>
              <a:p>
                <a:r>
                  <a:rPr lang="en-US" altLang="zh-CN" dirty="0"/>
                  <a:t>How many </a:t>
                </a:r>
                <a14:m>
                  <m:oMath xmlns:m="http://schemas.openxmlformats.org/officeDocument/2006/math">
                    <m:r>
                      <a:rPr lang="en-US" altLang="zh-CN" b="1" i="1" smtClean="0">
                        <a:latin typeface="Cambria Math" panose="02040503050406030204" pitchFamily="18" charset="0"/>
                      </a:rPr>
                      <m:t>𝜶</m:t>
                    </m:r>
                  </m:oMath>
                </a14:m>
                <a:r>
                  <a:rPr lang="en-US" altLang="zh-CN" dirty="0"/>
                  <a:t>-particles get to the counter?</a:t>
                </a:r>
                <a:endParaRPr lang="zh-CN" alt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487817" y="146985"/>
                <a:ext cx="10865984" cy="644525"/>
              </a:xfrm>
              <a:blipFill>
                <a:blip r:embed="rId3"/>
                <a:stretch>
                  <a:fillRect l="-1402" t="-12264" b="-207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57607" y="5136317"/>
                <a:ext cx="10756900" cy="118244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pPr>
                <a14:m>
                  <m:oMath xmlns:m="http://schemas.openxmlformats.org/officeDocument/2006/math">
                    <m:r>
                      <a:rPr lang="en-US" altLang="zh-CN" sz="2000" i="1" smtClean="0">
                        <a:solidFill>
                          <a:srgbClr val="0070C0"/>
                        </a:solidFill>
                        <a:latin typeface="Cambria Math"/>
                      </a:rPr>
                      <m:t>𝐴</m:t>
                    </m:r>
                    <m:r>
                      <a:rPr lang="en-US" altLang="zh-CN" sz="2000" i="1" smtClean="0">
                        <a:solidFill>
                          <a:srgbClr val="0070C0"/>
                        </a:solidFill>
                        <a:latin typeface="Cambria Math"/>
                      </a:rPr>
                      <m:t>:</m:t>
                    </m:r>
                  </m:oMath>
                </a14:m>
                <a:r>
                  <a:rPr lang="zh-CN" altLang="en-US" sz="2000" i="1" dirty="0">
                    <a:solidFill>
                      <a:srgbClr val="0070C0"/>
                    </a:solidFill>
                    <a:latin typeface="Times New Roman" panose="02020603050405020304" pitchFamily="18" charset="0"/>
                    <a:cs typeface="Times New Roman" panose="02020603050405020304" pitchFamily="18" charset="0"/>
                  </a:rPr>
                  <a:t> </a:t>
                </a:r>
                <a:r>
                  <a:rPr lang="en-US" altLang="zh-CN" sz="2000" dirty="0">
                    <a:solidFill>
                      <a:srgbClr val="0070C0"/>
                    </a:solidFill>
                    <a:latin typeface="Times New Roman" panose="02020603050405020304" pitchFamily="18" charset="0"/>
                    <a:cs typeface="Times New Roman" panose="02020603050405020304" pitchFamily="18" charset="0"/>
                  </a:rPr>
                  <a:t>beam area</a:t>
                </a:r>
                <a:r>
                  <a:rPr lang="zh-CN" altLang="en-US" sz="2000" i="1" dirty="0">
                    <a:solidFill>
                      <a:srgbClr val="0070C0"/>
                    </a:solidFill>
                    <a:latin typeface="Times New Roman" panose="02020603050405020304" pitchFamily="18" charset="0"/>
                    <a:cs typeface="Times New Roman" panose="02020603050405020304" pitchFamily="18" charset="0"/>
                  </a:rPr>
                  <a:t>，</a:t>
                </a:r>
                <a14:m>
                  <m:oMath xmlns:m="http://schemas.openxmlformats.org/officeDocument/2006/math">
                    <m:r>
                      <a:rPr lang="en-US" altLang="zh-CN" sz="2000" i="1">
                        <a:solidFill>
                          <a:srgbClr val="0070C0"/>
                        </a:solidFill>
                        <a:latin typeface="Cambria Math"/>
                      </a:rPr>
                      <m:t>𝑛</m:t>
                    </m:r>
                    <m:r>
                      <a:rPr lang="en-US" altLang="zh-CN" sz="2000" b="0" i="1" smtClean="0">
                        <a:solidFill>
                          <a:srgbClr val="0070C0"/>
                        </a:solidFill>
                        <a:latin typeface="Cambria Math" panose="02040503050406030204" pitchFamily="18" charset="0"/>
                      </a:rPr>
                      <m:t>,</m:t>
                    </m:r>
                    <m:r>
                      <a:rPr lang="en-US" altLang="zh-CN" sz="2000" b="0" i="1" smtClean="0">
                        <a:solidFill>
                          <a:srgbClr val="0070C0"/>
                        </a:solidFill>
                        <a:latin typeface="Cambria Math" panose="02040503050406030204" pitchFamily="18" charset="0"/>
                      </a:rPr>
                      <m:t>𝑡</m:t>
                    </m:r>
                    <m:r>
                      <a:rPr lang="en-US" altLang="zh-CN" sz="2000" i="1">
                        <a:solidFill>
                          <a:srgbClr val="0070C0"/>
                        </a:solidFill>
                        <a:latin typeface="Cambria Math"/>
                      </a:rPr>
                      <m:t>:</m:t>
                    </m:r>
                  </m:oMath>
                </a14:m>
                <a:r>
                  <a:rPr lang="zh-CN" altLang="en-US" sz="2000" i="1" dirty="0">
                    <a:solidFill>
                      <a:srgbClr val="0070C0"/>
                    </a:solidFill>
                    <a:latin typeface="Times New Roman" panose="02020603050405020304" pitchFamily="18" charset="0"/>
                    <a:cs typeface="Times New Roman" panose="02020603050405020304" pitchFamily="18" charset="0"/>
                  </a:rPr>
                  <a:t> </a:t>
                </a:r>
                <a:r>
                  <a:rPr lang="en-US" altLang="zh-CN" sz="2000" dirty="0">
                    <a:solidFill>
                      <a:srgbClr val="0070C0"/>
                    </a:solidFill>
                    <a:latin typeface="Times New Roman" panose="02020603050405020304" pitchFamily="18" charset="0"/>
                    <a:cs typeface="Times New Roman" panose="02020603050405020304" pitchFamily="18" charset="0"/>
                  </a:rPr>
                  <a:t>the number density and thickness of the gold foil,</a:t>
                </a:r>
                <a:r>
                  <a:rPr lang="en-US" altLang="zh-CN" sz="2000" dirty="0">
                    <a:latin typeface="Times New Roman" panose="02020603050405020304" pitchFamily="18" charset="0"/>
                    <a:cs typeface="Times New Roman" panose="02020603050405020304" pitchFamily="18" charset="0"/>
                  </a:rPr>
                  <a:t> </a:t>
                </a:r>
                <a14:m>
                  <m:oMath xmlns:m="http://schemas.openxmlformats.org/officeDocument/2006/math">
                    <m:r>
                      <a:rPr lang="en-US" altLang="zh-CN" sz="2000" i="1" smtClean="0">
                        <a:solidFill>
                          <a:srgbClr val="0070C0"/>
                        </a:solidFill>
                        <a:latin typeface="Cambria Math" panose="02040503050406030204" pitchFamily="18" charset="0"/>
                      </a:rPr>
                      <m:t>𝑁</m:t>
                    </m:r>
                    <m:r>
                      <a:rPr lang="en-US" altLang="zh-CN" sz="2000" i="1">
                        <a:solidFill>
                          <a:srgbClr val="0070C0"/>
                        </a:solidFill>
                        <a:latin typeface="Cambria Math"/>
                      </a:rPr>
                      <m:t>:</m:t>
                    </m:r>
                  </m:oMath>
                </a14:m>
                <a:r>
                  <a:rPr lang="zh-CN" altLang="en-US" sz="2000" dirty="0">
                    <a:latin typeface="Times New Roman" panose="02020603050405020304" pitchFamily="18" charset="0"/>
                    <a:cs typeface="Times New Roman" panose="02020603050405020304" pitchFamily="18" charset="0"/>
                  </a:rPr>
                  <a:t> </a:t>
                </a:r>
                <a:r>
                  <a:rPr lang="en-US" altLang="zh-CN" sz="2000" dirty="0">
                    <a:solidFill>
                      <a:srgbClr val="0070C0"/>
                    </a:solidFill>
                    <a:latin typeface="Times New Roman" panose="02020603050405020304" pitchFamily="18" charset="0"/>
                    <a:cs typeface="Times New Roman" panose="02020603050405020304" pitchFamily="18" charset="0"/>
                  </a:rPr>
                  <a:t>number of incident particles</a:t>
                </a:r>
                <a:r>
                  <a:rPr lang="zh-CN" altLang="en-US" sz="2000" dirty="0">
                    <a:solidFill>
                      <a:srgbClr val="0070C0"/>
                    </a:solidFill>
                    <a:latin typeface="Times New Roman" panose="02020603050405020304" pitchFamily="18" charset="0"/>
                    <a:cs typeface="Times New Roman" panose="02020603050405020304" pitchFamily="18" charset="0"/>
                  </a:rPr>
                  <a:t>，</a:t>
                </a:r>
                <a:endParaRPr lang="en-US" altLang="zh-CN" sz="2000" dirty="0">
                  <a:solidFill>
                    <a:srgbClr val="0070C0"/>
                  </a:solidFill>
                  <a:latin typeface="Times New Roman" panose="02020603050405020304" pitchFamily="18" charset="0"/>
                  <a:cs typeface="Times New Roman" panose="02020603050405020304" pitchFamily="18" charset="0"/>
                </a:endParaRPr>
              </a:p>
              <a:p>
                <a:pPr>
                  <a:lnSpc>
                    <a:spcPct val="150000"/>
                  </a:lnSpc>
                </a:pPr>
                <a:r>
                  <a:rPr lang="en-US" altLang="zh-CN" sz="2000" dirty="0">
                    <a:solidFill>
                      <a:srgbClr val="C00000"/>
                    </a:solidFill>
                    <a:latin typeface="Times New Roman" panose="02020603050405020304" pitchFamily="18" charset="0"/>
                    <a:cs typeface="Times New Roman" panose="02020603050405020304" pitchFamily="18" charset="0"/>
                  </a:rPr>
                  <a:t>the number of particles scattered into the counter</a:t>
                </a:r>
                <a:r>
                  <a:rPr lang="zh-CN" altLang="en-US" sz="2000" dirty="0">
                    <a:solidFill>
                      <a:srgbClr val="C00000"/>
                    </a:solidFill>
                    <a:latin typeface="Times New Roman" panose="02020603050405020304" pitchFamily="18" charset="0"/>
                    <a:cs typeface="Times New Roman" panose="02020603050405020304" pitchFamily="18" charset="0"/>
                  </a:rPr>
                  <a:t>：</a:t>
                </a:r>
                <a14:m>
                  <m:oMath xmlns:m="http://schemas.openxmlformats.org/officeDocument/2006/math">
                    <m:r>
                      <m:rPr>
                        <m:sty m:val="p"/>
                      </m:rPr>
                      <a:rPr lang="en-US" altLang="zh-CN" sz="2000" smtClean="0">
                        <a:solidFill>
                          <a:srgbClr val="C00000"/>
                        </a:solidFill>
                        <a:latin typeface="Cambria Math" panose="02040503050406030204" pitchFamily="18" charset="0"/>
                      </a:rPr>
                      <m:t>Δ</m:t>
                    </m:r>
                    <m:r>
                      <a:rPr lang="en-US" altLang="zh-CN" sz="2000" i="1">
                        <a:solidFill>
                          <a:srgbClr val="C00000"/>
                        </a:solidFill>
                        <a:latin typeface="Cambria Math" panose="02040503050406030204" pitchFamily="18" charset="0"/>
                      </a:rPr>
                      <m:t>𝑁</m:t>
                    </m:r>
                    <m:r>
                      <a:rPr lang="en-US" altLang="zh-CN" sz="2000" i="1">
                        <a:solidFill>
                          <a:srgbClr val="C00000"/>
                        </a:solidFill>
                        <a:latin typeface="Cambria Math"/>
                      </a:rPr>
                      <m:t>=</m:t>
                    </m:r>
                    <m:r>
                      <a:rPr lang="en-US" altLang="zh-CN" sz="2000" i="1">
                        <a:solidFill>
                          <a:srgbClr val="C00000"/>
                        </a:solidFill>
                        <a:latin typeface="Cambria Math"/>
                      </a:rPr>
                      <m:t>𝑁</m:t>
                    </m:r>
                    <m:f>
                      <m:fPr>
                        <m:ctrlPr>
                          <a:rPr lang="en-US" altLang="zh-CN" sz="2000" i="1">
                            <a:solidFill>
                              <a:srgbClr val="C00000"/>
                            </a:solidFill>
                            <a:latin typeface="Cambria Math" panose="02040503050406030204" pitchFamily="18" charset="0"/>
                          </a:rPr>
                        </m:ctrlPr>
                      </m:fPr>
                      <m:num>
                        <m:sSub>
                          <m:sSubPr>
                            <m:ctrlPr>
                              <a:rPr lang="en-US" altLang="zh-CN" sz="2000" i="1">
                                <a:solidFill>
                                  <a:srgbClr val="C00000"/>
                                </a:solidFill>
                                <a:latin typeface="Cambria Math" panose="02040503050406030204" pitchFamily="18" charset="0"/>
                              </a:rPr>
                            </m:ctrlPr>
                          </m:sSubPr>
                          <m:e>
                            <m:r>
                              <a:rPr lang="en-US" altLang="zh-CN" sz="2000" i="1">
                                <a:solidFill>
                                  <a:srgbClr val="C00000"/>
                                </a:solidFill>
                                <a:latin typeface="Cambria Math"/>
                              </a:rPr>
                              <m:t>𝜎</m:t>
                            </m:r>
                          </m:e>
                          <m:sub>
                            <m:r>
                              <a:rPr lang="en-US" altLang="zh-CN" sz="2000" i="1">
                                <a:solidFill>
                                  <a:srgbClr val="C00000"/>
                                </a:solidFill>
                                <a:latin typeface="Cambria Math"/>
                              </a:rPr>
                              <m:t>𝑐</m:t>
                            </m:r>
                          </m:sub>
                        </m:sSub>
                        <m:d>
                          <m:dPr>
                            <m:ctrlPr>
                              <a:rPr lang="en-US" altLang="zh-CN" sz="2000" i="1">
                                <a:solidFill>
                                  <a:srgbClr val="C00000"/>
                                </a:solidFill>
                                <a:latin typeface="Cambria Math" panose="02040503050406030204" pitchFamily="18" charset="0"/>
                              </a:rPr>
                            </m:ctrlPr>
                          </m:dPr>
                          <m:e>
                            <m:r>
                              <a:rPr lang="en-US" altLang="zh-CN" sz="2000" i="1">
                                <a:solidFill>
                                  <a:srgbClr val="C00000"/>
                                </a:solidFill>
                                <a:latin typeface="Cambria Math"/>
                              </a:rPr>
                              <m:t>𝜃</m:t>
                            </m:r>
                          </m:e>
                        </m:d>
                        <m:r>
                          <m:rPr>
                            <m:sty m:val="p"/>
                          </m:rPr>
                          <a:rPr lang="en-US" altLang="zh-CN" sz="2000" smtClean="0">
                            <a:solidFill>
                              <a:srgbClr val="C00000"/>
                            </a:solidFill>
                            <a:latin typeface="Cambria Math" panose="02040503050406030204" pitchFamily="18" charset="0"/>
                          </a:rPr>
                          <m:t>Δ</m:t>
                        </m:r>
                        <m:r>
                          <m:rPr>
                            <m:sty m:val="p"/>
                          </m:rPr>
                          <a:rPr lang="en-US" altLang="zh-CN" sz="2000">
                            <a:solidFill>
                              <a:srgbClr val="C00000"/>
                            </a:solidFill>
                            <a:latin typeface="Cambria Math"/>
                          </a:rPr>
                          <m:t>Ω</m:t>
                        </m:r>
                        <m:r>
                          <a:rPr lang="en-US" altLang="zh-CN" sz="2000" i="1">
                            <a:solidFill>
                              <a:srgbClr val="C00000"/>
                            </a:solidFill>
                            <a:latin typeface="Cambria Math"/>
                          </a:rPr>
                          <m:t>×</m:t>
                        </m:r>
                        <m:r>
                          <a:rPr lang="en-US" altLang="zh-CN" sz="2000" i="1">
                            <a:solidFill>
                              <a:srgbClr val="C00000"/>
                            </a:solidFill>
                            <a:latin typeface="Cambria Math"/>
                          </a:rPr>
                          <m:t>𝐴𝑡𝑛</m:t>
                        </m:r>
                      </m:num>
                      <m:den>
                        <m:r>
                          <a:rPr lang="en-US" altLang="zh-CN" sz="2000" i="1">
                            <a:solidFill>
                              <a:srgbClr val="C00000"/>
                            </a:solidFill>
                            <a:latin typeface="Cambria Math"/>
                          </a:rPr>
                          <m:t>𝐴</m:t>
                        </m:r>
                      </m:den>
                    </m:f>
                    <m:r>
                      <a:rPr lang="en-US" altLang="zh-CN" sz="2000" i="1">
                        <a:solidFill>
                          <a:srgbClr val="C00000"/>
                        </a:solidFill>
                        <a:latin typeface="Cambria Math"/>
                      </a:rPr>
                      <m:t>=</m:t>
                    </m:r>
                    <m:sSub>
                      <m:sSubPr>
                        <m:ctrlPr>
                          <a:rPr lang="en-US" altLang="zh-CN" sz="2000" i="1" smtClean="0">
                            <a:solidFill>
                              <a:srgbClr val="C00000"/>
                            </a:solidFill>
                            <a:latin typeface="Cambria Math" panose="02040503050406030204" pitchFamily="18" charset="0"/>
                          </a:rPr>
                        </m:ctrlPr>
                      </m:sSubPr>
                      <m:e>
                        <m:r>
                          <a:rPr lang="en-US" altLang="zh-CN" sz="2000" i="1">
                            <a:solidFill>
                              <a:srgbClr val="C00000"/>
                            </a:solidFill>
                            <a:latin typeface="Cambria Math"/>
                          </a:rPr>
                          <m:t>𝜎</m:t>
                        </m:r>
                      </m:e>
                      <m:sub>
                        <m:r>
                          <a:rPr lang="en-US" altLang="zh-CN" sz="2000" i="1">
                            <a:solidFill>
                              <a:srgbClr val="C00000"/>
                            </a:solidFill>
                            <a:latin typeface="Cambria Math"/>
                          </a:rPr>
                          <m:t>𝑐</m:t>
                        </m:r>
                      </m:sub>
                    </m:sSub>
                    <m:d>
                      <m:dPr>
                        <m:ctrlPr>
                          <a:rPr lang="en-US" altLang="zh-CN" sz="2000" i="1">
                            <a:solidFill>
                              <a:srgbClr val="C00000"/>
                            </a:solidFill>
                            <a:latin typeface="Cambria Math" panose="02040503050406030204" pitchFamily="18" charset="0"/>
                          </a:rPr>
                        </m:ctrlPr>
                      </m:dPr>
                      <m:e>
                        <m:r>
                          <a:rPr lang="en-US" altLang="zh-CN" sz="2000" i="1">
                            <a:solidFill>
                              <a:srgbClr val="C00000"/>
                            </a:solidFill>
                            <a:latin typeface="Cambria Math"/>
                          </a:rPr>
                          <m:t>𝜃</m:t>
                        </m:r>
                      </m:e>
                    </m:d>
                    <m:r>
                      <a:rPr lang="en-US" altLang="zh-CN" sz="2000" i="1">
                        <a:solidFill>
                          <a:srgbClr val="C00000"/>
                        </a:solidFill>
                        <a:latin typeface="Cambria Math"/>
                      </a:rPr>
                      <m:t>𝑁𝑡𝑛</m:t>
                    </m:r>
                    <m:r>
                      <m:rPr>
                        <m:sty m:val="p"/>
                      </m:rPr>
                      <a:rPr lang="en-US" altLang="zh-CN" sz="2000">
                        <a:solidFill>
                          <a:srgbClr val="C00000"/>
                        </a:solidFill>
                        <a:latin typeface="Cambria Math" panose="02040503050406030204" pitchFamily="18" charset="0"/>
                      </a:rPr>
                      <m:t>Δ</m:t>
                    </m:r>
                    <m:r>
                      <m:rPr>
                        <m:sty m:val="p"/>
                      </m:rPr>
                      <a:rPr lang="en-US" altLang="zh-CN" sz="2000">
                        <a:solidFill>
                          <a:srgbClr val="C00000"/>
                        </a:solidFill>
                        <a:latin typeface="Cambria Math"/>
                      </a:rPr>
                      <m:t>Ω</m:t>
                    </m:r>
                  </m:oMath>
                </a14:m>
                <a:endParaRPr lang="zh-CN" altLang="en-US" sz="2000" dirty="0">
                  <a:solidFill>
                    <a:srgbClr val="C00000"/>
                  </a:solidFill>
                  <a:latin typeface="Times New Roman" panose="02020603050405020304" pitchFamily="18" charset="0"/>
                  <a:cs typeface="Times New Roman" panose="02020603050405020304" pitchFamily="18" charset="0"/>
                </a:endParaRPr>
              </a:p>
            </p:txBody>
          </p:sp>
        </mc:Choice>
        <mc:Fallback xmlns="">
          <p:sp>
            <p:nvSpPr>
              <p:cNvPr id="5" name="Rectangle 4"/>
              <p:cNvSpPr>
                <a:spLocks noRot="1" noChangeAspect="1" noMove="1" noResize="1" noEditPoints="1" noAdjustHandles="1" noChangeArrowheads="1" noChangeShapeType="1" noTextEdit="1"/>
              </p:cNvSpPr>
              <p:nvPr/>
            </p:nvSpPr>
            <p:spPr>
              <a:xfrm>
                <a:off x="757607" y="5136317"/>
                <a:ext cx="10756900" cy="1182440"/>
              </a:xfrm>
              <a:prstGeom prst="rect">
                <a:avLst/>
              </a:prstGeom>
              <a:blipFill>
                <a:blip r:embed="rId4"/>
                <a:stretch>
                  <a:fillRect l="-509" r="-509" b="-25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7391884" y="964935"/>
                <a:ext cx="4181669" cy="2400657"/>
              </a:xfrm>
              <a:prstGeom prst="rect">
                <a:avLst/>
              </a:prstGeom>
            </p:spPr>
            <p:txBody>
              <a:bodyPr wrap="square">
                <a:spAutoFit/>
              </a:bodyPr>
              <a:lstStyle/>
              <a:p>
                <a:pPr>
                  <a:lnSpc>
                    <a:spcPct val="150000"/>
                  </a:lnSpc>
                </a:pPr>
                <a:r>
                  <a:rPr lang="en-US" altLang="zh-CN" sz="2000" dirty="0">
                    <a:solidFill>
                      <a:schemeClr val="tx1"/>
                    </a:solidFill>
                    <a:latin typeface="Cambria Math"/>
                  </a:rPr>
                  <a:t>If the solid angle </a:t>
                </a:r>
                <a:r>
                  <a:rPr lang="en-US" altLang="zh-CN" sz="2000" dirty="0">
                    <a:latin typeface="Cambria Math"/>
                  </a:rPr>
                  <a:t>covered</a:t>
                </a:r>
                <a:r>
                  <a:rPr lang="en-US" altLang="zh-CN" sz="2000" dirty="0">
                    <a:solidFill>
                      <a:schemeClr val="tx1"/>
                    </a:solidFill>
                    <a:latin typeface="Cambria Math"/>
                  </a:rPr>
                  <a:t> by the counter from the incident point is </a:t>
                </a:r>
                <a14:m>
                  <m:oMath xmlns:m="http://schemas.openxmlformats.org/officeDocument/2006/math">
                    <m:r>
                      <m:rPr>
                        <m:sty m:val="p"/>
                      </m:rPr>
                      <a:rPr lang="en-US" altLang="zh-CN" sz="2000" b="0" i="0" smtClean="0">
                        <a:solidFill>
                          <a:schemeClr val="tx1"/>
                        </a:solidFill>
                        <a:latin typeface="Cambria Math" panose="02040503050406030204" pitchFamily="18" charset="0"/>
                      </a:rPr>
                      <m:t>d</m:t>
                    </m:r>
                    <m:r>
                      <m:rPr>
                        <m:sty m:val="p"/>
                      </m:rPr>
                      <a:rPr lang="en-US" altLang="zh-CN" sz="2000">
                        <a:solidFill>
                          <a:schemeClr val="tx1"/>
                        </a:solidFill>
                        <a:latin typeface="Cambria Math"/>
                      </a:rPr>
                      <m:t>Ω</m:t>
                    </m:r>
                    <m:r>
                      <a:rPr lang="en-US" altLang="zh-CN" sz="2000" i="1">
                        <a:solidFill>
                          <a:schemeClr val="tx1"/>
                        </a:solidFill>
                        <a:latin typeface="Cambria Math"/>
                      </a:rPr>
                      <m:t> </m:t>
                    </m:r>
                  </m:oMath>
                </a14:m>
                <a:r>
                  <a:rPr lang="en-US" altLang="zh-CN" sz="2000" dirty="0">
                    <a:solidFill>
                      <a:schemeClr val="tx1"/>
                    </a:solidFill>
                    <a:latin typeface="Cambria Math"/>
                  </a:rPr>
                  <a:t>,  the corresponding cross-section for each target nucleus is </a:t>
                </a:r>
              </a:p>
              <a:p>
                <a:pPr>
                  <a:lnSpc>
                    <a:spcPct val="150000"/>
                  </a:lnSpc>
                </a:pPr>
                <a14:m>
                  <m:oMathPara xmlns:m="http://schemas.openxmlformats.org/officeDocument/2006/math">
                    <m:oMathParaPr>
                      <m:jc m:val="centerGroup"/>
                    </m:oMathParaPr>
                    <m:oMath xmlns:m="http://schemas.openxmlformats.org/officeDocument/2006/math">
                      <m:r>
                        <m:rPr>
                          <m:sty m:val="p"/>
                        </m:rPr>
                        <a:rPr lang="en-US" altLang="zh-CN" sz="2000" dirty="0">
                          <a:latin typeface="Cambria Math" panose="02040503050406030204" pitchFamily="18" charset="0"/>
                        </a:rPr>
                        <m:t>d</m:t>
                      </m:r>
                      <m:r>
                        <a:rPr lang="en-US" altLang="zh-CN" sz="2000" i="1" dirty="0">
                          <a:solidFill>
                            <a:schemeClr val="tx1"/>
                          </a:solidFill>
                          <a:latin typeface="Cambria Math" panose="02040503050406030204" pitchFamily="18" charset="0"/>
                        </a:rPr>
                        <m:t>𝜎</m:t>
                      </m:r>
                      <m:r>
                        <a:rPr lang="en-US" altLang="zh-CN" sz="2000" b="0" i="1" dirty="0" smtClean="0">
                          <a:solidFill>
                            <a:schemeClr val="tx1"/>
                          </a:solidFill>
                          <a:latin typeface="Cambria Math" panose="02040503050406030204" pitchFamily="18" charset="0"/>
                        </a:rPr>
                        <m:t>=</m:t>
                      </m:r>
                      <m:sSub>
                        <m:sSubPr>
                          <m:ctrlPr>
                            <a:rPr lang="en-US" altLang="zh-CN" sz="2000" i="1" smtClean="0">
                              <a:solidFill>
                                <a:schemeClr val="tx1"/>
                              </a:solidFill>
                              <a:latin typeface="Cambria Math" panose="02040503050406030204" pitchFamily="18" charset="0"/>
                            </a:rPr>
                          </m:ctrlPr>
                        </m:sSubPr>
                        <m:e>
                          <m:r>
                            <a:rPr lang="en-US" altLang="zh-CN" sz="2000" i="1">
                              <a:solidFill>
                                <a:schemeClr val="tx1"/>
                              </a:solidFill>
                              <a:latin typeface="Cambria Math"/>
                            </a:rPr>
                            <m:t>𝜎</m:t>
                          </m:r>
                        </m:e>
                        <m:sub>
                          <m:r>
                            <a:rPr lang="en-US" altLang="zh-CN" sz="2000" i="1">
                              <a:solidFill>
                                <a:schemeClr val="tx1"/>
                              </a:solidFill>
                              <a:latin typeface="Cambria Math"/>
                            </a:rPr>
                            <m:t>𝑐</m:t>
                          </m:r>
                        </m:sub>
                      </m:sSub>
                      <m:d>
                        <m:dPr>
                          <m:ctrlPr>
                            <a:rPr lang="en-US" altLang="zh-CN" sz="2000" i="1">
                              <a:solidFill>
                                <a:schemeClr val="tx1"/>
                              </a:solidFill>
                              <a:latin typeface="Cambria Math" panose="02040503050406030204" pitchFamily="18" charset="0"/>
                            </a:rPr>
                          </m:ctrlPr>
                        </m:dPr>
                        <m:e>
                          <m:r>
                            <a:rPr lang="en-US" altLang="zh-CN" sz="2000" i="1">
                              <a:solidFill>
                                <a:schemeClr val="tx1"/>
                              </a:solidFill>
                              <a:latin typeface="Cambria Math"/>
                            </a:rPr>
                            <m:t>𝜃</m:t>
                          </m:r>
                        </m:e>
                      </m:d>
                      <m:r>
                        <m:rPr>
                          <m:sty m:val="p"/>
                        </m:rPr>
                        <a:rPr lang="en-US" altLang="zh-CN" sz="2000" b="0" i="0" smtClean="0">
                          <a:solidFill>
                            <a:schemeClr val="tx1"/>
                          </a:solidFill>
                          <a:latin typeface="Cambria Math" panose="02040503050406030204" pitchFamily="18" charset="0"/>
                        </a:rPr>
                        <m:t>d</m:t>
                      </m:r>
                      <m:r>
                        <m:rPr>
                          <m:sty m:val="p"/>
                        </m:rPr>
                        <a:rPr lang="en-US" altLang="zh-CN" sz="2000">
                          <a:solidFill>
                            <a:schemeClr val="tx1"/>
                          </a:solidFill>
                          <a:latin typeface="Cambria Math"/>
                        </a:rPr>
                        <m:t>Ω</m:t>
                      </m:r>
                    </m:oMath>
                  </m:oMathPara>
                </a14:m>
                <a:endParaRPr lang="zh-CN" altLang="en-US" sz="2000" dirty="0">
                  <a:solidFill>
                    <a:schemeClr val="tx1"/>
                  </a:solidFill>
                </a:endParaRPr>
              </a:p>
            </p:txBody>
          </p:sp>
        </mc:Choice>
        <mc:Fallback xmlns="">
          <p:sp>
            <p:nvSpPr>
              <p:cNvPr id="7" name="Rectangle 6"/>
              <p:cNvSpPr>
                <a:spLocks noRot="1" noChangeAspect="1" noMove="1" noResize="1" noEditPoints="1" noAdjustHandles="1" noChangeArrowheads="1" noChangeShapeType="1" noTextEdit="1"/>
              </p:cNvSpPr>
              <p:nvPr/>
            </p:nvSpPr>
            <p:spPr>
              <a:xfrm>
                <a:off x="7391884" y="964935"/>
                <a:ext cx="4181669" cy="2400657"/>
              </a:xfrm>
              <a:prstGeom prst="rect">
                <a:avLst/>
              </a:prstGeom>
              <a:blipFill>
                <a:blip r:embed="rId5"/>
                <a:stretch>
                  <a:fillRect l="-1603"/>
                </a:stretch>
              </a:blipFill>
            </p:spPr>
            <p:txBody>
              <a:bodyPr/>
              <a:lstStyle/>
              <a:p>
                <a:r>
                  <a:rPr lang="zh-CN" altLang="en-US">
                    <a:noFill/>
                  </a:rPr>
                  <a:t> </a:t>
                </a:r>
              </a:p>
            </p:txBody>
          </p:sp>
        </mc:Fallback>
      </mc:AlternateContent>
      <p:grpSp>
        <p:nvGrpSpPr>
          <p:cNvPr id="16" name="Group 15">
            <a:extLst>
              <a:ext uri="{FF2B5EF4-FFF2-40B4-BE49-F238E27FC236}">
                <a16:creationId xmlns:a16="http://schemas.microsoft.com/office/drawing/2014/main" id="{8F40066B-CC4F-44B6-A86C-A219FF1E05F4}"/>
              </a:ext>
            </a:extLst>
          </p:cNvPr>
          <p:cNvGrpSpPr/>
          <p:nvPr/>
        </p:nvGrpSpPr>
        <p:grpSpPr>
          <a:xfrm>
            <a:off x="953923" y="791533"/>
            <a:ext cx="5876262" cy="3436798"/>
            <a:chOff x="1018592" y="677194"/>
            <a:chExt cx="5876262" cy="3436798"/>
          </a:xfrm>
        </p:grpSpPr>
        <p:pic>
          <p:nvPicPr>
            <p:cNvPr id="17" name="Picture 16">
              <a:extLst>
                <a:ext uri="{FF2B5EF4-FFF2-40B4-BE49-F238E27FC236}">
                  <a16:creationId xmlns:a16="http://schemas.microsoft.com/office/drawing/2014/main" id="{E3D67FA5-18AF-4628-9E05-995B197352FB}"/>
                </a:ext>
              </a:extLst>
            </p:cNvPr>
            <p:cNvPicPr>
              <a:picLocks noChangeAspect="1"/>
            </p:cNvPicPr>
            <p:nvPr/>
          </p:nvPicPr>
          <p:blipFill>
            <a:blip r:embed="rId6"/>
            <a:stretch>
              <a:fillRect/>
            </a:stretch>
          </p:blipFill>
          <p:spPr>
            <a:xfrm>
              <a:off x="1018592" y="744150"/>
              <a:ext cx="5842519" cy="3369842"/>
            </a:xfrm>
            <a:prstGeom prst="rect">
              <a:avLst/>
            </a:prstGeom>
          </p:spPr>
        </p:pic>
        <p:pic>
          <p:nvPicPr>
            <p:cNvPr id="18" name="Picture 17">
              <a:extLst>
                <a:ext uri="{FF2B5EF4-FFF2-40B4-BE49-F238E27FC236}">
                  <a16:creationId xmlns:a16="http://schemas.microsoft.com/office/drawing/2014/main" id="{CA818995-C86D-42C8-AD34-919B96C24DCE}"/>
                </a:ext>
              </a:extLst>
            </p:cNvPr>
            <p:cNvPicPr>
              <a:picLocks noChangeAspect="1"/>
            </p:cNvPicPr>
            <p:nvPr/>
          </p:nvPicPr>
          <p:blipFill>
            <a:blip r:embed="rId7"/>
            <a:stretch>
              <a:fillRect/>
            </a:stretch>
          </p:blipFill>
          <p:spPr>
            <a:xfrm rot="19193957">
              <a:off x="6474332" y="677194"/>
              <a:ext cx="420522" cy="500840"/>
            </a:xfrm>
            <a:prstGeom prst="rect">
              <a:avLst/>
            </a:prstGeom>
          </p:spPr>
        </p:pic>
      </p:gr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17550" y="3848974"/>
                <a:ext cx="10756900" cy="1182440"/>
              </a:xfrm>
              <a:solidFill>
                <a:schemeClr val="bg1"/>
              </a:solidFill>
            </p:spPr>
            <p:txBody>
              <a:bodyPr>
                <a:noAutofit/>
              </a:bodyPr>
              <a:lstStyle/>
              <a:p>
                <a:pPr marL="0" indent="0">
                  <a:lnSpc>
                    <a:spcPct val="100000"/>
                  </a:lnSpc>
                  <a:buNone/>
                </a:pPr>
                <a:r>
                  <a:rPr lang="en-US" altLang="zh-CN" sz="2000" dirty="0">
                    <a:solidFill>
                      <a:srgbClr val="C00000"/>
                    </a:solidFill>
                    <a:ea typeface="+mn-ea"/>
                  </a:rPr>
                  <a:t>Simplification conditions</a:t>
                </a:r>
                <a:r>
                  <a:rPr lang="zh-CN" altLang="en-US" sz="2000" dirty="0">
                    <a:solidFill>
                      <a:srgbClr val="C00000"/>
                    </a:solidFill>
                    <a:ea typeface="+mn-ea"/>
                  </a:rPr>
                  <a:t>：</a:t>
                </a:r>
                <a:r>
                  <a:rPr lang="en-US" altLang="zh-CN" sz="2000" dirty="0">
                    <a:ea typeface="+mn-ea"/>
                  </a:rPr>
                  <a:t>1) The foil is so thin that the nuclei are not blocking each other.  2) The sizes of the beam and the counter </a:t>
                </a:r>
                <a14:m>
                  <m:oMath xmlns:m="http://schemas.openxmlformats.org/officeDocument/2006/math">
                    <m:r>
                      <a:rPr lang="en-US" altLang="zh-CN" sz="2000" i="1" smtClean="0">
                        <a:latin typeface="Cambria Math" panose="02040503050406030204" pitchFamily="18" charset="0"/>
                        <a:ea typeface="Cambria Math" panose="02040503050406030204" pitchFamily="18" charset="0"/>
                      </a:rPr>
                      <m:t>≪</m:t>
                    </m:r>
                  </m:oMath>
                </a14:m>
                <a:r>
                  <a:rPr lang="en-US" altLang="zh-CN" sz="2000" dirty="0">
                    <a:ea typeface="+mn-ea"/>
                  </a:rPr>
                  <a:t> the distance between the counter and the target point, thus, the direction of the counter w.r.t all the nuclei within the incident area are the same.</a:t>
                </a:r>
                <a:endParaRPr lang="en-US" altLang="zh-CN" sz="2000" dirty="0">
                  <a:solidFill>
                    <a:schemeClr val="tx1"/>
                  </a:solidFill>
                  <a:ea typeface="+mn-ea"/>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17550" y="3848974"/>
                <a:ext cx="10756900" cy="1182440"/>
              </a:xfrm>
              <a:blipFill>
                <a:blip r:embed="rId8"/>
                <a:stretch>
                  <a:fillRect l="-624" t="-3093"/>
                </a:stretch>
              </a:blipFill>
            </p:spPr>
            <p:txBody>
              <a:bodyPr/>
              <a:lstStyle/>
              <a:p>
                <a:r>
                  <a:rPr lang="en-US">
                    <a:noFill/>
                  </a:rPr>
                  <a:t> </a:t>
                </a:r>
              </a:p>
            </p:txBody>
          </p:sp>
        </mc:Fallback>
      </mc:AlternateContent>
    </p:spTree>
    <p:extLst>
      <p:ext uri="{BB962C8B-B14F-4D97-AF65-F5344CB8AC3E}">
        <p14:creationId xmlns:p14="http://schemas.microsoft.com/office/powerpoint/2010/main" val="1229383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500"/>
                                        <p:tgtEl>
                                          <p:spTgt spid="3">
                                            <p:bg/>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build="p"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61628" y="828675"/>
            <a:ext cx="9954208" cy="5029200"/>
          </a:xfrm>
        </p:spPr>
        <p:txBody>
          <a:bodyPr>
            <a:noAutofit/>
          </a:bodyPr>
          <a:lstStyle/>
          <a:p>
            <a:pPr marL="0" indent="0">
              <a:lnSpc>
                <a:spcPct val="100000"/>
              </a:lnSpc>
              <a:buNone/>
            </a:pPr>
            <a:r>
              <a:rPr lang="en-US" altLang="zh-CN" dirty="0">
                <a:ea typeface="黑体" panose="02010609060101010101" pitchFamily="49" charset="-122"/>
              </a:rPr>
              <a:t>Rutherford’s model perfectly explained the result of his scattering experiment</a:t>
            </a:r>
          </a:p>
          <a:p>
            <a:pPr>
              <a:lnSpc>
                <a:spcPct val="100000"/>
              </a:lnSpc>
            </a:pPr>
            <a:endParaRPr lang="en-US" altLang="zh-CN" dirty="0"/>
          </a:p>
          <a:p>
            <a:pPr>
              <a:lnSpc>
                <a:spcPct val="100000"/>
              </a:lnSpc>
            </a:pPr>
            <a:endParaRPr lang="en-US" altLang="zh-CN" dirty="0"/>
          </a:p>
          <a:p>
            <a:pPr>
              <a:lnSpc>
                <a:spcPct val="100000"/>
              </a:lnSpc>
            </a:pPr>
            <a:endParaRPr lang="en-US" altLang="zh-CN" dirty="0"/>
          </a:p>
          <a:p>
            <a:pPr>
              <a:lnSpc>
                <a:spcPct val="100000"/>
              </a:lnSpc>
            </a:pPr>
            <a:endParaRPr lang="en-US" altLang="zh-CN" dirty="0"/>
          </a:p>
          <a:p>
            <a:pPr>
              <a:lnSpc>
                <a:spcPct val="100000"/>
              </a:lnSpc>
            </a:pPr>
            <a:endParaRPr lang="en-US" altLang="zh-CN" dirty="0"/>
          </a:p>
          <a:p>
            <a:pPr marL="0" indent="0">
              <a:lnSpc>
                <a:spcPct val="100000"/>
              </a:lnSpc>
              <a:buNone/>
            </a:pPr>
            <a:r>
              <a:rPr lang="en-US" altLang="zh-CN" dirty="0">
                <a:ea typeface="黑体" panose="02010609060101010101" pitchFamily="49" charset="-122"/>
              </a:rPr>
              <a:t>However according to classical electrodynamics, an accelerating charge emits radiation and loses its energy. The electrons can only orbit for a few nanoseconds</a:t>
            </a:r>
            <a:r>
              <a:rPr lang="zh-CN" altLang="en-US" dirty="0">
                <a:ea typeface="黑体" panose="02010609060101010101" pitchFamily="49" charset="-122"/>
              </a:rPr>
              <a:t> </a:t>
            </a:r>
            <a:r>
              <a:rPr lang="en-US" altLang="zh-CN" dirty="0">
                <a:ea typeface="黑体" panose="02010609060101010101" pitchFamily="49" charset="-122"/>
              </a:rPr>
              <a:t>before falling into the nucleus.</a:t>
            </a:r>
          </a:p>
        </p:txBody>
      </p:sp>
      <p:pic>
        <p:nvPicPr>
          <p:cNvPr id="6" name="Picture 5">
            <a:extLst>
              <a:ext uri="{FF2B5EF4-FFF2-40B4-BE49-F238E27FC236}">
                <a16:creationId xmlns:a16="http://schemas.microsoft.com/office/drawing/2014/main" id="{A98BFD04-5C4B-4472-804F-EE2CCC0AC6C0}"/>
              </a:ext>
            </a:extLst>
          </p:cNvPr>
          <p:cNvPicPr>
            <a:picLocks noChangeAspect="1"/>
          </p:cNvPicPr>
          <p:nvPr/>
        </p:nvPicPr>
        <p:blipFill>
          <a:blip r:embed="rId3"/>
          <a:stretch>
            <a:fillRect/>
          </a:stretch>
        </p:blipFill>
        <p:spPr>
          <a:xfrm>
            <a:off x="4301007" y="1608837"/>
            <a:ext cx="2827581" cy="2780843"/>
          </a:xfrm>
          <a:prstGeom prst="rect">
            <a:avLst/>
          </a:prstGeom>
        </p:spPr>
      </p:pic>
      <p:sp>
        <p:nvSpPr>
          <p:cNvPr id="8" name="Title 7">
            <a:extLst>
              <a:ext uri="{FF2B5EF4-FFF2-40B4-BE49-F238E27FC236}">
                <a16:creationId xmlns:a16="http://schemas.microsoft.com/office/drawing/2014/main" id="{2B9AD4CD-9856-43CF-917E-0FFB6FBB9696}"/>
              </a:ext>
            </a:extLst>
          </p:cNvPr>
          <p:cNvSpPr>
            <a:spLocks noGrp="1"/>
          </p:cNvSpPr>
          <p:nvPr>
            <p:ph type="title"/>
          </p:nvPr>
        </p:nvSpPr>
        <p:spPr/>
        <p:txBody>
          <a:bodyPr/>
          <a:lstStyle/>
          <a:p>
            <a:pPr algn="ctr"/>
            <a:r>
              <a:rPr lang="en-US" dirty="0"/>
              <a:t>New problem arises</a:t>
            </a:r>
          </a:p>
        </p:txBody>
      </p:sp>
    </p:spTree>
    <p:extLst>
      <p:ext uri="{BB962C8B-B14F-4D97-AF65-F5344CB8AC3E}">
        <p14:creationId xmlns:p14="http://schemas.microsoft.com/office/powerpoint/2010/main" val="2619959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fade">
                                      <p:cBhvr>
                                        <p:cTn id="10"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3457" y="191156"/>
            <a:ext cx="7695423" cy="644525"/>
          </a:xfrm>
        </p:spPr>
        <p:txBody>
          <a:bodyPr>
            <a:normAutofit/>
          </a:bodyPr>
          <a:lstStyle/>
          <a:p>
            <a:r>
              <a:rPr lang="en-US" altLang="zh-CN" sz="3600" dirty="0">
                <a:ea typeface="黑体" panose="02010609060101010101" pitchFamily="49" charset="-122"/>
              </a:rPr>
              <a:t>The two-body problem</a:t>
            </a:r>
            <a:endParaRPr lang="zh-CN" altLang="en-US" sz="3600" dirty="0">
              <a:ea typeface="黑体" panose="02010609060101010101" pitchFamily="49" charset="-122"/>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59723" y="843176"/>
                <a:ext cx="11138819" cy="5616624"/>
              </a:xfrm>
            </p:spPr>
            <p:txBody>
              <a:bodyPr>
                <a:normAutofit fontScale="85000" lnSpcReduction="20000"/>
              </a:bodyPr>
              <a:lstStyle/>
              <a:p>
                <a:pPr marL="0" indent="0">
                  <a:lnSpc>
                    <a:spcPct val="120000"/>
                  </a:lnSpc>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𝑚</m:t>
                          </m:r>
                        </m:e>
                        <m:sub>
                          <m:r>
                            <a:rPr lang="en-US" altLang="zh-CN" b="0" i="1" smtClean="0">
                              <a:latin typeface="Cambria Math" panose="02040503050406030204" pitchFamily="18" charset="0"/>
                            </a:rPr>
                            <m:t>1</m:t>
                          </m:r>
                        </m:sub>
                      </m:sSub>
                      <m:sSub>
                        <m:sSubPr>
                          <m:ctrlPr>
                            <a:rPr lang="en-US" altLang="zh-CN" b="0" i="1" smtClean="0">
                              <a:latin typeface="Cambria Math" panose="02040503050406030204" pitchFamily="18" charset="0"/>
                            </a:rPr>
                          </m:ctrlPr>
                        </m:sSubPr>
                        <m:e>
                          <m:acc>
                            <m:accPr>
                              <m:chr m:val="̈"/>
                              <m:ctrlPr>
                                <a:rPr lang="en-US" altLang="zh-CN" b="0" i="1" smtClean="0">
                                  <a:latin typeface="Cambria Math" panose="02040503050406030204" pitchFamily="18" charset="0"/>
                                </a:rPr>
                              </m:ctrlPr>
                            </m:accPr>
                            <m:e>
                              <m:r>
                                <a:rPr lang="en-US" altLang="zh-CN" b="1" i="0" smtClean="0">
                                  <a:latin typeface="Cambria Math" panose="02040503050406030204" pitchFamily="18" charset="0"/>
                                </a:rPr>
                                <m:t>𝐱</m:t>
                              </m:r>
                            </m:e>
                          </m:acc>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r>
                        <a:rPr lang="en-US" altLang="zh-CN" b="1" i="0" smtClean="0">
                          <a:latin typeface="Cambria Math" panose="02040503050406030204" pitchFamily="18" charset="0"/>
                        </a:rPr>
                        <m:t>𝐅</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1" i="0" smtClean="0">
                                  <a:latin typeface="Cambria Math" panose="02040503050406030204" pitchFamily="18" charset="0"/>
                                </a:rPr>
                                <m:t>𝐱</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1" i="0" smtClean="0">
                                  <a:latin typeface="Cambria Math" panose="02040503050406030204" pitchFamily="18" charset="0"/>
                                </a:rPr>
                                <m:t>𝐱</m:t>
                              </m:r>
                            </m:e>
                            <m:sub>
                              <m:r>
                                <a:rPr lang="en-US" altLang="zh-CN" b="0" i="1" smtClean="0">
                                  <a:latin typeface="Cambria Math" panose="02040503050406030204" pitchFamily="18" charset="0"/>
                                </a:rPr>
                                <m:t>2</m:t>
                              </m:r>
                            </m:sub>
                          </m:sSub>
                        </m:e>
                      </m:d>
                      <m:r>
                        <a:rPr lang="en-US" altLang="zh-CN" b="0" i="1" smtClean="0">
                          <a:latin typeface="Cambria Math" panose="02040503050406030204" pitchFamily="18" charset="0"/>
                        </a:rPr>
                        <m:t>                   </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1</m:t>
                          </m:r>
                        </m:e>
                      </m:d>
                    </m:oMath>
                  </m:oMathPara>
                </a14:m>
                <a:endParaRPr lang="en-US" altLang="zh-CN" b="0" i="1" dirty="0"/>
              </a:p>
              <a:p>
                <a:pPr marL="0" indent="0" algn="ctr">
                  <a:lnSpc>
                    <a:spcPct val="120000"/>
                  </a:lnSpc>
                  <a:buNone/>
                </a:pP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𝑚</m:t>
                        </m:r>
                      </m:e>
                      <m:sub>
                        <m:r>
                          <a:rPr lang="en-US" altLang="zh-CN" b="0" i="1" smtClean="0">
                            <a:latin typeface="Cambria Math" panose="02040503050406030204" pitchFamily="18" charset="0"/>
                          </a:rPr>
                          <m:t>2</m:t>
                        </m:r>
                      </m:sub>
                    </m:sSub>
                    <m:sSub>
                      <m:sSubPr>
                        <m:ctrlPr>
                          <a:rPr lang="en-US" altLang="zh-CN" b="0" i="1" smtClean="0">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b="1" i="0">
                                <a:latin typeface="Cambria Math" panose="02040503050406030204" pitchFamily="18" charset="0"/>
                              </a:rPr>
                              <m:t>𝐱</m:t>
                            </m:r>
                          </m:e>
                        </m:acc>
                      </m:e>
                      <m:sub>
                        <m:r>
                          <a:rPr lang="en-US" altLang="zh-CN" b="0" i="1" smtClean="0">
                            <a:latin typeface="Cambria Math" panose="02040503050406030204" pitchFamily="18" charset="0"/>
                          </a:rPr>
                          <m:t>2</m:t>
                        </m:r>
                      </m:sub>
                    </m:sSub>
                    <m:r>
                      <a:rPr lang="en-US" altLang="zh-CN" i="1">
                        <a:latin typeface="Cambria Math" panose="02040503050406030204" pitchFamily="18" charset="0"/>
                      </a:rPr>
                      <m:t>=</m:t>
                    </m:r>
                    <m:r>
                      <a:rPr lang="en-US" altLang="zh-CN" b="0" i="1" smtClean="0">
                        <a:latin typeface="Cambria Math" panose="02040503050406030204" pitchFamily="18" charset="0"/>
                      </a:rPr>
                      <m:t>−</m:t>
                    </m:r>
                    <m:r>
                      <a:rPr lang="en-US" altLang="zh-CN" b="1" i="0">
                        <a:latin typeface="Cambria Math" panose="02040503050406030204" pitchFamily="18" charset="0"/>
                      </a:rPr>
                      <m:t>𝐅</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b="1" i="0">
                                <a:latin typeface="Cambria Math" panose="02040503050406030204" pitchFamily="18" charset="0"/>
                              </a:rPr>
                              <m:t>𝐱</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b="1" i="0">
                                <a:latin typeface="Cambria Math" panose="02040503050406030204" pitchFamily="18" charset="0"/>
                              </a:rPr>
                              <m:t>𝐱</m:t>
                            </m:r>
                          </m:e>
                          <m:sub>
                            <m:r>
                              <a:rPr lang="en-US" altLang="zh-CN" i="1">
                                <a:latin typeface="Cambria Math" panose="02040503050406030204" pitchFamily="18" charset="0"/>
                              </a:rPr>
                              <m:t>2</m:t>
                            </m:r>
                          </m:sub>
                        </m:sSub>
                      </m:e>
                    </m:d>
                    <m:r>
                      <a:rPr lang="en-US" altLang="zh-CN" b="0" i="1">
                        <a:latin typeface="Cambria Math" panose="02040503050406030204" pitchFamily="18" charset="0"/>
                      </a:rPr>
                      <m:t>                </m:t>
                    </m:r>
                    <m:r>
                      <a:rPr lang="en-US" altLang="zh-CN" b="0" i="1" smtClean="0">
                        <a:latin typeface="Cambria Math" panose="02040503050406030204" pitchFamily="18" charset="0"/>
                      </a:rPr>
                      <m:t>(2)</m:t>
                    </m:r>
                  </m:oMath>
                </a14:m>
                <a:r>
                  <a:rPr lang="en-US" altLang="zh-CN" dirty="0"/>
                  <a:t> </a:t>
                </a:r>
              </a:p>
              <a:p>
                <a:pPr marL="0" indent="0">
                  <a:lnSpc>
                    <a:spcPct val="120000"/>
                  </a:lnSpc>
                  <a:buNone/>
                </a:pPr>
                <a:r>
                  <a:rPr lang="en-US" altLang="zh-CN" dirty="0"/>
                  <a:t>If </a:t>
                </a:r>
                <a14:m>
                  <m:oMath xmlns:m="http://schemas.openxmlformats.org/officeDocument/2006/math">
                    <m:sSub>
                      <m:sSubPr>
                        <m:ctrlPr>
                          <a:rPr lang="en-US" altLang="zh-CN" i="1">
                            <a:latin typeface="Cambria Math" panose="02040503050406030204" pitchFamily="18" charset="0"/>
                            <a:ea typeface="Cambria Math" panose="02040503050406030204" pitchFamily="18" charset="0"/>
                          </a:rPr>
                        </m:ctrlPr>
                      </m:sSubPr>
                      <m:e>
                        <m:r>
                          <m:rPr>
                            <m:sty m:val="p"/>
                          </m:rPr>
                          <a:rPr lang="en-US" altLang="zh-CN">
                            <a:latin typeface="Cambria Math" panose="02040503050406030204" pitchFamily="18" charset="0"/>
                            <a:ea typeface="Cambria Math" panose="02040503050406030204" pitchFamily="18" charset="0"/>
                          </a:rPr>
                          <m:t>m</m:t>
                        </m:r>
                      </m:e>
                      <m:sub>
                        <m:r>
                          <a:rPr lang="en-US" altLang="zh-CN">
                            <a:latin typeface="Cambria Math" panose="02040503050406030204" pitchFamily="18" charset="0"/>
                            <a:ea typeface="Cambria Math" panose="02040503050406030204" pitchFamily="18" charset="0"/>
                          </a:rPr>
                          <m:t>2</m:t>
                        </m:r>
                      </m:sub>
                    </m:sSub>
                    <m:r>
                      <a:rPr lang="en-US" altLang="zh-CN" dirty="0">
                        <a:latin typeface="Cambria Math" panose="02040503050406030204" pitchFamily="18" charset="0"/>
                        <a:ea typeface="Cambria Math" panose="02040503050406030204" pitchFamily="18" charset="0"/>
                      </a:rPr>
                      <m:t>≫</m:t>
                    </m:r>
                    <m:sSub>
                      <m:sSubPr>
                        <m:ctrlPr>
                          <a:rPr lang="en-US" altLang="zh-CN" b="0" i="1" dirty="0" smtClean="0">
                            <a:latin typeface="Cambria Math" panose="02040503050406030204" pitchFamily="18" charset="0"/>
                            <a:ea typeface="Cambria Math" panose="02040503050406030204" pitchFamily="18" charset="0"/>
                          </a:rPr>
                        </m:ctrlPr>
                      </m:sSubPr>
                      <m:e>
                        <m:r>
                          <m:rPr>
                            <m:sty m:val="p"/>
                          </m:rPr>
                          <a:rPr lang="en-US" altLang="zh-CN" b="0" i="0" dirty="0" smtClean="0">
                            <a:latin typeface="Cambria Math" panose="02040503050406030204" pitchFamily="18" charset="0"/>
                            <a:ea typeface="Cambria Math" panose="02040503050406030204" pitchFamily="18" charset="0"/>
                          </a:rPr>
                          <m:t>m</m:t>
                        </m:r>
                      </m:e>
                      <m:sub>
                        <m:r>
                          <a:rPr lang="en-US" altLang="zh-CN" b="0" i="0" dirty="0" smtClean="0">
                            <a:latin typeface="Cambria Math" panose="02040503050406030204" pitchFamily="18" charset="0"/>
                            <a:ea typeface="Cambria Math" panose="02040503050406030204" pitchFamily="18" charset="0"/>
                          </a:rPr>
                          <m:t>1</m:t>
                        </m:r>
                      </m:sub>
                    </m:sSub>
                  </m:oMath>
                </a14:m>
                <a:r>
                  <a:rPr lang="en-US" altLang="zh-CN" b="0" dirty="0"/>
                  <a:t>, define </a:t>
                </a:r>
                <a14:m>
                  <m:oMath xmlns:m="http://schemas.openxmlformats.org/officeDocument/2006/math">
                    <m:r>
                      <a:rPr lang="en-US" altLang="zh-CN" b="1">
                        <a:solidFill>
                          <a:srgbClr val="0070C0"/>
                        </a:solidFill>
                        <a:latin typeface="Cambria Math" panose="02040503050406030204" pitchFamily="18" charset="0"/>
                        <a:ea typeface="Cambria Math" panose="02040503050406030204" pitchFamily="18" charset="0"/>
                      </a:rPr>
                      <m:t>𝐫</m:t>
                    </m:r>
                    <m:r>
                      <a:rPr lang="en-US" altLang="zh-CN" i="1">
                        <a:solidFill>
                          <a:srgbClr val="0070C0"/>
                        </a:solidFill>
                        <a:latin typeface="Cambria Math" panose="02040503050406030204" pitchFamily="18" charset="0"/>
                        <a:ea typeface="Cambria Math" panose="02040503050406030204" pitchFamily="18" charset="0"/>
                      </a:rPr>
                      <m:t>≡</m:t>
                    </m:r>
                    <m:sSub>
                      <m:sSubPr>
                        <m:ctrlPr>
                          <a:rPr lang="en-US" altLang="zh-CN" i="1">
                            <a:solidFill>
                              <a:srgbClr val="0070C0"/>
                            </a:solidFill>
                            <a:latin typeface="Cambria Math" panose="02040503050406030204" pitchFamily="18" charset="0"/>
                            <a:ea typeface="Cambria Math" panose="02040503050406030204" pitchFamily="18" charset="0"/>
                          </a:rPr>
                        </m:ctrlPr>
                      </m:sSubPr>
                      <m:e>
                        <m:r>
                          <a:rPr lang="en-US" altLang="zh-CN" b="1">
                            <a:solidFill>
                              <a:srgbClr val="0070C0"/>
                            </a:solidFill>
                            <a:latin typeface="Cambria Math" panose="02040503050406030204" pitchFamily="18" charset="0"/>
                            <a:ea typeface="Cambria Math" panose="02040503050406030204" pitchFamily="18" charset="0"/>
                          </a:rPr>
                          <m:t>𝐱</m:t>
                        </m:r>
                      </m:e>
                      <m:sub>
                        <m:r>
                          <a:rPr lang="en-US" altLang="zh-CN" i="1">
                            <a:solidFill>
                              <a:srgbClr val="0070C0"/>
                            </a:solidFill>
                            <a:latin typeface="Cambria Math" panose="02040503050406030204" pitchFamily="18" charset="0"/>
                            <a:ea typeface="Cambria Math" panose="02040503050406030204" pitchFamily="18" charset="0"/>
                          </a:rPr>
                          <m:t>1</m:t>
                        </m:r>
                      </m:sub>
                    </m:sSub>
                    <m:r>
                      <a:rPr lang="en-US" altLang="zh-CN" i="1">
                        <a:solidFill>
                          <a:srgbClr val="0070C0"/>
                        </a:solidFill>
                        <a:latin typeface="Cambria Math" panose="02040503050406030204" pitchFamily="18" charset="0"/>
                        <a:ea typeface="Cambria Math" panose="02040503050406030204" pitchFamily="18" charset="0"/>
                      </a:rPr>
                      <m:t>−</m:t>
                    </m:r>
                    <m:sSub>
                      <m:sSubPr>
                        <m:ctrlPr>
                          <a:rPr lang="en-US" altLang="zh-CN" i="1">
                            <a:solidFill>
                              <a:srgbClr val="0070C0"/>
                            </a:solidFill>
                            <a:latin typeface="Cambria Math" panose="02040503050406030204" pitchFamily="18" charset="0"/>
                            <a:ea typeface="Cambria Math" panose="02040503050406030204" pitchFamily="18" charset="0"/>
                          </a:rPr>
                        </m:ctrlPr>
                      </m:sSubPr>
                      <m:e>
                        <m:r>
                          <a:rPr lang="en-US" altLang="zh-CN" b="1">
                            <a:solidFill>
                              <a:srgbClr val="0070C0"/>
                            </a:solidFill>
                            <a:latin typeface="Cambria Math" panose="02040503050406030204" pitchFamily="18" charset="0"/>
                            <a:ea typeface="Cambria Math" panose="02040503050406030204" pitchFamily="18" charset="0"/>
                          </a:rPr>
                          <m:t>𝐱</m:t>
                        </m:r>
                      </m:e>
                      <m:sub>
                        <m:r>
                          <a:rPr lang="en-US" altLang="zh-CN" i="1">
                            <a:solidFill>
                              <a:srgbClr val="0070C0"/>
                            </a:solidFill>
                            <a:latin typeface="Cambria Math" panose="02040503050406030204" pitchFamily="18" charset="0"/>
                            <a:ea typeface="Cambria Math" panose="02040503050406030204" pitchFamily="18" charset="0"/>
                          </a:rPr>
                          <m:t>2</m:t>
                        </m:r>
                      </m:sub>
                    </m:sSub>
                  </m:oMath>
                </a14:m>
                <a:r>
                  <a:rPr lang="en-US" altLang="zh-CN" b="0" dirty="0"/>
                  <a:t>, we can approximately have</a:t>
                </a:r>
              </a:p>
              <a:p>
                <a:pPr marL="0" indent="0" algn="ctr">
                  <a:lnSpc>
                    <a:spcPct val="120000"/>
                  </a:lnSpc>
                  <a:buNone/>
                </a:pPr>
                <a14:m>
                  <m:oMathPara xmlns:m="http://schemas.openxmlformats.org/officeDocument/2006/math">
                    <m:oMathParaPr>
                      <m:jc m:val="center"/>
                    </m:oMathParaPr>
                    <m:oMath xmlns:m="http://schemas.openxmlformats.org/officeDocument/2006/math">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b="1">
                                  <a:latin typeface="Cambria Math" panose="02040503050406030204" pitchFamily="18" charset="0"/>
                                </a:rPr>
                                <m:t>𝐱</m:t>
                              </m:r>
                            </m:e>
                          </m:acc>
                        </m:e>
                        <m:sub>
                          <m:r>
                            <a:rPr lang="en-US" altLang="zh-CN" i="1">
                              <a:latin typeface="Cambria Math" panose="02040503050406030204" pitchFamily="18" charset="0"/>
                            </a:rPr>
                            <m:t>2</m:t>
                          </m:r>
                        </m:sub>
                      </m:sSub>
                      <m:r>
                        <a:rPr lang="en-US" altLang="zh-CN" b="0" i="1" smtClean="0">
                          <a:latin typeface="Cambria Math" panose="02040503050406030204" pitchFamily="18" charset="0"/>
                        </a:rPr>
                        <m:t>=0,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𝑚</m:t>
                          </m:r>
                        </m:e>
                        <m:sub>
                          <m:r>
                            <a:rPr lang="en-US" altLang="zh-CN" b="0" i="1" smtClean="0">
                              <a:latin typeface="Cambria Math" panose="02040503050406030204" pitchFamily="18" charset="0"/>
                            </a:rPr>
                            <m:t>1</m:t>
                          </m:r>
                        </m:sub>
                      </m:sSub>
                      <m:sSub>
                        <m:sSubPr>
                          <m:ctrlPr>
                            <a:rPr lang="en-US" altLang="zh-CN" b="1" i="1" smtClean="0">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b="1" i="0" smtClean="0">
                                  <a:latin typeface="Cambria Math" panose="02040503050406030204" pitchFamily="18" charset="0"/>
                                </a:rPr>
                                <m:t>𝐱</m:t>
                              </m:r>
                            </m:e>
                          </m:acc>
                        </m:e>
                        <m:sub>
                          <m:r>
                            <a:rPr lang="en-US" altLang="zh-CN" b="0" i="1" smtClean="0">
                              <a:latin typeface="Cambria Math" panose="02040503050406030204" pitchFamily="18" charset="0"/>
                            </a:rPr>
                            <m:t>1</m:t>
                          </m:r>
                        </m:sub>
                      </m:sSub>
                      <m:r>
                        <a:rPr lang="en-US" altLang="zh-CN" i="1">
                          <a:latin typeface="Cambria Math" panose="02040503050406030204" pitchFamily="18" charset="0"/>
                        </a:rPr>
                        <m:t>=</m:t>
                      </m:r>
                      <m:r>
                        <a:rPr lang="en-US" altLang="zh-CN" b="1" i="0">
                          <a:latin typeface="Cambria Math" panose="02040503050406030204" pitchFamily="18" charset="0"/>
                        </a:rPr>
                        <m:t>𝐅</m:t>
                      </m:r>
                      <m:d>
                        <m:dPr>
                          <m:ctrlPr>
                            <a:rPr lang="en-US" altLang="zh-CN" b="1" i="1">
                              <a:latin typeface="Cambria Math" panose="02040503050406030204" pitchFamily="18" charset="0"/>
                            </a:rPr>
                          </m:ctrlPr>
                        </m:dPr>
                        <m:e>
                          <m:r>
                            <a:rPr lang="en-US" altLang="zh-CN" b="1" i="0">
                              <a:latin typeface="Cambria Math" panose="02040503050406030204" pitchFamily="18" charset="0"/>
                            </a:rPr>
                            <m:t>𝐫</m:t>
                          </m:r>
                        </m:e>
                      </m:d>
                    </m:oMath>
                  </m:oMathPara>
                </a14:m>
                <a:endParaRPr lang="en-US" altLang="zh-CN" dirty="0"/>
              </a:p>
              <a:p>
                <a:pPr marL="0" indent="0">
                  <a:lnSpc>
                    <a:spcPct val="120000"/>
                  </a:lnSpc>
                  <a:buNone/>
                </a:pPr>
                <a:r>
                  <a:rPr lang="en-US" altLang="zh-CN" dirty="0"/>
                  <a:t>Otherwise, define </a:t>
                </a:r>
                <a14:m>
                  <m:oMath xmlns:m="http://schemas.openxmlformats.org/officeDocument/2006/math">
                    <m:r>
                      <a:rPr lang="en-US" altLang="zh-CN" i="1" smtClean="0">
                        <a:solidFill>
                          <a:srgbClr val="0070C0"/>
                        </a:solidFill>
                        <a:latin typeface="Cambria Math" panose="02040503050406030204" pitchFamily="18" charset="0"/>
                      </a:rPr>
                      <m:t>𝑀</m:t>
                    </m:r>
                    <m:r>
                      <a:rPr lang="en-US" altLang="zh-CN" i="1">
                        <a:solidFill>
                          <a:srgbClr val="0070C0"/>
                        </a:solidFill>
                        <a:latin typeface="Cambria Math" panose="02040503050406030204" pitchFamily="18" charset="0"/>
                        <a:ea typeface="Cambria Math" panose="02040503050406030204" pitchFamily="18" charset="0"/>
                      </a:rPr>
                      <m:t>≡</m:t>
                    </m:r>
                    <m:sSub>
                      <m:sSubPr>
                        <m:ctrlPr>
                          <a:rPr lang="en-US" altLang="zh-CN" i="1">
                            <a:solidFill>
                              <a:srgbClr val="0070C0"/>
                            </a:solidFill>
                            <a:latin typeface="Cambria Math" panose="02040503050406030204" pitchFamily="18" charset="0"/>
                            <a:ea typeface="Cambria Math" panose="02040503050406030204" pitchFamily="18" charset="0"/>
                          </a:rPr>
                        </m:ctrlPr>
                      </m:sSubPr>
                      <m:e>
                        <m:r>
                          <m:rPr>
                            <m:sty m:val="p"/>
                          </m:rPr>
                          <a:rPr lang="en-US" altLang="zh-CN">
                            <a:solidFill>
                              <a:srgbClr val="0070C0"/>
                            </a:solidFill>
                            <a:latin typeface="Cambria Math" panose="02040503050406030204" pitchFamily="18" charset="0"/>
                            <a:ea typeface="Cambria Math" panose="02040503050406030204" pitchFamily="18" charset="0"/>
                          </a:rPr>
                          <m:t>m</m:t>
                        </m:r>
                      </m:e>
                      <m:sub>
                        <m:r>
                          <a:rPr lang="en-US" altLang="zh-CN">
                            <a:solidFill>
                              <a:srgbClr val="0070C0"/>
                            </a:solidFill>
                            <a:latin typeface="Cambria Math" panose="02040503050406030204" pitchFamily="18" charset="0"/>
                            <a:ea typeface="Cambria Math" panose="02040503050406030204" pitchFamily="18" charset="0"/>
                          </a:rPr>
                          <m:t>1</m:t>
                        </m:r>
                      </m:sub>
                    </m:sSub>
                    <m:r>
                      <a:rPr lang="en-US" altLang="zh-CN">
                        <a:solidFill>
                          <a:srgbClr val="0070C0"/>
                        </a:solidFill>
                        <a:latin typeface="Cambria Math" panose="02040503050406030204" pitchFamily="18" charset="0"/>
                        <a:ea typeface="Cambria Math" panose="02040503050406030204" pitchFamily="18" charset="0"/>
                      </a:rPr>
                      <m:t>+</m:t>
                    </m:r>
                    <m:sSub>
                      <m:sSubPr>
                        <m:ctrlPr>
                          <a:rPr lang="en-US" altLang="zh-CN" i="1">
                            <a:solidFill>
                              <a:srgbClr val="0070C0"/>
                            </a:solidFill>
                            <a:latin typeface="Cambria Math" panose="02040503050406030204" pitchFamily="18" charset="0"/>
                            <a:ea typeface="Cambria Math" panose="02040503050406030204" pitchFamily="18" charset="0"/>
                          </a:rPr>
                        </m:ctrlPr>
                      </m:sSubPr>
                      <m:e>
                        <m:r>
                          <m:rPr>
                            <m:sty m:val="p"/>
                          </m:rPr>
                          <a:rPr lang="en-US" altLang="zh-CN">
                            <a:solidFill>
                              <a:srgbClr val="0070C0"/>
                            </a:solidFill>
                            <a:latin typeface="Cambria Math" panose="02040503050406030204" pitchFamily="18" charset="0"/>
                            <a:ea typeface="Cambria Math" panose="02040503050406030204" pitchFamily="18" charset="0"/>
                          </a:rPr>
                          <m:t>m</m:t>
                        </m:r>
                      </m:e>
                      <m:sub>
                        <m:r>
                          <a:rPr lang="en-US" altLang="zh-CN">
                            <a:solidFill>
                              <a:srgbClr val="0070C0"/>
                            </a:solidFill>
                            <a:latin typeface="Cambria Math" panose="02040503050406030204" pitchFamily="18" charset="0"/>
                            <a:ea typeface="Cambria Math" panose="02040503050406030204" pitchFamily="18" charset="0"/>
                          </a:rPr>
                          <m:t>2</m:t>
                        </m:r>
                      </m:sub>
                    </m:sSub>
                  </m:oMath>
                </a14:m>
                <a:r>
                  <a:rPr lang="en-US" altLang="zh-CN" dirty="0"/>
                  <a:t>, which is the total mass, and </a:t>
                </a:r>
                <a14:m>
                  <m:oMath xmlns:m="http://schemas.openxmlformats.org/officeDocument/2006/math">
                    <m:r>
                      <a:rPr lang="en-US" altLang="zh-CN" b="1">
                        <a:solidFill>
                          <a:srgbClr val="0070C0"/>
                        </a:solidFill>
                        <a:latin typeface="Cambria Math" panose="02040503050406030204" pitchFamily="18" charset="0"/>
                        <a:ea typeface="Cambria Math" panose="02040503050406030204" pitchFamily="18" charset="0"/>
                      </a:rPr>
                      <m:t>𝐑</m:t>
                    </m:r>
                    <m:r>
                      <a:rPr lang="en-US" altLang="zh-CN" i="1">
                        <a:solidFill>
                          <a:srgbClr val="0070C0"/>
                        </a:solidFill>
                        <a:latin typeface="Cambria Math" panose="02040503050406030204" pitchFamily="18" charset="0"/>
                        <a:ea typeface="Cambria Math" panose="02040503050406030204" pitchFamily="18" charset="0"/>
                      </a:rPr>
                      <m:t>≡</m:t>
                    </m:r>
                    <m:f>
                      <m:fPr>
                        <m:ctrlPr>
                          <a:rPr lang="en-US" altLang="zh-CN" i="1">
                            <a:solidFill>
                              <a:srgbClr val="0070C0"/>
                            </a:solidFill>
                            <a:latin typeface="Cambria Math" panose="02040503050406030204" pitchFamily="18" charset="0"/>
                            <a:ea typeface="Cambria Math" panose="02040503050406030204" pitchFamily="18" charset="0"/>
                          </a:rPr>
                        </m:ctrlPr>
                      </m:fPr>
                      <m:num>
                        <m:sSub>
                          <m:sSubPr>
                            <m:ctrlPr>
                              <a:rPr lang="en-US" altLang="zh-CN" i="1">
                                <a:solidFill>
                                  <a:srgbClr val="0070C0"/>
                                </a:solidFill>
                                <a:latin typeface="Cambria Math" panose="02040503050406030204" pitchFamily="18" charset="0"/>
                                <a:ea typeface="Cambria Math" panose="02040503050406030204" pitchFamily="18" charset="0"/>
                              </a:rPr>
                            </m:ctrlPr>
                          </m:sSubPr>
                          <m:e>
                            <m:sSub>
                              <m:sSubPr>
                                <m:ctrlPr>
                                  <a:rPr lang="en-US" altLang="zh-CN" i="1">
                                    <a:solidFill>
                                      <a:srgbClr val="0070C0"/>
                                    </a:solidFill>
                                    <a:latin typeface="Cambria Math" panose="02040503050406030204" pitchFamily="18" charset="0"/>
                                    <a:ea typeface="Cambria Math" panose="02040503050406030204" pitchFamily="18" charset="0"/>
                                  </a:rPr>
                                </m:ctrlPr>
                              </m:sSubPr>
                              <m:e>
                                <m:r>
                                  <a:rPr lang="en-US" altLang="zh-CN" i="1">
                                    <a:solidFill>
                                      <a:srgbClr val="0070C0"/>
                                    </a:solidFill>
                                    <a:latin typeface="Cambria Math" panose="02040503050406030204" pitchFamily="18" charset="0"/>
                                    <a:ea typeface="Cambria Math" panose="02040503050406030204" pitchFamily="18" charset="0"/>
                                  </a:rPr>
                                  <m:t>𝑚</m:t>
                                </m:r>
                              </m:e>
                              <m:sub>
                                <m:r>
                                  <a:rPr lang="en-US" altLang="zh-CN" i="1">
                                    <a:solidFill>
                                      <a:srgbClr val="0070C0"/>
                                    </a:solidFill>
                                    <a:latin typeface="Cambria Math" panose="02040503050406030204" pitchFamily="18" charset="0"/>
                                    <a:ea typeface="Cambria Math" panose="02040503050406030204" pitchFamily="18" charset="0"/>
                                  </a:rPr>
                                  <m:t>1</m:t>
                                </m:r>
                              </m:sub>
                            </m:sSub>
                            <m:r>
                              <a:rPr lang="en-US" altLang="zh-CN" b="1">
                                <a:solidFill>
                                  <a:srgbClr val="0070C0"/>
                                </a:solidFill>
                                <a:latin typeface="Cambria Math" panose="02040503050406030204" pitchFamily="18" charset="0"/>
                                <a:ea typeface="Cambria Math" panose="02040503050406030204" pitchFamily="18" charset="0"/>
                              </a:rPr>
                              <m:t>𝐱</m:t>
                            </m:r>
                          </m:e>
                          <m:sub>
                            <m:r>
                              <a:rPr lang="en-US" altLang="zh-CN" i="1">
                                <a:solidFill>
                                  <a:srgbClr val="0070C0"/>
                                </a:solidFill>
                                <a:latin typeface="Cambria Math" panose="02040503050406030204" pitchFamily="18" charset="0"/>
                                <a:ea typeface="Cambria Math" panose="02040503050406030204" pitchFamily="18" charset="0"/>
                              </a:rPr>
                              <m:t>1</m:t>
                            </m:r>
                          </m:sub>
                        </m:sSub>
                        <m:r>
                          <a:rPr lang="en-US" altLang="zh-CN" i="1">
                            <a:solidFill>
                              <a:srgbClr val="0070C0"/>
                            </a:solidFill>
                            <a:latin typeface="Cambria Math" panose="02040503050406030204" pitchFamily="18" charset="0"/>
                            <a:ea typeface="Cambria Math" panose="02040503050406030204" pitchFamily="18" charset="0"/>
                          </a:rPr>
                          <m:t>+</m:t>
                        </m:r>
                        <m:sSub>
                          <m:sSubPr>
                            <m:ctrlPr>
                              <a:rPr lang="en-US" altLang="zh-CN" i="1">
                                <a:solidFill>
                                  <a:srgbClr val="0070C0"/>
                                </a:solidFill>
                                <a:latin typeface="Cambria Math" panose="02040503050406030204" pitchFamily="18" charset="0"/>
                                <a:ea typeface="Cambria Math" panose="02040503050406030204" pitchFamily="18" charset="0"/>
                              </a:rPr>
                            </m:ctrlPr>
                          </m:sSubPr>
                          <m:e>
                            <m:r>
                              <a:rPr lang="en-US" altLang="zh-CN" i="1">
                                <a:solidFill>
                                  <a:srgbClr val="0070C0"/>
                                </a:solidFill>
                                <a:latin typeface="Cambria Math" panose="02040503050406030204" pitchFamily="18" charset="0"/>
                                <a:ea typeface="Cambria Math" panose="02040503050406030204" pitchFamily="18" charset="0"/>
                              </a:rPr>
                              <m:t>𝑚</m:t>
                            </m:r>
                          </m:e>
                          <m:sub>
                            <m:r>
                              <a:rPr lang="en-US" altLang="zh-CN" i="1">
                                <a:solidFill>
                                  <a:srgbClr val="0070C0"/>
                                </a:solidFill>
                                <a:latin typeface="Cambria Math" panose="02040503050406030204" pitchFamily="18" charset="0"/>
                                <a:ea typeface="Cambria Math" panose="02040503050406030204" pitchFamily="18" charset="0"/>
                              </a:rPr>
                              <m:t>2</m:t>
                            </m:r>
                          </m:sub>
                        </m:sSub>
                        <m:sSub>
                          <m:sSubPr>
                            <m:ctrlPr>
                              <a:rPr lang="en-US" altLang="zh-CN" i="1">
                                <a:solidFill>
                                  <a:srgbClr val="0070C0"/>
                                </a:solidFill>
                                <a:latin typeface="Cambria Math" panose="02040503050406030204" pitchFamily="18" charset="0"/>
                                <a:ea typeface="Cambria Math" panose="02040503050406030204" pitchFamily="18" charset="0"/>
                              </a:rPr>
                            </m:ctrlPr>
                          </m:sSubPr>
                          <m:e>
                            <m:r>
                              <a:rPr lang="en-US" altLang="zh-CN" b="1">
                                <a:solidFill>
                                  <a:srgbClr val="0070C0"/>
                                </a:solidFill>
                                <a:latin typeface="Cambria Math" panose="02040503050406030204" pitchFamily="18" charset="0"/>
                                <a:ea typeface="Cambria Math" panose="02040503050406030204" pitchFamily="18" charset="0"/>
                              </a:rPr>
                              <m:t>𝐱</m:t>
                            </m:r>
                          </m:e>
                          <m:sub>
                            <m:r>
                              <a:rPr lang="en-US" altLang="zh-CN" i="1">
                                <a:solidFill>
                                  <a:srgbClr val="0070C0"/>
                                </a:solidFill>
                                <a:latin typeface="Cambria Math" panose="02040503050406030204" pitchFamily="18" charset="0"/>
                                <a:ea typeface="Cambria Math" panose="02040503050406030204" pitchFamily="18" charset="0"/>
                              </a:rPr>
                              <m:t>2</m:t>
                            </m:r>
                          </m:sub>
                        </m:sSub>
                      </m:num>
                      <m:den>
                        <m:r>
                          <a:rPr lang="en-US" altLang="zh-CN" i="1">
                            <a:solidFill>
                              <a:srgbClr val="0070C0"/>
                            </a:solidFill>
                            <a:latin typeface="Cambria Math" panose="02040503050406030204" pitchFamily="18" charset="0"/>
                            <a:ea typeface="Cambria Math" panose="02040503050406030204" pitchFamily="18" charset="0"/>
                          </a:rPr>
                          <m:t>𝑀</m:t>
                        </m:r>
                      </m:den>
                    </m:f>
                  </m:oMath>
                </a14:m>
                <a:r>
                  <a:rPr lang="en-US" altLang="zh-CN" dirty="0"/>
                  <a:t>, which is the position of the center-of-mass (CM). Using </a:t>
                </a:r>
                <a14:m>
                  <m:oMath xmlns:m="http://schemas.openxmlformats.org/officeDocument/2006/math">
                    <m:d>
                      <m:dPr>
                        <m:begChr m:val="["/>
                        <m:endChr m:val="]"/>
                        <m:ctrlPr>
                          <a:rPr lang="en-US" altLang="zh-CN" i="1">
                            <a:latin typeface="Cambria Math" panose="02040503050406030204" pitchFamily="18" charset="0"/>
                          </a:rPr>
                        </m:ctrlPr>
                      </m:dPr>
                      <m:e>
                        <m:d>
                          <m:dPr>
                            <m:ctrlPr>
                              <a:rPr lang="en-US" altLang="zh-CN" i="1">
                                <a:latin typeface="Cambria Math" panose="02040503050406030204" pitchFamily="18" charset="0"/>
                              </a:rPr>
                            </m:ctrlPr>
                          </m:dPr>
                          <m:e>
                            <m:r>
                              <a:rPr lang="en-US" altLang="zh-CN" i="1">
                                <a:latin typeface="Cambria Math" panose="02040503050406030204" pitchFamily="18" charset="0"/>
                              </a:rPr>
                              <m:t>1</m:t>
                            </m:r>
                          </m:e>
                        </m:d>
                        <m:r>
                          <a:rPr lang="en-US" altLang="zh-CN" i="1">
                            <a:latin typeface="Cambria Math" panose="02040503050406030204" pitchFamily="18" charset="0"/>
                          </a:rPr>
                          <m:t>+</m:t>
                        </m:r>
                        <m:d>
                          <m:dPr>
                            <m:ctrlPr>
                              <a:rPr lang="en-US" altLang="zh-CN" i="1">
                                <a:latin typeface="Cambria Math" panose="02040503050406030204" pitchFamily="18" charset="0"/>
                              </a:rPr>
                            </m:ctrlPr>
                          </m:dPr>
                          <m:e>
                            <m:r>
                              <a:rPr lang="en-US" altLang="zh-CN" i="1">
                                <a:latin typeface="Cambria Math" panose="02040503050406030204" pitchFamily="18" charset="0"/>
                              </a:rPr>
                              <m:t>2</m:t>
                            </m:r>
                          </m:e>
                        </m:d>
                      </m:e>
                    </m:d>
                    <m:r>
                      <a:rPr lang="en-US" altLang="zh-CN" i="1">
                        <a:latin typeface="Cambria Math" panose="02040503050406030204" pitchFamily="18" charset="0"/>
                      </a:rPr>
                      <m:t>𝑀</m:t>
                    </m:r>
                  </m:oMath>
                </a14:m>
                <a:r>
                  <a:rPr lang="en-US" altLang="zh-CN" dirty="0"/>
                  <a:t>, we have</a:t>
                </a:r>
              </a:p>
              <a:p>
                <a:pPr marL="0" indent="0">
                  <a:lnSpc>
                    <a:spcPct val="120000"/>
                  </a:lnSpc>
                  <a:buNone/>
                </a:pPr>
                <a14:m>
                  <m:oMathPara xmlns:m="http://schemas.openxmlformats.org/officeDocument/2006/math">
                    <m:oMathParaPr>
                      <m:jc m:val="centerGroup"/>
                    </m:oMathParaPr>
                    <m:oMath xmlns:m="http://schemas.openxmlformats.org/officeDocument/2006/math">
                      <m:r>
                        <a:rPr lang="en-US" altLang="zh-CN" i="1">
                          <a:solidFill>
                            <a:srgbClr val="C00000"/>
                          </a:solidFill>
                          <a:latin typeface="Cambria Math" panose="02040503050406030204" pitchFamily="18" charset="0"/>
                        </a:rPr>
                        <m:t>𝑀</m:t>
                      </m:r>
                      <m:acc>
                        <m:accPr>
                          <m:chr m:val="̈"/>
                          <m:ctrlPr>
                            <a:rPr lang="en-US" altLang="zh-CN" i="1">
                              <a:solidFill>
                                <a:srgbClr val="C00000"/>
                              </a:solidFill>
                              <a:latin typeface="Cambria Math" panose="02040503050406030204" pitchFamily="18" charset="0"/>
                            </a:rPr>
                          </m:ctrlPr>
                        </m:accPr>
                        <m:e>
                          <m:r>
                            <a:rPr lang="en-US" altLang="zh-CN" b="1">
                              <a:solidFill>
                                <a:srgbClr val="C00000"/>
                              </a:solidFill>
                              <a:latin typeface="Cambria Math" panose="02040503050406030204" pitchFamily="18" charset="0"/>
                            </a:rPr>
                            <m:t>𝐑</m:t>
                          </m:r>
                        </m:e>
                      </m:acc>
                      <m:r>
                        <a:rPr lang="en-US" altLang="zh-CN" i="1">
                          <a:solidFill>
                            <a:srgbClr val="C00000"/>
                          </a:solidFill>
                          <a:latin typeface="Cambria Math" panose="02040503050406030204" pitchFamily="18" charset="0"/>
                        </a:rPr>
                        <m:t>=0</m:t>
                      </m:r>
                    </m:oMath>
                  </m:oMathPara>
                </a14:m>
                <a:endParaRPr lang="en-US" altLang="zh-CN" i="1" dirty="0">
                  <a:solidFill>
                    <a:srgbClr val="C00000"/>
                  </a:solidFill>
                </a:endParaRPr>
              </a:p>
              <a:p>
                <a:pPr marL="0" indent="0">
                  <a:lnSpc>
                    <a:spcPct val="120000"/>
                  </a:lnSpc>
                  <a:buNone/>
                </a:pPr>
                <a:r>
                  <a:rPr lang="en-US" altLang="zh-CN" dirty="0"/>
                  <a:t>Define reduced mass </a:t>
                </a:r>
                <a14:m>
                  <m:oMath xmlns:m="http://schemas.openxmlformats.org/officeDocument/2006/math">
                    <m:sSub>
                      <m:sSubPr>
                        <m:ctrlPr>
                          <a:rPr lang="en-US" altLang="zh-CN" b="0" i="1" smtClean="0">
                            <a:solidFill>
                              <a:srgbClr val="0070C0"/>
                            </a:solidFill>
                            <a:latin typeface="Cambria Math" panose="02040503050406030204" pitchFamily="18" charset="0"/>
                          </a:rPr>
                        </m:ctrlPr>
                      </m:sSubPr>
                      <m:e>
                        <m:r>
                          <a:rPr lang="en-US" altLang="zh-CN" b="0" i="1" smtClean="0">
                            <a:solidFill>
                              <a:srgbClr val="0070C0"/>
                            </a:solidFill>
                            <a:latin typeface="Cambria Math" panose="02040503050406030204" pitchFamily="18" charset="0"/>
                          </a:rPr>
                          <m:t>𝑚</m:t>
                        </m:r>
                      </m:e>
                      <m:sub>
                        <m:r>
                          <a:rPr lang="en-US" altLang="zh-CN" i="1">
                            <a:solidFill>
                              <a:srgbClr val="0070C0"/>
                            </a:solidFill>
                            <a:latin typeface="Cambria Math" panose="02040503050406030204" pitchFamily="18" charset="0"/>
                          </a:rPr>
                          <m:t>𝜇</m:t>
                        </m:r>
                      </m:sub>
                    </m:sSub>
                    <m:r>
                      <a:rPr lang="en-US" altLang="zh-CN" i="1">
                        <a:solidFill>
                          <a:srgbClr val="0070C0"/>
                        </a:solidFill>
                        <a:latin typeface="Cambria Math" panose="02040503050406030204" pitchFamily="18" charset="0"/>
                        <a:ea typeface="Cambria Math" panose="02040503050406030204" pitchFamily="18" charset="0"/>
                      </a:rPr>
                      <m:t>≡</m:t>
                    </m:r>
                    <m:f>
                      <m:fPr>
                        <m:ctrlPr>
                          <a:rPr lang="en-US" altLang="zh-CN" i="1">
                            <a:solidFill>
                              <a:srgbClr val="0070C0"/>
                            </a:solidFill>
                            <a:latin typeface="Cambria Math" panose="02040503050406030204" pitchFamily="18" charset="0"/>
                            <a:ea typeface="Cambria Math" panose="02040503050406030204" pitchFamily="18" charset="0"/>
                          </a:rPr>
                        </m:ctrlPr>
                      </m:fPr>
                      <m:num>
                        <m:sSub>
                          <m:sSubPr>
                            <m:ctrlPr>
                              <a:rPr lang="en-US" altLang="zh-CN" i="1">
                                <a:solidFill>
                                  <a:srgbClr val="0070C0"/>
                                </a:solidFill>
                                <a:latin typeface="Cambria Math" panose="02040503050406030204" pitchFamily="18" charset="0"/>
                                <a:ea typeface="Cambria Math" panose="02040503050406030204" pitchFamily="18" charset="0"/>
                              </a:rPr>
                            </m:ctrlPr>
                          </m:sSubPr>
                          <m:e>
                            <m:r>
                              <a:rPr lang="en-US" altLang="zh-CN" i="1">
                                <a:solidFill>
                                  <a:srgbClr val="0070C0"/>
                                </a:solidFill>
                                <a:latin typeface="Cambria Math" panose="02040503050406030204" pitchFamily="18" charset="0"/>
                                <a:ea typeface="Cambria Math" panose="02040503050406030204" pitchFamily="18" charset="0"/>
                              </a:rPr>
                              <m:t>𝑚</m:t>
                            </m:r>
                          </m:e>
                          <m:sub>
                            <m:r>
                              <a:rPr lang="en-US" altLang="zh-CN" i="1">
                                <a:solidFill>
                                  <a:srgbClr val="0070C0"/>
                                </a:solidFill>
                                <a:latin typeface="Cambria Math" panose="02040503050406030204" pitchFamily="18" charset="0"/>
                                <a:ea typeface="Cambria Math" panose="02040503050406030204" pitchFamily="18" charset="0"/>
                              </a:rPr>
                              <m:t>1</m:t>
                            </m:r>
                          </m:sub>
                        </m:sSub>
                        <m:sSub>
                          <m:sSubPr>
                            <m:ctrlPr>
                              <a:rPr lang="en-US" altLang="zh-CN" i="1">
                                <a:solidFill>
                                  <a:srgbClr val="0070C0"/>
                                </a:solidFill>
                                <a:latin typeface="Cambria Math" panose="02040503050406030204" pitchFamily="18" charset="0"/>
                                <a:ea typeface="Cambria Math" panose="02040503050406030204" pitchFamily="18" charset="0"/>
                              </a:rPr>
                            </m:ctrlPr>
                          </m:sSubPr>
                          <m:e>
                            <m:r>
                              <a:rPr lang="en-US" altLang="zh-CN" i="1">
                                <a:solidFill>
                                  <a:srgbClr val="0070C0"/>
                                </a:solidFill>
                                <a:latin typeface="Cambria Math" panose="02040503050406030204" pitchFamily="18" charset="0"/>
                                <a:ea typeface="Cambria Math" panose="02040503050406030204" pitchFamily="18" charset="0"/>
                              </a:rPr>
                              <m:t>𝑚</m:t>
                            </m:r>
                          </m:e>
                          <m:sub>
                            <m:r>
                              <a:rPr lang="en-US" altLang="zh-CN" i="1">
                                <a:solidFill>
                                  <a:srgbClr val="0070C0"/>
                                </a:solidFill>
                                <a:latin typeface="Cambria Math" panose="02040503050406030204" pitchFamily="18" charset="0"/>
                                <a:ea typeface="Cambria Math" panose="02040503050406030204" pitchFamily="18" charset="0"/>
                              </a:rPr>
                              <m:t>2</m:t>
                            </m:r>
                          </m:sub>
                        </m:sSub>
                      </m:num>
                      <m:den>
                        <m:sSub>
                          <m:sSubPr>
                            <m:ctrlPr>
                              <a:rPr lang="en-US" altLang="zh-CN" i="1">
                                <a:solidFill>
                                  <a:srgbClr val="0070C0"/>
                                </a:solidFill>
                                <a:latin typeface="Cambria Math" panose="02040503050406030204" pitchFamily="18" charset="0"/>
                                <a:ea typeface="Cambria Math" panose="02040503050406030204" pitchFamily="18" charset="0"/>
                              </a:rPr>
                            </m:ctrlPr>
                          </m:sSubPr>
                          <m:e>
                            <m:r>
                              <m:rPr>
                                <m:sty m:val="p"/>
                              </m:rPr>
                              <a:rPr lang="en-US" altLang="zh-CN">
                                <a:solidFill>
                                  <a:srgbClr val="0070C0"/>
                                </a:solidFill>
                                <a:latin typeface="Cambria Math" panose="02040503050406030204" pitchFamily="18" charset="0"/>
                                <a:ea typeface="Cambria Math" panose="02040503050406030204" pitchFamily="18" charset="0"/>
                              </a:rPr>
                              <m:t>m</m:t>
                            </m:r>
                          </m:e>
                          <m:sub>
                            <m:r>
                              <a:rPr lang="en-US" altLang="zh-CN">
                                <a:solidFill>
                                  <a:srgbClr val="0070C0"/>
                                </a:solidFill>
                                <a:latin typeface="Cambria Math" panose="02040503050406030204" pitchFamily="18" charset="0"/>
                                <a:ea typeface="Cambria Math" panose="02040503050406030204" pitchFamily="18" charset="0"/>
                              </a:rPr>
                              <m:t>1</m:t>
                            </m:r>
                          </m:sub>
                        </m:sSub>
                        <m:r>
                          <a:rPr lang="en-US" altLang="zh-CN">
                            <a:solidFill>
                              <a:srgbClr val="0070C0"/>
                            </a:solidFill>
                            <a:latin typeface="Cambria Math" panose="02040503050406030204" pitchFamily="18" charset="0"/>
                            <a:ea typeface="Cambria Math" panose="02040503050406030204" pitchFamily="18" charset="0"/>
                          </a:rPr>
                          <m:t>+</m:t>
                        </m:r>
                        <m:sSub>
                          <m:sSubPr>
                            <m:ctrlPr>
                              <a:rPr lang="en-US" altLang="zh-CN" i="1">
                                <a:solidFill>
                                  <a:srgbClr val="0070C0"/>
                                </a:solidFill>
                                <a:latin typeface="Cambria Math" panose="02040503050406030204" pitchFamily="18" charset="0"/>
                                <a:ea typeface="Cambria Math" panose="02040503050406030204" pitchFamily="18" charset="0"/>
                              </a:rPr>
                            </m:ctrlPr>
                          </m:sSubPr>
                          <m:e>
                            <m:r>
                              <m:rPr>
                                <m:sty m:val="p"/>
                              </m:rPr>
                              <a:rPr lang="en-US" altLang="zh-CN">
                                <a:solidFill>
                                  <a:srgbClr val="0070C0"/>
                                </a:solidFill>
                                <a:latin typeface="Cambria Math" panose="02040503050406030204" pitchFamily="18" charset="0"/>
                                <a:ea typeface="Cambria Math" panose="02040503050406030204" pitchFamily="18" charset="0"/>
                              </a:rPr>
                              <m:t>m</m:t>
                            </m:r>
                          </m:e>
                          <m:sub>
                            <m:r>
                              <a:rPr lang="en-US" altLang="zh-CN">
                                <a:solidFill>
                                  <a:srgbClr val="0070C0"/>
                                </a:solidFill>
                                <a:latin typeface="Cambria Math" panose="02040503050406030204" pitchFamily="18" charset="0"/>
                                <a:ea typeface="Cambria Math" panose="02040503050406030204" pitchFamily="18" charset="0"/>
                              </a:rPr>
                              <m:t>2</m:t>
                            </m:r>
                          </m:sub>
                        </m:sSub>
                      </m:den>
                    </m:f>
                    <m:r>
                      <a:rPr lang="en-US" altLang="zh-CN" i="1">
                        <a:solidFill>
                          <a:srgbClr val="0070C0"/>
                        </a:solidFill>
                        <a:latin typeface="Cambria Math" panose="02040503050406030204" pitchFamily="18" charset="0"/>
                        <a:ea typeface="Cambria Math" panose="02040503050406030204" pitchFamily="18" charset="0"/>
                      </a:rPr>
                      <m:t>, </m:t>
                    </m:r>
                  </m:oMath>
                </a14:m>
                <a:r>
                  <a:rPr lang="en-US" altLang="zh-CN" dirty="0"/>
                  <a:t>and use </a:t>
                </a:r>
                <a14:m>
                  <m:oMath xmlns:m="http://schemas.openxmlformats.org/officeDocument/2006/math">
                    <m:d>
                      <m:dPr>
                        <m:ctrlPr>
                          <a:rPr lang="en-US" altLang="zh-CN" i="1">
                            <a:latin typeface="Cambria Math" panose="02040503050406030204" pitchFamily="18" charset="0"/>
                          </a:rPr>
                        </m:ctrlPr>
                      </m:dPr>
                      <m:e>
                        <m:r>
                          <a:rPr lang="en-US" altLang="zh-CN" i="1">
                            <a:latin typeface="Cambria Math" panose="02040503050406030204" pitchFamily="18" charset="0"/>
                          </a:rPr>
                          <m:t>1</m:t>
                        </m:r>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𝑚</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2</m:t>
                        </m:r>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𝑚</m:t>
                        </m:r>
                      </m:e>
                      <m:sub>
                        <m:r>
                          <a:rPr lang="en-US" altLang="zh-CN" b="0" i="1" smtClean="0">
                            <a:latin typeface="Cambria Math" panose="02040503050406030204" pitchFamily="18" charset="0"/>
                          </a:rPr>
                          <m:t>1</m:t>
                        </m:r>
                      </m:sub>
                    </m:sSub>
                  </m:oMath>
                </a14:m>
                <a:r>
                  <a:rPr lang="en-US" altLang="zh-CN" b="0" dirty="0"/>
                  <a:t>, we have</a:t>
                </a:r>
              </a:p>
              <a:p>
                <a:pPr marL="0" indent="0">
                  <a:lnSpc>
                    <a:spcPct val="120000"/>
                  </a:lnSpc>
                  <a:buNone/>
                </a:pPr>
                <a14:m>
                  <m:oMathPara xmlns:m="http://schemas.openxmlformats.org/officeDocument/2006/math">
                    <m:oMathParaPr>
                      <m:jc m:val="center"/>
                    </m:oMathParaPr>
                    <m:oMath xmlns:m="http://schemas.openxmlformats.org/officeDocument/2006/math">
                      <m:sSub>
                        <m:sSubPr>
                          <m:ctrlPr>
                            <a:rPr lang="en-US" altLang="zh-CN" i="1" smtClean="0">
                              <a:solidFill>
                                <a:srgbClr val="C00000"/>
                              </a:solidFill>
                              <a:latin typeface="Cambria Math" panose="02040503050406030204" pitchFamily="18" charset="0"/>
                            </a:rPr>
                          </m:ctrlPr>
                        </m:sSubPr>
                        <m:e>
                          <m:r>
                            <a:rPr lang="en-US" altLang="zh-CN" i="1">
                              <a:solidFill>
                                <a:srgbClr val="C00000"/>
                              </a:solidFill>
                              <a:latin typeface="Cambria Math" panose="02040503050406030204" pitchFamily="18" charset="0"/>
                            </a:rPr>
                            <m:t>𝑚</m:t>
                          </m:r>
                        </m:e>
                        <m:sub>
                          <m:r>
                            <a:rPr lang="en-US" altLang="zh-CN" i="1">
                              <a:solidFill>
                                <a:srgbClr val="C00000"/>
                              </a:solidFill>
                              <a:latin typeface="Cambria Math" panose="02040503050406030204" pitchFamily="18" charset="0"/>
                            </a:rPr>
                            <m:t>𝜇</m:t>
                          </m:r>
                        </m:sub>
                      </m:sSub>
                      <m:acc>
                        <m:accPr>
                          <m:chr m:val="̈"/>
                          <m:ctrlPr>
                            <a:rPr lang="en-US" altLang="zh-CN" b="0" i="1" smtClean="0">
                              <a:solidFill>
                                <a:srgbClr val="C00000"/>
                              </a:solidFill>
                              <a:latin typeface="Cambria Math" panose="02040503050406030204" pitchFamily="18" charset="0"/>
                            </a:rPr>
                          </m:ctrlPr>
                        </m:accPr>
                        <m:e>
                          <m:r>
                            <a:rPr lang="en-US" altLang="zh-CN" b="1" i="0" smtClean="0">
                              <a:solidFill>
                                <a:srgbClr val="C00000"/>
                              </a:solidFill>
                              <a:latin typeface="Cambria Math" panose="02040503050406030204" pitchFamily="18" charset="0"/>
                            </a:rPr>
                            <m:t>𝐫</m:t>
                          </m:r>
                        </m:e>
                      </m:acc>
                      <m:r>
                        <a:rPr lang="en-US" altLang="zh-CN" b="0" i="1" smtClean="0">
                          <a:solidFill>
                            <a:srgbClr val="C00000"/>
                          </a:solidFill>
                          <a:latin typeface="Cambria Math" panose="02040503050406030204" pitchFamily="18" charset="0"/>
                        </a:rPr>
                        <m:t>=</m:t>
                      </m:r>
                      <m:r>
                        <a:rPr lang="en-US" altLang="zh-CN" b="1" i="0" smtClean="0">
                          <a:solidFill>
                            <a:srgbClr val="C00000"/>
                          </a:solidFill>
                          <a:latin typeface="Cambria Math" panose="02040503050406030204" pitchFamily="18" charset="0"/>
                        </a:rPr>
                        <m:t>𝐅</m:t>
                      </m:r>
                      <m:r>
                        <a:rPr lang="en-US" altLang="zh-CN" b="0" i="1" smtClean="0">
                          <a:solidFill>
                            <a:srgbClr val="C00000"/>
                          </a:solidFill>
                          <a:latin typeface="Cambria Math" panose="02040503050406030204" pitchFamily="18" charset="0"/>
                        </a:rPr>
                        <m:t>(</m:t>
                      </m:r>
                      <m:r>
                        <a:rPr lang="en-US" altLang="zh-CN" b="1" i="0" smtClean="0">
                          <a:solidFill>
                            <a:srgbClr val="C00000"/>
                          </a:solidFill>
                          <a:latin typeface="Cambria Math" panose="02040503050406030204" pitchFamily="18" charset="0"/>
                        </a:rPr>
                        <m:t>𝐫</m:t>
                      </m:r>
                      <m:r>
                        <a:rPr lang="en-US" altLang="zh-CN" b="0" i="1" smtClean="0">
                          <a:solidFill>
                            <a:srgbClr val="C00000"/>
                          </a:solidFill>
                          <a:latin typeface="Cambria Math" panose="02040503050406030204" pitchFamily="18" charset="0"/>
                        </a:rPr>
                        <m:t>)</m:t>
                      </m:r>
                    </m:oMath>
                  </m:oMathPara>
                </a14:m>
                <a:endParaRPr lang="en-US" altLang="zh-CN" b="0" dirty="0">
                  <a:solidFill>
                    <a:srgbClr val="C00000"/>
                  </a:solidFill>
                </a:endParaRPr>
              </a:p>
              <a:p>
                <a:pPr marL="0" indent="0">
                  <a:lnSpc>
                    <a:spcPct val="120000"/>
                  </a:lnSpc>
                  <a:buNone/>
                </a:pPr>
                <a:r>
                  <a:rPr lang="en-US" altLang="zh-CN" dirty="0"/>
                  <a:t>The original two coupled equations about </a:t>
                </a:r>
                <a14:m>
                  <m:oMath xmlns:m="http://schemas.openxmlformats.org/officeDocument/2006/math">
                    <m:sSub>
                      <m:sSubPr>
                        <m:ctrlPr>
                          <a:rPr lang="en-US" altLang="zh-CN" i="1">
                            <a:latin typeface="Cambria Math" panose="02040503050406030204" pitchFamily="18" charset="0"/>
                          </a:rPr>
                        </m:ctrlPr>
                      </m:sSubPr>
                      <m:e>
                        <m:r>
                          <a:rPr lang="en-US" altLang="zh-CN" b="1">
                            <a:latin typeface="Cambria Math" panose="02040503050406030204" pitchFamily="18" charset="0"/>
                          </a:rPr>
                          <m:t>𝐱</m:t>
                        </m:r>
                      </m:e>
                      <m:sub>
                        <m:r>
                          <a:rPr lang="en-US" altLang="zh-CN" i="1">
                            <a:latin typeface="Cambria Math" panose="02040503050406030204" pitchFamily="18" charset="0"/>
                          </a:rPr>
                          <m:t>1</m:t>
                        </m:r>
                      </m:sub>
                    </m:sSub>
                  </m:oMath>
                </a14:m>
                <a:r>
                  <a:rPr lang="en-US" altLang="zh-CN" dirty="0"/>
                  <a:t> and </a:t>
                </a:r>
                <a14:m>
                  <m:oMath xmlns:m="http://schemas.openxmlformats.org/officeDocument/2006/math">
                    <m:sSub>
                      <m:sSubPr>
                        <m:ctrlPr>
                          <a:rPr lang="en-US" altLang="zh-CN" i="1">
                            <a:latin typeface="Cambria Math" panose="02040503050406030204" pitchFamily="18" charset="0"/>
                          </a:rPr>
                        </m:ctrlPr>
                      </m:sSubPr>
                      <m:e>
                        <m:r>
                          <a:rPr lang="en-US" altLang="zh-CN" b="1">
                            <a:latin typeface="Cambria Math" panose="02040503050406030204" pitchFamily="18" charset="0"/>
                          </a:rPr>
                          <m:t>𝐱</m:t>
                        </m:r>
                      </m:e>
                      <m:sub>
                        <m:r>
                          <a:rPr lang="en-US" altLang="zh-CN" i="1">
                            <a:latin typeface="Cambria Math" panose="02040503050406030204" pitchFamily="18" charset="0"/>
                          </a:rPr>
                          <m:t>2</m:t>
                        </m:r>
                      </m:sub>
                    </m:sSub>
                  </m:oMath>
                </a14:m>
                <a:r>
                  <a:rPr lang="en-US" altLang="zh-CN" dirty="0"/>
                  <a:t> are now transformed into two uncoupled/independent equations about </a:t>
                </a:r>
                <a14:m>
                  <m:oMath xmlns:m="http://schemas.openxmlformats.org/officeDocument/2006/math">
                    <m:r>
                      <a:rPr lang="en-US" altLang="zh-CN" b="1">
                        <a:latin typeface="Cambria Math" panose="02040503050406030204" pitchFamily="18" charset="0"/>
                        <a:ea typeface="Cambria Math" panose="02040503050406030204" pitchFamily="18" charset="0"/>
                      </a:rPr>
                      <m:t>𝐫</m:t>
                    </m:r>
                  </m:oMath>
                </a14:m>
                <a:r>
                  <a:rPr lang="en-US" altLang="zh-CN" dirty="0"/>
                  <a:t> and </a:t>
                </a:r>
                <a14:m>
                  <m:oMath xmlns:m="http://schemas.openxmlformats.org/officeDocument/2006/math">
                    <m:r>
                      <a:rPr lang="en-US" altLang="zh-CN" b="1">
                        <a:latin typeface="Cambria Math" panose="02040503050406030204" pitchFamily="18" charset="0"/>
                        <a:ea typeface="Cambria Math" panose="02040503050406030204" pitchFamily="18" charset="0"/>
                      </a:rPr>
                      <m:t>𝐑</m:t>
                    </m:r>
                  </m:oMath>
                </a14:m>
                <a:r>
                  <a:rPr lang="en-US" altLang="zh-CN" dirty="0">
                    <a:ea typeface="Cambria Math" panose="02040503050406030204" pitchFamily="18" charset="0"/>
                  </a:rPr>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59723" y="843176"/>
                <a:ext cx="11138819" cy="5616624"/>
              </a:xfrm>
              <a:blipFill>
                <a:blip r:embed="rId3"/>
                <a:stretch>
                  <a:fillRect l="-876"/>
                </a:stretch>
              </a:blipFill>
            </p:spPr>
            <p:txBody>
              <a:bodyPr/>
              <a:lstStyle/>
              <a:p>
                <a:r>
                  <a:rPr lang="zh-CN" altLang="en-US">
                    <a:noFill/>
                  </a:rPr>
                  <a:t> </a:t>
                </a:r>
              </a:p>
            </p:txBody>
          </p:sp>
        </mc:Fallback>
      </mc:AlternateContent>
      <p:grpSp>
        <p:nvGrpSpPr>
          <p:cNvPr id="19" name="组合 18"/>
          <p:cNvGrpSpPr/>
          <p:nvPr/>
        </p:nvGrpSpPr>
        <p:grpSpPr>
          <a:xfrm>
            <a:off x="9131905" y="496944"/>
            <a:ext cx="2566638" cy="2499577"/>
            <a:chOff x="8841582" y="-93993"/>
            <a:chExt cx="2566638" cy="2499577"/>
          </a:xfrm>
        </p:grpSpPr>
        <p:grpSp>
          <p:nvGrpSpPr>
            <p:cNvPr id="10" name="组合 9"/>
            <p:cNvGrpSpPr/>
            <p:nvPr/>
          </p:nvGrpSpPr>
          <p:grpSpPr>
            <a:xfrm>
              <a:off x="8841582" y="-93993"/>
              <a:ext cx="2566638" cy="2499577"/>
              <a:chOff x="8841582" y="-93993"/>
              <a:chExt cx="2566638" cy="2499577"/>
            </a:xfrm>
          </p:grpSpPr>
          <p:pic>
            <p:nvPicPr>
              <p:cNvPr id="4" name="图片 3"/>
              <p:cNvPicPr>
                <a:picLocks noChangeAspect="1"/>
              </p:cNvPicPr>
              <p:nvPr/>
            </p:nvPicPr>
            <p:blipFill>
              <a:blip r:embed="rId4"/>
              <a:stretch>
                <a:fillRect/>
              </a:stretch>
            </p:blipFill>
            <p:spPr>
              <a:xfrm>
                <a:off x="8841582" y="-93993"/>
                <a:ext cx="2566638" cy="2499577"/>
              </a:xfrm>
              <a:prstGeom prst="rect">
                <a:avLst/>
              </a:prstGeom>
            </p:spPr>
          </p:pic>
          <mc:AlternateContent xmlns:mc="http://schemas.openxmlformats.org/markup-compatibility/2006" xmlns:a14="http://schemas.microsoft.com/office/drawing/2010/main">
            <mc:Choice Requires="a14">
              <p:sp>
                <p:nvSpPr>
                  <p:cNvPr id="5" name="矩形 4"/>
                  <p:cNvSpPr/>
                  <p:nvPr/>
                </p:nvSpPr>
                <p:spPr>
                  <a:xfrm>
                    <a:off x="10648398" y="237249"/>
                    <a:ext cx="53354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𝑚</m:t>
                              </m:r>
                            </m:e>
                            <m:sub>
                              <m:r>
                                <a:rPr lang="en-US" altLang="zh-CN" i="1">
                                  <a:latin typeface="Cambria Math" panose="02040503050406030204" pitchFamily="18" charset="0"/>
                                </a:rPr>
                                <m:t>1</m:t>
                              </m:r>
                            </m:sub>
                          </m:sSub>
                        </m:oMath>
                      </m:oMathPara>
                    </a14:m>
                    <a:endParaRPr lang="en-US" dirty="0"/>
                  </a:p>
                </p:txBody>
              </p:sp>
            </mc:Choice>
            <mc:Fallback xmlns="">
              <p:sp>
                <p:nvSpPr>
                  <p:cNvPr id="5" name="矩形 4"/>
                  <p:cNvSpPr>
                    <a:spLocks noRot="1" noChangeAspect="1" noMove="1" noResize="1" noEditPoints="1" noAdjustHandles="1" noChangeArrowheads="1" noChangeShapeType="1" noTextEdit="1"/>
                  </p:cNvSpPr>
                  <p:nvPr/>
                </p:nvSpPr>
                <p:spPr>
                  <a:xfrm>
                    <a:off x="10648398" y="237249"/>
                    <a:ext cx="533544"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9568422" y="635202"/>
                    <a:ext cx="53886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𝑚</m:t>
                              </m:r>
                            </m:e>
                            <m:sub>
                              <m:r>
                                <a:rPr lang="en-US" altLang="zh-CN" b="0" i="1" smtClean="0">
                                  <a:latin typeface="Cambria Math" panose="02040503050406030204" pitchFamily="18" charset="0"/>
                                </a:rPr>
                                <m:t>2</m:t>
                              </m:r>
                            </m:sub>
                          </m:sSub>
                        </m:oMath>
                      </m:oMathPara>
                    </a14:m>
                    <a:endParaRPr lang="en-US" dirty="0"/>
                  </a:p>
                </p:txBody>
              </p:sp>
            </mc:Choice>
            <mc:Fallback xmlns="">
              <p:sp>
                <p:nvSpPr>
                  <p:cNvPr id="6" name="矩形 5"/>
                  <p:cNvSpPr>
                    <a:spLocks noRot="1" noChangeAspect="1" noMove="1" noResize="1" noEditPoints="1" noAdjustHandles="1" noChangeArrowheads="1" noChangeShapeType="1" noTextEdit="1"/>
                  </p:cNvSpPr>
                  <p:nvPr/>
                </p:nvSpPr>
                <p:spPr>
                  <a:xfrm>
                    <a:off x="9568422" y="635202"/>
                    <a:ext cx="538865"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10210629" y="606581"/>
                    <a:ext cx="36740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1">
                              <a:latin typeface="Cambria Math" panose="02040503050406030204" pitchFamily="18" charset="0"/>
                            </a:rPr>
                            <m:t>𝐅</m:t>
                          </m:r>
                        </m:oMath>
                      </m:oMathPara>
                    </a14:m>
                    <a:endParaRPr lang="en-US" dirty="0"/>
                  </a:p>
                </p:txBody>
              </p:sp>
            </mc:Choice>
            <mc:Fallback xmlns="">
              <p:sp>
                <p:nvSpPr>
                  <p:cNvPr id="7" name="矩形 6"/>
                  <p:cNvSpPr>
                    <a:spLocks noRot="1" noChangeAspect="1" noMove="1" noResize="1" noEditPoints="1" noAdjustHandles="1" noChangeArrowheads="1" noChangeShapeType="1" noTextEdit="1"/>
                  </p:cNvSpPr>
                  <p:nvPr/>
                </p:nvSpPr>
                <p:spPr>
                  <a:xfrm>
                    <a:off x="10210629" y="606581"/>
                    <a:ext cx="367408" cy="369332"/>
                  </a:xfrm>
                  <a:prstGeom prst="rect">
                    <a:avLst/>
                  </a:prstGeom>
                  <a:blipFill>
                    <a:blip r:embed="rId7"/>
                    <a:stretch>
                      <a:fillRect/>
                    </a:stretch>
                  </a:blipFill>
                </p:spPr>
                <p:txBody>
                  <a:bodyPr/>
                  <a:lstStyle/>
                  <a:p>
                    <a:r>
                      <a:rPr lang="en-US">
                        <a:noFill/>
                      </a:rPr>
                      <a:t> </a:t>
                    </a:r>
                  </a:p>
                </p:txBody>
              </p:sp>
            </mc:Fallback>
          </mc:AlternateContent>
          <p:cxnSp>
            <p:nvCxnSpPr>
              <p:cNvPr id="9" name="直接箭头连接符 8"/>
              <p:cNvCxnSpPr/>
              <p:nvPr/>
            </p:nvCxnSpPr>
            <p:spPr>
              <a:xfrm flipH="1">
                <a:off x="10263447" y="742604"/>
                <a:ext cx="515389" cy="33805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cxnSp>
          <p:nvCxnSpPr>
            <p:cNvPr id="11" name="直接箭头连接符 10"/>
            <p:cNvCxnSpPr/>
            <p:nvPr/>
          </p:nvCxnSpPr>
          <p:spPr>
            <a:xfrm flipH="1" flipV="1">
              <a:off x="10124901" y="1318668"/>
              <a:ext cx="396241" cy="88697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4" name="直接箭头连接符 13"/>
            <p:cNvCxnSpPr/>
            <p:nvPr/>
          </p:nvCxnSpPr>
          <p:spPr>
            <a:xfrm flipV="1">
              <a:off x="10521141" y="791247"/>
              <a:ext cx="317708" cy="138073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7" name="矩形 16"/>
                <p:cNvSpPr/>
                <p:nvPr/>
              </p:nvSpPr>
              <p:spPr>
                <a:xfrm>
                  <a:off x="9769902" y="1266430"/>
                  <a:ext cx="47404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b="1">
                                <a:latin typeface="Cambria Math" panose="02040503050406030204" pitchFamily="18" charset="0"/>
                              </a:rPr>
                              <m:t>𝐱</m:t>
                            </m:r>
                          </m:e>
                          <m:sub>
                            <m:r>
                              <a:rPr lang="en-US" altLang="zh-CN" i="1">
                                <a:latin typeface="Cambria Math" panose="02040503050406030204" pitchFamily="18" charset="0"/>
                              </a:rPr>
                              <m:t>2</m:t>
                            </m:r>
                          </m:sub>
                        </m:sSub>
                      </m:oMath>
                    </m:oMathPara>
                  </a14:m>
                  <a:endParaRPr lang="en-US" dirty="0"/>
                </a:p>
              </p:txBody>
            </p:sp>
          </mc:Choice>
          <mc:Fallback xmlns="">
            <p:sp>
              <p:nvSpPr>
                <p:cNvPr id="17" name="矩形 16"/>
                <p:cNvSpPr>
                  <a:spLocks noRot="1" noChangeAspect="1" noMove="1" noResize="1" noEditPoints="1" noAdjustHandles="1" noChangeArrowheads="1" noChangeShapeType="1" noTextEdit="1"/>
                </p:cNvSpPr>
                <p:nvPr/>
              </p:nvSpPr>
              <p:spPr>
                <a:xfrm>
                  <a:off x="9769902" y="1266430"/>
                  <a:ext cx="474041"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矩形 17"/>
                <p:cNvSpPr/>
                <p:nvPr/>
              </p:nvSpPr>
              <p:spPr>
                <a:xfrm>
                  <a:off x="10795236" y="750597"/>
                  <a:ext cx="46871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1">
                                <a:latin typeface="Cambria Math" panose="02040503050406030204" pitchFamily="18" charset="0"/>
                              </a:rPr>
                              <m:t>𝐱</m:t>
                            </m:r>
                          </m:e>
                          <m:sub>
                            <m:r>
                              <a:rPr lang="en-US" altLang="zh-CN" b="0" i="1" smtClean="0">
                                <a:latin typeface="Cambria Math" panose="02040503050406030204" pitchFamily="18" charset="0"/>
                              </a:rPr>
                              <m:t>1</m:t>
                            </m:r>
                          </m:sub>
                        </m:sSub>
                      </m:oMath>
                    </m:oMathPara>
                  </a14:m>
                  <a:endParaRPr lang="en-US" dirty="0"/>
                </a:p>
              </p:txBody>
            </p:sp>
          </mc:Choice>
          <mc:Fallback xmlns="">
            <p:sp>
              <p:nvSpPr>
                <p:cNvPr id="18" name="矩形 17"/>
                <p:cNvSpPr>
                  <a:spLocks noRot="1" noChangeAspect="1" noMove="1" noResize="1" noEditPoints="1" noAdjustHandles="1" noChangeArrowheads="1" noChangeShapeType="1" noTextEdit="1"/>
                </p:cNvSpPr>
                <p:nvPr/>
              </p:nvSpPr>
              <p:spPr>
                <a:xfrm>
                  <a:off x="10795236" y="750597"/>
                  <a:ext cx="468718" cy="369332"/>
                </a:xfrm>
                <a:prstGeom prst="rect">
                  <a:avLst/>
                </a:prstGeom>
                <a:blipFill>
                  <a:blip r:embed="rId9"/>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39836555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62FCA-57B9-4147-A58D-EA77976F74AB}"/>
              </a:ext>
            </a:extLst>
          </p:cNvPr>
          <p:cNvSpPr>
            <a:spLocks noGrp="1"/>
          </p:cNvSpPr>
          <p:nvPr>
            <p:ph type="title"/>
          </p:nvPr>
        </p:nvSpPr>
        <p:spPr>
          <a:xfrm>
            <a:off x="609599" y="184150"/>
            <a:ext cx="11055927" cy="644525"/>
          </a:xfrm>
        </p:spPr>
        <p:txBody>
          <a:bodyPr>
            <a:noAutofit/>
          </a:bodyPr>
          <a:lstStyle/>
          <a:p>
            <a:r>
              <a:rPr lang="en-US" altLang="zh-CN" sz="2800" dirty="0"/>
              <a:t>Total kinetic energy in the Lab and the center-of-mass reference frames</a:t>
            </a:r>
            <a:endParaRPr lang="en-US" sz="28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FD57B5F-14E0-4EF6-83DF-93110DB003EF}"/>
                  </a:ext>
                </a:extLst>
              </p:cNvPr>
              <p:cNvSpPr>
                <a:spLocks noGrp="1"/>
              </p:cNvSpPr>
              <p:nvPr>
                <p:ph idx="1"/>
              </p:nvPr>
            </p:nvSpPr>
            <p:spPr/>
            <p:txBody>
              <a:bodyPr>
                <a:noAutofit/>
              </a:bodyPr>
              <a:lstStyle/>
              <a:p>
                <a:pPr marL="0" indent="0">
                  <a:lnSpc>
                    <a:spcPct val="150000"/>
                  </a:lnSpc>
                  <a:buNone/>
                </a:pPr>
                <a14:m>
                  <m:oMathPara xmlns:m="http://schemas.openxmlformats.org/officeDocument/2006/math">
                    <m:oMathParaPr>
                      <m:jc m:val="centerGroup"/>
                    </m:oMathParaPr>
                    <m:oMath xmlns:m="http://schemas.openxmlformats.org/officeDocument/2006/math">
                      <m:r>
                        <a:rPr lang="en-US" altLang="zh-CN" sz="2000" i="1" smtClean="0">
                          <a:latin typeface="Cambria Math" panose="02040503050406030204" pitchFamily="18" charset="0"/>
                          <a:ea typeface="Cambria Math" panose="02040503050406030204" pitchFamily="18" charset="0"/>
                        </a:rPr>
                        <m:t>𝑀</m:t>
                      </m:r>
                      <m:acc>
                        <m:accPr>
                          <m:chr m:val="̇"/>
                          <m:ctrlPr>
                            <a:rPr lang="en-US" altLang="zh-CN" sz="2000" b="1" i="1" smtClean="0">
                              <a:latin typeface="Cambria Math" panose="02040503050406030204" pitchFamily="18" charset="0"/>
                              <a:ea typeface="Cambria Math" panose="02040503050406030204" pitchFamily="18" charset="0"/>
                            </a:rPr>
                          </m:ctrlPr>
                        </m:accPr>
                        <m:e>
                          <m:r>
                            <a:rPr lang="en-US" altLang="zh-CN" sz="2000" b="1" smtClean="0">
                              <a:latin typeface="Cambria Math" panose="02040503050406030204" pitchFamily="18" charset="0"/>
                              <a:ea typeface="Cambria Math" panose="02040503050406030204" pitchFamily="18" charset="0"/>
                            </a:rPr>
                            <m:t>𝐑</m:t>
                          </m:r>
                        </m:e>
                      </m:acc>
                      <m:r>
                        <a:rPr lang="en-US" altLang="zh-CN" sz="2000" b="0" i="1" smtClean="0">
                          <a:latin typeface="Cambria Math" panose="02040503050406030204" pitchFamily="18" charset="0"/>
                          <a:ea typeface="Cambria Math" panose="02040503050406030204" pitchFamily="18" charset="0"/>
                        </a:rPr>
                        <m:t>=</m:t>
                      </m:r>
                      <m:sSub>
                        <m:sSubPr>
                          <m:ctrlPr>
                            <a:rPr lang="en-US" altLang="zh-CN" sz="2000" i="1">
                              <a:latin typeface="Cambria Math" panose="02040503050406030204" pitchFamily="18" charset="0"/>
                              <a:ea typeface="Cambria Math" panose="02040503050406030204" pitchFamily="18" charset="0"/>
                            </a:rPr>
                          </m:ctrlPr>
                        </m:sSubPr>
                        <m:e>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𝑚</m:t>
                              </m:r>
                            </m:e>
                            <m:sub>
                              <m:r>
                                <a:rPr lang="en-US" altLang="zh-CN" sz="2000" i="1">
                                  <a:latin typeface="Cambria Math" panose="02040503050406030204" pitchFamily="18" charset="0"/>
                                  <a:ea typeface="Cambria Math" panose="02040503050406030204" pitchFamily="18" charset="0"/>
                                </a:rPr>
                                <m:t>1</m:t>
                              </m:r>
                            </m:sub>
                          </m:sSub>
                          <m:acc>
                            <m:accPr>
                              <m:chr m:val="̇"/>
                              <m:ctrlPr>
                                <a:rPr lang="en-US" altLang="zh-CN" sz="2000" b="1" i="1">
                                  <a:latin typeface="Cambria Math" panose="02040503050406030204" pitchFamily="18" charset="0"/>
                                  <a:ea typeface="Cambria Math" panose="02040503050406030204" pitchFamily="18" charset="0"/>
                                </a:rPr>
                              </m:ctrlPr>
                            </m:accPr>
                            <m:e>
                              <m:r>
                                <a:rPr lang="en-US" altLang="zh-CN" sz="2000" b="1">
                                  <a:latin typeface="Cambria Math" panose="02040503050406030204" pitchFamily="18" charset="0"/>
                                  <a:ea typeface="Cambria Math" panose="02040503050406030204" pitchFamily="18" charset="0"/>
                                </a:rPr>
                                <m:t>𝐱</m:t>
                              </m:r>
                            </m:e>
                          </m:acc>
                        </m:e>
                        <m:sub>
                          <m:r>
                            <a:rPr lang="en-US" altLang="zh-CN" sz="2000" i="1">
                              <a:latin typeface="Cambria Math" panose="02040503050406030204" pitchFamily="18" charset="0"/>
                              <a:ea typeface="Cambria Math" panose="02040503050406030204" pitchFamily="18" charset="0"/>
                            </a:rPr>
                            <m:t>1</m:t>
                          </m:r>
                        </m:sub>
                      </m:sSub>
                      <m:r>
                        <a:rPr lang="en-US" altLang="zh-CN" sz="2000" i="1">
                          <a:latin typeface="Cambria Math" panose="02040503050406030204" pitchFamily="18" charset="0"/>
                          <a:ea typeface="Cambria Math" panose="02040503050406030204" pitchFamily="18" charset="0"/>
                        </a:rPr>
                        <m:t>+</m:t>
                      </m:r>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𝑚</m:t>
                          </m:r>
                        </m:e>
                        <m:sub>
                          <m:r>
                            <a:rPr lang="en-US" altLang="zh-CN" sz="2000" i="1">
                              <a:latin typeface="Cambria Math" panose="02040503050406030204" pitchFamily="18" charset="0"/>
                              <a:ea typeface="Cambria Math" panose="02040503050406030204" pitchFamily="18" charset="0"/>
                            </a:rPr>
                            <m:t>2</m:t>
                          </m:r>
                        </m:sub>
                      </m:sSub>
                      <m:sSub>
                        <m:sSubPr>
                          <m:ctrlPr>
                            <a:rPr lang="en-US" altLang="zh-CN" sz="2000" i="1">
                              <a:latin typeface="Cambria Math" panose="02040503050406030204" pitchFamily="18" charset="0"/>
                              <a:ea typeface="Cambria Math" panose="02040503050406030204" pitchFamily="18" charset="0"/>
                            </a:rPr>
                          </m:ctrlPr>
                        </m:sSubPr>
                        <m:e>
                          <m:acc>
                            <m:accPr>
                              <m:chr m:val="̇"/>
                              <m:ctrlPr>
                                <a:rPr lang="en-US" altLang="zh-CN" sz="2000" b="1" i="1">
                                  <a:latin typeface="Cambria Math" panose="02040503050406030204" pitchFamily="18" charset="0"/>
                                  <a:ea typeface="Cambria Math" panose="02040503050406030204" pitchFamily="18" charset="0"/>
                                </a:rPr>
                              </m:ctrlPr>
                            </m:accPr>
                            <m:e>
                              <m:r>
                                <a:rPr lang="en-US" altLang="zh-CN" sz="2000" b="1">
                                  <a:latin typeface="Cambria Math" panose="02040503050406030204" pitchFamily="18" charset="0"/>
                                  <a:ea typeface="Cambria Math" panose="02040503050406030204" pitchFamily="18" charset="0"/>
                                </a:rPr>
                                <m:t>𝐱</m:t>
                              </m:r>
                            </m:e>
                          </m:acc>
                        </m:e>
                        <m:sub>
                          <m:r>
                            <a:rPr lang="en-US" altLang="zh-CN" sz="2000" i="1">
                              <a:latin typeface="Cambria Math" panose="02040503050406030204" pitchFamily="18" charset="0"/>
                              <a:ea typeface="Cambria Math" panose="02040503050406030204" pitchFamily="18" charset="0"/>
                            </a:rPr>
                            <m:t>2</m:t>
                          </m:r>
                        </m:sub>
                      </m:sSub>
                    </m:oMath>
                  </m:oMathPara>
                </a14:m>
                <a:endParaRPr lang="en-US" altLang="zh-CN" sz="2000" dirty="0"/>
              </a:p>
              <a:p>
                <a:pPr marL="0" indent="0">
                  <a:lnSpc>
                    <a:spcPct val="150000"/>
                  </a:lnSpc>
                  <a:buNone/>
                </a:pPr>
                <a:r>
                  <a:rPr lang="en-US" altLang="zh-CN" sz="2000" dirty="0">
                    <a:ea typeface="Cambria Math" panose="02040503050406030204" pitchFamily="18" charset="0"/>
                  </a:rPr>
                  <a:t>where </a:t>
                </a:r>
                <a14:m>
                  <m:oMath xmlns:m="http://schemas.openxmlformats.org/officeDocument/2006/math">
                    <m:sSub>
                      <m:sSubPr>
                        <m:ctrlPr>
                          <a:rPr lang="en-US" altLang="zh-CN" sz="2000" b="1" i="1">
                            <a:latin typeface="Cambria Math" panose="02040503050406030204" pitchFamily="18" charset="0"/>
                            <a:ea typeface="Cambria Math" panose="02040503050406030204" pitchFamily="18" charset="0"/>
                          </a:rPr>
                        </m:ctrlPr>
                      </m:sSubPr>
                      <m:e>
                        <m:r>
                          <a:rPr lang="en-US" altLang="zh-CN" sz="2000" b="1">
                            <a:latin typeface="Cambria Math" panose="02040503050406030204" pitchFamily="18" charset="0"/>
                            <a:ea typeface="Cambria Math" panose="02040503050406030204" pitchFamily="18" charset="0"/>
                          </a:rPr>
                          <m:t>𝐱</m:t>
                        </m:r>
                      </m:e>
                      <m:sub>
                        <m:r>
                          <a:rPr lang="en-US" altLang="zh-CN" sz="2000" i="1">
                            <a:latin typeface="Cambria Math" panose="02040503050406030204" pitchFamily="18" charset="0"/>
                            <a:ea typeface="Cambria Math" panose="02040503050406030204" pitchFamily="18" charset="0"/>
                          </a:rPr>
                          <m:t>𝑖</m:t>
                        </m:r>
                      </m:sub>
                    </m:sSub>
                    <m:r>
                      <a:rPr lang="en-US" altLang="zh-CN" sz="2000" b="0" i="0" smtClean="0">
                        <a:latin typeface="Cambria Math" panose="02040503050406030204" pitchFamily="18" charset="0"/>
                        <a:ea typeface="Cambria Math" panose="02040503050406030204" pitchFamily="18" charset="0"/>
                      </a:rPr>
                      <m:t> </m:t>
                    </m:r>
                  </m:oMath>
                </a14:m>
                <a:r>
                  <a:rPr lang="en-US" altLang="zh-CN" sz="2000" dirty="0">
                    <a:ea typeface="Cambria Math" panose="02040503050406030204" pitchFamily="18" charset="0"/>
                  </a:rPr>
                  <a:t>and </a:t>
                </a:r>
                <a14:m>
                  <m:oMath xmlns:m="http://schemas.openxmlformats.org/officeDocument/2006/math">
                    <m:r>
                      <a:rPr lang="en-US" altLang="zh-CN" sz="2000" b="1">
                        <a:latin typeface="Cambria Math" panose="02040503050406030204" pitchFamily="18" charset="0"/>
                        <a:ea typeface="Cambria Math" panose="02040503050406030204" pitchFamily="18" charset="0"/>
                      </a:rPr>
                      <m:t>𝐑</m:t>
                    </m:r>
                  </m:oMath>
                </a14:m>
                <a:r>
                  <a:rPr lang="zh-CN" altLang="en-US" sz="2000" dirty="0">
                    <a:ea typeface="Cambria Math" panose="02040503050406030204" pitchFamily="18" charset="0"/>
                  </a:rPr>
                  <a:t> </a:t>
                </a:r>
                <a:r>
                  <a:rPr lang="en-US" altLang="zh-CN" sz="2000" dirty="0">
                    <a:ea typeface="Cambria Math" panose="02040503050406030204" pitchFamily="18" charset="0"/>
                  </a:rPr>
                  <a:t>are respectively the positions of the </a:t>
                </a:r>
                <a14:m>
                  <m:oMath xmlns:m="http://schemas.openxmlformats.org/officeDocument/2006/math">
                    <m:r>
                      <a:rPr lang="en-US" altLang="zh-CN" sz="2000" i="1" dirty="0" smtClean="0">
                        <a:latin typeface="Cambria Math" panose="02040503050406030204" pitchFamily="18" charset="0"/>
                        <a:ea typeface="Cambria Math" panose="02040503050406030204" pitchFamily="18" charset="0"/>
                      </a:rPr>
                      <m:t>𝑖</m:t>
                    </m:r>
                  </m:oMath>
                </a14:m>
                <a:r>
                  <a:rPr lang="en-US" altLang="zh-CN" sz="2000" dirty="0" err="1">
                    <a:ea typeface="Cambria Math" panose="02040503050406030204" pitchFamily="18" charset="0"/>
                  </a:rPr>
                  <a:t>-th</a:t>
                </a:r>
                <a:r>
                  <a:rPr lang="en-US" altLang="zh-CN" sz="2000" dirty="0">
                    <a:ea typeface="Cambria Math" panose="02040503050406030204" pitchFamily="18" charset="0"/>
                  </a:rPr>
                  <a:t> particle and center-of-mass of the system in the lab frame. Define </a:t>
                </a:r>
                <a14:m>
                  <m:oMath xmlns:m="http://schemas.openxmlformats.org/officeDocument/2006/math">
                    <m:sSub>
                      <m:sSubPr>
                        <m:ctrlPr>
                          <a:rPr lang="en-US" altLang="zh-CN" sz="2000" b="1" i="1">
                            <a:latin typeface="Cambria Math" panose="02040503050406030204" pitchFamily="18" charset="0"/>
                            <a:ea typeface="Cambria Math" panose="02040503050406030204" pitchFamily="18" charset="0"/>
                          </a:rPr>
                        </m:ctrlPr>
                      </m:sSubPr>
                      <m:e>
                        <m:r>
                          <a:rPr lang="en-US" altLang="zh-CN" sz="2000" b="1" i="0" smtClean="0">
                            <a:latin typeface="Cambria Math" panose="02040503050406030204" pitchFamily="18" charset="0"/>
                            <a:ea typeface="Cambria Math" panose="02040503050406030204" pitchFamily="18" charset="0"/>
                          </a:rPr>
                          <m:t>𝐗</m:t>
                        </m:r>
                      </m:e>
                      <m:sub>
                        <m:r>
                          <a:rPr lang="en-US" altLang="zh-CN" sz="2000" i="1">
                            <a:latin typeface="Cambria Math" panose="02040503050406030204" pitchFamily="18" charset="0"/>
                            <a:ea typeface="Cambria Math" panose="02040503050406030204" pitchFamily="18" charset="0"/>
                          </a:rPr>
                          <m:t>𝑖</m:t>
                        </m:r>
                      </m:sub>
                    </m:sSub>
                  </m:oMath>
                </a14:m>
                <a:r>
                  <a:rPr lang="zh-CN" altLang="en-US" sz="2000" dirty="0">
                    <a:latin typeface="Cambria Math" panose="02040503050406030204" pitchFamily="18" charset="0"/>
                  </a:rPr>
                  <a:t> </a:t>
                </a:r>
                <a:r>
                  <a:rPr lang="en-US" altLang="zh-CN" sz="2000" dirty="0">
                    <a:latin typeface="Cambria Math" panose="02040503050406030204" pitchFamily="18" charset="0"/>
                  </a:rPr>
                  <a:t>and </a:t>
                </a:r>
                <a14:m>
                  <m:oMath xmlns:m="http://schemas.openxmlformats.org/officeDocument/2006/math">
                    <m:sSub>
                      <m:sSubPr>
                        <m:ctrlPr>
                          <a:rPr lang="en-US" altLang="zh-CN" sz="2000" b="1" i="1">
                            <a:latin typeface="Cambria Math" panose="02040503050406030204" pitchFamily="18" charset="0"/>
                            <a:ea typeface="Cambria Math" panose="02040503050406030204" pitchFamily="18" charset="0"/>
                          </a:rPr>
                        </m:ctrlPr>
                      </m:sSubPr>
                      <m:e>
                        <m:acc>
                          <m:accPr>
                            <m:chr m:val="̇"/>
                            <m:ctrlPr>
                              <a:rPr lang="en-US" altLang="zh-CN" sz="2000" b="1" i="1">
                                <a:latin typeface="Cambria Math" panose="02040503050406030204" pitchFamily="18" charset="0"/>
                                <a:ea typeface="Cambria Math" panose="02040503050406030204" pitchFamily="18" charset="0"/>
                              </a:rPr>
                            </m:ctrlPr>
                          </m:accPr>
                          <m:e>
                            <m:r>
                              <a:rPr lang="en-US" altLang="zh-CN" sz="2000" b="1">
                                <a:latin typeface="Cambria Math" panose="02040503050406030204" pitchFamily="18" charset="0"/>
                                <a:ea typeface="Cambria Math" panose="02040503050406030204" pitchFamily="18" charset="0"/>
                              </a:rPr>
                              <m:t>𝐗</m:t>
                            </m:r>
                          </m:e>
                        </m:acc>
                      </m:e>
                      <m:sub>
                        <m:r>
                          <a:rPr lang="en-US" altLang="zh-CN" sz="2000" i="1">
                            <a:latin typeface="Cambria Math" panose="02040503050406030204" pitchFamily="18" charset="0"/>
                            <a:ea typeface="Cambria Math" panose="02040503050406030204" pitchFamily="18" charset="0"/>
                          </a:rPr>
                          <m:t>𝑖</m:t>
                        </m:r>
                      </m:sub>
                    </m:sSub>
                  </m:oMath>
                </a14:m>
                <a:r>
                  <a:rPr lang="zh-CN" altLang="en-US" sz="2000" dirty="0">
                    <a:latin typeface="Cambria Math" panose="02040503050406030204" pitchFamily="18" charset="0"/>
                  </a:rPr>
                  <a:t> </a:t>
                </a:r>
                <a:r>
                  <a:rPr lang="en-US" altLang="zh-CN" sz="2000" dirty="0">
                    <a:latin typeface="Cambria Math" panose="02040503050406030204" pitchFamily="18" charset="0"/>
                  </a:rPr>
                  <a:t>as the position and velocity of the </a:t>
                </a:r>
                <a14:m>
                  <m:oMath xmlns:m="http://schemas.openxmlformats.org/officeDocument/2006/math">
                    <m:r>
                      <a:rPr lang="en-US" altLang="zh-CN" sz="2000" i="1" dirty="0">
                        <a:latin typeface="Cambria Math" panose="02040503050406030204" pitchFamily="18" charset="0"/>
                        <a:ea typeface="Cambria Math" panose="02040503050406030204" pitchFamily="18" charset="0"/>
                      </a:rPr>
                      <m:t>𝑖</m:t>
                    </m:r>
                  </m:oMath>
                </a14:m>
                <a:r>
                  <a:rPr lang="en-US" altLang="zh-CN" sz="2000" dirty="0">
                    <a:latin typeface="Cambria Math" panose="02040503050406030204" pitchFamily="18" charset="0"/>
                  </a:rPr>
                  <a:t>-</a:t>
                </a:r>
                <a:r>
                  <a:rPr lang="en-US" altLang="zh-CN" sz="2000" dirty="0" err="1">
                    <a:latin typeface="Cambria Math" panose="02040503050406030204" pitchFamily="18" charset="0"/>
                  </a:rPr>
                  <a:t>th</a:t>
                </a:r>
                <a:r>
                  <a:rPr lang="en-US" altLang="zh-CN" sz="2000" dirty="0">
                    <a:latin typeface="Cambria Math" panose="02040503050406030204" pitchFamily="18" charset="0"/>
                  </a:rPr>
                  <a:t> particle in CM frame. Then </a:t>
                </a:r>
                <a14:m>
                  <m:oMath xmlns:m="http://schemas.openxmlformats.org/officeDocument/2006/math">
                    <m:sSub>
                      <m:sSubPr>
                        <m:ctrlPr>
                          <a:rPr lang="en-US" altLang="zh-CN" sz="2000" b="1" i="1">
                            <a:latin typeface="Cambria Math" panose="02040503050406030204" pitchFamily="18" charset="0"/>
                            <a:ea typeface="Cambria Math" panose="02040503050406030204" pitchFamily="18" charset="0"/>
                          </a:rPr>
                        </m:ctrlPr>
                      </m:sSubPr>
                      <m:e>
                        <m:acc>
                          <m:accPr>
                            <m:chr m:val="̇"/>
                            <m:ctrlPr>
                              <a:rPr lang="en-US" altLang="zh-CN" sz="2000" b="1" i="1">
                                <a:latin typeface="Cambria Math" panose="02040503050406030204" pitchFamily="18" charset="0"/>
                                <a:ea typeface="Cambria Math" panose="02040503050406030204" pitchFamily="18" charset="0"/>
                              </a:rPr>
                            </m:ctrlPr>
                          </m:accPr>
                          <m:e>
                            <m:r>
                              <a:rPr lang="en-US" altLang="zh-CN" sz="2000" b="1" i="0" smtClean="0">
                                <a:latin typeface="Cambria Math" panose="02040503050406030204" pitchFamily="18" charset="0"/>
                                <a:ea typeface="Cambria Math" panose="02040503050406030204" pitchFamily="18" charset="0"/>
                              </a:rPr>
                              <m:t>𝐗</m:t>
                            </m:r>
                          </m:e>
                        </m:acc>
                      </m:e>
                      <m:sub>
                        <m:r>
                          <a:rPr lang="en-US" altLang="zh-CN" sz="2000" i="1">
                            <a:latin typeface="Cambria Math" panose="02040503050406030204" pitchFamily="18" charset="0"/>
                            <a:ea typeface="Cambria Math" panose="02040503050406030204" pitchFamily="18" charset="0"/>
                          </a:rPr>
                          <m:t>𝑖</m:t>
                        </m:r>
                      </m:sub>
                    </m:sSub>
                    <m:r>
                      <a:rPr lang="en-US" altLang="zh-CN" sz="2000" i="1">
                        <a:latin typeface="Cambria Math" panose="02040503050406030204" pitchFamily="18" charset="0"/>
                        <a:ea typeface="Cambria Math" panose="02040503050406030204" pitchFamily="18" charset="0"/>
                      </a:rPr>
                      <m:t>=</m:t>
                    </m:r>
                    <m:sSub>
                      <m:sSubPr>
                        <m:ctrlPr>
                          <a:rPr lang="en-US" altLang="zh-CN" sz="2000" i="1">
                            <a:latin typeface="Cambria Math" panose="02040503050406030204" pitchFamily="18" charset="0"/>
                            <a:ea typeface="Cambria Math" panose="02040503050406030204" pitchFamily="18" charset="0"/>
                          </a:rPr>
                        </m:ctrlPr>
                      </m:sSubPr>
                      <m:e>
                        <m:acc>
                          <m:accPr>
                            <m:chr m:val="̇"/>
                            <m:ctrlPr>
                              <a:rPr lang="en-US" altLang="zh-CN" sz="2000" b="1" i="1">
                                <a:latin typeface="Cambria Math" panose="02040503050406030204" pitchFamily="18" charset="0"/>
                                <a:ea typeface="Cambria Math" panose="02040503050406030204" pitchFamily="18" charset="0"/>
                              </a:rPr>
                            </m:ctrlPr>
                          </m:accPr>
                          <m:e>
                            <m:r>
                              <a:rPr lang="en-US" altLang="zh-CN" sz="2000" b="1">
                                <a:latin typeface="Cambria Math" panose="02040503050406030204" pitchFamily="18" charset="0"/>
                                <a:ea typeface="Cambria Math" panose="02040503050406030204" pitchFamily="18" charset="0"/>
                              </a:rPr>
                              <m:t>𝐱</m:t>
                            </m:r>
                          </m:e>
                        </m:acc>
                      </m:e>
                      <m:sub>
                        <m:r>
                          <a:rPr lang="en-US" altLang="zh-CN" sz="2000" i="1">
                            <a:latin typeface="Cambria Math" panose="02040503050406030204" pitchFamily="18" charset="0"/>
                            <a:ea typeface="Cambria Math" panose="02040503050406030204" pitchFamily="18" charset="0"/>
                          </a:rPr>
                          <m:t>𝑖</m:t>
                        </m:r>
                      </m:sub>
                    </m:sSub>
                    <m:r>
                      <a:rPr lang="en-US" altLang="zh-CN" sz="2000" b="1" i="1" smtClean="0">
                        <a:latin typeface="Cambria Math" panose="02040503050406030204" pitchFamily="18" charset="0"/>
                        <a:ea typeface="Cambria Math" panose="02040503050406030204" pitchFamily="18" charset="0"/>
                      </a:rPr>
                      <m:t>−</m:t>
                    </m:r>
                    <m:acc>
                      <m:accPr>
                        <m:chr m:val="̇"/>
                        <m:ctrlPr>
                          <a:rPr lang="en-US" altLang="zh-CN" sz="2000" b="1" i="1">
                            <a:latin typeface="Cambria Math" panose="02040503050406030204" pitchFamily="18" charset="0"/>
                            <a:ea typeface="Cambria Math" panose="02040503050406030204" pitchFamily="18" charset="0"/>
                          </a:rPr>
                        </m:ctrlPr>
                      </m:accPr>
                      <m:e>
                        <m:r>
                          <a:rPr lang="en-US" altLang="zh-CN" sz="2000" b="1">
                            <a:latin typeface="Cambria Math" panose="02040503050406030204" pitchFamily="18" charset="0"/>
                            <a:ea typeface="Cambria Math" panose="02040503050406030204" pitchFamily="18" charset="0"/>
                          </a:rPr>
                          <m:t>𝐑</m:t>
                        </m:r>
                      </m:e>
                    </m:acc>
                  </m:oMath>
                </a14:m>
                <a:r>
                  <a:rPr lang="zh-CN" altLang="en-US" sz="2000" dirty="0">
                    <a:latin typeface="Cambria Math" panose="02040503050406030204" pitchFamily="18" charset="0"/>
                  </a:rPr>
                  <a:t>，</a:t>
                </a:r>
                <a:r>
                  <a:rPr lang="en-US" altLang="zh-CN" sz="2000" dirty="0">
                    <a:latin typeface="Cambria Math" panose="02040503050406030204" pitchFamily="18" charset="0"/>
                  </a:rPr>
                  <a:t>and  </a:t>
                </a:r>
                <a14:m>
                  <m:oMath xmlns:m="http://schemas.openxmlformats.org/officeDocument/2006/math">
                    <m:nary>
                      <m:naryPr>
                        <m:chr m:val="∑"/>
                        <m:supHide m:val="on"/>
                        <m:ctrlPr>
                          <a:rPr lang="en-US" altLang="zh-CN" sz="2000" i="1">
                            <a:latin typeface="Cambria Math" panose="02040503050406030204" pitchFamily="18" charset="0"/>
                            <a:ea typeface="Cambria Math" panose="02040503050406030204" pitchFamily="18" charset="0"/>
                          </a:rPr>
                        </m:ctrlPr>
                      </m:naryPr>
                      <m:sub>
                        <m:r>
                          <m:rPr>
                            <m:brk m:alnAt="7"/>
                          </m:rPr>
                          <a:rPr lang="en-US" altLang="zh-CN" sz="2000" i="1">
                            <a:latin typeface="Cambria Math" panose="02040503050406030204" pitchFamily="18" charset="0"/>
                            <a:ea typeface="Cambria Math" panose="02040503050406030204" pitchFamily="18" charset="0"/>
                          </a:rPr>
                          <m:t>𝑖</m:t>
                        </m:r>
                      </m:sub>
                      <m:sup/>
                      <m:e>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𝑚</m:t>
                            </m:r>
                          </m:e>
                          <m:sub>
                            <m:r>
                              <a:rPr lang="en-US" altLang="zh-CN" sz="2000" i="1">
                                <a:latin typeface="Cambria Math" panose="02040503050406030204" pitchFamily="18" charset="0"/>
                                <a:ea typeface="Cambria Math" panose="02040503050406030204" pitchFamily="18" charset="0"/>
                              </a:rPr>
                              <m:t>𝑖</m:t>
                            </m:r>
                          </m:sub>
                        </m:sSub>
                        <m:sSub>
                          <m:sSubPr>
                            <m:ctrlPr>
                              <a:rPr lang="en-US" altLang="zh-CN" sz="2000" b="1" i="1">
                                <a:latin typeface="Cambria Math" panose="02040503050406030204" pitchFamily="18" charset="0"/>
                                <a:ea typeface="Cambria Math" panose="02040503050406030204" pitchFamily="18" charset="0"/>
                              </a:rPr>
                            </m:ctrlPr>
                          </m:sSubPr>
                          <m:e>
                            <m:acc>
                              <m:accPr>
                                <m:chr m:val="̇"/>
                                <m:ctrlPr>
                                  <a:rPr lang="en-US" altLang="zh-CN" sz="2000" b="1" i="1">
                                    <a:latin typeface="Cambria Math" panose="02040503050406030204" pitchFamily="18" charset="0"/>
                                    <a:ea typeface="Cambria Math" panose="02040503050406030204" pitchFamily="18" charset="0"/>
                                  </a:rPr>
                                </m:ctrlPr>
                              </m:accPr>
                              <m:e>
                                <m:r>
                                  <a:rPr lang="en-US" altLang="zh-CN" sz="2000" b="1">
                                    <a:latin typeface="Cambria Math" panose="02040503050406030204" pitchFamily="18" charset="0"/>
                                    <a:ea typeface="Cambria Math" panose="02040503050406030204" pitchFamily="18" charset="0"/>
                                  </a:rPr>
                                  <m:t>𝐗</m:t>
                                </m:r>
                              </m:e>
                            </m:acc>
                          </m:e>
                          <m:sub>
                            <m:r>
                              <a:rPr lang="en-US" altLang="zh-CN" sz="2000" i="1">
                                <a:latin typeface="Cambria Math" panose="02040503050406030204" pitchFamily="18" charset="0"/>
                                <a:ea typeface="Cambria Math" panose="02040503050406030204" pitchFamily="18" charset="0"/>
                              </a:rPr>
                              <m:t>𝑖</m:t>
                            </m:r>
                          </m:sub>
                        </m:sSub>
                      </m:e>
                    </m:nary>
                    <m:r>
                      <a:rPr lang="en-US" altLang="zh-CN" sz="2000" i="1">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0</m:t>
                    </m:r>
                  </m:oMath>
                </a14:m>
                <a:endParaRPr lang="en-US" altLang="zh-CN" sz="2000" dirty="0">
                  <a:latin typeface="Cambria Math" panose="02040503050406030204" pitchFamily="18" charset="0"/>
                  <a:ea typeface="Cambria Math" panose="02040503050406030204" pitchFamily="18" charset="0"/>
                </a:endParaRPr>
              </a:p>
              <a:p>
                <a:pPr marL="0" indent="0">
                  <a:lnSpc>
                    <a:spcPct val="150000"/>
                  </a:lnSpc>
                  <a:buNone/>
                </a:pPr>
                <a:r>
                  <a:rPr lang="en-US" altLang="zh-CN" sz="2000" dirty="0">
                    <a:latin typeface="Cambria Math" panose="02040503050406030204" pitchFamily="18" charset="0"/>
                  </a:rPr>
                  <a:t>The total kinetic energy of the system is</a:t>
                </a:r>
                <a:endParaRPr lang="en-US" altLang="zh-CN" sz="2000" dirty="0">
                  <a:latin typeface="Cambria Math" panose="02040503050406030204" pitchFamily="18" charset="0"/>
                  <a:ea typeface="Cambria Math" panose="02040503050406030204" pitchFamily="18" charset="0"/>
                </a:endParaRPr>
              </a:p>
              <a:p>
                <a:pPr marL="0" indent="0">
                  <a:lnSpc>
                    <a:spcPct val="150000"/>
                  </a:lnSpc>
                  <a:buNone/>
                </a:pPr>
                <a14:m>
                  <m:oMathPara xmlns:m="http://schemas.openxmlformats.org/officeDocument/2006/math">
                    <m:oMathParaPr>
                      <m:jc m:val="centerGroup"/>
                    </m:oMathParaPr>
                    <m:oMath xmlns:m="http://schemas.openxmlformats.org/officeDocument/2006/math">
                      <m:nary>
                        <m:naryPr>
                          <m:chr m:val="∑"/>
                          <m:supHide m:val="on"/>
                          <m:ctrlPr>
                            <a:rPr lang="en-US" altLang="zh-CN" sz="2000" b="0" i="1" smtClean="0">
                              <a:latin typeface="Cambria Math" panose="02040503050406030204" pitchFamily="18" charset="0"/>
                            </a:rPr>
                          </m:ctrlPr>
                        </m:naryPr>
                        <m:sub>
                          <m:r>
                            <m:rPr>
                              <m:brk m:alnAt="7"/>
                            </m:rPr>
                            <a:rPr lang="en-US" altLang="zh-CN" sz="2000" b="0" i="1" smtClean="0">
                              <a:latin typeface="Cambria Math" panose="02040503050406030204" pitchFamily="18" charset="0"/>
                            </a:rPr>
                            <m:t>𝑖</m:t>
                          </m:r>
                        </m:sub>
                        <m:sup/>
                        <m:e>
                          <m:f>
                            <m:fPr>
                              <m:ctrlPr>
                                <a:rPr lang="en-US" altLang="zh-CN" sz="2000" i="1">
                                  <a:latin typeface="Cambria Math" panose="02040503050406030204" pitchFamily="18" charset="0"/>
                                </a:rPr>
                              </m:ctrlPr>
                            </m:fPr>
                            <m:num>
                              <m:r>
                                <a:rPr lang="en-US" altLang="zh-CN" sz="2000" i="1">
                                  <a:latin typeface="Cambria Math" panose="02040503050406030204" pitchFamily="18" charset="0"/>
                                </a:rPr>
                                <m:t>1</m:t>
                              </m:r>
                            </m:num>
                            <m:den>
                              <m:r>
                                <a:rPr lang="en-US" altLang="zh-CN" sz="2000" i="1">
                                  <a:latin typeface="Cambria Math" panose="02040503050406030204" pitchFamily="18" charset="0"/>
                                </a:rPr>
                                <m:t>2</m:t>
                              </m:r>
                            </m:den>
                          </m:f>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𝑚</m:t>
                              </m:r>
                            </m:e>
                            <m:sub>
                              <m:r>
                                <a:rPr lang="en-US" altLang="zh-CN" sz="2000" i="1">
                                  <a:latin typeface="Cambria Math" panose="02040503050406030204" pitchFamily="18" charset="0"/>
                                </a:rPr>
                                <m:t>𝑖</m:t>
                              </m:r>
                            </m:sub>
                          </m:sSub>
                          <m:sSubSup>
                            <m:sSubSupPr>
                              <m:ctrlPr>
                                <a:rPr lang="en-US" altLang="zh-CN" sz="2000" i="1">
                                  <a:latin typeface="Cambria Math" panose="02040503050406030204" pitchFamily="18" charset="0"/>
                                </a:rPr>
                              </m:ctrlPr>
                            </m:sSubSupPr>
                            <m:e>
                              <m:acc>
                                <m:accPr>
                                  <m:chr m:val="̇"/>
                                  <m:ctrlPr>
                                    <a:rPr lang="en-US" altLang="zh-CN" sz="2000" i="1">
                                      <a:latin typeface="Cambria Math" panose="02040503050406030204" pitchFamily="18" charset="0"/>
                                    </a:rPr>
                                  </m:ctrlPr>
                                </m:accPr>
                                <m:e>
                                  <m:r>
                                    <a:rPr lang="en-US" altLang="zh-CN" sz="2000" b="1">
                                      <a:latin typeface="Cambria Math" panose="02040503050406030204" pitchFamily="18" charset="0"/>
                                    </a:rPr>
                                    <m:t>𝐱</m:t>
                                  </m:r>
                                </m:e>
                              </m:acc>
                            </m:e>
                            <m:sub>
                              <m:r>
                                <a:rPr lang="en-US" altLang="zh-CN" sz="2000" i="1">
                                  <a:latin typeface="Cambria Math" panose="02040503050406030204" pitchFamily="18" charset="0"/>
                                </a:rPr>
                                <m:t>𝑖</m:t>
                              </m:r>
                            </m:sub>
                            <m:sup>
                              <m:r>
                                <a:rPr lang="en-US" altLang="zh-CN" sz="2000" i="1">
                                  <a:latin typeface="Cambria Math" panose="02040503050406030204" pitchFamily="18" charset="0"/>
                                </a:rPr>
                                <m:t>2</m:t>
                              </m:r>
                            </m:sup>
                          </m:sSubSup>
                        </m:e>
                      </m:nary>
                      <m:r>
                        <a:rPr lang="en-US" altLang="zh-CN" sz="2000" b="0" i="0" smtClean="0">
                          <a:latin typeface="Cambria Math" panose="02040503050406030204" pitchFamily="18" charset="0"/>
                        </a:rPr>
                        <m:t>=</m:t>
                      </m:r>
                      <m:nary>
                        <m:naryPr>
                          <m:chr m:val="∑"/>
                          <m:supHide m:val="on"/>
                          <m:ctrlPr>
                            <a:rPr lang="en-US" altLang="zh-CN" sz="2000" i="1">
                              <a:latin typeface="Cambria Math" panose="02040503050406030204" pitchFamily="18" charset="0"/>
                            </a:rPr>
                          </m:ctrlPr>
                        </m:naryPr>
                        <m:sub>
                          <m:r>
                            <m:rPr>
                              <m:brk m:alnAt="7"/>
                            </m:rPr>
                            <a:rPr lang="en-US" altLang="zh-CN" sz="2000" i="1">
                              <a:latin typeface="Cambria Math" panose="02040503050406030204" pitchFamily="18" charset="0"/>
                            </a:rPr>
                            <m:t>𝑖</m:t>
                          </m:r>
                        </m:sub>
                        <m:sup/>
                        <m:e>
                          <m:f>
                            <m:fPr>
                              <m:ctrlPr>
                                <a:rPr lang="en-US" altLang="zh-CN" sz="2000" i="1">
                                  <a:latin typeface="Cambria Math" panose="02040503050406030204" pitchFamily="18" charset="0"/>
                                </a:rPr>
                              </m:ctrlPr>
                            </m:fPr>
                            <m:num>
                              <m:r>
                                <a:rPr lang="en-US" altLang="zh-CN" sz="2000" i="1">
                                  <a:latin typeface="Cambria Math" panose="02040503050406030204" pitchFamily="18" charset="0"/>
                                </a:rPr>
                                <m:t>1</m:t>
                              </m:r>
                            </m:num>
                            <m:den>
                              <m:r>
                                <a:rPr lang="en-US" altLang="zh-CN" sz="2000" i="1">
                                  <a:latin typeface="Cambria Math" panose="02040503050406030204" pitchFamily="18" charset="0"/>
                                </a:rPr>
                                <m:t>2</m:t>
                              </m:r>
                            </m:den>
                          </m:f>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𝑚</m:t>
                              </m:r>
                            </m:e>
                            <m:sub>
                              <m:r>
                                <a:rPr lang="en-US" altLang="zh-CN" sz="2000" i="1">
                                  <a:latin typeface="Cambria Math" panose="02040503050406030204" pitchFamily="18" charset="0"/>
                                </a:rPr>
                                <m:t>𝑖</m:t>
                              </m:r>
                            </m:sub>
                          </m:sSub>
                          <m:sSup>
                            <m:sSupPr>
                              <m:ctrlPr>
                                <a:rPr lang="en-US" altLang="zh-CN" sz="2000" b="0" i="1" smtClean="0">
                                  <a:latin typeface="Cambria Math" panose="02040503050406030204" pitchFamily="18" charset="0"/>
                                </a:rPr>
                              </m:ctrlPr>
                            </m:sSupPr>
                            <m:e>
                              <m:d>
                                <m:dPr>
                                  <m:ctrlPr>
                                    <a:rPr lang="en-US" altLang="zh-CN" sz="2000" i="1" smtClean="0">
                                      <a:latin typeface="Cambria Math" panose="02040503050406030204" pitchFamily="18" charset="0"/>
                                    </a:rPr>
                                  </m:ctrlPr>
                                </m:dPr>
                                <m:e>
                                  <m:acc>
                                    <m:accPr>
                                      <m:chr m:val="̇"/>
                                      <m:ctrlPr>
                                        <a:rPr lang="en-US" altLang="zh-CN" sz="2000" i="1">
                                          <a:latin typeface="Cambria Math" panose="02040503050406030204" pitchFamily="18" charset="0"/>
                                        </a:rPr>
                                      </m:ctrlPr>
                                    </m:accPr>
                                    <m:e>
                                      <m:r>
                                        <a:rPr lang="en-US" altLang="zh-CN" sz="2000" b="1" i="1">
                                          <a:latin typeface="Cambria Math" panose="02040503050406030204" pitchFamily="18" charset="0"/>
                                        </a:rPr>
                                        <m:t>𝑹</m:t>
                                      </m:r>
                                    </m:e>
                                  </m:acc>
                                  <m:r>
                                    <a:rPr lang="en-US" altLang="zh-CN" sz="2000" i="1">
                                      <a:latin typeface="Cambria Math" panose="02040503050406030204" pitchFamily="18" charset="0"/>
                                    </a:rPr>
                                    <m:t>+</m:t>
                                  </m:r>
                                  <m:sSub>
                                    <m:sSubPr>
                                      <m:ctrlPr>
                                        <a:rPr lang="en-US" altLang="zh-CN" sz="2000" b="1" i="1">
                                          <a:latin typeface="Cambria Math" panose="02040503050406030204" pitchFamily="18" charset="0"/>
                                          <a:ea typeface="Cambria Math" panose="02040503050406030204" pitchFamily="18" charset="0"/>
                                        </a:rPr>
                                      </m:ctrlPr>
                                    </m:sSubPr>
                                    <m:e>
                                      <m:acc>
                                        <m:accPr>
                                          <m:chr m:val="̇"/>
                                          <m:ctrlPr>
                                            <a:rPr lang="en-US" altLang="zh-CN" sz="2000" b="1" i="1">
                                              <a:latin typeface="Cambria Math" panose="02040503050406030204" pitchFamily="18" charset="0"/>
                                              <a:ea typeface="Cambria Math" panose="02040503050406030204" pitchFamily="18" charset="0"/>
                                            </a:rPr>
                                          </m:ctrlPr>
                                        </m:accPr>
                                        <m:e>
                                          <m:r>
                                            <a:rPr lang="en-US" altLang="zh-CN" sz="2000" b="1">
                                              <a:latin typeface="Cambria Math" panose="02040503050406030204" pitchFamily="18" charset="0"/>
                                              <a:ea typeface="Cambria Math" panose="02040503050406030204" pitchFamily="18" charset="0"/>
                                            </a:rPr>
                                            <m:t>𝐗</m:t>
                                          </m:r>
                                        </m:e>
                                      </m:acc>
                                    </m:e>
                                    <m:sub>
                                      <m:r>
                                        <a:rPr lang="en-US" altLang="zh-CN" sz="2000" i="1">
                                          <a:latin typeface="Cambria Math" panose="02040503050406030204" pitchFamily="18" charset="0"/>
                                          <a:ea typeface="Cambria Math" panose="02040503050406030204" pitchFamily="18" charset="0"/>
                                        </a:rPr>
                                        <m:t>𝑖</m:t>
                                      </m:r>
                                    </m:sub>
                                  </m:sSub>
                                </m:e>
                              </m:d>
                            </m:e>
                            <m:sup>
                              <m:r>
                                <a:rPr lang="en-US" altLang="zh-CN" sz="2000" b="0" i="1" smtClean="0">
                                  <a:latin typeface="Cambria Math" panose="02040503050406030204" pitchFamily="18" charset="0"/>
                                </a:rPr>
                                <m:t>2</m:t>
                              </m:r>
                            </m:sup>
                          </m:sSup>
                        </m:e>
                      </m:nary>
                      <m:r>
                        <a:rPr lang="en-US" altLang="zh-CN" sz="2000" b="0" i="1" smtClean="0">
                          <a:latin typeface="Cambria Math" panose="02040503050406030204" pitchFamily="18" charset="0"/>
                        </a:rPr>
                        <m:t>=</m:t>
                      </m:r>
                      <m:f>
                        <m:fPr>
                          <m:ctrlPr>
                            <a:rPr lang="en-US" altLang="zh-CN" sz="2000" i="1">
                              <a:latin typeface="Cambria Math" panose="02040503050406030204" pitchFamily="18" charset="0"/>
                            </a:rPr>
                          </m:ctrlPr>
                        </m:fPr>
                        <m:num>
                          <m:r>
                            <a:rPr lang="en-US" altLang="zh-CN" sz="2000" i="1">
                              <a:latin typeface="Cambria Math" panose="02040503050406030204" pitchFamily="18" charset="0"/>
                            </a:rPr>
                            <m:t>1</m:t>
                          </m:r>
                        </m:num>
                        <m:den>
                          <m:r>
                            <a:rPr lang="en-US" altLang="zh-CN" sz="2000" i="1">
                              <a:latin typeface="Cambria Math" panose="02040503050406030204" pitchFamily="18" charset="0"/>
                            </a:rPr>
                            <m:t>2</m:t>
                          </m:r>
                        </m:den>
                      </m:f>
                      <m:r>
                        <a:rPr lang="en-US" altLang="zh-CN" sz="2000" i="1">
                          <a:latin typeface="Cambria Math" panose="02040503050406030204" pitchFamily="18" charset="0"/>
                        </a:rPr>
                        <m:t>𝑀</m:t>
                      </m:r>
                      <m:sSup>
                        <m:sSupPr>
                          <m:ctrlPr>
                            <a:rPr lang="en-US" altLang="zh-CN" sz="2000" i="1">
                              <a:latin typeface="Cambria Math" panose="02040503050406030204" pitchFamily="18" charset="0"/>
                            </a:rPr>
                          </m:ctrlPr>
                        </m:sSupPr>
                        <m:e>
                          <m:acc>
                            <m:accPr>
                              <m:chr m:val="̇"/>
                              <m:ctrlPr>
                                <a:rPr lang="en-US" altLang="zh-CN" sz="2000" i="1">
                                  <a:latin typeface="Cambria Math" panose="02040503050406030204" pitchFamily="18" charset="0"/>
                                </a:rPr>
                              </m:ctrlPr>
                            </m:accPr>
                            <m:e>
                              <m:r>
                                <a:rPr lang="en-US" altLang="zh-CN" sz="2000" b="1" i="1">
                                  <a:latin typeface="Cambria Math" panose="02040503050406030204" pitchFamily="18" charset="0"/>
                                </a:rPr>
                                <m:t>𝑹</m:t>
                              </m:r>
                            </m:e>
                          </m:acc>
                        </m:e>
                        <m:sup>
                          <m:r>
                            <a:rPr lang="en-US" altLang="zh-CN" sz="2000" i="1">
                              <a:latin typeface="Cambria Math" panose="02040503050406030204" pitchFamily="18" charset="0"/>
                            </a:rPr>
                            <m:t>2</m:t>
                          </m:r>
                        </m:sup>
                      </m:sSup>
                      <m:r>
                        <a:rPr lang="en-US" altLang="zh-CN" sz="2000" i="1">
                          <a:latin typeface="Cambria Math" panose="02040503050406030204" pitchFamily="18" charset="0"/>
                        </a:rPr>
                        <m:t>+</m:t>
                      </m:r>
                      <m:nary>
                        <m:naryPr>
                          <m:chr m:val="∑"/>
                          <m:supHide m:val="on"/>
                          <m:ctrlPr>
                            <a:rPr lang="en-US" altLang="zh-CN" sz="2000" i="1">
                              <a:latin typeface="Cambria Math" panose="02040503050406030204" pitchFamily="18" charset="0"/>
                            </a:rPr>
                          </m:ctrlPr>
                        </m:naryPr>
                        <m:sub>
                          <m:r>
                            <m:rPr>
                              <m:brk m:alnAt="7"/>
                            </m:rPr>
                            <a:rPr lang="en-US" altLang="zh-CN" sz="2000" i="1">
                              <a:latin typeface="Cambria Math" panose="02040503050406030204" pitchFamily="18" charset="0"/>
                            </a:rPr>
                            <m:t>𝑖</m:t>
                          </m:r>
                        </m:sub>
                        <m:sup/>
                        <m:e>
                          <m:f>
                            <m:fPr>
                              <m:ctrlPr>
                                <a:rPr lang="en-US" altLang="zh-CN" sz="2000" i="1">
                                  <a:latin typeface="Cambria Math" panose="02040503050406030204" pitchFamily="18" charset="0"/>
                                </a:rPr>
                              </m:ctrlPr>
                            </m:fPr>
                            <m:num>
                              <m:r>
                                <a:rPr lang="en-US" altLang="zh-CN" sz="2000" i="1">
                                  <a:latin typeface="Cambria Math" panose="02040503050406030204" pitchFamily="18" charset="0"/>
                                </a:rPr>
                                <m:t>1</m:t>
                              </m:r>
                            </m:num>
                            <m:den>
                              <m:r>
                                <a:rPr lang="en-US" altLang="zh-CN" sz="2000" i="1">
                                  <a:latin typeface="Cambria Math" panose="02040503050406030204" pitchFamily="18" charset="0"/>
                                </a:rPr>
                                <m:t>2</m:t>
                              </m:r>
                            </m:den>
                          </m:f>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𝑚</m:t>
                              </m:r>
                            </m:e>
                            <m:sub>
                              <m:r>
                                <a:rPr lang="en-US" altLang="zh-CN" sz="2000" i="1">
                                  <a:latin typeface="Cambria Math" panose="02040503050406030204" pitchFamily="18" charset="0"/>
                                </a:rPr>
                                <m:t>𝑖</m:t>
                              </m:r>
                            </m:sub>
                          </m:sSub>
                          <m:sSubSup>
                            <m:sSubSupPr>
                              <m:ctrlPr>
                                <a:rPr lang="en-US" altLang="zh-CN" sz="2000" b="0" i="1" smtClean="0">
                                  <a:latin typeface="Cambria Math" panose="02040503050406030204" pitchFamily="18" charset="0"/>
                                  <a:ea typeface="Cambria Math" panose="02040503050406030204" pitchFamily="18" charset="0"/>
                                </a:rPr>
                              </m:ctrlPr>
                            </m:sSubSupPr>
                            <m:e>
                              <m:acc>
                                <m:accPr>
                                  <m:chr m:val="̇"/>
                                  <m:ctrlPr>
                                    <a:rPr lang="en-US" altLang="zh-CN" sz="2000" b="1" i="1">
                                      <a:latin typeface="Cambria Math" panose="02040503050406030204" pitchFamily="18" charset="0"/>
                                      <a:ea typeface="Cambria Math" panose="02040503050406030204" pitchFamily="18" charset="0"/>
                                    </a:rPr>
                                  </m:ctrlPr>
                                </m:accPr>
                                <m:e>
                                  <m:r>
                                    <a:rPr lang="en-US" altLang="zh-CN" sz="2000" b="1">
                                      <a:latin typeface="Cambria Math" panose="02040503050406030204" pitchFamily="18" charset="0"/>
                                      <a:ea typeface="Cambria Math" panose="02040503050406030204" pitchFamily="18" charset="0"/>
                                    </a:rPr>
                                    <m:t>𝐗</m:t>
                                  </m:r>
                                </m:e>
                              </m:acc>
                            </m:e>
                            <m:sub>
                              <m:r>
                                <a:rPr lang="en-US" altLang="zh-CN" sz="2000" i="1">
                                  <a:latin typeface="Cambria Math" panose="02040503050406030204" pitchFamily="18" charset="0"/>
                                  <a:ea typeface="Cambria Math" panose="02040503050406030204" pitchFamily="18" charset="0"/>
                                </a:rPr>
                                <m:t>𝑖</m:t>
                              </m:r>
                            </m:sub>
                            <m:sup>
                              <m:r>
                                <a:rPr lang="en-US" altLang="zh-CN" sz="2000" b="0" i="1" smtClean="0">
                                  <a:latin typeface="Cambria Math" panose="02040503050406030204" pitchFamily="18" charset="0"/>
                                  <a:ea typeface="Cambria Math" panose="02040503050406030204" pitchFamily="18" charset="0"/>
                                </a:rPr>
                                <m:t>2</m:t>
                              </m:r>
                            </m:sup>
                          </m:sSubSup>
                        </m:e>
                      </m:nary>
                    </m:oMath>
                  </m:oMathPara>
                </a14:m>
                <a:endParaRPr lang="en-US" altLang="zh-CN" sz="2000" dirty="0"/>
              </a:p>
              <a:p>
                <a:pPr marL="0" indent="0">
                  <a:lnSpc>
                    <a:spcPct val="150000"/>
                  </a:lnSpc>
                  <a:buNone/>
                </a:pPr>
                <a:r>
                  <a:rPr lang="en-US" altLang="zh-CN" sz="2000" dirty="0"/>
                  <a:t>where the 1st term is the kinetic energy in the lab frame,</a:t>
                </a:r>
                <a:r>
                  <a:rPr lang="zh-CN" altLang="en-US" sz="2000" dirty="0"/>
                  <a:t> </a:t>
                </a:r>
                <a:r>
                  <a:rPr lang="en-US" altLang="zh-CN" sz="2000" dirty="0"/>
                  <a:t>and the 2nd term is the kinetic energy of all the particles expressed in the CM frame. For two-body problems, we have</a:t>
                </a:r>
              </a:p>
              <a:p>
                <a:pPr marL="0" indent="0">
                  <a:lnSpc>
                    <a:spcPct val="150000"/>
                  </a:lnSpc>
                  <a:buNone/>
                </a:pPr>
                <a14:m>
                  <m:oMathPara xmlns:m="http://schemas.openxmlformats.org/officeDocument/2006/math">
                    <m:oMathParaPr>
                      <m:jc m:val="centerGroup"/>
                    </m:oMathParaPr>
                    <m:oMath xmlns:m="http://schemas.openxmlformats.org/officeDocument/2006/math">
                      <m:nary>
                        <m:naryPr>
                          <m:chr m:val="∑"/>
                          <m:supHide m:val="on"/>
                          <m:ctrlPr>
                            <a:rPr lang="en-US" altLang="zh-CN" sz="2000" i="1">
                              <a:latin typeface="Cambria Math" panose="02040503050406030204" pitchFamily="18" charset="0"/>
                            </a:rPr>
                          </m:ctrlPr>
                        </m:naryPr>
                        <m:sub>
                          <m:r>
                            <m:rPr>
                              <m:brk m:alnAt="7"/>
                            </m:rPr>
                            <a:rPr lang="en-US" altLang="zh-CN" sz="2000" i="1">
                              <a:latin typeface="Cambria Math" panose="02040503050406030204" pitchFamily="18" charset="0"/>
                            </a:rPr>
                            <m:t>𝑖</m:t>
                          </m:r>
                        </m:sub>
                        <m:sup/>
                        <m:e>
                          <m:f>
                            <m:fPr>
                              <m:ctrlPr>
                                <a:rPr lang="en-US" altLang="zh-CN" sz="2000" i="1">
                                  <a:latin typeface="Cambria Math" panose="02040503050406030204" pitchFamily="18" charset="0"/>
                                </a:rPr>
                              </m:ctrlPr>
                            </m:fPr>
                            <m:num>
                              <m:r>
                                <a:rPr lang="en-US" altLang="zh-CN" sz="2000" i="1">
                                  <a:latin typeface="Cambria Math" panose="02040503050406030204" pitchFamily="18" charset="0"/>
                                </a:rPr>
                                <m:t>1</m:t>
                              </m:r>
                            </m:num>
                            <m:den>
                              <m:r>
                                <a:rPr lang="en-US" altLang="zh-CN" sz="2000" i="1">
                                  <a:latin typeface="Cambria Math" panose="02040503050406030204" pitchFamily="18" charset="0"/>
                                </a:rPr>
                                <m:t>2</m:t>
                              </m:r>
                            </m:den>
                          </m:f>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𝑚</m:t>
                              </m:r>
                            </m:e>
                            <m:sub>
                              <m:r>
                                <a:rPr lang="en-US" altLang="zh-CN" sz="2000" i="1">
                                  <a:latin typeface="Cambria Math" panose="02040503050406030204" pitchFamily="18" charset="0"/>
                                </a:rPr>
                                <m:t>𝑖</m:t>
                              </m:r>
                            </m:sub>
                          </m:sSub>
                          <m:sSubSup>
                            <m:sSubSupPr>
                              <m:ctrlPr>
                                <a:rPr lang="en-US" altLang="zh-CN" sz="2000" i="1">
                                  <a:latin typeface="Cambria Math" panose="02040503050406030204" pitchFamily="18" charset="0"/>
                                  <a:ea typeface="Cambria Math" panose="02040503050406030204" pitchFamily="18" charset="0"/>
                                </a:rPr>
                              </m:ctrlPr>
                            </m:sSubSupPr>
                            <m:e>
                              <m:acc>
                                <m:accPr>
                                  <m:chr m:val="̇"/>
                                  <m:ctrlPr>
                                    <a:rPr lang="en-US" altLang="zh-CN" sz="2000" b="1" i="1">
                                      <a:latin typeface="Cambria Math" panose="02040503050406030204" pitchFamily="18" charset="0"/>
                                      <a:ea typeface="Cambria Math" panose="02040503050406030204" pitchFamily="18" charset="0"/>
                                    </a:rPr>
                                  </m:ctrlPr>
                                </m:accPr>
                                <m:e>
                                  <m:r>
                                    <a:rPr lang="en-US" altLang="zh-CN" sz="2000" b="1">
                                      <a:latin typeface="Cambria Math" panose="02040503050406030204" pitchFamily="18" charset="0"/>
                                      <a:ea typeface="Cambria Math" panose="02040503050406030204" pitchFamily="18" charset="0"/>
                                    </a:rPr>
                                    <m:t>𝐗</m:t>
                                  </m:r>
                                </m:e>
                              </m:acc>
                            </m:e>
                            <m:sub>
                              <m:r>
                                <a:rPr lang="en-US" altLang="zh-CN" sz="2000" i="1">
                                  <a:latin typeface="Cambria Math" panose="02040503050406030204" pitchFamily="18" charset="0"/>
                                  <a:ea typeface="Cambria Math" panose="02040503050406030204" pitchFamily="18" charset="0"/>
                                </a:rPr>
                                <m:t>𝑖</m:t>
                              </m:r>
                            </m:sub>
                            <m:sup>
                              <m:r>
                                <a:rPr lang="en-US" altLang="zh-CN" sz="2000" i="1">
                                  <a:latin typeface="Cambria Math" panose="02040503050406030204" pitchFamily="18" charset="0"/>
                                  <a:ea typeface="Cambria Math" panose="02040503050406030204" pitchFamily="18" charset="0"/>
                                </a:rPr>
                                <m:t>2</m:t>
                              </m:r>
                            </m:sup>
                          </m:sSubSup>
                        </m:e>
                      </m:nary>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b="0" i="1" smtClean="0">
                              <a:latin typeface="Cambria Math" panose="02040503050406030204" pitchFamily="18" charset="0"/>
                            </a:rPr>
                            <m:t>2</m:t>
                          </m:r>
                        </m:den>
                      </m:f>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𝑚</m:t>
                          </m:r>
                        </m:e>
                        <m:sub>
                          <m:r>
                            <a:rPr lang="en-US" altLang="zh-CN" sz="2000" b="0" i="1" smtClean="0">
                              <a:latin typeface="Cambria Math" panose="02040503050406030204" pitchFamily="18" charset="0"/>
                            </a:rPr>
                            <m:t>𝜇</m:t>
                          </m:r>
                        </m:sub>
                      </m:sSub>
                      <m:sSup>
                        <m:sSupPr>
                          <m:ctrlPr>
                            <a:rPr lang="en-US" altLang="zh-CN" sz="2000" b="0" i="1" smtClean="0">
                              <a:latin typeface="Cambria Math" panose="02040503050406030204" pitchFamily="18" charset="0"/>
                            </a:rPr>
                          </m:ctrlPr>
                        </m:sSupPr>
                        <m:e>
                          <m:acc>
                            <m:accPr>
                              <m:chr m:val="̇"/>
                              <m:ctrlPr>
                                <a:rPr lang="en-US" altLang="zh-CN" sz="2000" b="0" i="1" smtClean="0">
                                  <a:latin typeface="Cambria Math" panose="02040503050406030204" pitchFamily="18" charset="0"/>
                                </a:rPr>
                              </m:ctrlPr>
                            </m:accPr>
                            <m:e>
                              <m:r>
                                <a:rPr lang="en-US" altLang="zh-CN" sz="2000" b="1" i="1" smtClean="0">
                                  <a:latin typeface="Cambria Math" panose="02040503050406030204" pitchFamily="18" charset="0"/>
                                </a:rPr>
                                <m:t>𝒓</m:t>
                              </m:r>
                            </m:e>
                          </m:acc>
                        </m:e>
                        <m:sup>
                          <m:r>
                            <a:rPr lang="en-US" altLang="zh-CN" sz="2000" b="0" i="1" smtClean="0">
                              <a:latin typeface="Cambria Math" panose="02040503050406030204" pitchFamily="18" charset="0"/>
                            </a:rPr>
                            <m:t>2</m:t>
                          </m:r>
                        </m:sup>
                      </m:sSup>
                    </m:oMath>
                  </m:oMathPara>
                </a14:m>
                <a:endParaRPr lang="en-US" sz="2000" dirty="0"/>
              </a:p>
            </p:txBody>
          </p:sp>
        </mc:Choice>
        <mc:Fallback xmlns="">
          <p:sp>
            <p:nvSpPr>
              <p:cNvPr id="3" name="Content Placeholder 2">
                <a:extLst>
                  <a:ext uri="{FF2B5EF4-FFF2-40B4-BE49-F238E27FC236}">
                    <a16:creationId xmlns:a16="http://schemas.microsoft.com/office/drawing/2014/main" id="{2FD57B5F-14E0-4EF6-83DF-93110DB003EF}"/>
                  </a:ext>
                </a:extLst>
              </p:cNvPr>
              <p:cNvSpPr>
                <a:spLocks noGrp="1" noRot="1" noChangeAspect="1" noMove="1" noResize="1" noEditPoints="1" noAdjustHandles="1" noChangeArrowheads="1" noChangeShapeType="1" noTextEdit="1"/>
              </p:cNvSpPr>
              <p:nvPr>
                <p:ph idx="1"/>
              </p:nvPr>
            </p:nvSpPr>
            <p:spPr>
              <a:blipFill>
                <a:blip r:embed="rId2"/>
                <a:stretch>
                  <a:fillRect l="-638" r="-580" b="-1309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360069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zh-CN" altLang="en-US" dirty="0"/>
              <a:t>*</a:t>
            </a:r>
            <a:r>
              <a:rPr lang="en-US" altLang="zh-CN" dirty="0"/>
              <a:t>Transformation between the lab and the CM reference frame</a:t>
            </a:r>
            <a:endParaRPr lang="zh-CN" altLang="en-US" dirty="0"/>
          </a:p>
        </p:txBody>
      </p:sp>
      <p:grpSp>
        <p:nvGrpSpPr>
          <p:cNvPr id="6" name="Group 5"/>
          <p:cNvGrpSpPr/>
          <p:nvPr/>
        </p:nvGrpSpPr>
        <p:grpSpPr>
          <a:xfrm>
            <a:off x="2042840" y="1052736"/>
            <a:ext cx="7992888" cy="3049888"/>
            <a:chOff x="539552" y="1930188"/>
            <a:chExt cx="7992888" cy="3049888"/>
          </a:xfrm>
        </p:grpSpPr>
        <p:pic>
          <p:nvPicPr>
            <p:cNvPr id="3078"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1930188"/>
              <a:ext cx="3744416" cy="3049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9"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72219" y="1988840"/>
              <a:ext cx="3760221" cy="29777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8" name="Group 7"/>
          <p:cNvGrpSpPr/>
          <p:nvPr/>
        </p:nvGrpSpPr>
        <p:grpSpPr>
          <a:xfrm>
            <a:off x="2377252" y="4390656"/>
            <a:ext cx="2587533" cy="1042902"/>
            <a:chOff x="527225" y="4365104"/>
            <a:chExt cx="2820640" cy="1080120"/>
          </a:xfrm>
        </p:grpSpPr>
        <p:pic>
          <p:nvPicPr>
            <p:cNvPr id="3080"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7225" y="4365104"/>
              <a:ext cx="2801543" cy="5743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81"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8592" y="4885166"/>
              <a:ext cx="2809273" cy="5600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3082"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06345" y="4462353"/>
            <a:ext cx="3798085" cy="9238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896355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3215680" y="398573"/>
            <a:ext cx="5976664" cy="5085840"/>
            <a:chOff x="3906235" y="1325492"/>
            <a:chExt cx="4891356" cy="4366055"/>
          </a:xfrm>
        </p:grpSpPr>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06235" y="1875123"/>
              <a:ext cx="4891356" cy="38164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8" name="TextBox 7"/>
                <p:cNvSpPr txBox="1"/>
                <p:nvPr/>
              </p:nvSpPr>
              <p:spPr>
                <a:xfrm>
                  <a:off x="4752387" y="1325492"/>
                  <a:ext cx="3004542" cy="449170"/>
                </a:xfrm>
                <a:prstGeom prst="rect">
                  <a:avLst/>
                </a:prstGeom>
                <a:noFill/>
              </p:spPr>
              <p:txBody>
                <a:bodyPr wrap="none" rtlCol="0">
                  <a:spAutoFit/>
                </a:bodyPr>
                <a:lstStyle/>
                <a:p>
                  <a14:m>
                    <m:oMath xmlns:m="http://schemas.openxmlformats.org/officeDocument/2006/math">
                      <m:r>
                        <a:rPr lang="en-US" altLang="zh-CN" sz="2800" b="1" i="1" dirty="0">
                          <a:latin typeface="Cambria Math"/>
                        </a:rPr>
                        <m:t>𝜶</m:t>
                      </m:r>
                    </m:oMath>
                  </a14:m>
                  <a:r>
                    <a:rPr lang="zh-CN" altLang="en-US" sz="2800" b="1" dirty="0"/>
                    <a:t>粒子在云室内的轨迹</a:t>
                  </a:r>
                  <a:endParaRPr lang="en-US" sz="2800" b="1" dirty="0"/>
                </a:p>
              </p:txBody>
            </p:sp>
          </mc:Choice>
          <mc:Fallback xmlns="">
            <p:sp>
              <p:nvSpPr>
                <p:cNvPr id="8" name="TextBox 7"/>
                <p:cNvSpPr txBox="1">
                  <a:spLocks noRot="1" noChangeAspect="1" noMove="1" noResize="1" noEditPoints="1" noAdjustHandles="1" noChangeArrowheads="1" noChangeShapeType="1" noTextEdit="1"/>
                </p:cNvSpPr>
                <p:nvPr/>
              </p:nvSpPr>
              <p:spPr>
                <a:xfrm>
                  <a:off x="4752387" y="1325492"/>
                  <a:ext cx="3004542" cy="449170"/>
                </a:xfrm>
                <a:prstGeom prst="rect">
                  <a:avLst/>
                </a:prstGeom>
                <a:blipFill rotWithShape="1">
                  <a:blip r:embed="rId4"/>
                  <a:stretch>
                    <a:fillRect t="-16279" r="-2990" b="-26744"/>
                  </a:stretch>
                </a:blipFill>
              </p:spPr>
              <p:txBody>
                <a:bodyPr/>
                <a:lstStyle/>
                <a:p>
                  <a:r>
                    <a:rPr lang="en-US">
                      <a:noFill/>
                    </a:rPr>
                    <a:t> </a:t>
                  </a:r>
                </a:p>
              </p:txBody>
            </p:sp>
          </mc:Fallback>
        </mc:AlternateContent>
      </p:grpSp>
    </p:spTree>
    <p:extLst>
      <p:ext uri="{BB962C8B-B14F-4D97-AF65-F5344CB8AC3E}">
        <p14:creationId xmlns:p14="http://schemas.microsoft.com/office/powerpoint/2010/main" val="34447818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3185</TotalTime>
  <Words>2567</Words>
  <Application>Microsoft Office PowerPoint</Application>
  <PresentationFormat>Widescreen</PresentationFormat>
  <Paragraphs>182</Paragraphs>
  <Slides>17</Slides>
  <Notes>13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17</vt:i4>
      </vt:variant>
    </vt:vector>
  </HeadingPairs>
  <TitlesOfParts>
    <vt:vector size="27" baseType="lpstr">
      <vt:lpstr>Inter</vt:lpstr>
      <vt:lpstr>KaTeX_Main</vt:lpstr>
      <vt:lpstr>KaTeX_Math</vt:lpstr>
      <vt:lpstr>宋体</vt:lpstr>
      <vt:lpstr>等线</vt:lpstr>
      <vt:lpstr>等线 Light</vt:lpstr>
      <vt:lpstr>Arial</vt:lpstr>
      <vt:lpstr>Cambria Math</vt:lpstr>
      <vt:lpstr>Times New Roman</vt:lpstr>
      <vt:lpstr>Office Theme</vt:lpstr>
      <vt:lpstr>The discovery of the nucleus</vt:lpstr>
      <vt:lpstr>Thomson’s plum-pudding model of atoms</vt:lpstr>
      <vt:lpstr>Ernest Rutherford</vt:lpstr>
      <vt:lpstr>Alpha, Beta and Gamma rays</vt:lpstr>
      <vt:lpstr>Rutherford-Geiger-Marsden experiment (1909-1911)</vt:lpstr>
      <vt:lpstr>The result of the scattering experiment</vt:lpstr>
      <vt:lpstr>The size of an atom</vt:lpstr>
      <vt:lpstr>The failure of Thomson’s model</vt:lpstr>
      <vt:lpstr>The proof of Rutherford’s model (1911)</vt:lpstr>
      <vt:lpstr>Coulomb scattering</vt:lpstr>
      <vt:lpstr>Differential scattering cross-section</vt:lpstr>
      <vt:lpstr>How many α-particles get to the counter?</vt:lpstr>
      <vt:lpstr>New problem arises</vt:lpstr>
      <vt:lpstr>The two-body problem</vt:lpstr>
      <vt:lpstr>Total kinetic energy in the Lab and the center-of-mass reference frames</vt:lpstr>
      <vt:lpstr>*Transformation between the lab and the CM reference frame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zhao kevin</dc:creator>
  <cp:lastModifiedBy>zhao kevin</cp:lastModifiedBy>
  <cp:revision>291</cp:revision>
  <dcterms:created xsi:type="dcterms:W3CDTF">2016-09-07T16:01:32Z</dcterms:created>
  <dcterms:modified xsi:type="dcterms:W3CDTF">2025-02-20T07:00:20Z</dcterms:modified>
</cp:coreProperties>
</file>