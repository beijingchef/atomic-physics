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8"/>
  </p:notesMasterIdLst>
  <p:sldIdLst>
    <p:sldId id="602" r:id="rId2"/>
    <p:sldId id="603" r:id="rId3"/>
    <p:sldId id="599" r:id="rId4"/>
    <p:sldId id="610" r:id="rId5"/>
    <p:sldId id="612" r:id="rId6"/>
    <p:sldId id="288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atial quantization" id="{F79212D7-30DD-42A3-90D3-C119502F6ECF}">
          <p14:sldIdLst>
            <p14:sldId id="602"/>
            <p14:sldId id="603"/>
            <p14:sldId id="599"/>
            <p14:sldId id="610"/>
            <p14:sldId id="612"/>
            <p14:sldId id="288"/>
          </p14:sldIdLst>
        </p14:section>
        <p14:section name="Appendix" id="{381AD6C3-705B-48A1-9C93-F235151633A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9020" autoAdjust="0"/>
  </p:normalViewPr>
  <p:slideViewPr>
    <p:cSldViewPr snapToGrid="0">
      <p:cViewPr varScale="1">
        <p:scale>
          <a:sx n="94" d="100"/>
          <a:sy n="94" d="100"/>
        </p:scale>
        <p:origin x="1382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-2914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387D0-1216-4FA3-AF01-EA63AC44C2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63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274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46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6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7BCBA8-2040-4DD5-98C7-C51B3657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6518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9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20" Type="http://schemas.openxmlformats.org/officeDocument/2006/relationships/image" Target="../media/image10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png"/><Relationship Id="rId10" Type="http://schemas.openxmlformats.org/officeDocument/2006/relationships/image" Target="../media/image13.gif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5.gif">
            <a:extLst>
              <a:ext uri="{FF2B5EF4-FFF2-40B4-BE49-F238E27FC236}">
                <a16:creationId xmlns:a16="http://schemas.microsoft.com/office/drawing/2014/main" id="{CB76A70A-8AF3-4598-931D-90BA33BD73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68" y="1959347"/>
            <a:ext cx="6174481" cy="219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6.gif">
            <a:extLst>
              <a:ext uri="{FF2B5EF4-FFF2-40B4-BE49-F238E27FC236}">
                <a16:creationId xmlns:a16="http://schemas.microsoft.com/office/drawing/2014/main" id="{3BA0CA29-0F99-4E5E-AFD7-47F6D75B42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70" y="4256334"/>
            <a:ext cx="6174480" cy="221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311EB5-0DA8-4580-AD6A-40736141ACFF}"/>
              </a:ext>
            </a:extLst>
          </p:cNvPr>
          <p:cNvSpPr/>
          <p:nvPr/>
        </p:nvSpPr>
        <p:spPr>
          <a:xfrm>
            <a:off x="802968" y="800602"/>
            <a:ext cx="10342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light polarization can be formed by the superposition of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linear polarizations: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and vertical polarization (red &amp; green)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E6405E-90D5-4732-9675-E7F905BC37B7}"/>
                  </a:ext>
                </a:extLst>
              </p:cNvPr>
              <p:cNvSpPr/>
              <p:nvPr/>
            </p:nvSpPr>
            <p:spPr>
              <a:xfrm>
                <a:off x="7151792" y="2141169"/>
                <a:ext cx="4074101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they are in phase, they generate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45 degree linear polarization.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horizontal lags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they generate a right circular polarization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E6405E-90D5-4732-9675-E7F905BC3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92" y="2141169"/>
                <a:ext cx="4074101" cy="3785652"/>
              </a:xfrm>
              <a:prstGeom prst="rect">
                <a:avLst/>
              </a:prstGeom>
              <a:blipFill>
                <a:blip r:embed="rId4"/>
                <a:stretch>
                  <a:fillRect l="-2242" t="-1288" b="-2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8DF3C06-BBFD-4579-8154-BCE26597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2219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</a:rPr>
              <a:t>Polarizations of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light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4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8.gif">
            <a:extLst>
              <a:ext uri="{FF2B5EF4-FFF2-40B4-BE49-F238E27FC236}">
                <a16:creationId xmlns:a16="http://schemas.microsoft.com/office/drawing/2014/main" id="{D1467FA5-EA17-41C2-A1A4-558C8BFD92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11" y="1699458"/>
            <a:ext cx="5752844" cy="237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9.gif">
            <a:extLst>
              <a:ext uri="{FF2B5EF4-FFF2-40B4-BE49-F238E27FC236}">
                <a16:creationId xmlns:a16="http://schemas.microsoft.com/office/drawing/2014/main" id="{0C7364F2-F4A5-42B1-90C7-3A216FD9A20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67" y="4231638"/>
            <a:ext cx="4953733" cy="218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EFCA74-A909-4448-9219-DCF746CCC59C}"/>
              </a:ext>
            </a:extLst>
          </p:cNvPr>
          <p:cNvSpPr/>
          <p:nvPr/>
        </p:nvSpPr>
        <p:spPr>
          <a:xfrm>
            <a:off x="6882020" y="1984869"/>
            <a:ext cx="46704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are in phase, we have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polarization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are in phase but with different amplitude, we have a upright elliptical polarization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F6E526-F9B6-46AD-9560-16BEECB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5" y="158240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Polarizations of</a:t>
            </a:r>
            <a:r>
              <a:rPr lang="zh-CN" altLang="en-US" dirty="0"/>
              <a:t> </a:t>
            </a:r>
            <a:r>
              <a:rPr lang="en-US" altLang="zh-CN" dirty="0"/>
              <a:t>light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8E36F-6975-43E5-B09D-702C8553B195}"/>
              </a:ext>
            </a:extLst>
          </p:cNvPr>
          <p:cNvSpPr/>
          <p:nvPr/>
        </p:nvSpPr>
        <p:spPr>
          <a:xfrm>
            <a:off x="680504" y="709329"/>
            <a:ext cx="10342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light polarization can also be formed by the superposition of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circular polarizations: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 and left-circular polarization (red &amp; green)</a:t>
            </a:r>
          </a:p>
        </p:txBody>
      </p:sp>
    </p:spTree>
    <p:extLst>
      <p:ext uri="{BB962C8B-B14F-4D97-AF65-F5344CB8AC3E}">
        <p14:creationId xmlns:p14="http://schemas.microsoft.com/office/powerpoint/2010/main" val="7686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351091" cy="3349507"/>
            <a:chOff x="5510130" y="1791217"/>
            <a:chExt cx="5351091" cy="33495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5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4715628"/>
                    </p:ext>
                  </p:extLst>
                </p:nvPr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79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04715628"/>
                    </p:ext>
                  </p:extLst>
                </p:nvPr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79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20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B59D65A-CA1F-4ECD-9269-2C0C831EF4D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7297" y="2212963"/>
            <a:ext cx="4664930" cy="3714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351091" cy="3349507"/>
            <a:chOff x="5510130" y="1791217"/>
            <a:chExt cx="5351091" cy="33495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5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45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09821" y="2503057"/>
                <a:ext cx="4851400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4345" name="Equation" r:id="rId6" imgW="2057400" imgH="419040" progId="Equation.DSMT4">
                        <p:embed/>
                      </p:oleObj>
                    </mc:Choice>
                    <mc:Fallback>
                      <p:oleObj name="Equation" r:id="rId6" imgW="205740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09821" y="2503057"/>
                              <a:ext cx="4851400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8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848B3E-28A2-4A00-B8CF-9D8BF111B577}"/>
              </a:ext>
            </a:extLst>
          </p:cNvPr>
          <p:cNvGrpSpPr/>
          <p:nvPr/>
        </p:nvGrpSpPr>
        <p:grpSpPr>
          <a:xfrm>
            <a:off x="924072" y="2232916"/>
            <a:ext cx="4263384" cy="4058054"/>
            <a:chOff x="4564323" y="1431050"/>
            <a:chExt cx="4904105" cy="4973915"/>
          </a:xfrm>
        </p:grpSpPr>
        <p:pic>
          <p:nvPicPr>
            <p:cNvPr id="15" name="Picture 14" descr="Тест &quot;Електромагнитни вълни&quot; (вариант 2) | physicstime.com">
              <a:extLst>
                <a:ext uri="{FF2B5EF4-FFF2-40B4-BE49-F238E27FC236}">
                  <a16:creationId xmlns:a16="http://schemas.microsoft.com/office/drawing/2014/main" id="{2846D6EF-748F-462E-BF3B-C4AA66D6CAD1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4323" y="1431050"/>
              <a:ext cx="4904105" cy="4973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D27A5E-D5D9-417B-B003-7481749C4219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53" y="2750416"/>
              <a:ext cx="216825" cy="55325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9AF2224-ADC4-4626-A0C5-5ADA24B09F2B}"/>
                </a:ext>
              </a:extLst>
            </p:cNvPr>
            <p:cNvCxnSpPr>
              <a:cxnSpLocks/>
            </p:cNvCxnSpPr>
            <p:nvPr/>
          </p:nvCxnSpPr>
          <p:spPr>
            <a:xfrm>
              <a:off x="7020670" y="3909065"/>
              <a:ext cx="2319341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AAE99A9-8602-410C-95E8-EF2E4E4DF8D9}"/>
                </a:ext>
              </a:extLst>
            </p:cNvPr>
            <p:cNvCxnSpPr>
              <a:cxnSpLocks/>
            </p:cNvCxnSpPr>
            <p:nvPr/>
          </p:nvCxnSpPr>
          <p:spPr>
            <a:xfrm>
              <a:off x="9340011" y="3480967"/>
              <a:ext cx="0" cy="81671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B701C2B-EA65-4441-A75E-023AF5D1E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6975" y="3056081"/>
              <a:ext cx="2093932" cy="85805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1922DF2-FA8F-41C6-A966-A0BA02426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6052" y="1710284"/>
              <a:ext cx="564847" cy="219878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2455219-9FC3-482F-BC8A-8F07163E2305}"/>
                </a:ext>
              </a:extLst>
            </p:cNvPr>
            <p:cNvCxnSpPr>
              <a:cxnSpLocks/>
            </p:cNvCxnSpPr>
            <p:nvPr/>
          </p:nvCxnSpPr>
          <p:spPr>
            <a:xfrm>
              <a:off x="7423846" y="1631145"/>
              <a:ext cx="335280" cy="9274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35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544287" y="5208814"/>
            <a:ext cx="10450284" cy="856116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electric field radiated by a dipole rotation on the x-y plane?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32A40-8281-489F-9E49-E5EFA6681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732" y="1913390"/>
            <a:ext cx="3589885" cy="2563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4463C7-A807-418C-989E-17CB7A5B7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368" y="762226"/>
            <a:ext cx="4664930" cy="3714750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B468D8B-4763-4F16-8DA3-C1B2FCE1B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760094"/>
              </p:ext>
            </p:extLst>
          </p:nvPr>
        </p:nvGraphicFramePr>
        <p:xfrm>
          <a:off x="4173692" y="1221128"/>
          <a:ext cx="2438633" cy="85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6" imgW="1193760" imgH="419040" progId="Equation.DSMT4">
                  <p:embed/>
                </p:oleObj>
              </mc:Choice>
              <mc:Fallback>
                <p:oleObj name="Equation" r:id="rId6" imgW="11937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3692" y="1221128"/>
                        <a:ext cx="2438633" cy="85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99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B858C60-974E-47E3-9225-CDF5984B1211}"/>
              </a:ext>
            </a:extLst>
          </p:cNvPr>
          <p:cNvGrpSpPr/>
          <p:nvPr/>
        </p:nvGrpSpPr>
        <p:grpSpPr>
          <a:xfrm>
            <a:off x="927563" y="1221290"/>
            <a:ext cx="10422964" cy="5356281"/>
            <a:chOff x="1305503" y="1286602"/>
            <a:chExt cx="10422964" cy="5356281"/>
          </a:xfrm>
        </p:grpSpPr>
        <p:pic>
          <p:nvPicPr>
            <p:cNvPr id="316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503" y="1327285"/>
              <a:ext cx="7844304" cy="5315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/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Perpendicular to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(transverse)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endPara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495" t="-2304" r="-3987" b="-73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/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With magnetic field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endPara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Observe along the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direction (longitudinal)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:  right circularly polarized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342900" indent="-342900" algn="ctr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:  left circularly polarized </a:t>
                  </a:r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769" y="1286602"/>
                  <a:ext cx="5136247" cy="1661480"/>
                </a:xfrm>
                <a:prstGeom prst="rect">
                  <a:avLst/>
                </a:prstGeom>
                <a:blipFill>
                  <a:blip r:embed="rId5"/>
                  <a:stretch>
                    <a:fillRect t="-1832" b="-36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8008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Zeeman effect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classical (Lorentz) explanation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7288" y="687964"/>
                <a:ext cx="9663830" cy="3732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magnetic field: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unpolarized fluorescence of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observed from any direction.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7288" y="687964"/>
                <a:ext cx="9663830" cy="373211"/>
              </a:xfrm>
              <a:blipFill>
                <a:blip r:embed="rId6"/>
                <a:stretch>
                  <a:fillRect l="-694" t="-18033" r="-505" b="-27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393" y="3952257"/>
            <a:ext cx="2613581" cy="2685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F5F73D-9931-41F3-A6B2-B96E5284A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9643" y="5419396"/>
            <a:ext cx="389302" cy="45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81778-43F6-4AFB-8669-503EB4739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630204" y="3391240"/>
            <a:ext cx="389302" cy="4559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/>
              <p:nvPr/>
            </p:nvSpPr>
            <p:spPr>
              <a:xfrm>
                <a:off x="5904972" y="5726563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72" y="5726563"/>
                <a:ext cx="332462" cy="276999"/>
              </a:xfrm>
              <a:prstGeom prst="rect">
                <a:avLst/>
              </a:prstGeom>
              <a:blipFill>
                <a:blip r:embed="rId9"/>
                <a:stretch>
                  <a:fillRect l="-9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/>
              <p:nvPr/>
            </p:nvSpPr>
            <p:spPr>
              <a:xfrm>
                <a:off x="7362067" y="5726563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067" y="5726563"/>
                <a:ext cx="332462" cy="276999"/>
              </a:xfrm>
              <a:prstGeom prst="rect">
                <a:avLst/>
              </a:prstGeom>
              <a:blipFill>
                <a:blip r:embed="rId10"/>
                <a:stretch>
                  <a:fillRect l="-9259" r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5385F-233E-4DB8-A711-407A1135C1B6}"/>
              </a:ext>
            </a:extLst>
          </p:cNvPr>
          <p:cNvSpPr/>
          <p:nvPr/>
        </p:nvSpPr>
        <p:spPr>
          <a:xfrm>
            <a:off x="788473" y="1153889"/>
            <a:ext cx="10750705" cy="5538194"/>
          </a:xfrm>
          <a:prstGeom prst="roundRect">
            <a:avLst>
              <a:gd name="adj" fmla="val 507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95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物理学和量子力学的诞生&amp;quot;&quot;/&gt;&lt;property id=&quot;20307&quot; value=&quot;256&quot;/&gt;&lt;/object&gt;&lt;object type=&quot;3&quot; unique_id=&quot;10013&quot;&gt;&lt;property id=&quot;20148&quot; value=&quot;5&quot;/&gt;&lt;property id=&quot;20300&quot; value=&quot;Slide 9 - &amp;quot;几个重要的物理量&amp;quot;&quot;/&gt;&lt;property id=&quot;20307&quot; value=&quot;262&quot;/&gt;&lt;/object&gt;&lt;object type=&quot;3&quot; unique_id=&quot;10058&quot;&gt;&lt;property id=&quot;20148&quot; value=&quot;5&quot;/&gt;&lt;property id=&quot;20300&quot; value=&quot;Slide 2 - &amp;quot;第一届索尔维物理会议&amp;quot;&quot;/&gt;&lt;property id=&quot;20307&quot; value=&quot;265&quot;/&gt;&lt;/object&gt;&lt;object type=&quot;3&quot; unique_id=&quot;10072&quot;&gt;&lt;property id=&quot;20148&quot; value=&quot;5&quot;/&gt;&lt;property id=&quot;20300&quot; value=&quot;Slide 3 - &amp;quot;The 1st Solvay Conference 1911&amp;quot;&quot;/&gt;&lt;property id=&quot;20307&quot; value=&quot;267&quot;/&gt;&lt;/object&gt;&lt;object type=&quot;3&quot; unique_id=&quot;10112&quot;&gt;&lt;property id=&quot;20148&quot; value=&quot;5&quot;/&gt;&lt;property id=&quot;20300&quot; value=&quot;Slide 4 - &amp;quot;氢原子光谱&amp;quot;&quot;/&gt;&lt;property id=&quot;20307&quot; value=&quot;273&quot;/&gt;&lt;/object&gt;&lt;object type=&quot;3&quot; unique_id=&quot;10113&quot;&gt;&lt;property id=&quot;20148&quot; value=&quot;5&quot;/&gt;&lt;property id=&quot;20300&quot; value=&quot;Slide 5 - &amp;quot;氢原子光谱&amp;quot;&quot;/&gt;&lt;property id=&quot;20307&quot; value=&quot;274&quot;/&gt;&lt;/object&gt;&lt;object type=&quot;3&quot; unique_id=&quot;10116&quot;&gt;&lt;property id=&quot;20148&quot; value=&quot;5&quot;/&gt;&lt;property id=&quot;20300&quot; value=&quot;Slide 31 - &amp;quot;第五届索尔维会议（1927）&amp;quot;&quot;/&gt;&lt;property id=&quot;20307&quot; value=&quot;270&quot;/&gt;&lt;/object&gt;&lt;object type=&quot;3&quot; unique_id=&quot;10117&quot;&gt;&lt;property id=&quot;20148&quot; value=&quot;5&quot;/&gt;&lt;property id=&quot;20300&quot; value=&quot;Slide 32 - &amp;quot;The 5th Solvay Conference 1927&amp;quot;&quot;/&gt;&lt;property id=&quot;20307&quot; value=&quot;269&quot;/&gt;&lt;/object&gt;&lt;object type=&quot;3&quot; unique_id=&quot;10279&quot;&gt;&lt;property id=&quot;20148&quot; value=&quot;5&quot;/&gt;&lt;property id=&quot;20300&quot; value=&quot;Slide 8 - &amp;quot;里德堡常数的修正&amp;quot;&quot;/&gt;&lt;property id=&quot;20307&quot; value=&quot;276&quot;/&gt;&lt;/object&gt;&lt;object type=&quot;3&quot; unique_id=&quot;10350&quot;&gt;&lt;property id=&quot;20148&quot; value=&quot;5&quot;/&gt;&lt;property id=&quot;20300&quot; value=&quot;Slide 13 - &amp;quot;进一步验证：类氢离子光谱&amp;quot;&quot;/&gt;&lt;property id=&quot;20307&quot; value=&quot;278&quot;/&gt;&lt;/object&gt;&lt;object type=&quot;3&quot; unique_id=&quot;10351&quot;&gt;&lt;property id=&quot;20148&quot; value=&quot;5&quot;/&gt;&lt;property id=&quot;20300&quot; value=&quot;Slide 14 - &amp;quot;类氢离子的物理常数&amp;quot;&quot;/&gt;&lt;property id=&quot;20307&quot; value=&quot;279&quot;/&gt;&lt;/object&gt;&lt;object type=&quot;3&quot; unique_id=&quot;10352&quot;&gt;&lt;property id=&quot;20148&quot; value=&quot;5&quot;/&gt;&lt;property id=&quot;20300&quot; value=&quot;Slide 16 - &amp;quot;原子能级在碰撞过程的体现&amp;quot;&quot;/&gt;&lt;property id=&quot;20307&quot; value=&quot;277&quot;/&gt;&lt;/object&gt;&lt;object type=&quot;3&quot; unique_id=&quot;10438&quot;&gt;&lt;property id=&quot;20148&quot; value=&quot;5&quot;/&gt;&lt;property id=&quot;20300&quot; value=&quot;Slide 12 - &amp;quot;精细结构常数:  𝛼=  𝑒 2  ℏ𝑐 &amp;quot;&quot;/&gt;&lt;property id=&quot;20307&quot; value=&quot;280&quot;/&gt;&lt;/object&gt;&lt;object type=&quot;3&quot; unique_id=&quot;10923&quot;&gt;&lt;property id=&quot;20148&quot; value=&quot;5&quot;/&gt;&lt;property id=&quot;20300&quot; value=&quot;Slide 23 - &amp;quot;Stern-Gerlach 实验（1922）&amp;quot;&quot;/&gt;&lt;property id=&quot;20307&quot; value=&quot;283&quot;/&gt;&lt;/object&gt;&lt;object type=&quot;3&quot; unique_id=&quot;11076&quot;&gt;&lt;property id=&quot;20148&quot; value=&quot;5&quot;/&gt;&lt;property id=&quot;20300&quot; value=&quot;Slide 21 - &amp;quot;Bohr – Sommerfeld 的旧量子论&amp;quot;&quot;/&gt;&lt;property id=&quot;20307&quot; value=&quot;286&quot;/&gt;&lt;/object&gt;&lt;object type=&quot;3&quot; unique_id=&quot;11101&quot;&gt;&lt;property id=&quot;20148&quot; value=&quot;5&quot;/&gt;&lt;property id=&quot;20300&quot; value=&quot;Slide 18 - &amp;quot;塞曼效应（1896）&amp;quot;&quot;/&gt;&lt;property id=&quot;20307&quot; value=&quot;288&quot;/&gt;&lt;/object&gt;&lt;object type=&quot;3&quot; unique_id=&quot;11102&quot;&gt;&lt;property id=&quot;20148&quot; value=&quot;5&quot;/&gt;&lt;property id=&quot;20300&quot; value=&quot;Slide 26 - &amp;quot;泡利不相容原理和电子自旋（1925）&amp;quot;&quot;/&gt;&lt;property id=&quot;20307&quot; value=&quot;287&quot;/&gt;&lt;/object&gt;&lt;object type=&quot;3&quot; unique_id=&quot;11103&quot;&gt;&lt;property id=&quot;20148&quot; value=&quot;5&quot;/&gt;&lt;property id=&quot;20300&quot; value=&quot;Slide 30 - &amp;quot;量子力学&amp;quot;&quot;/&gt;&lt;property id=&quot;20307&quot; value=&quot;289&quot;/&gt;&lt;/object&gt;&lt;object type=&quot;3&quot; unique_id=&quot;11204&quot;&gt;&lt;property id=&quot;20148&quot; value=&quot;5&quot;/&gt;&lt;property id=&quot;20300&quot; value=&quot;Slide 17 - &amp;quot;改进后的Frank-Hertz实验(1920)&amp;quot;&quot;/&gt;&lt;property id=&quot;20307&quot; value=&quot;290&quot;/&gt;&lt;/object&gt;&lt;object type=&quot;3&quot; unique_id=&quot;11231&quot;&gt;&lt;property id=&quot;20148&quot; value=&quot;5&quot;/&gt;&lt;property id=&quot;20300&quot; value=&quot;Slide 24 - &amp;quot;幸运雪茄&amp;quot;&quot;/&gt;&lt;property id=&quot;20307&quot; value=&quot;291&quot;/&gt;&lt;/object&gt;&lt;object type=&quot;3&quot; unique_id=&quot;11260&quot;&gt;&lt;property id=&quot;20148&quot; value=&quot;5&quot;/&gt;&lt;property id=&quot;20300&quot; value=&quot;Slide 27 - &amp;quot;de Broglie物质波(1923)&amp;quot;&quot;/&gt;&lt;property id=&quot;20307&quot; value=&quot;294&quot;/&gt;&lt;/object&gt;&lt;object type=&quot;3&quot; unique_id=&quot;11261&quot;&gt;&lt;property id=&quot;20148&quot; value=&quot;5&quot;/&gt;&lt;property id=&quot;20300&quot; value=&quot;Slide 28 - &amp;quot;电子晶体衍射&amp;quot;&quot;/&gt;&lt;property id=&quot;20307&quot; value=&quot;295&quot;/&gt;&lt;/object&gt;&lt;object type=&quot;3&quot; unique_id=&quot;11262&quot;&gt;&lt;property id=&quot;20148&quot; value=&quot;5&quot;/&gt;&lt;property id=&quot;20300&quot; value=&quot;Slide 33&quot;/&gt;&lt;property id=&quot;20307&quot; value=&quot;292&quot;/&gt;&lt;/object&gt;&lt;object type=&quot;3&quot; unique_id=&quot;11437&quot;&gt;&lt;property id=&quot;20148&quot; value=&quot;5&quot;/&gt;&lt;property id=&quot;20300&quot; value=&quot;Slide 22 - &amp;quot;正常塞曼效应的Bohr理论解释&amp;quot;&quot;/&gt;&lt;property id=&quot;20307&quot; value=&quot;296&quot;/&gt;&lt;/object&gt;&lt;object type=&quot;3&quot; unique_id=&quot;11468&quot;&gt;&lt;property id=&quot;20148&quot; value=&quot;5&quot;/&gt;&lt;property id=&quot;20300&quot; value=&quot;Slide 34 - &amp;quot;作业&amp;quot;&quot;/&gt;&lt;property id=&quot;20307&quot; value=&quot;299&quot;/&gt;&lt;/object&gt;&lt;object type=&quot;3&quot; unique_id=&quot;12182&quot;&gt;&lt;property id=&quot;20148&quot; value=&quot;5&quot;/&gt;&lt;property id=&quot;20300&quot; value=&quot;Slide 11 - &amp;quot;精细结构常数  𝛼=  𝑒 2  ℏ𝑐 &amp;quot;&quot;/&gt;&lt;property id=&quot;20307&quot; value=&quot;300&quot;/&gt;&lt;/object&gt;&lt;object type=&quot;3&quot; unique_id=&quot;12183&quot;&gt;&lt;property id=&quot;20148&quot; value=&quot;5&quot;/&gt;&lt;property id=&quot;20300&quot; value=&quot;Slide 19 - &amp;quot;塞曼效应的经典解释&amp;quot;&quot;/&gt;&lt;property id=&quot;20307&quot; value=&quot;301&quot;/&gt;&lt;/object&gt;&lt;object type=&quot;3&quot; unique_id=&quot;12280&quot;&gt;&lt;property id=&quot;20148&quot; value=&quot;5&quot;/&gt;&lt;property id=&quot;20300&quot; value=&quot;Slide 10 - &amp;quot;备注&amp;quot;&quot;/&gt;&lt;property id=&quot;20307&quot; value=&quot;302&quot;/&gt;&lt;/object&gt;&lt;object type=&quot;3&quot; unique_id=&quot;12281&quot;&gt;&lt;property id=&quot;20148&quot; value=&quot;5&quot;/&gt;&lt;property id=&quot;20300&quot; value=&quot;Slide 7 - &amp;quot;玻尔模型和氢原子光谱&amp;quot;&quot;/&gt;&lt;property id=&quot;20307&quot; value=&quot;303&quot;/&gt;&lt;/object&gt;&lt;object type=&quot;3&quot; unique_id=&quot;12543&quot;&gt;&lt;property id=&quot;20148&quot; value=&quot;5&quot;/&gt;&lt;property id=&quot;20300&quot; value=&quot;Slide 6 - &amp;quot;Bohr模型（1913）&amp;quot;&quot;/&gt;&lt;property id=&quot;20307&quot; value=&quot;304&quot;/&gt;&lt;/object&gt;&lt;object type=&quot;3&quot; unique_id=&quot;12577&quot;&gt;&lt;property id=&quot;20148&quot; value=&quot;5&quot;/&gt;&lt;property id=&quot;20300&quot; value=&quot;Slide 15 - &amp;quot;透射（吸收）谱和荧光谱&amp;quot;&quot;/&gt;&lt;property id=&quot;20307&quot; value=&quot;305&quot;/&gt;&lt;/object&gt;&lt;object type=&quot;3&quot; unique_id=&quot;12578&quot;&gt;&lt;property id=&quot;20148&quot; value=&quot;5&quot;/&gt;&lt;property id=&quot;20300&quot; value=&quot;Slide 20 - &amp;quot;反常(anormlous)塞曼效应&amp;quot;&quot;/&gt;&lt;property id=&quot;20307&quot; value=&quot;306&quot;/&gt;&lt;/object&gt;&lt;object type=&quot;3&quot; unique_id=&quot;12579&quot;&gt;&lt;property id=&quot;20148&quot; value=&quot;5&quot;/&gt;&lt;property id=&quot;20300&quot; value=&quot;Slide 29&quot;/&gt;&lt;property id=&quot;20307&quot; value=&quot;307&quot;/&gt;&lt;/object&gt;&lt;object type=&quot;3&quot; unique_id=&quot;13072&quot;&gt;&lt;property id=&quot;20148&quot; value=&quot;5&quot;/&gt;&lt;property id=&quot;20300&quot; value=&quot;Slide 25 - &amp;quot;Stern-Gerlach 实验的解释&amp;quot;&quot;/&gt;&lt;property id=&quot;20307&quot; value=&quot;30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FF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9238</TotalTime>
  <Words>360</Words>
  <Application>Microsoft Office PowerPoint</Application>
  <PresentationFormat>Widescreen</PresentationFormat>
  <Paragraphs>56</Paragraphs>
  <Slides>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 Math</vt:lpstr>
      <vt:lpstr>Times New Roman</vt:lpstr>
      <vt:lpstr>Office Theme</vt:lpstr>
      <vt:lpstr>MathType 7.0 Equation</vt:lpstr>
      <vt:lpstr>Equation</vt:lpstr>
      <vt:lpstr>Polarizations of light</vt:lpstr>
      <vt:lpstr>Polarizations of light</vt:lpstr>
      <vt:lpstr>PowerPoint Presentation</vt:lpstr>
      <vt:lpstr>PowerPoint Presentation</vt:lpstr>
      <vt:lpstr>PowerPoint Presentation</vt:lpstr>
      <vt:lpstr>Zeeman effect（1896）and its classical (Lorentz) explanation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zhao kevin</cp:lastModifiedBy>
  <cp:revision>700</cp:revision>
  <dcterms:created xsi:type="dcterms:W3CDTF">2013-05-26T05:06:15Z</dcterms:created>
  <dcterms:modified xsi:type="dcterms:W3CDTF">2026-09-14T08:57:45Z</dcterms:modified>
</cp:coreProperties>
</file>