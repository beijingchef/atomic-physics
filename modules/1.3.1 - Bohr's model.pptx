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2"/>
  </p:notesMasterIdLst>
  <p:sldIdLst>
    <p:sldId id="256" r:id="rId2"/>
    <p:sldId id="273" r:id="rId3"/>
    <p:sldId id="274" r:id="rId4"/>
    <p:sldId id="326" r:id="rId5"/>
    <p:sldId id="304" r:id="rId6"/>
    <p:sldId id="309" r:id="rId7"/>
    <p:sldId id="325" r:id="rId8"/>
    <p:sldId id="303" r:id="rId9"/>
    <p:sldId id="322" r:id="rId10"/>
    <p:sldId id="302" r:id="rId11"/>
    <p:sldId id="332" r:id="rId12"/>
    <p:sldId id="335" r:id="rId13"/>
    <p:sldId id="334" r:id="rId14"/>
    <p:sldId id="333" r:id="rId15"/>
    <p:sldId id="300" r:id="rId16"/>
    <p:sldId id="262" r:id="rId17"/>
    <p:sldId id="280" r:id="rId18"/>
    <p:sldId id="277" r:id="rId19"/>
    <p:sldId id="290" r:id="rId20"/>
    <p:sldId id="310" r:id="rId21"/>
  </p:sldIdLst>
  <p:sldSz cx="12192000" cy="6858000"/>
  <p:notesSz cx="7315200" cy="96012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 id="{09BCCD36-CD68-4312-ABF8-8D1F580E3CAA}">
          <p14:sldIdLst>
            <p14:sldId id="256"/>
          </p14:sldIdLst>
        </p14:section>
        <p14:section name="玻尔模型" id="{D17F544B-858A-4CD9-881B-ED8A3A421ABB}">
          <p14:sldIdLst>
            <p14:sldId id="273"/>
            <p14:sldId id="274"/>
            <p14:sldId id="326"/>
            <p14:sldId id="304"/>
            <p14:sldId id="309"/>
            <p14:sldId id="325"/>
            <p14:sldId id="303"/>
            <p14:sldId id="322"/>
            <p14:sldId id="302"/>
            <p14:sldId id="332"/>
            <p14:sldId id="335"/>
            <p14:sldId id="334"/>
            <p14:sldId id="333"/>
            <p14:sldId id="300"/>
            <p14:sldId id="262"/>
            <p14:sldId id="280"/>
          </p14:sldIdLst>
        </p14:section>
        <p14:section name="原子能级的其他证据" id="{8861919D-9097-4EB9-AD77-E055C2B175D4}">
          <p14:sldIdLst>
            <p14:sldId id="277"/>
            <p14:sldId id="290"/>
            <p14:sldId id="310"/>
          </p14:sldIdLst>
        </p14:section>
        <p14:section name="附录" id="{9840DE7D-586E-4AF3-9944-65AB456E158D}">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5" autoAdjust="0"/>
    <p:restoredTop sz="88298" autoAdjust="0"/>
  </p:normalViewPr>
  <p:slideViewPr>
    <p:cSldViewPr snapToGrid="0">
      <p:cViewPr varScale="1">
        <p:scale>
          <a:sx n="57" d="100"/>
          <a:sy n="57" d="100"/>
        </p:scale>
        <p:origin x="33" y="945"/>
      </p:cViewPr>
      <p:guideLst>
        <p:guide orient="horz" pos="2160"/>
        <p:guide pos="3840"/>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snapToGrid="0">
      <p:cViewPr varScale="1">
        <p:scale>
          <a:sx n="75" d="100"/>
          <a:sy n="75" d="100"/>
        </p:scale>
        <p:origin x="-2914" y="-8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9040" tIns="49520" rIns="99040" bIns="49520" rtlCol="0"/>
          <a:lstStyle>
            <a:lvl1pPr algn="l">
              <a:defRPr sz="1300"/>
            </a:lvl1pPr>
          </a:lstStyle>
          <a:p>
            <a:endParaRPr lang="en-US"/>
          </a:p>
        </p:txBody>
      </p:sp>
      <p:sp>
        <p:nvSpPr>
          <p:cNvPr id="3" name="Date Placeholder 2"/>
          <p:cNvSpPr>
            <a:spLocks noGrp="1"/>
          </p:cNvSpPr>
          <p:nvPr>
            <p:ph type="dt" idx="1"/>
          </p:nvPr>
        </p:nvSpPr>
        <p:spPr>
          <a:xfrm>
            <a:off x="4143588" y="1"/>
            <a:ext cx="3169920" cy="480060"/>
          </a:xfrm>
          <a:prstGeom prst="rect">
            <a:avLst/>
          </a:prstGeom>
        </p:spPr>
        <p:txBody>
          <a:bodyPr vert="horz" lIns="99040" tIns="49520" rIns="99040" bIns="49520" rtlCol="0"/>
          <a:lstStyle>
            <a:lvl1pPr algn="r">
              <a:defRPr sz="1300"/>
            </a:lvl1pPr>
          </a:lstStyle>
          <a:p>
            <a:fld id="{C06387D0-1216-4FA3-AF01-EA63AC44C2D4}" type="datetimeFigureOut">
              <a:rPr lang="en-US" smtClean="0"/>
              <a:t>3/15/2026</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9040" tIns="49520" rIns="99040" bIns="49520" rtlCol="0" anchor="ctr"/>
          <a:lstStyle/>
          <a:p>
            <a:endParaRPr lang="en-US"/>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9040" tIns="49520" rIns="99040" bIns="495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9040" tIns="49520" rIns="99040" bIns="49520" rtlCol="0" anchor="b"/>
          <a:lstStyle>
            <a:lvl1pPr algn="l">
              <a:defRPr sz="1300"/>
            </a:lvl1pPr>
          </a:lstStyle>
          <a:p>
            <a:endParaRPr lang="en-US"/>
          </a:p>
        </p:txBody>
      </p:sp>
      <p:sp>
        <p:nvSpPr>
          <p:cNvPr id="7" name="Slide Number Placeholder 6"/>
          <p:cNvSpPr>
            <a:spLocks noGrp="1"/>
          </p:cNvSpPr>
          <p:nvPr>
            <p:ph type="sldNum" sz="quarter" idx="5"/>
          </p:nvPr>
        </p:nvSpPr>
        <p:spPr>
          <a:xfrm>
            <a:off x="4143588" y="9119474"/>
            <a:ext cx="3169920" cy="480060"/>
          </a:xfrm>
          <a:prstGeom prst="rect">
            <a:avLst/>
          </a:prstGeom>
        </p:spPr>
        <p:txBody>
          <a:bodyPr vert="horz" lIns="99040" tIns="49520" rIns="99040" bIns="49520" rtlCol="0" anchor="b"/>
          <a:lstStyle>
            <a:lvl1pPr algn="r">
              <a:defRPr sz="1300"/>
            </a:lvl1pPr>
          </a:lstStyle>
          <a:p>
            <a:fld id="{C08A642B-1D08-47C1-9385-1FDD33F8CE06}" type="slidenum">
              <a:rPr lang="en-US" smtClean="0"/>
              <a:t>‹#›</a:t>
            </a:fld>
            <a:endParaRPr lang="en-US"/>
          </a:p>
        </p:txBody>
      </p:sp>
    </p:spTree>
    <p:extLst>
      <p:ext uri="{BB962C8B-B14F-4D97-AF65-F5344CB8AC3E}">
        <p14:creationId xmlns:p14="http://schemas.microsoft.com/office/powerpoint/2010/main" val="3212350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altLang="zh-CN" dirty="0"/>
              <a:t>As far back as 1853, the Swedish scientist Anders Jonas </a:t>
            </a:r>
            <a:r>
              <a:rPr lang="en-US" altLang="zh-CN" dirty="0" err="1"/>
              <a:t>Ångstrom</a:t>
            </a:r>
            <a:r>
              <a:rPr lang="en-US" altLang="zh-CN" dirty="0"/>
              <a:t> discharged a spark through a tube of hydrogen gas and </a:t>
            </a:r>
            <a:r>
              <a:rPr lang="en-US" altLang="zh-CN" dirty="0" err="1"/>
              <a:t>analysed</a:t>
            </a:r>
            <a:r>
              <a:rPr lang="en-US" altLang="zh-CN" dirty="0"/>
              <a:t> the emitted light.</a:t>
            </a:r>
          </a:p>
          <a:p>
            <a:endParaRPr lang="en-US" altLang="zh-CN" dirty="0"/>
          </a:p>
          <a:p>
            <a:r>
              <a:rPr lang="en-US" altLang="zh-CN" dirty="0"/>
              <a:t>By the time Rutherford’s nuclear atom came along, a scientist named Heinrich Gustav Johannes </a:t>
            </a:r>
            <a:r>
              <a:rPr lang="en-US" altLang="zh-CN" dirty="0" err="1"/>
              <a:t>Kayser</a:t>
            </a:r>
            <a:r>
              <a:rPr lang="en-US" altLang="zh-CN" dirty="0"/>
              <a:t> had compiled a six-volume, 5,000-page reference work entitled </a:t>
            </a:r>
            <a:r>
              <a:rPr lang="en-US" altLang="zh-CN" dirty="0" err="1"/>
              <a:t>Handbuch</a:t>
            </a:r>
            <a:r>
              <a:rPr lang="en-US" altLang="zh-CN" dirty="0"/>
              <a:t> der </a:t>
            </a:r>
            <a:r>
              <a:rPr lang="en-US" altLang="zh-CN" dirty="0" err="1"/>
              <a:t>Spectroscopie</a:t>
            </a:r>
            <a:r>
              <a:rPr lang="en-US" altLang="zh-CN" dirty="0"/>
              <a:t>, documenting all the shining colored lines from the known elements. The question, of course, was why? Not only ‘why, Professor </a:t>
            </a:r>
            <a:r>
              <a:rPr lang="en-US" altLang="zh-CN" dirty="0" err="1"/>
              <a:t>Kayser</a:t>
            </a:r>
            <a:r>
              <a:rPr lang="en-US" altLang="zh-CN" dirty="0"/>
              <a:t>?’ (he must have been great fun at dinner parties), but also ‘why the profusion of colored lines?’ For over sixty years the science of spectroscopy, as it was known, had been simultaneously an observational triumph and a theoretical wasteland.</a:t>
            </a:r>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2</a:t>
            </a:fld>
            <a:endParaRPr lang="en-US"/>
          </a:p>
        </p:txBody>
      </p:sp>
    </p:spTree>
    <p:extLst>
      <p:ext uri="{BB962C8B-B14F-4D97-AF65-F5344CB8AC3E}">
        <p14:creationId xmlns:p14="http://schemas.microsoft.com/office/powerpoint/2010/main" val="245705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zh-CN" altLang="en-US" dirty="0"/>
              <a:t>用波数而非波长来表征谱线给计算带来便利，这背后的原因是量子力学。波数正比于频率，从而正比于能级差。</a:t>
            </a:r>
            <a:endParaRPr lang="en-US" altLang="zh-CN" dirty="0"/>
          </a:p>
          <a:p>
            <a:r>
              <a:rPr lang="en-US" altLang="zh-CN" sz="1200" dirty="0"/>
              <a:t>Balmer</a:t>
            </a:r>
            <a:r>
              <a:rPr lang="zh-CN" altLang="en-US" sz="1200" dirty="0"/>
              <a:t>公式解释了他所知的瑞典光谱学家（</a:t>
            </a:r>
            <a:r>
              <a:rPr lang="en-US" altLang="zh-CN" sz="1200" dirty="0"/>
              <a:t>Angstrom</a:t>
            </a:r>
            <a:r>
              <a:rPr lang="zh-CN" altLang="en-US" sz="1200" dirty="0"/>
              <a:t>）之前测得的</a:t>
            </a:r>
            <a:r>
              <a:rPr lang="en-US" altLang="zh-CN" sz="1200" dirty="0"/>
              <a:t>4</a:t>
            </a:r>
            <a:r>
              <a:rPr lang="zh-CN" altLang="en-US" sz="1200" dirty="0"/>
              <a:t>条谱线，并预言了第</a:t>
            </a:r>
            <a:r>
              <a:rPr lang="en-US" altLang="zh-CN" sz="1200" dirty="0"/>
              <a:t>5</a:t>
            </a:r>
            <a:r>
              <a:rPr lang="zh-CN" altLang="en-US" sz="1200" dirty="0"/>
              <a:t>条线（</a:t>
            </a:r>
            <a:r>
              <a:rPr lang="en-US" altLang="zh-CN" sz="1200" dirty="0"/>
              <a:t>n</a:t>
            </a:r>
            <a:r>
              <a:rPr lang="zh-CN" altLang="en-US" sz="1200" dirty="0"/>
              <a:t>‘</a:t>
            </a:r>
            <a:r>
              <a:rPr lang="en-US" altLang="zh-CN" sz="1200" dirty="0"/>
              <a:t>=7</a:t>
            </a:r>
            <a:r>
              <a:rPr lang="zh-CN" altLang="en-US" sz="1200" dirty="0"/>
              <a:t>）的光谱。他不知道当时这条线也被</a:t>
            </a:r>
            <a:r>
              <a:rPr lang="en-US" altLang="zh-CN" sz="1200" dirty="0"/>
              <a:t>Angstrom</a:t>
            </a:r>
            <a:r>
              <a:rPr lang="zh-CN" altLang="en-US" sz="1200" dirty="0"/>
              <a:t>测到了。</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3</a:t>
            </a:fld>
            <a:endParaRPr lang="en-US"/>
          </a:p>
        </p:txBody>
      </p:sp>
    </p:spTree>
    <p:extLst>
      <p:ext uri="{BB962C8B-B14F-4D97-AF65-F5344CB8AC3E}">
        <p14:creationId xmlns:p14="http://schemas.microsoft.com/office/powerpoint/2010/main" val="3943539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 </a:t>
            </a:r>
            <a:r>
              <a:rPr lang="en-US" sz="1200" dirty="0"/>
              <a:t>“</a:t>
            </a:r>
            <a:r>
              <a:rPr lang="zh-CN" altLang="en-US" sz="1200" dirty="0"/>
              <a:t>我一直以为不可能从蝴蝶翅膀的色彩中发现生物学的基本规律</a:t>
            </a:r>
            <a:r>
              <a:rPr lang="en-US" sz="1200" dirty="0"/>
              <a:t>” </a:t>
            </a:r>
            <a:r>
              <a:rPr lang="en-US" altLang="zh-CN" sz="1200" dirty="0"/>
              <a:t>— Bohr</a:t>
            </a:r>
            <a:endParaRPr lang="en-US" sz="1200" dirty="0"/>
          </a:p>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8</a:t>
            </a:fld>
            <a:endParaRPr lang="en-US"/>
          </a:p>
        </p:txBody>
      </p:sp>
    </p:spTree>
    <p:extLst>
      <p:ext uri="{BB962C8B-B14F-4D97-AF65-F5344CB8AC3E}">
        <p14:creationId xmlns:p14="http://schemas.microsoft.com/office/powerpoint/2010/main" val="2531271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13</a:t>
            </a:fld>
            <a:endParaRPr lang="en-US"/>
          </a:p>
        </p:txBody>
      </p:sp>
    </p:spTree>
    <p:extLst>
      <p:ext uri="{BB962C8B-B14F-4D97-AF65-F5344CB8AC3E}">
        <p14:creationId xmlns:p14="http://schemas.microsoft.com/office/powerpoint/2010/main" val="556393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dirty="0"/>
              <a:t>The Bohr radius r is the approximate size of a hydrogen atom in its ground state</a:t>
            </a:r>
          </a:p>
          <a:p>
            <a:endParaRPr lang="en-US" dirty="0"/>
          </a:p>
          <a:p>
            <a:r>
              <a:rPr lang="en-US" dirty="0"/>
              <a:t>The Compton wavelength of a particle is the length scale at which relativistic quantum field theory becomes crucial for its accurate description</a:t>
            </a:r>
          </a:p>
          <a:p>
            <a:endParaRPr lang="en-US" dirty="0"/>
          </a:p>
          <a:p>
            <a:r>
              <a:rPr lang="en-US" dirty="0"/>
              <a:t>Classical electron</a:t>
            </a:r>
            <a:r>
              <a:rPr lang="en-US" baseline="0" dirty="0"/>
              <a:t> radius </a:t>
            </a:r>
            <a:r>
              <a:rPr lang="en-US" dirty="0"/>
              <a:t>is the length scale at which renormalization becomes really important. Renormalization is an aspect of field theory which deals with such issues as the fact that the electromagnetic field produced by an electron has energy and thus should be counted as part of the mass of the electron</a:t>
            </a:r>
          </a:p>
        </p:txBody>
      </p:sp>
      <p:sp>
        <p:nvSpPr>
          <p:cNvPr id="4" name="Slide Number Placeholder 3"/>
          <p:cNvSpPr>
            <a:spLocks noGrp="1"/>
          </p:cNvSpPr>
          <p:nvPr>
            <p:ph type="sldNum" sz="quarter" idx="10"/>
          </p:nvPr>
        </p:nvSpPr>
        <p:spPr/>
        <p:txBody>
          <a:bodyPr/>
          <a:lstStyle/>
          <a:p>
            <a:fld id="{C08A642B-1D08-47C1-9385-1FDD33F8CE06}" type="slidenum">
              <a:rPr lang="en-US" smtClean="0"/>
              <a:t>15</a:t>
            </a:fld>
            <a:endParaRPr lang="en-US"/>
          </a:p>
        </p:txBody>
      </p:sp>
    </p:spTree>
    <p:extLst>
      <p:ext uri="{BB962C8B-B14F-4D97-AF65-F5344CB8AC3E}">
        <p14:creationId xmlns:p14="http://schemas.microsoft.com/office/powerpoint/2010/main" val="2549297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16</a:t>
            </a:fld>
            <a:endParaRPr lang="en-US"/>
          </a:p>
        </p:txBody>
      </p:sp>
    </p:spTree>
    <p:extLst>
      <p:ext uri="{BB962C8B-B14F-4D97-AF65-F5344CB8AC3E}">
        <p14:creationId xmlns:p14="http://schemas.microsoft.com/office/powerpoint/2010/main" val="2866562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altLang="zh-CN" dirty="0"/>
              <a:t>In quantum electrodynamics, α is the coupling constant determining the strength of the interaction between electrons and photons. The theory does not predict its value. Therefore α must be determined experimentally. In fact, α is one of the about 20 empirical parameters in the Standard Model of particle physics, whose value is not determined within the Standard Model.</a:t>
            </a:r>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17</a:t>
            </a:fld>
            <a:endParaRPr lang="en-US"/>
          </a:p>
        </p:txBody>
      </p:sp>
    </p:spTree>
    <p:extLst>
      <p:ext uri="{BB962C8B-B14F-4D97-AF65-F5344CB8AC3E}">
        <p14:creationId xmlns:p14="http://schemas.microsoft.com/office/powerpoint/2010/main" val="443128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18</a:t>
            </a:fld>
            <a:endParaRPr lang="en-US"/>
          </a:p>
        </p:txBody>
      </p:sp>
    </p:spTree>
    <p:extLst>
      <p:ext uri="{BB962C8B-B14F-4D97-AF65-F5344CB8AC3E}">
        <p14:creationId xmlns:p14="http://schemas.microsoft.com/office/powerpoint/2010/main" val="955272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dirty="0"/>
              <a:t>5.8 </a:t>
            </a:r>
            <a:r>
              <a:rPr lang="zh-CN" altLang="en-US" dirty="0"/>
              <a:t>哪儿来的？</a:t>
            </a:r>
            <a:r>
              <a:rPr lang="zh-CN" altLang="en-US" baseline="0" dirty="0"/>
              <a:t> 下面的能级图有错？</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19</a:t>
            </a:fld>
            <a:endParaRPr lang="en-US"/>
          </a:p>
        </p:txBody>
      </p:sp>
    </p:spTree>
    <p:extLst>
      <p:ext uri="{BB962C8B-B14F-4D97-AF65-F5344CB8AC3E}">
        <p14:creationId xmlns:p14="http://schemas.microsoft.com/office/powerpoint/2010/main" val="813632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04115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200" b="1">
                <a:latin typeface="Times New Roman" panose="02020603050405020304" pitchFamily="18" charset="0"/>
                <a:ea typeface="黑体" panose="02010609060101010101" pitchFamily="49" charset="-122"/>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95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80184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395284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8" name="Footer Placeholder 7"/>
          <p:cNvSpPr>
            <a:spLocks noGrp="1"/>
          </p:cNvSpPr>
          <p:nvPr>
            <p:ph type="ftr" sz="quarter" idx="11"/>
          </p:nvPr>
        </p:nvSpPr>
        <p:spPr>
          <a:xfrm>
            <a:off x="4165600" y="6356357"/>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8700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4" name="Footer Placeholder 3"/>
          <p:cNvSpPr>
            <a:spLocks noGrp="1"/>
          </p:cNvSpPr>
          <p:nvPr>
            <p:ph type="ftr" sz="quarter" idx="11"/>
          </p:nvPr>
        </p:nvSpPr>
        <p:spPr>
          <a:xfrm>
            <a:off x="4165600" y="6356357"/>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7230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3" name="Footer Placeholder 2"/>
          <p:cNvSpPr>
            <a:spLocks noGrp="1"/>
          </p:cNvSpPr>
          <p:nvPr>
            <p:ph type="ftr" sz="quarter" idx="11"/>
          </p:nvPr>
        </p:nvSpPr>
        <p:spPr>
          <a:xfrm>
            <a:off x="4165600" y="6356357"/>
            <a:ext cx="3860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94952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02820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0465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104889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3/15/2026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114542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188640"/>
            <a:ext cx="10972800" cy="57606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08720"/>
            <a:ext cx="10972800" cy="56166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028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hyperlink" Target="https://en.wikipedia.org/wiki/File:Hydrogen_spectrum.svg" TargetMode="External"/><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oleObject" Target="../embeddings/oleObject1.bin"/><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7.png"/><Relationship Id="rId4" Type="http://schemas.openxmlformats.org/officeDocument/2006/relationships/image" Target="../media/image15.wmf"/><Relationship Id="rId9" Type="http://schemas.openxmlformats.org/officeDocument/2006/relationships/image" Target="../media/image160.wmf"/></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10.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hyperlink" Target="http://www.google.com.hk/url?sa=i&amp;source=images&amp;cd=&amp;cad=rja&amp;docid=fMNOfVLj6qmL9M&amp;tbnid=oTlM5aisS0gPOM:&amp;ved=0CAgQjRwwAA&amp;url=http://www.physicscentral.com/explore/action/constant.cfm&amp;ei=uf4_UoTyM5GZiAexn4HgAw&amp;psig=AFQjCNEXKuMo-PXjEmeY22vYPf_R4QN-Kw&amp;ust=1380012089895815" TargetMode="External"/><Relationship Id="rId4" Type="http://schemas.openxmlformats.org/officeDocument/2006/relationships/image" Target="../media/image31.jpe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9.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6110"/>
            <a:ext cx="10363200" cy="1470025"/>
          </a:xfrm>
        </p:spPr>
        <p:txBody>
          <a:bodyPr>
            <a:normAutofit/>
          </a:bodyPr>
          <a:lstStyle/>
          <a:p>
            <a:r>
              <a:rPr lang="en-US" altLang="zh-CN" sz="5400" dirty="0"/>
              <a:t>Atom and light - Bohr’s model</a:t>
            </a:r>
            <a:endParaRPr lang="en-US" sz="5400" dirty="0"/>
          </a:p>
        </p:txBody>
      </p:sp>
      <p:sp>
        <p:nvSpPr>
          <p:cNvPr id="3" name="Subtitle 2"/>
          <p:cNvSpPr>
            <a:spLocks noGrp="1"/>
          </p:cNvSpPr>
          <p:nvPr>
            <p:ph type="subTitle" idx="1"/>
          </p:nvPr>
        </p:nvSpPr>
        <p:spPr>
          <a:xfrm>
            <a:off x="1685404" y="2598500"/>
            <a:ext cx="9452995" cy="2218300"/>
          </a:xfrm>
        </p:spPr>
        <p:txBody>
          <a:bodyPr>
            <a:normAutofit lnSpcReduction="10000"/>
          </a:bodyPr>
          <a:lstStyle/>
          <a:p>
            <a:pPr algn="l"/>
            <a:r>
              <a:rPr lang="en-US" dirty="0">
                <a:solidFill>
                  <a:schemeClr val="tx1"/>
                </a:solidFill>
              </a:rPr>
              <a:t>‘Dear Harald, Perhaps I have found out a little about the structure of atoms … Don’t talk about it to anybody’</a:t>
            </a:r>
          </a:p>
          <a:p>
            <a:pPr algn="l"/>
            <a:endParaRPr lang="en-US" dirty="0">
              <a:solidFill>
                <a:schemeClr val="tx1"/>
              </a:solidFill>
            </a:endParaRPr>
          </a:p>
          <a:p>
            <a:pPr algn="r"/>
            <a:r>
              <a:rPr lang="en-US" altLang="zh-CN" dirty="0">
                <a:solidFill>
                  <a:schemeClr val="tx1"/>
                </a:solidFill>
              </a:rPr>
              <a:t>— Niles Bohr </a:t>
            </a:r>
            <a:r>
              <a:rPr lang="en-US" dirty="0">
                <a:solidFill>
                  <a:schemeClr val="tx1"/>
                </a:solidFill>
              </a:rPr>
              <a:t>1912/</a:t>
            </a:r>
            <a:r>
              <a:rPr lang="en-US" altLang="zh-CN" dirty="0">
                <a:solidFill>
                  <a:schemeClr val="tx1"/>
                </a:solidFill>
              </a:rPr>
              <a:t>6/19</a:t>
            </a:r>
            <a:r>
              <a:rPr lang="en-US" dirty="0">
                <a:solidFill>
                  <a:schemeClr val="tx1"/>
                </a:solidFill>
              </a:rPr>
              <a:t> </a:t>
            </a:r>
            <a:endParaRPr lang="en-US" altLang="zh-CN" dirty="0">
              <a:solidFill>
                <a:schemeClr val="tx1"/>
              </a:solidFill>
            </a:endParaRPr>
          </a:p>
        </p:txBody>
      </p:sp>
    </p:spTree>
    <p:extLst>
      <p:ext uri="{BB962C8B-B14F-4D97-AF65-F5344CB8AC3E}">
        <p14:creationId xmlns:p14="http://schemas.microsoft.com/office/powerpoint/2010/main" val="2622153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078" y="125630"/>
            <a:ext cx="10972800" cy="576064"/>
          </a:xfrm>
        </p:spPr>
        <p:txBody>
          <a:bodyPr/>
          <a:lstStyle/>
          <a:p>
            <a:r>
              <a:rPr lang="en-US" altLang="zh-CN" dirty="0"/>
              <a:t>Spectrum of Hydrogen</a:t>
            </a:r>
            <a:endParaRPr lang="zh-CN" altLang="en-US" dirty="0"/>
          </a:p>
        </p:txBody>
      </p:sp>
      <p:pic>
        <p:nvPicPr>
          <p:cNvPr id="6" name="Picture 6" descr="File:Hydrogen Spectra.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rot="16200000">
            <a:off x="6967073" y="3185317"/>
            <a:ext cx="5290451" cy="55155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2285929" y="4208293"/>
            <a:ext cx="1849398" cy="2236577"/>
            <a:chOff x="908030" y="1237504"/>
            <a:chExt cx="1761378" cy="2236577"/>
          </a:xfrm>
        </p:grpSpPr>
        <p:pic>
          <p:nvPicPr>
            <p:cNvPr id="4" name="Picture 4" descr="File:Hydrogenglow.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8030" y="1237504"/>
              <a:ext cx="1761378" cy="18980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917484" y="3135527"/>
              <a:ext cx="1742465" cy="338554"/>
            </a:xfrm>
            <a:prstGeom prst="rect">
              <a:avLst/>
            </a:prstGeom>
            <a:noFill/>
          </p:spPr>
          <p:txBody>
            <a:bodyPr wrap="none" rtlCol="0">
              <a:spAutoFit/>
            </a:bodyPr>
            <a:lstStyle/>
            <a:p>
              <a:pPr algn="ctr"/>
              <a:r>
                <a:rPr lang="en-US" altLang="zh-CN" sz="1600" b="1" dirty="0"/>
                <a:t>Gas discharge lamp</a:t>
              </a:r>
              <a:endParaRPr lang="zh-CN" altLang="en-US" sz="1600" b="1" dirty="0"/>
            </a:p>
          </p:txBody>
        </p:sp>
      </p:grpSp>
      <p:pic>
        <p:nvPicPr>
          <p:cNvPr id="2052" name="Picture 4" descr="http://www.ibsenphotonics.com/technology/general-ibsen-technology/images/design/modules/spectrometer-sketch.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8047" y="4208295"/>
            <a:ext cx="3366262" cy="189802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Diagra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5649" y="701695"/>
            <a:ext cx="5991412" cy="3383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604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File:Hydrogen Spectr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5318" y="1057729"/>
            <a:ext cx="1735495" cy="9144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s://upload.wikimedia.org/wikipedia/commons/thumb/4/41/Hydrogen_spectrum.svg/500px-Hydrogen_spectrum.svg.pn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2937" y="793774"/>
            <a:ext cx="8444323" cy="1389423"/>
          </a:xfrm>
          <a:prstGeom prst="rect">
            <a:avLst/>
          </a:prstGeom>
          <a:solidFill>
            <a:schemeClr val="bg1"/>
          </a:solidFill>
        </p:spPr>
      </p:pic>
      <p:sp>
        <p:nvSpPr>
          <p:cNvPr id="2" name="Title 1"/>
          <p:cNvSpPr>
            <a:spLocks noGrp="1"/>
          </p:cNvSpPr>
          <p:nvPr>
            <p:ph type="title"/>
          </p:nvPr>
        </p:nvSpPr>
        <p:spPr/>
        <p:txBody>
          <a:bodyPr/>
          <a:lstStyle/>
          <a:p>
            <a:r>
              <a:rPr lang="en-US" altLang="zh-CN" dirty="0"/>
              <a:t>Hydrogen spectrum</a:t>
            </a:r>
            <a:endParaRPr lang="zh-CN" altLang="en-US" dirty="0"/>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524539962"/>
                  </p:ext>
                </p:extLst>
              </p:nvPr>
            </p:nvGraphicFramePr>
            <p:xfrm>
              <a:off x="2655800" y="4764360"/>
              <a:ext cx="7064187" cy="1905000"/>
            </p:xfrm>
            <a:graphic>
              <a:graphicData uri="http://schemas.openxmlformats.org/drawingml/2006/table">
                <a:tbl>
                  <a:tblPr firstRow="1" bandRow="1">
                    <a:tableStyleId>{5C22544A-7EE6-4342-B048-85BDC9FD1C3A}</a:tableStyleId>
                  </a:tblPr>
                  <a:tblGrid>
                    <a:gridCol w="1039960">
                      <a:extLst>
                        <a:ext uri="{9D8B030D-6E8A-4147-A177-3AD203B41FA5}">
                          <a16:colId xmlns:a16="http://schemas.microsoft.com/office/drawing/2014/main" val="20000"/>
                        </a:ext>
                      </a:extLst>
                    </a:gridCol>
                    <a:gridCol w="2617640">
                      <a:extLst>
                        <a:ext uri="{9D8B030D-6E8A-4147-A177-3AD203B41FA5}">
                          <a16:colId xmlns:a16="http://schemas.microsoft.com/office/drawing/2014/main" val="20001"/>
                        </a:ext>
                      </a:extLst>
                    </a:gridCol>
                    <a:gridCol w="3406587">
                      <a:extLst>
                        <a:ext uri="{9D8B030D-6E8A-4147-A177-3AD203B41FA5}">
                          <a16:colId xmlns:a16="http://schemas.microsoft.com/office/drawing/2014/main" val="20002"/>
                        </a:ext>
                      </a:extLst>
                    </a:gridCol>
                  </a:tblGrid>
                  <a:tr h="375920">
                    <a:tc>
                      <a:txBody>
                        <a:bodyPr/>
                        <a:lstStyle/>
                        <a:p>
                          <a:endParaRPr lang="zh-CN" altLang="en-US" sz="1900" dirty="0"/>
                        </a:p>
                      </a:txBody>
                      <a:tcPr/>
                    </a:tc>
                    <a:tc>
                      <a:txBody>
                        <a:bodyPr/>
                        <a:lstStyle/>
                        <a:p>
                          <a:pPr algn="ctr"/>
                          <a:r>
                            <a:rPr lang="zh-CN" altLang="en-US" sz="1900" dirty="0"/>
                            <a:t>线系</a:t>
                          </a:r>
                        </a:p>
                      </a:txBody>
                      <a:tcPr/>
                    </a:tc>
                    <a:tc>
                      <a:txBody>
                        <a:bodyPr/>
                        <a:lstStyle/>
                        <a:p>
                          <a:pPr algn="ctr"/>
                          <a:r>
                            <a:rPr lang="zh-CN" altLang="en-US" sz="1900" dirty="0"/>
                            <a:t>波长范围</a:t>
                          </a:r>
                        </a:p>
                      </a:txBody>
                      <a:tcPr/>
                    </a:tc>
                    <a:extLst>
                      <a:ext uri="{0D108BD9-81ED-4DB2-BD59-A6C34878D82A}">
                        <a16:rowId xmlns:a16="http://schemas.microsoft.com/office/drawing/2014/main" val="10000"/>
                      </a:ext>
                    </a:extLst>
                  </a:tr>
                  <a:tr h="375920">
                    <a:tc>
                      <a:txBody>
                        <a:bodyPr/>
                        <a:lstStyle/>
                        <a:p>
                          <a:pPr/>
                          <a14:m>
                            <m:oMathPara xmlns:m="http://schemas.openxmlformats.org/officeDocument/2006/math">
                              <m:oMathParaPr>
                                <m:jc m:val="centerGroup"/>
                              </m:oMathParaPr>
                              <m:oMath xmlns:m="http://schemas.openxmlformats.org/officeDocument/2006/math">
                                <m:r>
                                  <a:rPr lang="en-US" altLang="zh-CN" sz="1900" b="0" i="1" smtClean="0">
                                    <a:latin typeface="Cambria Math"/>
                                  </a:rPr>
                                  <m:t>𝑛</m:t>
                                </m:r>
                                <m:r>
                                  <a:rPr lang="en-US" altLang="zh-CN" sz="1900" b="0" i="1" smtClean="0">
                                    <a:latin typeface="Cambria Math"/>
                                  </a:rPr>
                                  <m:t>=1</m:t>
                                </m:r>
                              </m:oMath>
                            </m:oMathPara>
                          </a14:m>
                          <a:endParaRPr lang="zh-CN" altLang="en-US" sz="1900" dirty="0"/>
                        </a:p>
                      </a:txBody>
                      <a:tcPr/>
                    </a:tc>
                    <a:tc>
                      <a:txBody>
                        <a:bodyPr/>
                        <a:lstStyle/>
                        <a:p>
                          <a:pPr algn="ctr"/>
                          <a:r>
                            <a:rPr lang="en-US" altLang="zh-CN" sz="1900" dirty="0"/>
                            <a:t>Lyman</a:t>
                          </a:r>
                          <a:r>
                            <a:rPr lang="en-US" altLang="zh-CN" sz="1900" baseline="0" dirty="0"/>
                            <a:t> series (1914)</a:t>
                          </a:r>
                        </a:p>
                      </a:txBody>
                      <a:tcPr/>
                    </a:tc>
                    <a:tc>
                      <a:txBody>
                        <a:bodyPr/>
                        <a:lstStyle/>
                        <a:p>
                          <a:pPr algn="ctr"/>
                          <a:r>
                            <a:rPr lang="en-US" altLang="zh-CN" sz="1900" dirty="0"/>
                            <a:t>ultraviolet</a:t>
                          </a:r>
                          <a:endParaRPr lang="zh-CN" altLang="en-US" sz="1900" dirty="0"/>
                        </a:p>
                      </a:txBody>
                      <a:tcPr/>
                    </a:tc>
                    <a:extLst>
                      <a:ext uri="{0D108BD9-81ED-4DB2-BD59-A6C34878D82A}">
                        <a16:rowId xmlns:a16="http://schemas.microsoft.com/office/drawing/2014/main" val="10001"/>
                      </a:ext>
                    </a:extLst>
                  </a:tr>
                  <a:tr h="375920">
                    <a:tc>
                      <a:txBody>
                        <a:bodyPr/>
                        <a:lstStyle/>
                        <a:p>
                          <a:pPr/>
                          <a14:m>
                            <m:oMathPara xmlns:m="http://schemas.openxmlformats.org/officeDocument/2006/math">
                              <m:oMathParaPr>
                                <m:jc m:val="centerGroup"/>
                              </m:oMathParaPr>
                              <m:oMath xmlns:m="http://schemas.openxmlformats.org/officeDocument/2006/math">
                                <m:r>
                                  <a:rPr lang="en-US" altLang="zh-CN" sz="1900" b="0" i="1" smtClean="0">
                                    <a:latin typeface="Cambria Math"/>
                                  </a:rPr>
                                  <m:t>𝑛</m:t>
                                </m:r>
                                <m:r>
                                  <a:rPr lang="en-US" altLang="zh-CN" sz="1900" b="0" i="1" smtClean="0">
                                    <a:latin typeface="Cambria Math"/>
                                  </a:rPr>
                                  <m:t>=2</m:t>
                                </m:r>
                              </m:oMath>
                            </m:oMathPara>
                          </a14:m>
                          <a:endParaRPr lang="zh-CN" altLang="en-US" sz="1900" dirty="0"/>
                        </a:p>
                      </a:txBody>
                      <a:tcPr/>
                    </a:tc>
                    <a:tc>
                      <a:txBody>
                        <a:bodyPr/>
                        <a:lstStyle/>
                        <a:p>
                          <a:pPr algn="ctr"/>
                          <a:r>
                            <a:rPr lang="en-US" altLang="zh-CN" sz="1900" dirty="0" err="1"/>
                            <a:t>Balmer</a:t>
                          </a:r>
                          <a:r>
                            <a:rPr lang="en-US" altLang="zh-CN" sz="1900" dirty="0"/>
                            <a:t> series (1885)</a:t>
                          </a:r>
                          <a:endParaRPr lang="zh-CN" altLang="en-US" sz="1900" dirty="0"/>
                        </a:p>
                      </a:txBody>
                      <a:tcPr/>
                    </a:tc>
                    <a:tc>
                      <a:txBody>
                        <a:bodyPr/>
                        <a:lstStyle/>
                        <a:p>
                          <a:pPr algn="ctr"/>
                          <a:r>
                            <a:rPr lang="en-US" altLang="zh-CN" sz="1900" dirty="0"/>
                            <a:t>visible</a:t>
                          </a:r>
                          <a:endParaRPr lang="zh-CN" altLang="en-US" sz="1900" dirty="0"/>
                        </a:p>
                      </a:txBody>
                      <a:tcPr/>
                    </a:tc>
                    <a:extLst>
                      <a:ext uri="{0D108BD9-81ED-4DB2-BD59-A6C34878D82A}">
                        <a16:rowId xmlns:a16="http://schemas.microsoft.com/office/drawing/2014/main" val="10002"/>
                      </a:ext>
                    </a:extLst>
                  </a:tr>
                  <a:tr h="375920">
                    <a:tc>
                      <a:txBody>
                        <a:bodyPr/>
                        <a:lstStyle/>
                        <a:p>
                          <a:pPr/>
                          <a14:m>
                            <m:oMathPara xmlns:m="http://schemas.openxmlformats.org/officeDocument/2006/math">
                              <m:oMathParaPr>
                                <m:jc m:val="centerGroup"/>
                              </m:oMathParaPr>
                              <m:oMath xmlns:m="http://schemas.openxmlformats.org/officeDocument/2006/math">
                                <m:r>
                                  <a:rPr lang="en-US" altLang="zh-CN" sz="1900" b="0" i="1" smtClean="0">
                                    <a:latin typeface="Cambria Math"/>
                                  </a:rPr>
                                  <m:t>𝑛</m:t>
                                </m:r>
                                <m:r>
                                  <a:rPr lang="en-US" altLang="zh-CN" sz="1900" b="0" i="1" smtClean="0">
                                    <a:latin typeface="Cambria Math"/>
                                  </a:rPr>
                                  <m:t>=3</m:t>
                                </m:r>
                              </m:oMath>
                            </m:oMathPara>
                          </a14:m>
                          <a:endParaRPr lang="zh-CN" altLang="en-US" sz="1900" dirty="0"/>
                        </a:p>
                      </a:txBody>
                      <a:tcPr/>
                    </a:tc>
                    <a:tc>
                      <a:txBody>
                        <a:bodyPr/>
                        <a:lstStyle/>
                        <a:p>
                          <a:pPr algn="ctr"/>
                          <a:r>
                            <a:rPr lang="en-US" altLang="zh-CN" sz="1900" dirty="0" err="1"/>
                            <a:t>Paschen</a:t>
                          </a:r>
                          <a:r>
                            <a:rPr lang="en-US" altLang="zh-CN" sz="1900" dirty="0"/>
                            <a:t> series (1908)</a:t>
                          </a:r>
                          <a:endParaRPr lang="zh-CN" altLang="en-US" sz="1900" dirty="0"/>
                        </a:p>
                      </a:txBody>
                      <a:tcPr/>
                    </a:tc>
                    <a:tc>
                      <a:txBody>
                        <a:bodyPr/>
                        <a:lstStyle/>
                        <a:p>
                          <a:pPr algn="ctr"/>
                          <a:r>
                            <a:rPr lang="en-US" altLang="zh-CN" sz="1900" dirty="0"/>
                            <a:t>infrared</a:t>
                          </a:r>
                          <a:endParaRPr lang="zh-CN" altLang="en-US" sz="1900" dirty="0"/>
                        </a:p>
                      </a:txBody>
                      <a:tcPr/>
                    </a:tc>
                    <a:extLst>
                      <a:ext uri="{0D108BD9-81ED-4DB2-BD59-A6C34878D82A}">
                        <a16:rowId xmlns:a16="http://schemas.microsoft.com/office/drawing/2014/main" val="10003"/>
                      </a:ext>
                    </a:extLst>
                  </a:tr>
                  <a:tr h="3759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900" i="1" smtClean="0">
                                    <a:latin typeface="Cambria Math"/>
                                  </a:rPr>
                                  <m:t>⋮</m:t>
                                </m:r>
                              </m:oMath>
                            </m:oMathPara>
                          </a14:m>
                          <a:endParaRPr lang="zh-CN" altLang="en-US" sz="1900" dirty="0"/>
                        </a:p>
                      </a:txBody>
                      <a:tcPr/>
                    </a:tc>
                    <a:tc>
                      <a:txBody>
                        <a:bodyPr/>
                        <a:lstStyle/>
                        <a:p>
                          <a:endParaRPr lang="zh-CN" altLang="en-US" sz="1900" dirty="0"/>
                        </a:p>
                      </a:txBody>
                      <a:tcPr/>
                    </a:tc>
                    <a:tc>
                      <a:txBody>
                        <a:bodyPr/>
                        <a:lstStyle/>
                        <a:p>
                          <a:pPr algn="ctr"/>
                          <a:endParaRPr lang="zh-CN" altLang="en-US" sz="1900"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524539962"/>
                  </p:ext>
                </p:extLst>
              </p:nvPr>
            </p:nvGraphicFramePr>
            <p:xfrm>
              <a:off x="2655800" y="4764360"/>
              <a:ext cx="7064187" cy="1905000"/>
            </p:xfrm>
            <a:graphic>
              <a:graphicData uri="http://schemas.openxmlformats.org/drawingml/2006/table">
                <a:tbl>
                  <a:tblPr firstRow="1" bandRow="1">
                    <a:tableStyleId>{5C22544A-7EE6-4342-B048-85BDC9FD1C3A}</a:tableStyleId>
                  </a:tblPr>
                  <a:tblGrid>
                    <a:gridCol w="1039960">
                      <a:extLst>
                        <a:ext uri="{9D8B030D-6E8A-4147-A177-3AD203B41FA5}">
                          <a16:colId xmlns:a16="http://schemas.microsoft.com/office/drawing/2014/main" val="20000"/>
                        </a:ext>
                      </a:extLst>
                    </a:gridCol>
                    <a:gridCol w="2617640">
                      <a:extLst>
                        <a:ext uri="{9D8B030D-6E8A-4147-A177-3AD203B41FA5}">
                          <a16:colId xmlns:a16="http://schemas.microsoft.com/office/drawing/2014/main" val="20001"/>
                        </a:ext>
                      </a:extLst>
                    </a:gridCol>
                    <a:gridCol w="3406587">
                      <a:extLst>
                        <a:ext uri="{9D8B030D-6E8A-4147-A177-3AD203B41FA5}">
                          <a16:colId xmlns:a16="http://schemas.microsoft.com/office/drawing/2014/main" val="20002"/>
                        </a:ext>
                      </a:extLst>
                    </a:gridCol>
                  </a:tblGrid>
                  <a:tr h="381000">
                    <a:tc>
                      <a:txBody>
                        <a:bodyPr/>
                        <a:lstStyle/>
                        <a:p>
                          <a:endParaRPr lang="zh-CN" altLang="en-US" sz="1900" dirty="0"/>
                        </a:p>
                      </a:txBody>
                      <a:tcPr/>
                    </a:tc>
                    <a:tc>
                      <a:txBody>
                        <a:bodyPr/>
                        <a:lstStyle/>
                        <a:p>
                          <a:pPr algn="ctr"/>
                          <a:r>
                            <a:rPr lang="zh-CN" altLang="en-US" sz="1900" dirty="0"/>
                            <a:t>线系</a:t>
                          </a:r>
                        </a:p>
                      </a:txBody>
                      <a:tcPr/>
                    </a:tc>
                    <a:tc>
                      <a:txBody>
                        <a:bodyPr/>
                        <a:lstStyle/>
                        <a:p>
                          <a:pPr algn="ctr"/>
                          <a:r>
                            <a:rPr lang="zh-CN" altLang="en-US" sz="1900" dirty="0"/>
                            <a:t>波长范围</a:t>
                          </a:r>
                        </a:p>
                      </a:txBody>
                      <a:tcPr/>
                    </a:tc>
                    <a:extLst>
                      <a:ext uri="{0D108BD9-81ED-4DB2-BD59-A6C34878D82A}">
                        <a16:rowId xmlns:a16="http://schemas.microsoft.com/office/drawing/2014/main" val="10000"/>
                      </a:ext>
                    </a:extLst>
                  </a:tr>
                  <a:tr h="381000">
                    <a:tc>
                      <a:txBody>
                        <a:bodyPr/>
                        <a:lstStyle/>
                        <a:p>
                          <a:endParaRPr lang="zh-CN"/>
                        </a:p>
                      </a:txBody>
                      <a:tcPr>
                        <a:blipFill>
                          <a:blip r:embed="rId6"/>
                          <a:stretch>
                            <a:fillRect l="-585" t="-111111" r="-580702" b="-301587"/>
                          </a:stretch>
                        </a:blipFill>
                      </a:tcPr>
                    </a:tc>
                    <a:tc>
                      <a:txBody>
                        <a:bodyPr/>
                        <a:lstStyle/>
                        <a:p>
                          <a:pPr algn="ctr"/>
                          <a:r>
                            <a:rPr lang="en-US" altLang="zh-CN" sz="1900" dirty="0"/>
                            <a:t>Lyman</a:t>
                          </a:r>
                          <a:r>
                            <a:rPr lang="en-US" altLang="zh-CN" sz="1900" baseline="0" dirty="0"/>
                            <a:t> series (1914)</a:t>
                          </a:r>
                        </a:p>
                      </a:txBody>
                      <a:tcPr/>
                    </a:tc>
                    <a:tc>
                      <a:txBody>
                        <a:bodyPr/>
                        <a:lstStyle/>
                        <a:p>
                          <a:pPr algn="ctr"/>
                          <a:r>
                            <a:rPr lang="en-US" altLang="zh-CN" sz="1900" dirty="0"/>
                            <a:t>ultraviolet</a:t>
                          </a:r>
                          <a:endParaRPr lang="zh-CN" altLang="en-US" sz="1900" dirty="0"/>
                        </a:p>
                      </a:txBody>
                      <a:tcPr/>
                    </a:tc>
                    <a:extLst>
                      <a:ext uri="{0D108BD9-81ED-4DB2-BD59-A6C34878D82A}">
                        <a16:rowId xmlns:a16="http://schemas.microsoft.com/office/drawing/2014/main" val="10001"/>
                      </a:ext>
                    </a:extLst>
                  </a:tr>
                  <a:tr h="381000">
                    <a:tc>
                      <a:txBody>
                        <a:bodyPr/>
                        <a:lstStyle/>
                        <a:p>
                          <a:endParaRPr lang="zh-CN"/>
                        </a:p>
                      </a:txBody>
                      <a:tcPr>
                        <a:blipFill>
                          <a:blip r:embed="rId6"/>
                          <a:stretch>
                            <a:fillRect l="-585" t="-214516" r="-580702" b="-206452"/>
                          </a:stretch>
                        </a:blipFill>
                      </a:tcPr>
                    </a:tc>
                    <a:tc>
                      <a:txBody>
                        <a:bodyPr/>
                        <a:lstStyle/>
                        <a:p>
                          <a:pPr algn="ctr"/>
                          <a:r>
                            <a:rPr lang="en-US" altLang="zh-CN" sz="1900" dirty="0" err="1"/>
                            <a:t>Balmer</a:t>
                          </a:r>
                          <a:r>
                            <a:rPr lang="en-US" altLang="zh-CN" sz="1900" dirty="0"/>
                            <a:t> series (1885)</a:t>
                          </a:r>
                          <a:endParaRPr lang="zh-CN" altLang="en-US" sz="1900" dirty="0"/>
                        </a:p>
                      </a:txBody>
                      <a:tcPr/>
                    </a:tc>
                    <a:tc>
                      <a:txBody>
                        <a:bodyPr/>
                        <a:lstStyle/>
                        <a:p>
                          <a:pPr algn="ctr"/>
                          <a:r>
                            <a:rPr lang="en-US" altLang="zh-CN" sz="1900" dirty="0"/>
                            <a:t>visible</a:t>
                          </a:r>
                          <a:endParaRPr lang="zh-CN" altLang="en-US" sz="1900" dirty="0"/>
                        </a:p>
                      </a:txBody>
                      <a:tcPr/>
                    </a:tc>
                    <a:extLst>
                      <a:ext uri="{0D108BD9-81ED-4DB2-BD59-A6C34878D82A}">
                        <a16:rowId xmlns:a16="http://schemas.microsoft.com/office/drawing/2014/main" val="10002"/>
                      </a:ext>
                    </a:extLst>
                  </a:tr>
                  <a:tr h="381000">
                    <a:tc>
                      <a:txBody>
                        <a:bodyPr/>
                        <a:lstStyle/>
                        <a:p>
                          <a:endParaRPr lang="zh-CN"/>
                        </a:p>
                      </a:txBody>
                      <a:tcPr>
                        <a:blipFill>
                          <a:blip r:embed="rId6"/>
                          <a:stretch>
                            <a:fillRect l="-585" t="-309524" r="-580702" b="-103175"/>
                          </a:stretch>
                        </a:blipFill>
                      </a:tcPr>
                    </a:tc>
                    <a:tc>
                      <a:txBody>
                        <a:bodyPr/>
                        <a:lstStyle/>
                        <a:p>
                          <a:pPr algn="ctr"/>
                          <a:r>
                            <a:rPr lang="en-US" altLang="zh-CN" sz="1900" dirty="0" err="1"/>
                            <a:t>Paschen</a:t>
                          </a:r>
                          <a:r>
                            <a:rPr lang="en-US" altLang="zh-CN" sz="1900" dirty="0"/>
                            <a:t> series (1908)</a:t>
                          </a:r>
                          <a:endParaRPr lang="zh-CN" altLang="en-US" sz="1900" dirty="0"/>
                        </a:p>
                      </a:txBody>
                      <a:tcPr/>
                    </a:tc>
                    <a:tc>
                      <a:txBody>
                        <a:bodyPr/>
                        <a:lstStyle/>
                        <a:p>
                          <a:pPr algn="ctr"/>
                          <a:r>
                            <a:rPr lang="en-US" altLang="zh-CN" sz="1900" dirty="0"/>
                            <a:t>infrared</a:t>
                          </a:r>
                          <a:endParaRPr lang="zh-CN" altLang="en-US" sz="1900" dirty="0"/>
                        </a:p>
                      </a:txBody>
                      <a:tcPr/>
                    </a:tc>
                    <a:extLst>
                      <a:ext uri="{0D108BD9-81ED-4DB2-BD59-A6C34878D82A}">
                        <a16:rowId xmlns:a16="http://schemas.microsoft.com/office/drawing/2014/main" val="10003"/>
                      </a:ext>
                    </a:extLst>
                  </a:tr>
                  <a:tr h="381000">
                    <a:tc>
                      <a:txBody>
                        <a:bodyPr/>
                        <a:lstStyle/>
                        <a:p>
                          <a:endParaRPr lang="zh-CN"/>
                        </a:p>
                      </a:txBody>
                      <a:tcPr>
                        <a:blipFill>
                          <a:blip r:embed="rId6"/>
                          <a:stretch>
                            <a:fillRect l="-585" t="-409524" r="-580702" b="-3175"/>
                          </a:stretch>
                        </a:blipFill>
                      </a:tcPr>
                    </a:tc>
                    <a:tc>
                      <a:txBody>
                        <a:bodyPr/>
                        <a:lstStyle/>
                        <a:p>
                          <a:endParaRPr lang="zh-CN" altLang="en-US" sz="1900" dirty="0"/>
                        </a:p>
                      </a:txBody>
                      <a:tcPr/>
                    </a:tc>
                    <a:tc>
                      <a:txBody>
                        <a:bodyPr/>
                        <a:lstStyle/>
                        <a:p>
                          <a:pPr algn="ctr"/>
                          <a:endParaRPr lang="zh-CN" altLang="en-US" sz="1900" dirty="0"/>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2356757" y="2542361"/>
                <a:ext cx="8256814" cy="566886"/>
              </a:xfrm>
              <a:prstGeom prst="rect">
                <a:avLst/>
              </a:prstGeom>
              <a:noFill/>
            </p:spPr>
            <p:txBody>
              <a:bodyPr wrap="square" rtlCol="0">
                <a:spAutoFit/>
              </a:bodyPr>
              <a:lstStyle/>
              <a:p>
                <a:r>
                  <a:rPr lang="en-US" altLang="zh-CN" sz="2000" dirty="0"/>
                  <a:t> Balmer formula</a:t>
                </a:r>
                <a:r>
                  <a:rPr lang="zh-CN" altLang="en-US" sz="2000" dirty="0"/>
                  <a:t>（</a:t>
                </a:r>
                <a:r>
                  <a:rPr lang="en-US" altLang="zh-CN" sz="2000" dirty="0"/>
                  <a:t>1885</a:t>
                </a:r>
                <a:r>
                  <a:rPr lang="zh-CN" altLang="en-US" sz="2000" dirty="0"/>
                  <a:t>）</a:t>
                </a:r>
                <a:r>
                  <a:rPr lang="en-US" altLang="zh-CN" sz="2000" dirty="0"/>
                  <a:t>visible range</a:t>
                </a:r>
                <a:r>
                  <a:rPr lang="zh-CN" altLang="en-US" sz="2000" dirty="0"/>
                  <a:t>：</a:t>
                </a:r>
                <a14:m>
                  <m:oMath xmlns:m="http://schemas.openxmlformats.org/officeDocument/2006/math">
                    <m:acc>
                      <m:accPr>
                        <m:chr m:val="̃"/>
                        <m:ctrlPr>
                          <a:rPr lang="zh-CN" altLang="en-US" sz="2000" i="1">
                            <a:latin typeface="Cambria Math" panose="02040503050406030204" pitchFamily="18" charset="0"/>
                          </a:rPr>
                        </m:ctrlPr>
                      </m:accPr>
                      <m:e>
                        <m:r>
                          <a:rPr lang="en-US" altLang="zh-CN" sz="2000" i="1">
                            <a:latin typeface="Cambria Math"/>
                          </a:rPr>
                          <m:t>𝜈</m:t>
                        </m:r>
                      </m:e>
                    </m:acc>
                    <m:r>
                      <a:rPr lang="zh-CN" altLang="en-US" sz="2000" i="1">
                        <a:latin typeface="Cambria Math"/>
                      </a:rPr>
                      <m:t>≡</m:t>
                    </m:r>
                    <m:f>
                      <m:fPr>
                        <m:ctrlPr>
                          <a:rPr lang="en-US" altLang="zh-CN" sz="2000" i="1">
                            <a:latin typeface="Cambria Math" panose="02040503050406030204" pitchFamily="18" charset="0"/>
                          </a:rPr>
                        </m:ctrlPr>
                      </m:fPr>
                      <m:num>
                        <m:r>
                          <a:rPr lang="en-US" altLang="zh-CN" sz="2000" i="1">
                            <a:latin typeface="Cambria Math"/>
                          </a:rPr>
                          <m:t>1</m:t>
                        </m:r>
                      </m:num>
                      <m:den>
                        <m:r>
                          <a:rPr lang="en-US" altLang="zh-CN" sz="2000" i="1">
                            <a:latin typeface="Cambria Math"/>
                          </a:rPr>
                          <m:t>𝜆</m:t>
                        </m:r>
                      </m:den>
                    </m:f>
                    <m:r>
                      <a:rPr lang="en-US" altLang="zh-CN" sz="2000" i="1">
                        <a:latin typeface="Cambria Math"/>
                        <a:ea typeface="Cambria Math"/>
                      </a:rPr>
                      <m:t>∝</m:t>
                    </m:r>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a:rPr>
                              <m:t>1</m:t>
                            </m:r>
                          </m:num>
                          <m:den>
                            <m:sSup>
                              <m:sSupPr>
                                <m:ctrlPr>
                                  <a:rPr lang="en-US" altLang="zh-CN" sz="2000" i="1">
                                    <a:latin typeface="Cambria Math" panose="02040503050406030204" pitchFamily="18" charset="0"/>
                                  </a:rPr>
                                </m:ctrlPr>
                              </m:sSupPr>
                              <m:e>
                                <m:r>
                                  <a:rPr lang="en-US" altLang="zh-CN" sz="2000" i="1">
                                    <a:latin typeface="Cambria Math"/>
                                  </a:rPr>
                                  <m:t>2</m:t>
                                </m:r>
                              </m:e>
                              <m:sup>
                                <m:r>
                                  <a:rPr lang="en-US" altLang="zh-CN" sz="2000" i="1">
                                    <a:latin typeface="Cambria Math"/>
                                  </a:rPr>
                                  <m:t>2</m:t>
                                </m:r>
                              </m:sup>
                            </m:sSup>
                          </m:den>
                        </m:f>
                        <m:r>
                          <a:rPr lang="en-US" altLang="zh-CN" sz="2000" i="1">
                            <a:latin typeface="Cambria Math"/>
                          </a:rPr>
                          <m:t>−</m:t>
                        </m:r>
                        <m:f>
                          <m:fPr>
                            <m:ctrlPr>
                              <a:rPr lang="en-US" altLang="zh-CN" sz="2000" i="1">
                                <a:latin typeface="Cambria Math" panose="02040503050406030204" pitchFamily="18" charset="0"/>
                              </a:rPr>
                            </m:ctrlPr>
                          </m:fPr>
                          <m:num>
                            <m:r>
                              <a:rPr lang="en-US" altLang="zh-CN" sz="2000" i="1">
                                <a:latin typeface="Cambria Math"/>
                              </a:rPr>
                              <m:t>1</m:t>
                            </m:r>
                          </m:num>
                          <m:den>
                            <m:sSup>
                              <m:sSupPr>
                                <m:ctrlPr>
                                  <a:rPr lang="en-US" altLang="zh-CN" sz="2000" i="1">
                                    <a:latin typeface="Cambria Math" panose="02040503050406030204" pitchFamily="18" charset="0"/>
                                  </a:rPr>
                                </m:ctrlPr>
                              </m:sSupPr>
                              <m:e>
                                <m:sSup>
                                  <m:sSupPr>
                                    <m:ctrlPr>
                                      <a:rPr lang="en-US" altLang="zh-CN" sz="2000" i="1">
                                        <a:latin typeface="Cambria Math" panose="02040503050406030204" pitchFamily="18" charset="0"/>
                                      </a:rPr>
                                    </m:ctrlPr>
                                  </m:sSupPr>
                                  <m:e>
                                    <m:r>
                                      <a:rPr lang="en-US" altLang="zh-CN" sz="2000" i="1">
                                        <a:latin typeface="Cambria Math"/>
                                      </a:rPr>
                                      <m:t>𝑛</m:t>
                                    </m:r>
                                  </m:e>
                                  <m:sup>
                                    <m:r>
                                      <a:rPr lang="en-US" altLang="zh-CN" sz="2000" i="1">
                                        <a:latin typeface="Cambria Math"/>
                                      </a:rPr>
                                      <m:t>′</m:t>
                                    </m:r>
                                  </m:sup>
                                </m:sSup>
                              </m:e>
                              <m:sup>
                                <m:r>
                                  <a:rPr lang="en-US" altLang="zh-CN" sz="2000" i="1">
                                    <a:latin typeface="Cambria Math"/>
                                  </a:rPr>
                                  <m:t>2</m:t>
                                </m:r>
                              </m:sup>
                            </m:sSup>
                          </m:den>
                        </m:f>
                      </m:e>
                    </m:d>
                  </m:oMath>
                </a14:m>
                <a:endParaRPr lang="en-US" altLang="zh-CN"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2356757" y="2542361"/>
                <a:ext cx="8256814" cy="566886"/>
              </a:xfrm>
              <a:prstGeom prst="rect">
                <a:avLst/>
              </a:prstGeom>
              <a:blipFill>
                <a:blip r:embed="rId7"/>
                <a:stretch>
                  <a:fillRect l="-148" b="-3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2509157" y="4133148"/>
                <a:ext cx="7737929" cy="484941"/>
              </a:xfrm>
              <a:prstGeom prst="rect">
                <a:avLst/>
              </a:prstGeom>
              <a:noFill/>
            </p:spPr>
            <p:txBody>
              <a:bodyPr wrap="square" rtlCol="0">
                <a:spAutoFit/>
              </a:bodyPr>
              <a:lstStyle/>
              <a:p>
                <a14:m>
                  <m:oMath xmlns:m="http://schemas.openxmlformats.org/officeDocument/2006/math">
                    <m:r>
                      <a:rPr lang="en-US" altLang="zh-CN" i="1" smtClean="0">
                        <a:latin typeface="Cambria Math"/>
                      </a:rPr>
                      <m:t>𝑛</m:t>
                    </m:r>
                    <m:r>
                      <a:rPr lang="en-US" altLang="zh-CN" i="1" smtClean="0">
                        <a:latin typeface="Cambria Math"/>
                      </a:rPr>
                      <m:t>=1,2,…</m:t>
                    </m:r>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a:rPr>
                          <m:t>𝑛</m:t>
                        </m:r>
                      </m:e>
                      <m:sup>
                        <m:r>
                          <a:rPr lang="en-US" altLang="zh-CN" i="1">
                            <a:latin typeface="Cambria Math"/>
                          </a:rPr>
                          <m:t>′</m:t>
                        </m:r>
                      </m:sup>
                    </m:sSup>
                    <m:r>
                      <a:rPr lang="en-US" altLang="zh-CN" i="1">
                        <a:latin typeface="Cambria Math"/>
                      </a:rPr>
                      <m:t>=</m:t>
                    </m:r>
                    <m:r>
                      <a:rPr lang="en-US" altLang="zh-CN" i="1">
                        <a:latin typeface="Cambria Math"/>
                      </a:rPr>
                      <m:t>𝑛</m:t>
                    </m:r>
                    <m:r>
                      <a:rPr lang="en-US" altLang="zh-CN" i="1">
                        <a:latin typeface="Cambria Math"/>
                      </a:rPr>
                      <m:t>+1,</m:t>
                    </m:r>
                    <m:r>
                      <a:rPr lang="en-US" altLang="zh-CN" i="1">
                        <a:latin typeface="Cambria Math"/>
                      </a:rPr>
                      <m:t>𝑛</m:t>
                    </m:r>
                    <m:r>
                      <a:rPr lang="en-US" altLang="zh-CN" i="1">
                        <a:latin typeface="Cambria Math"/>
                      </a:rPr>
                      <m:t>+2,…</m:t>
                    </m:r>
                    <m:r>
                      <a:rPr lang="zh-CN" altLang="en-US" i="1">
                        <a:latin typeface="Cambria Math" panose="02040503050406030204" pitchFamily="18" charset="0"/>
                      </a:rPr>
                      <m:t>，</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a:rPr>
                          <m:t>𝑅</m:t>
                        </m:r>
                      </m:e>
                      <m:sub>
                        <m:r>
                          <m:rPr>
                            <m:sty m:val="p"/>
                          </m:rPr>
                          <a:rPr lang="en-US" altLang="zh-CN">
                            <a:latin typeface="Cambria Math"/>
                          </a:rPr>
                          <m:t>H</m:t>
                        </m:r>
                      </m:sub>
                    </m:sSub>
                    <m:r>
                      <a:rPr lang="en-US" altLang="zh-CN" i="1">
                        <a:latin typeface="Cambria Math"/>
                      </a:rPr>
                      <m:t>=</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91.1 </m:t>
                        </m:r>
                        <m:r>
                          <a:rPr lang="en-US" altLang="zh-CN" i="1">
                            <a:latin typeface="Cambria Math"/>
                          </a:rPr>
                          <m:t>𝑛𝑚</m:t>
                        </m:r>
                      </m:den>
                    </m:f>
                  </m:oMath>
                </a14:m>
                <a:r>
                  <a:rPr lang="en-US" altLang="zh-CN" dirty="0"/>
                  <a:t>, Rydberg constant</a:t>
                </a:r>
              </a:p>
            </p:txBody>
          </p:sp>
        </mc:Choice>
        <mc:Fallback xmlns="">
          <p:sp>
            <p:nvSpPr>
              <p:cNvPr id="3" name="TextBox 2"/>
              <p:cNvSpPr txBox="1">
                <a:spLocks noRot="1" noChangeAspect="1" noMove="1" noResize="1" noEditPoints="1" noAdjustHandles="1" noChangeArrowheads="1" noChangeShapeType="1" noTextEdit="1"/>
              </p:cNvSpPr>
              <p:nvPr/>
            </p:nvSpPr>
            <p:spPr>
              <a:xfrm>
                <a:off x="2509157" y="4133148"/>
                <a:ext cx="7737929" cy="484941"/>
              </a:xfrm>
              <a:prstGeom prst="rect">
                <a:avLst/>
              </a:prstGeom>
              <a:blipFill>
                <a:blip r:embed="rId8"/>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509157" y="3468411"/>
                <a:ext cx="7591884" cy="566886"/>
              </a:xfrm>
              <a:prstGeom prst="rect">
                <a:avLst/>
              </a:prstGeom>
            </p:spPr>
            <p:txBody>
              <a:bodyPr wrap="square">
                <a:spAutoFit/>
              </a:bodyPr>
              <a:lstStyle/>
              <a:p>
                <a:r>
                  <a:rPr lang="en-US" altLang="zh-CN" sz="2000" dirty="0"/>
                  <a:t>Rydberg</a:t>
                </a:r>
                <a:r>
                  <a:rPr lang="zh-CN" altLang="en-US" sz="2000" dirty="0"/>
                  <a:t>（</a:t>
                </a:r>
                <a:r>
                  <a:rPr lang="en-US" altLang="zh-CN" sz="2000" dirty="0"/>
                  <a:t>1888</a:t>
                </a:r>
                <a:r>
                  <a:rPr lang="zh-CN" altLang="en-US" sz="2000" dirty="0"/>
                  <a:t>）</a:t>
                </a:r>
                <a:r>
                  <a:rPr lang="en-US" altLang="zh-CN" sz="2000" dirty="0"/>
                  <a:t> whole range</a:t>
                </a:r>
                <a:r>
                  <a:rPr lang="zh-CN" altLang="en-US" sz="2000" dirty="0"/>
                  <a:t>：</a:t>
                </a:r>
                <a14:m>
                  <m:oMath xmlns:m="http://schemas.openxmlformats.org/officeDocument/2006/math">
                    <m:acc>
                      <m:accPr>
                        <m:chr m:val="̃"/>
                        <m:ctrlPr>
                          <a:rPr lang="zh-CN" altLang="en-US" sz="2000" i="1">
                            <a:latin typeface="Cambria Math" panose="02040503050406030204" pitchFamily="18" charset="0"/>
                          </a:rPr>
                        </m:ctrlPr>
                      </m:accPr>
                      <m:e>
                        <m:r>
                          <a:rPr lang="en-US" altLang="zh-CN" sz="2000" i="1">
                            <a:latin typeface="Cambria Math"/>
                          </a:rPr>
                          <m:t>𝜈</m:t>
                        </m:r>
                      </m:e>
                    </m:acc>
                    <m:r>
                      <a:rPr lang="zh-CN" altLang="en-US" sz="2000" i="1">
                        <a:latin typeface="Cambria Math"/>
                      </a:rPr>
                      <m:t>≡</m:t>
                    </m:r>
                    <m:f>
                      <m:fPr>
                        <m:ctrlPr>
                          <a:rPr lang="en-US" altLang="zh-CN" sz="2000" i="1">
                            <a:latin typeface="Cambria Math" panose="02040503050406030204" pitchFamily="18" charset="0"/>
                          </a:rPr>
                        </m:ctrlPr>
                      </m:fPr>
                      <m:num>
                        <m:r>
                          <a:rPr lang="en-US" altLang="zh-CN" sz="2000" i="1">
                            <a:latin typeface="Cambria Math"/>
                          </a:rPr>
                          <m:t>1</m:t>
                        </m:r>
                      </m:num>
                      <m:den>
                        <m:r>
                          <a:rPr lang="en-US" altLang="zh-CN" sz="2000" i="1">
                            <a:latin typeface="Cambria Math"/>
                          </a:rPr>
                          <m:t>𝜆</m:t>
                        </m:r>
                      </m:den>
                    </m:f>
                    <m:r>
                      <a:rPr lang="en-US" altLang="zh-CN" sz="2000" i="1">
                        <a:latin typeface="Cambria Math"/>
                      </a:rPr>
                      <m:t>=</m:t>
                    </m:r>
                    <m:sSub>
                      <m:sSubPr>
                        <m:ctrlPr>
                          <a:rPr lang="en-US" altLang="zh-CN" sz="2000" i="1">
                            <a:latin typeface="Cambria Math" panose="02040503050406030204" pitchFamily="18" charset="0"/>
                          </a:rPr>
                        </m:ctrlPr>
                      </m:sSubPr>
                      <m:e>
                        <m:r>
                          <a:rPr lang="en-US" altLang="zh-CN" sz="2000" i="1">
                            <a:latin typeface="Cambria Math"/>
                          </a:rPr>
                          <m:t>𝑅</m:t>
                        </m:r>
                      </m:e>
                      <m:sub>
                        <m:r>
                          <m:rPr>
                            <m:sty m:val="p"/>
                          </m:rPr>
                          <a:rPr lang="en-US" altLang="zh-CN" sz="2000">
                            <a:latin typeface="Cambria Math"/>
                          </a:rPr>
                          <m:t>H</m:t>
                        </m:r>
                      </m:sub>
                    </m:sSub>
                    <m:d>
                      <m:dPr>
                        <m:begChr m:val="["/>
                        <m:endChr m:val="]"/>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en-US" altLang="zh-CN" sz="2000" i="1">
                                <a:latin typeface="Cambria Math"/>
                              </a:rPr>
                              <m:t>1</m:t>
                            </m:r>
                          </m:num>
                          <m:den>
                            <m:sSup>
                              <m:sSupPr>
                                <m:ctrlPr>
                                  <a:rPr lang="en-US" altLang="zh-CN" sz="2000" i="1">
                                    <a:latin typeface="Cambria Math" panose="02040503050406030204" pitchFamily="18" charset="0"/>
                                  </a:rPr>
                                </m:ctrlPr>
                              </m:sSupPr>
                              <m:e>
                                <m:r>
                                  <a:rPr lang="en-US" altLang="zh-CN" sz="2000" i="1">
                                    <a:latin typeface="Cambria Math"/>
                                  </a:rPr>
                                  <m:t>𝑛</m:t>
                                </m:r>
                              </m:e>
                              <m:sup>
                                <m:r>
                                  <a:rPr lang="en-US" altLang="zh-CN" sz="2000" i="1">
                                    <a:latin typeface="Cambria Math"/>
                                  </a:rPr>
                                  <m:t>2</m:t>
                                </m:r>
                              </m:sup>
                            </m:sSup>
                          </m:den>
                        </m:f>
                        <m:r>
                          <a:rPr lang="en-US" altLang="zh-CN" sz="2000" i="1">
                            <a:latin typeface="Cambria Math"/>
                          </a:rPr>
                          <m:t>−</m:t>
                        </m:r>
                        <m:f>
                          <m:fPr>
                            <m:ctrlPr>
                              <a:rPr lang="en-US" altLang="zh-CN" sz="2000" i="1">
                                <a:latin typeface="Cambria Math" panose="02040503050406030204" pitchFamily="18" charset="0"/>
                              </a:rPr>
                            </m:ctrlPr>
                          </m:fPr>
                          <m:num>
                            <m:r>
                              <a:rPr lang="en-US" altLang="zh-CN" sz="2000" i="1">
                                <a:latin typeface="Cambria Math"/>
                              </a:rPr>
                              <m:t>1</m:t>
                            </m:r>
                          </m:num>
                          <m:den>
                            <m:sSup>
                              <m:sSupPr>
                                <m:ctrlPr>
                                  <a:rPr lang="en-US" altLang="zh-CN" sz="2000" i="1">
                                    <a:latin typeface="Cambria Math" panose="02040503050406030204" pitchFamily="18" charset="0"/>
                                  </a:rPr>
                                </m:ctrlPr>
                              </m:sSupPr>
                              <m:e>
                                <m:sSup>
                                  <m:sSupPr>
                                    <m:ctrlPr>
                                      <a:rPr lang="en-US" altLang="zh-CN" sz="2000" i="1">
                                        <a:latin typeface="Cambria Math" panose="02040503050406030204" pitchFamily="18" charset="0"/>
                                      </a:rPr>
                                    </m:ctrlPr>
                                  </m:sSupPr>
                                  <m:e>
                                    <m:r>
                                      <a:rPr lang="en-US" altLang="zh-CN" sz="2000" i="1">
                                        <a:latin typeface="Cambria Math"/>
                                      </a:rPr>
                                      <m:t>𝑛</m:t>
                                    </m:r>
                                  </m:e>
                                  <m:sup>
                                    <m:r>
                                      <a:rPr lang="en-US" altLang="zh-CN" sz="2000" i="1">
                                        <a:latin typeface="Cambria Math"/>
                                      </a:rPr>
                                      <m:t>′</m:t>
                                    </m:r>
                                  </m:sup>
                                </m:sSup>
                              </m:e>
                              <m:sup>
                                <m:r>
                                  <a:rPr lang="en-US" altLang="zh-CN" sz="2000" i="1">
                                    <a:latin typeface="Cambria Math"/>
                                  </a:rPr>
                                  <m:t>2</m:t>
                                </m:r>
                              </m:sup>
                            </m:sSup>
                          </m:den>
                        </m:f>
                      </m:e>
                    </m:d>
                  </m:oMath>
                </a14:m>
                <a:endParaRPr lang="en-US" altLang="zh-CN" sz="2000" dirty="0"/>
              </a:p>
            </p:txBody>
          </p:sp>
        </mc:Choice>
        <mc:Fallback xmlns="">
          <p:sp>
            <p:nvSpPr>
              <p:cNvPr id="7" name="Rectangle 6"/>
              <p:cNvSpPr>
                <a:spLocks noRot="1" noChangeAspect="1" noMove="1" noResize="1" noEditPoints="1" noAdjustHandles="1" noChangeArrowheads="1" noChangeShapeType="1" noTextEdit="1"/>
              </p:cNvSpPr>
              <p:nvPr/>
            </p:nvSpPr>
            <p:spPr>
              <a:xfrm>
                <a:off x="2509157" y="3468411"/>
                <a:ext cx="7591884" cy="566886"/>
              </a:xfrm>
              <a:prstGeom prst="rect">
                <a:avLst/>
              </a:prstGeom>
              <a:blipFill>
                <a:blip r:embed="rId9"/>
                <a:stretch>
                  <a:fillRect l="-884" b="-3226"/>
                </a:stretch>
              </a:blipFill>
            </p:spPr>
            <p:txBody>
              <a:bodyPr/>
              <a:lstStyle/>
              <a:p>
                <a:r>
                  <a:rPr lang="zh-CN" altLang="en-US">
                    <a:noFill/>
                  </a:rPr>
                  <a:t> </a:t>
                </a:r>
              </a:p>
            </p:txBody>
          </p:sp>
        </mc:Fallback>
      </mc:AlternateContent>
      <p:pic>
        <p:nvPicPr>
          <p:cNvPr id="8" name="Picture 7"/>
          <p:cNvPicPr>
            <a:picLocks noChangeAspect="1"/>
          </p:cNvPicPr>
          <p:nvPr/>
        </p:nvPicPr>
        <p:blipFill>
          <a:blip r:embed="rId10"/>
          <a:stretch>
            <a:fillRect/>
          </a:stretch>
        </p:blipFill>
        <p:spPr>
          <a:xfrm>
            <a:off x="1424687" y="2085000"/>
            <a:ext cx="1020315" cy="1284290"/>
          </a:xfrm>
          <a:prstGeom prst="rect">
            <a:avLst/>
          </a:prstGeom>
        </p:spPr>
      </p:pic>
      <p:pic>
        <p:nvPicPr>
          <p:cNvPr id="12" name="Picture 11"/>
          <p:cNvPicPr>
            <a:picLocks noChangeAspect="1"/>
          </p:cNvPicPr>
          <p:nvPr/>
        </p:nvPicPr>
        <p:blipFill>
          <a:blip r:embed="rId11"/>
          <a:stretch>
            <a:fillRect/>
          </a:stretch>
        </p:blipFill>
        <p:spPr>
          <a:xfrm>
            <a:off x="1454326" y="3429000"/>
            <a:ext cx="1020315" cy="1189089"/>
          </a:xfrm>
          <a:prstGeom prst="rect">
            <a:avLst/>
          </a:prstGeom>
        </p:spPr>
      </p:pic>
      <p:sp>
        <p:nvSpPr>
          <p:cNvPr id="11" name="TextBox 10">
            <a:extLst>
              <a:ext uri="{FF2B5EF4-FFF2-40B4-BE49-F238E27FC236}">
                <a16:creationId xmlns:a16="http://schemas.microsoft.com/office/drawing/2014/main" id="{2037F8D0-E9D9-4395-9566-2DDA0C61700B}"/>
              </a:ext>
            </a:extLst>
          </p:cNvPr>
          <p:cNvSpPr txBox="1"/>
          <p:nvPr/>
        </p:nvSpPr>
        <p:spPr>
          <a:xfrm>
            <a:off x="10613571" y="5070088"/>
            <a:ext cx="582211" cy="923330"/>
          </a:xfrm>
          <a:prstGeom prst="rect">
            <a:avLst/>
          </a:prstGeom>
          <a:noFill/>
        </p:spPr>
        <p:txBody>
          <a:bodyPr wrap="none" rtlCol="0">
            <a:spAutoFit/>
          </a:bodyPr>
          <a:lstStyle/>
          <a:p>
            <a:r>
              <a:rPr lang="en-US" sz="5400" dirty="0">
                <a:solidFill>
                  <a:srgbClr val="C00000"/>
                </a:solidFill>
                <a:latin typeface="Arial Rounded MT Bold" panose="020F0704030504030204" pitchFamily="34" charset="0"/>
              </a:rPr>
              <a:t>?</a:t>
            </a:r>
          </a:p>
        </p:txBody>
      </p:sp>
    </p:spTree>
    <p:extLst>
      <p:ext uri="{BB962C8B-B14F-4D97-AF65-F5344CB8AC3E}">
        <p14:creationId xmlns:p14="http://schemas.microsoft.com/office/powerpoint/2010/main" val="17277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par>
                                <p:cTn id="25" presetID="10"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3CA6682-4A0A-4036-988D-E8430924FE09}"/>
              </a:ext>
            </a:extLst>
          </p:cNvPr>
          <p:cNvSpPr txBox="1">
            <a:spLocks noGrp="1"/>
          </p:cNvSpPr>
          <p:nvPr>
            <p:ph idx="1"/>
          </p:nvPr>
        </p:nvSpPr>
        <p:spPr>
          <a:xfrm>
            <a:off x="1182914" y="561239"/>
            <a:ext cx="9368971" cy="5616575"/>
          </a:xfrm>
          <a:prstGeom prst="rect">
            <a:avLst/>
          </a:prstGeom>
        </p:spPr>
        <p:txBody>
          <a:bodyPr vert="horz" lIns="91440" tIns="45720" rIns="91440" bIns="45720" rtlCol="0">
            <a:normAutofit/>
          </a:bodyPr>
          <a:lstStyle>
            <a:lvl1pPr marL="0" indent="0" algn="ctr" defTabSz="914377"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189" indent="0" algn="ctr" defTabSz="914377"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377" indent="0" algn="ctr" defTabSz="914377"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566" indent="0" algn="ctr" defTabSz="914377"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754" indent="0" algn="ctr" defTabSz="914377"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5943" indent="0" algn="ctr" defTabSz="914377"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131" indent="0" algn="ctr" defTabSz="914377"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320" indent="0" algn="ctr" defTabSz="914377"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509" indent="0" algn="ctr" defTabSz="914377"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altLang="zh-CN" dirty="0">
                <a:solidFill>
                  <a:schemeClr val="tx1"/>
                </a:solidFill>
              </a:rPr>
              <a:t>1908</a:t>
            </a:r>
            <a:r>
              <a:rPr lang="zh-CN" altLang="en-US" dirty="0">
                <a:solidFill>
                  <a:schemeClr val="tx1"/>
                </a:solidFill>
              </a:rPr>
              <a:t>，</a:t>
            </a:r>
            <a:r>
              <a:rPr lang="en-US" dirty="0">
                <a:solidFill>
                  <a:schemeClr val="tx1"/>
                </a:solidFill>
              </a:rPr>
              <a:t>Ritz combination principle </a:t>
            </a:r>
            <a:r>
              <a:rPr lang="zh-CN" altLang="en-US" dirty="0">
                <a:solidFill>
                  <a:schemeClr val="tx1"/>
                </a:solidFill>
              </a:rPr>
              <a:t>：</a:t>
            </a:r>
            <a:endParaRPr lang="en-US" altLang="zh-CN" dirty="0">
              <a:solidFill>
                <a:schemeClr val="tx1"/>
              </a:solidFill>
            </a:endParaRPr>
          </a:p>
          <a:p>
            <a:pPr algn="l"/>
            <a:r>
              <a:rPr lang="en-US" altLang="zh-CN" dirty="0">
                <a:solidFill>
                  <a:schemeClr val="tx1"/>
                </a:solidFill>
              </a:rPr>
              <a:t>the spectral lines of any element include frequencies that are either the sum or the difference of the frequencies of two other lines</a:t>
            </a:r>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r>
              <a:rPr lang="en-US" dirty="0">
                <a:solidFill>
                  <a:schemeClr val="tx1"/>
                </a:solidFill>
              </a:rPr>
              <a:t>‘</a:t>
            </a:r>
            <a:r>
              <a:rPr lang="en-US" altLang="zh-CN" dirty="0">
                <a:solidFill>
                  <a:schemeClr val="tx1"/>
                </a:solidFill>
              </a:rPr>
              <a:t>The mysteries of spectral lines and quantization must be closely related.”</a:t>
            </a:r>
            <a:endParaRPr lang="en-US" dirty="0">
              <a:solidFill>
                <a:schemeClr val="tx1"/>
              </a:solidFill>
            </a:endParaRPr>
          </a:p>
          <a:p>
            <a:pPr algn="r"/>
            <a:r>
              <a:rPr lang="en-US" altLang="zh-CN" dirty="0">
                <a:solidFill>
                  <a:schemeClr val="tx1"/>
                </a:solidFill>
              </a:rPr>
              <a:t>— </a:t>
            </a:r>
            <a:r>
              <a:rPr lang="en-US" dirty="0">
                <a:solidFill>
                  <a:schemeClr val="tx1"/>
                </a:solidFill>
              </a:rPr>
              <a:t>1908 Planck</a:t>
            </a:r>
            <a:endParaRPr lang="en-US" altLang="zh-CN" dirty="0">
              <a:solidFill>
                <a:schemeClr val="tx1"/>
              </a:solidFill>
            </a:endParaRPr>
          </a:p>
        </p:txBody>
      </p:sp>
    </p:spTree>
    <p:extLst>
      <p:ext uri="{BB962C8B-B14F-4D97-AF65-F5344CB8AC3E}">
        <p14:creationId xmlns:p14="http://schemas.microsoft.com/office/powerpoint/2010/main" val="1133221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Bohr Model</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9289" y="843493"/>
                <a:ext cx="5296711" cy="5589342"/>
              </a:xfrm>
            </p:spPr>
            <p:txBody>
              <a:bodyPr>
                <a:noAutofit/>
              </a:bodyPr>
              <a:lstStyle/>
              <a:p>
                <a:pPr>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Electrons orbit the nucleus in discrete, stable orbits</a:t>
                </a:r>
              </a:p>
              <a:p>
                <a:pPr>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The angular momentum of an electron in an orbit is quantized and is an integer multiple of </a:t>
                </a:r>
                <a14:m>
                  <m:oMath xmlns:m="http://schemas.openxmlformats.org/officeDocument/2006/math">
                    <m:r>
                      <a:rPr lang="en-US" altLang="zh-CN" sz="2400" b="0" i="1" smtClean="0">
                        <a:latin typeface="Cambria Math" panose="02040503050406030204" pitchFamily="18" charset="0"/>
                        <a:ea typeface="黑体" panose="02010609060101010101" pitchFamily="49" charset="-122"/>
                        <a:cs typeface="Times New Roman" panose="02020603050405020304" pitchFamily="18" charset="0"/>
                      </a:rPr>
                      <m:t>h</m:t>
                    </m:r>
                    <m:r>
                      <a:rPr lang="en-US" altLang="zh-CN" sz="2400" b="0" i="1" smtClean="0">
                        <a:latin typeface="Cambria Math" panose="02040503050406030204" pitchFamily="18" charset="0"/>
                        <a:ea typeface="黑体" panose="02010609060101010101" pitchFamily="49" charset="-122"/>
                        <a:cs typeface="Times New Roman" panose="02020603050405020304" pitchFamily="18" charset="0"/>
                      </a:rPr>
                      <m:t>/2</m:t>
                    </m:r>
                    <m:r>
                      <a:rPr lang="en-US" altLang="zh-CN" sz="2400" b="0" i="1" smtClean="0">
                        <a:latin typeface="Cambria Math" panose="02040503050406030204" pitchFamily="18" charset="0"/>
                        <a:ea typeface="黑体" panose="02010609060101010101" pitchFamily="49" charset="-122"/>
                        <a:cs typeface="Times New Roman" panose="02020603050405020304" pitchFamily="18" charset="0"/>
                      </a:rPr>
                      <m:t>𝜋</m:t>
                    </m:r>
                  </m:oMath>
                </a14:m>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Electrons in these orbits do not radiate energy:</a:t>
                </a:r>
              </a:p>
              <a:p>
                <a:pPr>
                  <a:spcBef>
                    <a:spcPts val="1200"/>
                  </a:spcBef>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Energy is emitted or absorbed when electrons change orbits</a:t>
                </a:r>
              </a:p>
              <a:p>
                <a:pPr>
                  <a:spcBef>
                    <a:spcPts val="1200"/>
                  </a:spcBef>
                </a:pP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marL="457188" lvl="1" indent="0">
                  <a:spcBef>
                    <a:spcPts val="1200"/>
                  </a:spcBef>
                  <a:buNone/>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spcBef>
                    <a:spcPts val="1200"/>
                  </a:spcBef>
                </a:pP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9289" y="843493"/>
                <a:ext cx="5296711" cy="5589342"/>
              </a:xfrm>
              <a:blipFill>
                <a:blip r:embed="rId2"/>
                <a:stretch>
                  <a:fillRect l="-1496" t="-872" r="-1611"/>
                </a:stretch>
              </a:blipFill>
            </p:spPr>
            <p:txBody>
              <a:bodyPr/>
              <a:lstStyle/>
              <a:p>
                <a:r>
                  <a:rPr lang="zh-CN" altLang="en-US">
                    <a:noFill/>
                  </a:rPr>
                  <a:t> </a:t>
                </a:r>
              </a:p>
            </p:txBody>
          </p:sp>
        </mc:Fallback>
      </mc:AlternateContent>
      <p:pic>
        <p:nvPicPr>
          <p:cNvPr id="8194" name="Picture 2" descr="https://upload.wikimedia.org/wikipedia/commons/thumb/9/93/Bohr_atom_model.svg/310px-Bohr_atom_model.svg.png">
            <a:extLst>
              <a:ext uri="{FF2B5EF4-FFF2-40B4-BE49-F238E27FC236}">
                <a16:creationId xmlns:a16="http://schemas.microsoft.com/office/drawing/2014/main" id="{3C13FCBB-CE4B-4154-B918-7372F43735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335" y="3162600"/>
            <a:ext cx="3370665" cy="29357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3CBE0AB-7D19-478D-8A23-CB1FFB646E9D}"/>
              </a:ext>
            </a:extLst>
          </p:cNvPr>
          <p:cNvPicPr>
            <a:picLocks noChangeAspect="1"/>
          </p:cNvPicPr>
          <p:nvPr/>
        </p:nvPicPr>
        <p:blipFill>
          <a:blip r:embed="rId4"/>
          <a:stretch>
            <a:fillRect/>
          </a:stretch>
        </p:blipFill>
        <p:spPr>
          <a:xfrm>
            <a:off x="8359191" y="843493"/>
            <a:ext cx="1621677" cy="1816765"/>
          </a:xfrm>
          <a:prstGeom prst="rect">
            <a:avLst/>
          </a:prstGeom>
        </p:spPr>
      </p:pic>
    </p:spTree>
    <p:extLst>
      <p:ext uri="{BB962C8B-B14F-4D97-AF65-F5344CB8AC3E}">
        <p14:creationId xmlns:p14="http://schemas.microsoft.com/office/powerpoint/2010/main" val="140438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9043786-D00D-41A5-A5EB-3511F1131BAE}"/>
              </a:ext>
            </a:extLst>
          </p:cNvPr>
          <p:cNvSpPr txBox="1">
            <a:spLocks/>
          </p:cNvSpPr>
          <p:nvPr/>
        </p:nvSpPr>
        <p:spPr>
          <a:xfrm>
            <a:off x="189921" y="252188"/>
            <a:ext cx="10972800" cy="576064"/>
          </a:xfrm>
          <a:prstGeom prst="rect">
            <a:avLst/>
          </a:prstGeom>
        </p:spPr>
        <p:txBody>
          <a:bodyPr vert="horz" lIns="91440" tIns="45720" rIns="91440" bIns="45720" rtlCol="0" anchor="ctr">
            <a:noAutofit/>
          </a:bodyPr>
          <a:lstStyle>
            <a:lvl1pPr algn="ctr" defTabSz="914377" rtl="0" eaLnBrk="1" latinLnBrk="0" hangingPunct="1">
              <a:spcBef>
                <a:spcPct val="0"/>
              </a:spcBef>
              <a:buNone/>
              <a:defRPr sz="3200" b="1" kern="1200">
                <a:solidFill>
                  <a:schemeClr val="tx1"/>
                </a:solidFill>
                <a:latin typeface="+mj-lt"/>
                <a:ea typeface="黑体" panose="02010609060101010101" pitchFamily="49" charset="-122"/>
                <a:cs typeface="+mj-cs"/>
              </a:defRPr>
            </a:lvl1pPr>
          </a:lstStyle>
          <a:p>
            <a:r>
              <a:rPr lang="en-US" altLang="zh-CN" dirty="0">
                <a:latin typeface="Times New Roman" panose="02020603050405020304" pitchFamily="18" charset="0"/>
                <a:cs typeface="Times New Roman" panose="02020603050405020304" pitchFamily="18" charset="0"/>
              </a:rPr>
              <a:t>Bohr’s model - 1913.4</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2">
                <a:extLst>
                  <a:ext uri="{FF2B5EF4-FFF2-40B4-BE49-F238E27FC236}">
                    <a16:creationId xmlns:a16="http://schemas.microsoft.com/office/drawing/2014/main" id="{53993ABF-D28E-46BF-868B-2BCC2AEB3B61}"/>
                  </a:ext>
                </a:extLst>
              </p:cNvPr>
              <p:cNvSpPr/>
              <p:nvPr/>
            </p:nvSpPr>
            <p:spPr>
              <a:xfrm>
                <a:off x="587141" y="828252"/>
                <a:ext cx="11160805" cy="4022063"/>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d>
                        <m:dPr>
                          <m:begChr m:val=""/>
                          <m:endChr m:val="}"/>
                          <m:ctrlPr>
                            <a:rPr lang="en-US" altLang="zh-CN" sz="24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ea typeface="Cambria Math" panose="02040503050406030204" pitchFamily="18" charset="0"/>
                                </a:rPr>
                              </m:ctrlPr>
                            </m:mPr>
                            <m:mr>
                              <m:e>
                                <m:d>
                                  <m:dPr>
                                    <m:begChr m:val=""/>
                                    <m:endChr m:val="}"/>
                                    <m:ctrlPr>
                                      <a:rPr lang="zh-CN" altLang="en-US"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r>
                                            <m:rPr>
                                              <m:nor/>
                                            </m:rPr>
                                            <a:rPr lang="en-US" altLang="zh-CN" sz="2400" b="0" i="0" dirty="0" smtClean="0"/>
                                            <m:t>Rutherford</m:t>
                                          </m:r>
                                          <m:r>
                                            <m:rPr>
                                              <m:nor/>
                                            </m:rPr>
                                            <a:rPr lang="en-US" altLang="zh-CN" sz="2400" b="0" i="0" dirty="0" smtClean="0"/>
                                            <m:t> </m:t>
                                          </m:r>
                                          <m:r>
                                            <m:rPr>
                                              <m:nor/>
                                            </m:rPr>
                                            <a:rPr lang="en-US" altLang="zh-CN" sz="2400" b="0" i="0" dirty="0" smtClean="0"/>
                                            <m:t>model</m:t>
                                          </m:r>
                                          <m:r>
                                            <a:rPr lang="en-US" altLang="zh-CN" sz="2400" b="0" i="1" dirty="0" smtClean="0">
                                              <a:latin typeface="Cambria Math" panose="02040503050406030204" pitchFamily="18" charset="0"/>
                                            </a:rPr>
                                            <m:t>, </m:t>
                                          </m:r>
                                          <m:sSup>
                                            <m:sSupPr>
                                              <m:ctrlPr>
                                                <a:rPr lang="en-US" altLang="zh-CN" sz="2400" b="0" i="1" dirty="0" smtClean="0">
                                                  <a:latin typeface="Cambria Math" panose="02040503050406030204" pitchFamily="18" charset="0"/>
                                                </a:rPr>
                                              </m:ctrlPr>
                                            </m:sSupPr>
                                            <m:e>
                                              <m:r>
                                                <m:rPr>
                                                  <m:sty m:val="p"/>
                                                </m:rPr>
                                                <a:rPr lang="en-US" altLang="zh-CN" sz="2400" b="0" i="0" dirty="0" smtClean="0">
                                                  <a:latin typeface="Cambria Math" panose="02040503050406030204" pitchFamily="18" charset="0"/>
                                                </a:rPr>
                                                <m:t>Coulomb</m:t>
                                              </m:r>
                                            </m:e>
                                            <m:sup>
                                              <m:r>
                                                <a:rPr lang="en-US" altLang="zh-CN" sz="2400" b="0" i="0" dirty="0" smtClean="0">
                                                  <a:latin typeface="Cambria Math" panose="02040503050406030204" pitchFamily="18" charset="0"/>
                                                </a:rPr>
                                                <m:t>′</m:t>
                                              </m:r>
                                            </m:sup>
                                          </m:sSup>
                                          <m:r>
                                            <m:rPr>
                                              <m:sty m:val="p"/>
                                            </m:rPr>
                                            <a:rPr lang="en-US" altLang="zh-CN" sz="2400" b="0" i="0" dirty="0" smtClean="0">
                                              <a:latin typeface="Cambria Math" panose="02040503050406030204" pitchFamily="18" charset="0"/>
                                            </a:rPr>
                                            <m:t>s</m:t>
                                          </m:r>
                                          <m:r>
                                            <a:rPr lang="en-US" altLang="zh-CN" sz="2400" b="0" i="0" dirty="0" smtClean="0">
                                              <a:latin typeface="Cambria Math" panose="02040503050406030204" pitchFamily="18" charset="0"/>
                                            </a:rPr>
                                            <m:t> </m:t>
                                          </m:r>
                                          <m:r>
                                            <m:rPr>
                                              <m:sty m:val="p"/>
                                            </m:rPr>
                                            <a:rPr lang="en-US" altLang="zh-CN" sz="2400" b="0" i="0" dirty="0" smtClean="0">
                                              <a:latin typeface="Cambria Math" panose="02040503050406030204" pitchFamily="18" charset="0"/>
                                            </a:rPr>
                                            <m:t>law</m:t>
                                          </m:r>
                                        </m:e>
                                      </m:mr>
                                      <m:mr>
                                        <m:e/>
                                      </m:mr>
                                      <m:mr>
                                        <m:e>
                                          <m:r>
                                            <m:rPr>
                                              <m:nor/>
                                            </m:rPr>
                                            <a:rPr lang="en-US" altLang="zh-CN" sz="2400" b="0" i="0" dirty="0" smtClean="0"/>
                                            <m:t>Ang</m:t>
                                          </m:r>
                                          <m:r>
                                            <m:rPr>
                                              <m:nor/>
                                            </m:rPr>
                                            <a:rPr lang="en-US" altLang="zh-CN" sz="2400" b="0" i="0" dirty="0" smtClean="0"/>
                                            <m:t>. </m:t>
                                          </m:r>
                                          <m:r>
                                            <m:rPr>
                                              <m:nor/>
                                            </m:rPr>
                                            <a:rPr lang="en-US" altLang="zh-CN" sz="2400" b="0" i="0" dirty="0" smtClean="0"/>
                                            <m:t>momentum</m:t>
                                          </m:r>
                                          <m:r>
                                            <m:rPr>
                                              <m:nor/>
                                            </m:rPr>
                                            <a:rPr lang="en-US" altLang="zh-CN" sz="2400" b="0" i="0" dirty="0" smtClean="0"/>
                                            <m:t> </m:t>
                                          </m:r>
                                          <m:r>
                                            <m:rPr>
                                              <m:nor/>
                                            </m:rPr>
                                            <a:rPr lang="en-US" altLang="zh-CN" sz="2400" b="0" i="0" dirty="0" smtClean="0"/>
                                            <m:t>quantization</m:t>
                                          </m:r>
                                          <m:r>
                                            <m:rPr>
                                              <m:nor/>
                                            </m:rPr>
                                            <a:rPr lang="en-US" altLang="zh-CN" sz="2400" dirty="0"/>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𝐿</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m:t>
                                          </m:r>
                                          <m:r>
                                            <a:rPr lang="en-US" altLang="zh-CN" sz="2400" i="1">
                                              <a:latin typeface="Cambria Math" panose="02040503050406030204" pitchFamily="18" charset="0"/>
                                            </a:rPr>
                                            <m:t>𝑛</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h</m:t>
                                              </m:r>
                                            </m:num>
                                            <m:den>
                                              <m:r>
                                                <a:rPr lang="en-US" altLang="zh-CN" sz="2400" i="1">
                                                  <a:latin typeface="Cambria Math" panose="02040503050406030204" pitchFamily="18" charset="0"/>
                                                </a:rPr>
                                                <m:t>2</m:t>
                                              </m:r>
                                              <m:r>
                                                <a:rPr lang="en-US" altLang="zh-CN" sz="2400" i="1">
                                                  <a:latin typeface="Cambria Math" panose="02040503050406030204" pitchFamily="18" charset="0"/>
                                                </a:rPr>
                                                <m:t>𝜋</m:t>
                                              </m:r>
                                            </m:den>
                                          </m:f>
                                        </m:e>
                                      </m:mr>
                                    </m:m>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rPr>
                                      <m:t>𝐸</m:t>
                                    </m:r>
                                  </m:e>
                                  <m:sub>
                                    <m:r>
                                      <a:rPr lang="en-US" altLang="zh-CN" sz="2400" i="1">
                                        <a:latin typeface="Cambria Math" panose="02040503050406030204" pitchFamily="18" charset="0"/>
                                      </a:rPr>
                                      <m:t>𝑛</m:t>
                                    </m:r>
                                  </m:sub>
                                </m:sSub>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1</m:t>
                                    </m:r>
                                  </m:num>
                                  <m:den>
                                    <m:sSup>
                                      <m:sSupPr>
                                        <m:ctrlPr>
                                          <a:rPr lang="en-US" altLang="zh-CN" sz="2400" i="1">
                                            <a:latin typeface="Cambria Math" panose="02040503050406030204" pitchFamily="18" charset="0"/>
                                            <a:ea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𝑛</m:t>
                                        </m:r>
                                      </m:e>
                                      <m:sup>
                                        <m:r>
                                          <a:rPr lang="en-US" altLang="zh-CN" sz="2400" i="1">
                                            <a:latin typeface="Cambria Math" panose="02040503050406030204" pitchFamily="18" charset="0"/>
                                            <a:ea typeface="Cambria Math" panose="02040503050406030204" pitchFamily="18" charset="0"/>
                                          </a:rPr>
                                          <m:t>2</m:t>
                                        </m:r>
                                      </m:sup>
                                    </m:sSup>
                                  </m:den>
                                </m:f>
                              </m:e>
                            </m:mr>
                            <m:mr>
                              <m:e/>
                            </m:mr>
                            <m:mr>
                              <m:e>
                                <m:r>
                                  <m:rPr>
                                    <m:sty m:val="p"/>
                                  </m:rPr>
                                  <a:rPr lang="en-US" altLang="zh-CN" sz="2400" b="0" i="0" smtClean="0">
                                    <a:latin typeface="Cambria Math" panose="02040503050406030204" pitchFamily="18" charset="0"/>
                                    <a:ea typeface="Cambria Math" panose="02040503050406030204" pitchFamily="18" charset="0"/>
                                  </a:rPr>
                                  <m:t>Balmer</m:t>
                                </m:r>
                                <m:r>
                                  <a:rPr lang="zh-CN" altLang="en-US"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a:rPr>
                                      <m:t>1</m:t>
                                    </m:r>
                                  </m:num>
                                  <m:den>
                                    <m:r>
                                      <a:rPr lang="en-US" altLang="zh-CN" sz="2400" i="1">
                                        <a:latin typeface="Cambria Math"/>
                                      </a:rPr>
                                      <m:t>𝜆</m:t>
                                    </m:r>
                                  </m:den>
                                </m:f>
                                <m:r>
                                  <a:rPr lang="en-US" altLang="zh-CN" sz="2400" i="1">
                                    <a:latin typeface="Cambria Math"/>
                                  </a:rPr>
                                  <m:t>=</m:t>
                                </m:r>
                                <m:sSub>
                                  <m:sSubPr>
                                    <m:ctrlPr>
                                      <a:rPr lang="en-US" altLang="zh-CN" sz="2400" i="1">
                                        <a:latin typeface="Cambria Math" panose="02040503050406030204" pitchFamily="18" charset="0"/>
                                      </a:rPr>
                                    </m:ctrlPr>
                                  </m:sSubPr>
                                  <m:e>
                                    <m:r>
                                      <a:rPr lang="en-US" altLang="zh-CN" sz="2400" i="1">
                                        <a:latin typeface="Cambria Math"/>
                                      </a:rPr>
                                      <m:t>𝑅</m:t>
                                    </m:r>
                                  </m:e>
                                  <m:sub>
                                    <m:r>
                                      <m:rPr>
                                        <m:sty m:val="p"/>
                                      </m:rPr>
                                      <a:rPr lang="en-US" altLang="zh-CN" sz="2400">
                                        <a:latin typeface="Cambria Math"/>
                                      </a:rPr>
                                      <m:t>H</m:t>
                                    </m:r>
                                  </m:sub>
                                </m:sSub>
                                <m:d>
                                  <m:dPr>
                                    <m:begChr m:val="["/>
                                    <m:endChr m:val="]"/>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a:rPr>
                                          <m:t>1</m:t>
                                        </m:r>
                                      </m:num>
                                      <m:den>
                                        <m:sSup>
                                          <m:sSupPr>
                                            <m:ctrlPr>
                                              <a:rPr lang="en-US" altLang="zh-CN" sz="2400" i="1">
                                                <a:latin typeface="Cambria Math" panose="02040503050406030204" pitchFamily="18" charset="0"/>
                                              </a:rPr>
                                            </m:ctrlPr>
                                          </m:sSupPr>
                                          <m:e>
                                            <m:r>
                                              <a:rPr lang="en-US" altLang="zh-CN" sz="2400" i="1">
                                                <a:latin typeface="Cambria Math"/>
                                              </a:rPr>
                                              <m:t>𝑛</m:t>
                                            </m:r>
                                          </m:e>
                                          <m:sup>
                                            <m:r>
                                              <a:rPr lang="en-US" altLang="zh-CN" sz="2400" i="1">
                                                <a:latin typeface="Cambria Math"/>
                                              </a:rPr>
                                              <m:t>2</m:t>
                                            </m:r>
                                          </m:sup>
                                        </m:sSup>
                                      </m:den>
                                    </m:f>
                                    <m:r>
                                      <a:rPr lang="en-US" altLang="zh-CN" sz="2400" i="1">
                                        <a:latin typeface="Cambria Math"/>
                                      </a:rPr>
                                      <m:t>−</m:t>
                                    </m:r>
                                    <m:f>
                                      <m:fPr>
                                        <m:ctrlPr>
                                          <a:rPr lang="en-US" altLang="zh-CN" sz="2400" i="1">
                                            <a:latin typeface="Cambria Math" panose="02040503050406030204" pitchFamily="18" charset="0"/>
                                          </a:rPr>
                                        </m:ctrlPr>
                                      </m:fPr>
                                      <m:num>
                                        <m:r>
                                          <a:rPr lang="en-US" altLang="zh-CN" sz="2400" i="1">
                                            <a:latin typeface="Cambria Math"/>
                                          </a:rPr>
                                          <m:t>1</m:t>
                                        </m:r>
                                      </m:num>
                                      <m:den>
                                        <m:sSup>
                                          <m:sSupPr>
                                            <m:ctrlPr>
                                              <a:rPr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a:rPr>
                                                  <m:t>𝑛</m:t>
                                                </m:r>
                                              </m:e>
                                              <m:sup>
                                                <m:r>
                                                  <a:rPr lang="en-US" altLang="zh-CN" sz="2400" i="1">
                                                    <a:latin typeface="Cambria Math"/>
                                                  </a:rPr>
                                                  <m:t>′</m:t>
                                                </m:r>
                                              </m:sup>
                                            </m:sSup>
                                          </m:e>
                                          <m:sup>
                                            <m:r>
                                              <a:rPr lang="en-US" altLang="zh-CN" sz="2400" i="1">
                                                <a:latin typeface="Cambria Math"/>
                                              </a:rPr>
                                              <m:t>2</m:t>
                                            </m:r>
                                          </m:sup>
                                        </m:sSup>
                                      </m:den>
                                    </m:f>
                                  </m:e>
                                </m:d>
                              </m:e>
                            </m:mr>
                          </m:m>
                        </m:e>
                      </m:d>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𝐸</m:t>
                          </m:r>
                        </m:e>
                        <m:sub>
                          <m:r>
                            <a:rPr lang="en-US" altLang="zh-CN" sz="2400" b="0" i="1" smtClean="0">
                              <a:latin typeface="Cambria Math" panose="02040503050406030204" pitchFamily="18" charset="0"/>
                              <a:ea typeface="Cambria Math" panose="02040503050406030204" pitchFamily="18" charset="0"/>
                            </a:rPr>
                            <m:t>𝑛</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𝐸</m:t>
                          </m:r>
                        </m:e>
                        <m:sub>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𝑛</m:t>
                              </m:r>
                            </m:e>
                            <m:sup>
                              <m:r>
                                <a:rPr lang="en-US" altLang="zh-CN" sz="2400" b="0" i="1" smtClean="0">
                                  <a:latin typeface="Cambria Math" panose="02040503050406030204" pitchFamily="18" charset="0"/>
                                  <a:ea typeface="Cambria Math" panose="02040503050406030204" pitchFamily="18" charset="0"/>
                                </a:rPr>
                                <m:t>′</m:t>
                              </m:r>
                            </m:sup>
                          </m:sSup>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h</m:t>
                      </m:r>
                      <m:r>
                        <a:rPr lang="en-US" altLang="zh-CN" sz="2400" b="0" i="1" smtClean="0">
                          <a:latin typeface="Cambria Math" panose="02040503050406030204" pitchFamily="18" charset="0"/>
                          <a:ea typeface="Cambria Math" panose="02040503050406030204" pitchFamily="18" charset="0"/>
                        </a:rPr>
                        <m:t>𝜈</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h</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𝑐</m:t>
                          </m:r>
                        </m:num>
                        <m:den>
                          <m:r>
                            <a:rPr lang="en-US" altLang="zh-CN" sz="2400" b="0" i="1" smtClean="0">
                              <a:latin typeface="Cambria Math" panose="02040503050406030204" pitchFamily="18" charset="0"/>
                              <a:ea typeface="Cambria Math" panose="02040503050406030204" pitchFamily="18" charset="0"/>
                            </a:rPr>
                            <m:t>𝜆</m:t>
                          </m:r>
                        </m:den>
                      </m:f>
                    </m:oMath>
                  </m:oMathPara>
                </a14:m>
                <a:endParaRPr lang="en-US" altLang="zh-CN" sz="2400" dirty="0"/>
              </a:p>
            </p:txBody>
          </p:sp>
        </mc:Choice>
        <mc:Fallback xmlns="">
          <p:sp>
            <p:nvSpPr>
              <p:cNvPr id="15" name="矩形 2">
                <a:extLst>
                  <a:ext uri="{FF2B5EF4-FFF2-40B4-BE49-F238E27FC236}">
                    <a16:creationId xmlns:a16="http://schemas.microsoft.com/office/drawing/2014/main" id="{53993ABF-D28E-46BF-868B-2BCC2AEB3B61}"/>
                  </a:ext>
                </a:extLst>
              </p:cNvPr>
              <p:cNvSpPr>
                <a:spLocks noRot="1" noChangeAspect="1" noMove="1" noResize="1" noEditPoints="1" noAdjustHandles="1" noChangeArrowheads="1" noChangeShapeType="1" noTextEdit="1"/>
              </p:cNvSpPr>
              <p:nvPr/>
            </p:nvSpPr>
            <p:spPr>
              <a:xfrm>
                <a:off x="587141" y="828252"/>
                <a:ext cx="11160805" cy="402206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27000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18659-D729-4A43-AFD4-EBA9A9BE8704}"/>
              </a:ext>
            </a:extLst>
          </p:cNvPr>
          <p:cNvSpPr>
            <a:spLocks noGrp="1"/>
          </p:cNvSpPr>
          <p:nvPr>
            <p:ph type="title"/>
          </p:nvPr>
        </p:nvSpPr>
        <p:spPr>
          <a:xfrm>
            <a:off x="623392" y="137124"/>
            <a:ext cx="10972800" cy="576064"/>
          </a:xfrm>
        </p:spPr>
        <p:txBody>
          <a:bodyPr/>
          <a:lstStyle/>
          <a:p>
            <a:r>
              <a:rPr lang="en-US" altLang="zh-CN" dirty="0"/>
              <a:t>Three steps to build the atomic model</a:t>
            </a:r>
            <a:endParaRPr lang="en-US" dirty="0"/>
          </a:p>
        </p:txBody>
      </p:sp>
      <p:grpSp>
        <p:nvGrpSpPr>
          <p:cNvPr id="7" name="Group 6">
            <a:extLst>
              <a:ext uri="{FF2B5EF4-FFF2-40B4-BE49-F238E27FC236}">
                <a16:creationId xmlns:a16="http://schemas.microsoft.com/office/drawing/2014/main" id="{496514E6-D9DF-445E-884F-EFE5CB7D9D14}"/>
              </a:ext>
            </a:extLst>
          </p:cNvPr>
          <p:cNvGrpSpPr/>
          <p:nvPr/>
        </p:nvGrpSpPr>
        <p:grpSpPr>
          <a:xfrm>
            <a:off x="1325479" y="798210"/>
            <a:ext cx="3382963" cy="5761982"/>
            <a:chOff x="362688" y="798210"/>
            <a:chExt cx="3382963" cy="5761982"/>
          </a:xfrm>
        </p:grpSpPr>
        <p:sp>
          <p:nvSpPr>
            <p:cNvPr id="3" name="TextBox 2">
              <a:extLst>
                <a:ext uri="{FF2B5EF4-FFF2-40B4-BE49-F238E27FC236}">
                  <a16:creationId xmlns:a16="http://schemas.microsoft.com/office/drawing/2014/main" id="{131C1F00-1A07-4365-9557-B1AFFDA6BAC2}"/>
                </a:ext>
              </a:extLst>
            </p:cNvPr>
            <p:cNvSpPr txBox="1"/>
            <p:nvPr/>
          </p:nvSpPr>
          <p:spPr>
            <a:xfrm>
              <a:off x="413452" y="798210"/>
              <a:ext cx="3224897" cy="400110"/>
            </a:xfrm>
            <a:prstGeom prst="rect">
              <a:avLst/>
            </a:prstGeom>
            <a:noFill/>
          </p:spPr>
          <p:txBody>
            <a:bodyPr wrap="square" rtlCol="0">
              <a:spAutoFit/>
            </a:bodyPr>
            <a:lstStyle/>
            <a:p>
              <a:r>
                <a:rPr lang="en-US" altLang="zh-CN" sz="2000" dirty="0">
                  <a:latin typeface="Times New Roman" panose="02020603050405020304" pitchFamily="18" charset="0"/>
                  <a:ea typeface="等线" panose="02010600030101010101" pitchFamily="2" charset="-122"/>
                  <a:cs typeface="Times New Roman" panose="02020603050405020304" pitchFamily="18" charset="0"/>
                </a:rPr>
                <a:t>1. Classical orbit and energy</a:t>
              </a:r>
              <a:endParaRPr lang="en-US" sz="2000" dirty="0">
                <a:latin typeface="Times New Roman" panose="02020603050405020304" pitchFamily="18" charset="0"/>
                <a:ea typeface="等线" panose="02010600030101010101" pitchFamily="2" charset="-122"/>
                <a:cs typeface="Times New Roman" panose="02020603050405020304" pitchFamily="18" charset="0"/>
              </a:endParaRPr>
            </a:p>
          </p:txBody>
        </p:sp>
        <p:graphicFrame>
          <p:nvGraphicFramePr>
            <p:cNvPr id="16" name="Object 15">
              <a:extLst>
                <a:ext uri="{FF2B5EF4-FFF2-40B4-BE49-F238E27FC236}">
                  <a16:creationId xmlns:a16="http://schemas.microsoft.com/office/drawing/2014/main" id="{4A202EE2-617E-454D-8AA8-FF0C9845CBD1}"/>
                </a:ext>
              </a:extLst>
            </p:cNvPr>
            <p:cNvGraphicFramePr>
              <a:graphicFrameLocks noChangeAspect="1"/>
            </p:cNvGraphicFramePr>
            <p:nvPr>
              <p:extLst>
                <p:ext uri="{D42A27DB-BD31-4B8C-83A1-F6EECF244321}">
                  <p14:modId xmlns:p14="http://schemas.microsoft.com/office/powerpoint/2010/main" val="4176046140"/>
                </p:ext>
              </p:extLst>
            </p:nvPr>
          </p:nvGraphicFramePr>
          <p:xfrm>
            <a:off x="362688" y="1283342"/>
            <a:ext cx="3382963" cy="5276850"/>
          </p:xfrm>
          <a:graphic>
            <a:graphicData uri="http://schemas.openxmlformats.org/presentationml/2006/ole">
              <mc:AlternateContent xmlns:mc="http://schemas.openxmlformats.org/markup-compatibility/2006">
                <mc:Choice xmlns:v="urn:schemas-microsoft-com:vml" Requires="v">
                  <p:oleObj spid="_x0000_s9325" name="Equation" r:id="rId3" imgW="1587240" imgH="2476440" progId="Equation.DSMT4">
                    <p:embed/>
                  </p:oleObj>
                </mc:Choice>
                <mc:Fallback>
                  <p:oleObj name="Equation" r:id="rId3" imgW="1587240" imgH="2476440" progId="Equation.DSMT4">
                    <p:embed/>
                    <p:pic>
                      <p:nvPicPr>
                        <p:cNvPr id="0" name=""/>
                        <p:cNvPicPr/>
                        <p:nvPr/>
                      </p:nvPicPr>
                      <p:blipFill>
                        <a:blip r:embed="rId4"/>
                        <a:stretch>
                          <a:fillRect/>
                        </a:stretch>
                      </p:blipFill>
                      <p:spPr>
                        <a:xfrm>
                          <a:off x="362688" y="1283342"/>
                          <a:ext cx="3382963" cy="5276850"/>
                        </a:xfrm>
                        <a:prstGeom prst="rect">
                          <a:avLst/>
                        </a:prstGeom>
                        <a:ln w="19050">
                          <a:solidFill>
                            <a:srgbClr val="C00000"/>
                          </a:solidFill>
                        </a:ln>
                      </p:spPr>
                    </p:pic>
                  </p:oleObj>
                </mc:Fallback>
              </mc:AlternateContent>
            </a:graphicData>
          </a:graphic>
        </p:graphicFrame>
      </p:grpSp>
      <p:grpSp>
        <p:nvGrpSpPr>
          <p:cNvPr id="6" name="Group 5">
            <a:extLst>
              <a:ext uri="{FF2B5EF4-FFF2-40B4-BE49-F238E27FC236}">
                <a16:creationId xmlns:a16="http://schemas.microsoft.com/office/drawing/2014/main" id="{A1B56EE4-8746-41F6-A2DD-7F83D61A6908}"/>
              </a:ext>
            </a:extLst>
          </p:cNvPr>
          <p:cNvGrpSpPr/>
          <p:nvPr/>
        </p:nvGrpSpPr>
        <p:grpSpPr>
          <a:xfrm>
            <a:off x="6180759" y="798210"/>
            <a:ext cx="3681600" cy="5499846"/>
            <a:chOff x="6341395" y="865587"/>
            <a:chExt cx="3681600" cy="5499846"/>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980B7A5-A369-4C0D-B14C-C042E5E71590}"/>
                    </a:ext>
                  </a:extLst>
                </p:cNvPr>
                <p:cNvSpPr/>
                <p:nvPr/>
              </p:nvSpPr>
              <p:spPr>
                <a:xfrm>
                  <a:off x="6341395" y="865587"/>
                  <a:ext cx="3681600" cy="707886"/>
                </a:xfrm>
                <a:prstGeom prst="rect">
                  <a:avLst/>
                </a:prstGeom>
              </p:spPr>
              <p:txBody>
                <a:bodyPr wrap="square">
                  <a:spAutoFit/>
                </a:bodyPr>
                <a:lstStyle/>
                <a:p>
                  <a:r>
                    <a:rPr lang="en-US" altLang="zh-CN" sz="2000" dirty="0">
                      <a:latin typeface="Times New Roman" panose="02020603050405020304" pitchFamily="18" charset="0"/>
                      <a:ea typeface="等线" panose="02010600030101010101" pitchFamily="2" charset="-122"/>
                      <a:cs typeface="Times New Roman" panose="02020603050405020304" pitchFamily="18" charset="0"/>
                    </a:rPr>
                    <a:t>2. Ang. Momentum quantization </a:t>
                  </a:r>
                </a:p>
                <a:p>
                  <a14:m>
                    <m:oMath xmlns:m="http://schemas.openxmlformats.org/officeDocument/2006/math">
                      <m:r>
                        <a:rPr lang="en-US" altLang="zh-CN" sz="2000" b="0" i="1" smtClean="0">
                          <a:latin typeface="Cambria Math" panose="02040503050406030204" pitchFamily="18" charset="0"/>
                          <a:ea typeface="等线" panose="02010600030101010101" pitchFamily="2" charset="-122"/>
                        </a:rPr>
                        <m:t>→</m:t>
                      </m:r>
                    </m:oMath>
                  </a14:m>
                  <a:r>
                    <a:rPr lang="en-US" sz="2000" dirty="0">
                      <a:latin typeface="Times New Roman" panose="02020603050405020304" pitchFamily="18" charset="0"/>
                      <a:ea typeface="等线" panose="02010600030101010101" pitchFamily="2" charset="-122"/>
                      <a:cs typeface="Times New Roman" panose="02020603050405020304" pitchFamily="18" charset="0"/>
                    </a:rPr>
                    <a:t> orbit and energy quantization</a:t>
                  </a:r>
                  <a:endParaRPr lang="en-US" sz="2000" dirty="0">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p:txBody>
            </p:sp>
          </mc:Choice>
          <mc:Fallback xmlns="">
            <p:sp>
              <p:nvSpPr>
                <p:cNvPr id="15" name="Rectangle 14">
                  <a:extLst>
                    <a:ext uri="{FF2B5EF4-FFF2-40B4-BE49-F238E27FC236}">
                      <a16:creationId xmlns:a16="http://schemas.microsoft.com/office/drawing/2014/main" id="{7980B7A5-A369-4C0D-B14C-C042E5E71590}"/>
                    </a:ext>
                  </a:extLst>
                </p:cNvPr>
                <p:cNvSpPr>
                  <a:spLocks noRot="1" noChangeAspect="1" noMove="1" noResize="1" noEditPoints="1" noAdjustHandles="1" noChangeArrowheads="1" noChangeShapeType="1" noTextEdit="1"/>
                </p:cNvSpPr>
                <p:nvPr/>
              </p:nvSpPr>
              <p:spPr>
                <a:xfrm>
                  <a:off x="6341395" y="865587"/>
                  <a:ext cx="3681600" cy="707886"/>
                </a:xfrm>
                <a:prstGeom prst="rect">
                  <a:avLst/>
                </a:prstGeom>
                <a:blipFill>
                  <a:blip r:embed="rId5"/>
                  <a:stretch>
                    <a:fillRect l="-1821" t="-5172" b="-14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7" name="Object 16">
                  <a:extLst>
                    <a:ext uri="{FF2B5EF4-FFF2-40B4-BE49-F238E27FC236}">
                      <a16:creationId xmlns:a16="http://schemas.microsoft.com/office/drawing/2014/main" id="{E71178C4-7449-4526-98E5-3C90E95B7C76}"/>
                    </a:ext>
                  </a:extLst>
                </p:cNvPr>
                <p:cNvGraphicFramePr>
                  <a:graphicFrameLocks noChangeAspect="1"/>
                </p:cNvGraphicFramePr>
                <p:nvPr>
                  <p:extLst>
                    <p:ext uri="{D42A27DB-BD31-4B8C-83A1-F6EECF244321}">
                      <p14:modId xmlns:p14="http://schemas.microsoft.com/office/powerpoint/2010/main" val="1740266731"/>
                    </p:ext>
                  </p:extLst>
                </p:nvPr>
              </p:nvGraphicFramePr>
              <p:xfrm>
                <a:off x="6712964" y="1658495"/>
                <a:ext cx="2938463" cy="4706938"/>
              </p:xfrm>
              <a:graphic>
                <a:graphicData uri="http://schemas.openxmlformats.org/presentationml/2006/ole">
                  <mc:AlternateContent>
                    <mc:Choice xmlns:v="urn:schemas-microsoft-com:vml" Requires="v">
                      <p:oleObj spid="_x0000_s9326" name="Equation" r:id="rId6" imgW="1434960" imgH="2298600" progId="Equation.DSMT4">
                        <p:embed/>
                      </p:oleObj>
                    </mc:Choice>
                    <mc:Fallback>
                      <p:oleObj name="Equation" r:id="rId6" imgW="1434960" imgH="2298600" progId="Equation.DSMT4">
                        <p:embed/>
                        <p:pic>
                          <p:nvPicPr>
                            <p:cNvPr id="0" name=""/>
                            <p:cNvPicPr/>
                            <p:nvPr/>
                          </p:nvPicPr>
                          <p:blipFill>
                            <a:blip r:embed="rId7"/>
                            <a:stretch>
                              <a:fillRect/>
                            </a:stretch>
                          </p:blipFill>
                          <p:spPr>
                            <a:xfrm>
                              <a:off x="6712964" y="1658495"/>
                              <a:ext cx="2938463" cy="4706938"/>
                            </a:xfrm>
                            <a:prstGeom prst="rect">
                              <a:avLst/>
                            </a:prstGeom>
                            <a:ln w="19050">
                              <a:solidFill>
                                <a:srgbClr val="C00000"/>
                              </a:solidFill>
                            </a:ln>
                          </p:spPr>
                        </p:pic>
                      </p:oleObj>
                    </mc:Fallback>
                  </mc:AlternateContent>
                </a:graphicData>
              </a:graphic>
            </p:graphicFrame>
          </mc:Choice>
          <mc:Fallback xmlns="">
            <p:graphicFrame>
              <p:nvGraphicFramePr>
                <p:cNvPr id="17" name="Object 16">
                  <a:extLst>
                    <a:ext uri="{FF2B5EF4-FFF2-40B4-BE49-F238E27FC236}">
                      <a16:creationId xmlns:a16="http://schemas.microsoft.com/office/drawing/2014/main" id="{E71178C4-7449-4526-98E5-3C90E95B7C76}"/>
                    </a:ext>
                  </a:extLst>
                </p:cNvPr>
                <p:cNvGraphicFramePr>
                  <a:graphicFrameLocks noChangeAspect="1"/>
                </p:cNvGraphicFramePr>
                <p:nvPr>
                  <p:extLst>
                    <p:ext uri="{D42A27DB-BD31-4B8C-83A1-F6EECF244321}">
                      <p14:modId xmlns:p14="http://schemas.microsoft.com/office/powerpoint/2010/main" val="2739854426"/>
                    </p:ext>
                  </p:extLst>
                </p:nvPr>
              </p:nvGraphicFramePr>
              <p:xfrm>
                <a:off x="6712964" y="1658495"/>
                <a:ext cx="2938463" cy="4706938"/>
              </p:xfrm>
              <a:graphic>
                <a:graphicData uri="http://schemas.openxmlformats.org/presentationml/2006/ole">
                  <mc:AlternateContent>
                    <mc:Choice xmlns:v="urn:schemas-microsoft-com:vml" Requires="v">
                      <p:oleObj spid="_x0000_s9302" name="Equation" r:id="rId8" imgW="1434960" imgH="2298600" progId="Equation.DSMT4">
                        <p:embed/>
                      </p:oleObj>
                    </mc:Choice>
                    <mc:Fallback>
                      <p:oleObj name="Equation" r:id="rId8" imgW="1434960" imgH="2298600" progId="Equation.DSMT4">
                        <p:embed/>
                        <p:pic>
                          <p:nvPicPr>
                            <p:cNvPr id="0" name=""/>
                            <p:cNvPicPr/>
                            <p:nvPr/>
                          </p:nvPicPr>
                          <p:blipFill>
                            <a:blip r:embed="rId9"/>
                            <a:stretch>
                              <a:fillRect/>
                            </a:stretch>
                          </p:blipFill>
                          <p:spPr>
                            <a:xfrm>
                              <a:off x="6712964" y="1658495"/>
                              <a:ext cx="2938463" cy="4706938"/>
                            </a:xfrm>
                            <a:prstGeom prst="rect">
                              <a:avLst/>
                            </a:prstGeom>
                            <a:ln w="19050">
                              <a:solidFill>
                                <a:srgbClr val="C00000"/>
                              </a:solidFill>
                            </a:ln>
                          </p:spPr>
                        </p:pic>
                      </p:oleObj>
                    </mc:Fallback>
                  </mc:AlternateContent>
                </a:graphicData>
              </a:graphic>
            </p:graphicFrame>
          </mc:Fallback>
        </mc:AlternateContent>
      </p:grpSp>
    </p:spTree>
    <p:extLst>
      <p:ext uri="{BB962C8B-B14F-4D97-AF65-F5344CB8AC3E}">
        <p14:creationId xmlns:p14="http://schemas.microsoft.com/office/powerpoint/2010/main" val="319515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a:t>
            </a:r>
            <a:r>
              <a:rPr lang="zh-CN" altLang="en-US" dirty="0"/>
              <a:t> </a:t>
            </a:r>
            <a:r>
              <a:rPr lang="en-US" altLang="zh-CN" dirty="0"/>
              <a:t>— from energy levels to spectra</a:t>
            </a:r>
            <a:endParaRPr lang="en-US" dirty="0"/>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EDAFAA4-C2E2-4380-803A-30B3E48E0F8E}"/>
                  </a:ext>
                </a:extLst>
              </p:cNvPr>
              <p:cNvSpPr/>
              <p:nvPr/>
            </p:nvSpPr>
            <p:spPr>
              <a:xfrm>
                <a:off x="190214" y="2639024"/>
                <a:ext cx="4291089" cy="201202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ea typeface="Cambria Math"/>
                            </a:rPr>
                          </m:ctrlPr>
                        </m:sSubPr>
                        <m:e>
                          <m:r>
                            <a:rPr lang="en-US" altLang="zh-CN" sz="2000" i="1">
                              <a:solidFill>
                                <a:srgbClr val="0070C0"/>
                              </a:solidFill>
                              <a:latin typeface="Cambria Math"/>
                              <a:ea typeface="Cambria Math"/>
                            </a:rPr>
                            <m:t>𝐸</m:t>
                          </m:r>
                        </m:e>
                        <m:sub>
                          <m:sSup>
                            <m:sSupPr>
                              <m:ctrlPr>
                                <a:rPr lang="en-US" altLang="zh-CN" sz="2000" i="1">
                                  <a:solidFill>
                                    <a:srgbClr val="0070C0"/>
                                  </a:solidFill>
                                  <a:latin typeface="Cambria Math" panose="02040503050406030204" pitchFamily="18" charset="0"/>
                                  <a:ea typeface="Cambria Math"/>
                                </a:rPr>
                              </m:ctrlPr>
                            </m:sSupPr>
                            <m:e>
                              <m:r>
                                <a:rPr lang="en-US" altLang="zh-CN" sz="2000" i="1">
                                  <a:solidFill>
                                    <a:srgbClr val="0070C0"/>
                                  </a:solidFill>
                                  <a:latin typeface="Cambria Math"/>
                                  <a:ea typeface="Cambria Math"/>
                                </a:rPr>
                                <m:t>𝑛</m:t>
                              </m:r>
                            </m:e>
                            <m:sup>
                              <m:r>
                                <a:rPr lang="en-US" altLang="zh-CN" sz="2000" i="1">
                                  <a:solidFill>
                                    <a:srgbClr val="0070C0"/>
                                  </a:solidFill>
                                  <a:latin typeface="Cambria Math"/>
                                  <a:ea typeface="Cambria Math"/>
                                </a:rPr>
                                <m:t>′</m:t>
                              </m:r>
                            </m:sup>
                          </m:sSup>
                        </m:sub>
                      </m:sSub>
                      <m:r>
                        <a:rPr lang="en-US" altLang="zh-CN" sz="2000" i="1">
                          <a:solidFill>
                            <a:srgbClr val="0070C0"/>
                          </a:solidFill>
                          <a:latin typeface="Cambria Math"/>
                          <a:ea typeface="Cambria Math"/>
                        </a:rPr>
                        <m:t>−</m:t>
                      </m:r>
                      <m:sSub>
                        <m:sSubPr>
                          <m:ctrlPr>
                            <a:rPr lang="en-US" altLang="zh-CN" sz="2000" i="1">
                              <a:solidFill>
                                <a:srgbClr val="0070C0"/>
                              </a:solidFill>
                              <a:latin typeface="Cambria Math" panose="02040503050406030204" pitchFamily="18" charset="0"/>
                              <a:ea typeface="Cambria Math"/>
                            </a:rPr>
                          </m:ctrlPr>
                        </m:sSubPr>
                        <m:e>
                          <m:r>
                            <a:rPr lang="en-US" altLang="zh-CN" sz="2000" i="1">
                              <a:solidFill>
                                <a:srgbClr val="0070C0"/>
                              </a:solidFill>
                              <a:latin typeface="Cambria Math"/>
                              <a:ea typeface="Cambria Math"/>
                            </a:rPr>
                            <m:t>𝐸</m:t>
                          </m:r>
                        </m:e>
                        <m:sub>
                          <m:r>
                            <a:rPr lang="en-US" altLang="zh-CN" sz="2000" i="1">
                              <a:solidFill>
                                <a:srgbClr val="0070C0"/>
                              </a:solidFill>
                              <a:latin typeface="Cambria Math"/>
                              <a:ea typeface="Cambria Math"/>
                            </a:rPr>
                            <m:t>𝑛</m:t>
                          </m:r>
                        </m:sub>
                      </m:sSub>
                      <m:r>
                        <a:rPr lang="en-US" altLang="zh-CN" sz="2000" b="0" i="1" smtClean="0">
                          <a:solidFill>
                            <a:srgbClr val="0070C0"/>
                          </a:solidFill>
                          <a:latin typeface="Cambria Math" panose="02040503050406030204" pitchFamily="18" charset="0"/>
                        </a:rPr>
                        <m:t>=</m:t>
                      </m:r>
                      <m:r>
                        <a:rPr lang="en-US" altLang="zh-CN" sz="2000" i="1" smtClean="0">
                          <a:solidFill>
                            <a:srgbClr val="0070C0"/>
                          </a:solidFill>
                          <a:latin typeface="Cambria Math"/>
                        </a:rPr>
                        <m:t>h</m:t>
                      </m:r>
                      <m:r>
                        <a:rPr lang="en-US" altLang="zh-CN" sz="2000" b="0" i="1" smtClean="0">
                          <a:solidFill>
                            <a:srgbClr val="0070C0"/>
                          </a:solidFill>
                          <a:latin typeface="Cambria Math" panose="02040503050406030204" pitchFamily="18" charset="0"/>
                        </a:rPr>
                        <m:t>𝜈</m:t>
                      </m:r>
                    </m:oMath>
                  </m:oMathPara>
                </a14:m>
                <a:endParaRPr lang="en-US" altLang="zh-CN" sz="2000" b="0" dirty="0">
                  <a:solidFill>
                    <a:srgbClr val="0070C0"/>
                  </a:solidFill>
                </a:endParaRPr>
              </a:p>
              <a:p>
                <a:endParaRPr lang="en-US" altLang="zh-CN" sz="2000" b="0" i="1" dirty="0">
                  <a:solidFill>
                    <a:srgbClr val="0070C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US" altLang="zh-CN" sz="2000" b="0" i="1" smtClean="0">
                              <a:solidFill>
                                <a:srgbClr val="0070C0"/>
                              </a:solidFill>
                              <a:latin typeface="Cambria Math" panose="02040503050406030204" pitchFamily="18" charset="0"/>
                              <a:ea typeface="Cambria Math"/>
                            </a:rPr>
                          </m:ctrlPr>
                        </m:fPr>
                        <m:num>
                          <m:r>
                            <a:rPr lang="en-US" altLang="zh-CN" sz="2000" b="0" i="1" smtClean="0">
                              <a:solidFill>
                                <a:srgbClr val="0070C0"/>
                              </a:solidFill>
                              <a:latin typeface="Cambria Math" panose="02040503050406030204" pitchFamily="18" charset="0"/>
                              <a:ea typeface="Cambria Math"/>
                            </a:rPr>
                            <m:t>1</m:t>
                          </m:r>
                        </m:num>
                        <m:den>
                          <m:r>
                            <a:rPr lang="en-US" altLang="zh-CN" sz="2000" b="0" i="1" smtClean="0">
                              <a:solidFill>
                                <a:srgbClr val="0070C0"/>
                              </a:solidFill>
                              <a:latin typeface="Cambria Math" panose="02040503050406030204" pitchFamily="18" charset="0"/>
                              <a:ea typeface="Cambria Math"/>
                            </a:rPr>
                            <m:t>2</m:t>
                          </m:r>
                        </m:den>
                      </m:f>
                      <m:r>
                        <a:rPr lang="en-US" altLang="zh-CN" sz="2000" b="0" i="1" smtClean="0">
                          <a:solidFill>
                            <a:srgbClr val="0070C0"/>
                          </a:solidFill>
                          <a:latin typeface="Cambria Math" panose="02040503050406030204" pitchFamily="18" charset="0"/>
                          <a:ea typeface="Cambria Math"/>
                        </a:rPr>
                        <m:t>𝑚</m:t>
                      </m:r>
                      <m:sSup>
                        <m:sSupPr>
                          <m:ctrlPr>
                            <a:rPr lang="en-US" altLang="zh-CN" sz="2000" b="0" i="1" smtClean="0">
                              <a:solidFill>
                                <a:srgbClr val="0070C0"/>
                              </a:solidFill>
                              <a:latin typeface="Cambria Math" panose="02040503050406030204" pitchFamily="18" charset="0"/>
                              <a:ea typeface="Cambria Math"/>
                            </a:rPr>
                          </m:ctrlPr>
                        </m:sSupPr>
                        <m:e>
                          <m:d>
                            <m:dPr>
                              <m:ctrlPr>
                                <a:rPr lang="en-US" altLang="zh-CN" sz="2000" b="0" i="1" smtClean="0">
                                  <a:solidFill>
                                    <a:srgbClr val="0070C0"/>
                                  </a:solidFill>
                                  <a:latin typeface="Cambria Math" panose="02040503050406030204" pitchFamily="18" charset="0"/>
                                  <a:ea typeface="Cambria Math"/>
                                </a:rPr>
                              </m:ctrlPr>
                            </m:dPr>
                            <m:e>
                              <m:r>
                                <a:rPr lang="en-US" altLang="zh-CN" sz="2000" b="0" i="1" smtClean="0">
                                  <a:solidFill>
                                    <a:srgbClr val="0070C0"/>
                                  </a:solidFill>
                                  <a:latin typeface="Cambria Math" panose="02040503050406030204" pitchFamily="18" charset="0"/>
                                  <a:ea typeface="Cambria Math"/>
                                </a:rPr>
                                <m:t>𝛼</m:t>
                              </m:r>
                              <m:r>
                                <a:rPr lang="en-US" altLang="zh-CN" sz="2000" b="0" i="1" smtClean="0">
                                  <a:solidFill>
                                    <a:srgbClr val="0070C0"/>
                                  </a:solidFill>
                                  <a:latin typeface="Cambria Math" panose="02040503050406030204" pitchFamily="18" charset="0"/>
                                  <a:ea typeface="Cambria Math"/>
                                </a:rPr>
                                <m:t>𝑐</m:t>
                              </m:r>
                            </m:e>
                          </m:d>
                        </m:e>
                        <m:sup>
                          <m:r>
                            <a:rPr lang="en-US" altLang="zh-CN" sz="2000" b="0" i="1" smtClean="0">
                              <a:solidFill>
                                <a:srgbClr val="0070C0"/>
                              </a:solidFill>
                              <a:latin typeface="Cambria Math" panose="02040503050406030204" pitchFamily="18" charset="0"/>
                              <a:ea typeface="Cambria Math"/>
                            </a:rPr>
                            <m:t>2</m:t>
                          </m:r>
                        </m:sup>
                      </m:sSup>
                      <m:d>
                        <m:dPr>
                          <m:begChr m:val="["/>
                          <m:endChr m:val="]"/>
                          <m:ctrlPr>
                            <a:rPr lang="en-US" altLang="zh-CN" sz="2000" b="0" i="1" smtClean="0">
                              <a:solidFill>
                                <a:srgbClr val="0070C0"/>
                              </a:solidFill>
                              <a:latin typeface="Cambria Math" panose="02040503050406030204" pitchFamily="18" charset="0"/>
                              <a:ea typeface="Cambria Math"/>
                            </a:rPr>
                          </m:ctrlPr>
                        </m:dPr>
                        <m:e>
                          <m:f>
                            <m:fPr>
                              <m:ctrlPr>
                                <a:rPr lang="en-US" altLang="zh-CN" sz="2000" b="0" i="1" smtClean="0">
                                  <a:solidFill>
                                    <a:srgbClr val="0070C0"/>
                                  </a:solidFill>
                                  <a:latin typeface="Cambria Math" panose="02040503050406030204" pitchFamily="18" charset="0"/>
                                  <a:ea typeface="Cambria Math"/>
                                </a:rPr>
                              </m:ctrlPr>
                            </m:fPr>
                            <m:num>
                              <m:r>
                                <a:rPr lang="en-US" altLang="zh-CN" sz="2000" b="0" i="1" smtClean="0">
                                  <a:solidFill>
                                    <a:srgbClr val="0070C0"/>
                                  </a:solidFill>
                                  <a:latin typeface="Cambria Math" panose="02040503050406030204" pitchFamily="18" charset="0"/>
                                  <a:ea typeface="Cambria Math"/>
                                </a:rPr>
                                <m:t>1</m:t>
                              </m:r>
                            </m:num>
                            <m:den>
                              <m:sSup>
                                <m:sSupPr>
                                  <m:ctrlPr>
                                    <a:rPr lang="en-US" altLang="zh-CN" sz="2000" b="0" i="1" smtClean="0">
                                      <a:solidFill>
                                        <a:srgbClr val="0070C0"/>
                                      </a:solidFill>
                                      <a:latin typeface="Cambria Math" panose="02040503050406030204" pitchFamily="18" charset="0"/>
                                      <a:ea typeface="Cambria Math"/>
                                    </a:rPr>
                                  </m:ctrlPr>
                                </m:sSupPr>
                                <m:e>
                                  <m:r>
                                    <a:rPr lang="en-US" altLang="zh-CN" sz="2000" b="0" i="1" smtClean="0">
                                      <a:solidFill>
                                        <a:srgbClr val="0070C0"/>
                                      </a:solidFill>
                                      <a:latin typeface="Cambria Math" panose="02040503050406030204" pitchFamily="18" charset="0"/>
                                      <a:ea typeface="Cambria Math"/>
                                    </a:rPr>
                                    <m:t>𝑛</m:t>
                                  </m:r>
                                </m:e>
                                <m:sup>
                                  <m:r>
                                    <a:rPr lang="en-US" altLang="zh-CN" sz="2000" b="0" i="1" smtClean="0">
                                      <a:solidFill>
                                        <a:srgbClr val="0070C0"/>
                                      </a:solidFill>
                                      <a:latin typeface="Cambria Math" panose="02040503050406030204" pitchFamily="18" charset="0"/>
                                      <a:ea typeface="Cambria Math"/>
                                    </a:rPr>
                                    <m:t>2</m:t>
                                  </m:r>
                                </m:sup>
                              </m:sSup>
                            </m:den>
                          </m:f>
                          <m:r>
                            <a:rPr lang="en-US" altLang="zh-CN" sz="2000" b="0" i="1" smtClean="0">
                              <a:solidFill>
                                <a:srgbClr val="0070C0"/>
                              </a:solidFill>
                              <a:latin typeface="Cambria Math" panose="02040503050406030204" pitchFamily="18" charset="0"/>
                              <a:ea typeface="Cambria Math"/>
                            </a:rPr>
                            <m:t>−</m:t>
                          </m:r>
                          <m:f>
                            <m:fPr>
                              <m:ctrlPr>
                                <a:rPr lang="en-US" altLang="zh-CN" sz="2000" b="0" i="1" smtClean="0">
                                  <a:solidFill>
                                    <a:srgbClr val="0070C0"/>
                                  </a:solidFill>
                                  <a:latin typeface="Cambria Math" panose="02040503050406030204" pitchFamily="18" charset="0"/>
                                  <a:ea typeface="Cambria Math"/>
                                </a:rPr>
                              </m:ctrlPr>
                            </m:fPr>
                            <m:num>
                              <m:r>
                                <a:rPr lang="en-US" altLang="zh-CN" sz="2000" b="0" i="1" smtClean="0">
                                  <a:solidFill>
                                    <a:srgbClr val="0070C0"/>
                                  </a:solidFill>
                                  <a:latin typeface="Cambria Math" panose="02040503050406030204" pitchFamily="18" charset="0"/>
                                  <a:ea typeface="Cambria Math"/>
                                </a:rPr>
                                <m:t>1</m:t>
                              </m:r>
                            </m:num>
                            <m:den>
                              <m:sSup>
                                <m:sSupPr>
                                  <m:ctrlPr>
                                    <a:rPr lang="en-US" altLang="zh-CN" sz="2000" b="0" i="1" smtClean="0">
                                      <a:solidFill>
                                        <a:srgbClr val="0070C0"/>
                                      </a:solidFill>
                                      <a:latin typeface="Cambria Math" panose="02040503050406030204" pitchFamily="18" charset="0"/>
                                      <a:ea typeface="Cambria Math"/>
                                    </a:rPr>
                                  </m:ctrlPr>
                                </m:sSupPr>
                                <m:e>
                                  <m:r>
                                    <a:rPr lang="en-US" altLang="zh-CN" sz="2000" b="0" i="1" smtClean="0">
                                      <a:solidFill>
                                        <a:srgbClr val="0070C0"/>
                                      </a:solidFill>
                                      <a:latin typeface="Cambria Math" panose="02040503050406030204" pitchFamily="18" charset="0"/>
                                      <a:ea typeface="Cambria Math"/>
                                    </a:rPr>
                                    <m:t>𝑛</m:t>
                                  </m:r>
                                </m:e>
                                <m:sup>
                                  <m:r>
                                    <a:rPr lang="en-US" altLang="zh-CN" sz="2000" b="0" i="1" smtClean="0">
                                      <a:solidFill>
                                        <a:srgbClr val="0070C0"/>
                                      </a:solidFill>
                                      <a:latin typeface="Cambria Math" panose="02040503050406030204" pitchFamily="18" charset="0"/>
                                      <a:ea typeface="Cambria Math"/>
                                    </a:rPr>
                                    <m:t>′2</m:t>
                                  </m:r>
                                </m:sup>
                              </m:sSup>
                            </m:den>
                          </m:f>
                        </m:e>
                      </m:d>
                      <m:r>
                        <a:rPr lang="en-US" altLang="zh-CN" sz="2000" b="0" i="1" smtClean="0">
                          <a:solidFill>
                            <a:srgbClr val="0070C0"/>
                          </a:solidFill>
                          <a:latin typeface="Cambria Math" panose="02040503050406030204" pitchFamily="18" charset="0"/>
                        </a:rPr>
                        <m:t>=</m:t>
                      </m:r>
                      <m:r>
                        <a:rPr lang="en-US" altLang="zh-CN" sz="2000" i="1" smtClean="0">
                          <a:solidFill>
                            <a:srgbClr val="0070C0"/>
                          </a:solidFill>
                          <a:latin typeface="Cambria Math"/>
                        </a:rPr>
                        <m:t>h𝑐𝑅</m:t>
                      </m:r>
                      <m:d>
                        <m:dPr>
                          <m:begChr m:val="["/>
                          <m:endChr m:val="]"/>
                          <m:ctrlPr>
                            <a:rPr lang="en-US" altLang="zh-CN" sz="2000" i="1">
                              <a:solidFill>
                                <a:srgbClr val="0070C0"/>
                              </a:solidFill>
                              <a:latin typeface="Cambria Math" panose="02040503050406030204" pitchFamily="18" charset="0"/>
                            </a:rPr>
                          </m:ctrlPr>
                        </m:dPr>
                        <m:e>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a:rPr>
                                <m:t>1</m:t>
                              </m:r>
                            </m:num>
                            <m:den>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𝑛</m:t>
                                  </m:r>
                                </m:e>
                                <m:sup>
                                  <m:r>
                                    <a:rPr lang="en-US" altLang="zh-CN" sz="2000" i="1">
                                      <a:solidFill>
                                        <a:srgbClr val="0070C0"/>
                                      </a:solidFill>
                                      <a:latin typeface="Cambria Math"/>
                                    </a:rPr>
                                    <m:t>2</m:t>
                                  </m:r>
                                </m:sup>
                              </m:sSup>
                            </m:den>
                          </m:f>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a:rPr>
                                <m:t>1</m:t>
                              </m:r>
                            </m:num>
                            <m:den>
                              <m:sSup>
                                <m:sSupPr>
                                  <m:ctrlPr>
                                    <a:rPr lang="en-US" altLang="zh-CN" sz="2000" i="1">
                                      <a:solidFill>
                                        <a:srgbClr val="0070C0"/>
                                      </a:solidFill>
                                      <a:latin typeface="Cambria Math" panose="02040503050406030204" pitchFamily="18" charset="0"/>
                                    </a:rPr>
                                  </m:ctrlPr>
                                </m:sSupPr>
                                <m:e>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𝑛</m:t>
                                      </m:r>
                                    </m:e>
                                    <m:sup>
                                      <m:r>
                                        <a:rPr lang="en-US" altLang="zh-CN" sz="2000" i="1">
                                          <a:solidFill>
                                            <a:srgbClr val="0070C0"/>
                                          </a:solidFill>
                                          <a:latin typeface="Cambria Math"/>
                                        </a:rPr>
                                        <m:t>′</m:t>
                                      </m:r>
                                    </m:sup>
                                  </m:sSup>
                                </m:e>
                                <m:sup>
                                  <m:r>
                                    <a:rPr lang="en-US" altLang="zh-CN" sz="2000" i="1">
                                      <a:solidFill>
                                        <a:srgbClr val="0070C0"/>
                                      </a:solidFill>
                                      <a:latin typeface="Cambria Math"/>
                                    </a:rPr>
                                    <m:t>2</m:t>
                                  </m:r>
                                </m:sup>
                              </m:sSup>
                            </m:den>
                          </m:f>
                        </m:e>
                      </m:d>
                    </m:oMath>
                  </m:oMathPara>
                </a14:m>
                <a:endParaRPr lang="en-US" altLang="zh-CN" sz="2000" dirty="0">
                  <a:solidFill>
                    <a:srgbClr val="0070C0"/>
                  </a:solidFill>
                </a:endParaRPr>
              </a:p>
              <a:p>
                <a:endParaRPr lang="en-US" altLang="zh-CN" sz="2000" dirty="0">
                  <a:solidFill>
                    <a:srgbClr val="0070C0"/>
                  </a:solidFill>
                </a:endParaRPr>
              </a:p>
              <a:p>
                <a:endParaRPr lang="en-US" altLang="zh-CN" sz="2000" dirty="0">
                  <a:solidFill>
                    <a:srgbClr val="0070C0"/>
                  </a:solidFill>
                </a:endParaRPr>
              </a:p>
            </p:txBody>
          </p:sp>
        </mc:Choice>
        <mc:Fallback xmlns="">
          <p:sp>
            <p:nvSpPr>
              <p:cNvPr id="9" name="Rectangle 8">
                <a:extLst>
                  <a:ext uri="{FF2B5EF4-FFF2-40B4-BE49-F238E27FC236}">
                    <a16:creationId xmlns:a16="http://schemas.microsoft.com/office/drawing/2014/main" id="{1EDAFAA4-C2E2-4380-803A-30B3E48E0F8E}"/>
                  </a:ext>
                </a:extLst>
              </p:cNvPr>
              <p:cNvSpPr>
                <a:spLocks noRot="1" noChangeAspect="1" noMove="1" noResize="1" noEditPoints="1" noAdjustHandles="1" noChangeArrowheads="1" noChangeShapeType="1" noTextEdit="1"/>
              </p:cNvSpPr>
              <p:nvPr/>
            </p:nvSpPr>
            <p:spPr>
              <a:xfrm>
                <a:off x="190214" y="2639024"/>
                <a:ext cx="4291089" cy="2012026"/>
              </a:xfrm>
              <a:prstGeom prst="rect">
                <a:avLst/>
              </a:prstGeom>
              <a:blipFill>
                <a:blip r:embed="rId3"/>
                <a:stretch>
                  <a:fillRect/>
                </a:stretch>
              </a:blipFill>
            </p:spPr>
            <p:txBody>
              <a:bodyPr/>
              <a:lstStyle/>
              <a:p>
                <a:r>
                  <a:rPr lang="zh-CN" altLang="en-US">
                    <a:noFill/>
                  </a:rPr>
                  <a:t> </a:t>
                </a:r>
              </a:p>
            </p:txBody>
          </p:sp>
        </mc:Fallback>
      </mc:AlternateContent>
      <p:sp>
        <p:nvSpPr>
          <p:cNvPr id="10" name="Rectangle 9">
            <a:extLst>
              <a:ext uri="{FF2B5EF4-FFF2-40B4-BE49-F238E27FC236}">
                <a16:creationId xmlns:a16="http://schemas.microsoft.com/office/drawing/2014/main" id="{402B5B8B-F59A-4CC3-AF64-A731902C89B6}"/>
              </a:ext>
            </a:extLst>
          </p:cNvPr>
          <p:cNvSpPr/>
          <p:nvPr/>
        </p:nvSpPr>
        <p:spPr>
          <a:xfrm>
            <a:off x="728546" y="871927"/>
            <a:ext cx="10288859" cy="461665"/>
          </a:xfrm>
          <a:prstGeom prst="rect">
            <a:avLst/>
          </a:prstGeom>
        </p:spPr>
        <p:txBody>
          <a:bodyPr wrap="square">
            <a:spAutoFit/>
          </a:bodyPr>
          <a:lstStyle/>
          <a:p>
            <a:r>
              <a:rPr lang="en-US" altLang="zh-CN" sz="2400" dirty="0"/>
              <a:t>Hans Hansen: </a:t>
            </a:r>
            <a:r>
              <a:rPr lang="en-US" sz="2400" dirty="0"/>
              <a:t>“Niles,</a:t>
            </a:r>
            <a:r>
              <a:rPr lang="zh-CN" altLang="en-US" sz="2400" dirty="0"/>
              <a:t> </a:t>
            </a:r>
            <a:r>
              <a:rPr lang="en-US" altLang="zh-CN" sz="2400" dirty="0"/>
              <a:t>can your model explain the Hydrogen spectrum?</a:t>
            </a:r>
            <a:r>
              <a:rPr lang="en-US" sz="2400" dirty="0"/>
              <a:t>”</a:t>
            </a:r>
            <a:endParaRPr lang="en-US" altLang="zh-CN" sz="2400" dirty="0"/>
          </a:p>
        </p:txBody>
      </p:sp>
      <p:grpSp>
        <p:nvGrpSpPr>
          <p:cNvPr id="4" name="Group 3">
            <a:extLst>
              <a:ext uri="{FF2B5EF4-FFF2-40B4-BE49-F238E27FC236}">
                <a16:creationId xmlns:a16="http://schemas.microsoft.com/office/drawing/2014/main" id="{DA954238-EF0D-41E5-AEF9-73E76EC15E9F}"/>
              </a:ext>
            </a:extLst>
          </p:cNvPr>
          <p:cNvGrpSpPr/>
          <p:nvPr/>
        </p:nvGrpSpPr>
        <p:grpSpPr>
          <a:xfrm>
            <a:off x="4785533" y="1278406"/>
            <a:ext cx="7406467" cy="4998486"/>
            <a:chOff x="4449088" y="1328806"/>
            <a:chExt cx="7406467" cy="4998486"/>
          </a:xfrm>
        </p:grpSpPr>
        <p:grpSp>
          <p:nvGrpSpPr>
            <p:cNvPr id="5" name="Group 4"/>
            <p:cNvGrpSpPr/>
            <p:nvPr/>
          </p:nvGrpSpPr>
          <p:grpSpPr>
            <a:xfrm>
              <a:off x="4449088" y="1328806"/>
              <a:ext cx="7406467" cy="4998486"/>
              <a:chOff x="766400" y="877260"/>
              <a:chExt cx="8123529" cy="5281839"/>
            </a:xfrm>
          </p:grpSpPr>
          <p:pic>
            <p:nvPicPr>
              <p:cNvPr id="3074" name="Picture 2" descr="https://upload.wikimedia.org/wikipedia/commons/thumb/b/b2/Hydrogen_transitions.svg/600px-Hydrogen_transitions.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477" y="877260"/>
                <a:ext cx="7042452" cy="52818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13749" y="3257412"/>
                <a:ext cx="1302707" cy="342338"/>
              </a:xfrm>
              <a:prstGeom prst="rect">
                <a:avLst/>
              </a:prstGeom>
              <a:noFill/>
            </p:spPr>
            <p:txBody>
              <a:bodyPr wrap="non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Ground state</a:t>
                </a:r>
                <a:endParaRPr 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Box 5"/>
              <p:cNvSpPr txBox="1"/>
              <p:nvPr/>
            </p:nvSpPr>
            <p:spPr>
              <a:xfrm>
                <a:off x="783224" y="3824851"/>
                <a:ext cx="1533232" cy="342338"/>
              </a:xfrm>
              <a:prstGeom prst="rect">
                <a:avLst/>
              </a:prstGeom>
              <a:noFill/>
            </p:spPr>
            <p:txBody>
              <a:bodyPr wrap="non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1st  exited state</a:t>
                </a:r>
                <a:endParaRPr 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TextBox 6"/>
              <p:cNvSpPr txBox="1"/>
              <p:nvPr/>
            </p:nvSpPr>
            <p:spPr>
              <a:xfrm>
                <a:off x="766400" y="4507962"/>
                <a:ext cx="1550056" cy="342338"/>
              </a:xfrm>
              <a:prstGeom prst="rect">
                <a:avLst/>
              </a:prstGeom>
              <a:noFill/>
            </p:spPr>
            <p:txBody>
              <a:bodyPr wrap="non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2nd</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exited state</a:t>
                </a:r>
                <a:endParaRPr 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TextBox 5"/>
              <p:cNvSpPr txBox="1"/>
              <p:nvPr/>
            </p:nvSpPr>
            <p:spPr>
              <a:xfrm>
                <a:off x="801734" y="5191073"/>
                <a:ext cx="1514722" cy="34233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3rd exited state</a:t>
                </a:r>
                <a:endParaRPr 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78CC41-CB18-4E6C-B613-1EA58FE3E2AE}"/>
                    </a:ext>
                  </a:extLst>
                </p:cNvPr>
                <p:cNvSpPr txBox="1"/>
                <p:nvPr/>
              </p:nvSpPr>
              <p:spPr>
                <a:xfrm>
                  <a:off x="4530998" y="1734189"/>
                  <a:ext cx="2011063" cy="60503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C00000"/>
                                </a:solidFill>
                                <a:latin typeface="Cambria Math" panose="02040503050406030204" pitchFamily="18" charset="0"/>
                              </a:rPr>
                            </m:ctrlPr>
                          </m:sSubPr>
                          <m:e>
                            <m:r>
                              <a:rPr lang="en-US" sz="2000" b="0" i="1" smtClean="0">
                                <a:solidFill>
                                  <a:srgbClr val="C00000"/>
                                </a:solidFill>
                                <a:latin typeface="Cambria Math" panose="02040503050406030204" pitchFamily="18" charset="0"/>
                              </a:rPr>
                              <m:t>𝐸</m:t>
                            </m:r>
                          </m:e>
                          <m:sub>
                            <m:r>
                              <a:rPr lang="en-US" sz="2000" b="0" i="1" smtClean="0">
                                <a:solidFill>
                                  <a:srgbClr val="C00000"/>
                                </a:solidFill>
                                <a:latin typeface="Cambria Math" panose="02040503050406030204" pitchFamily="18" charset="0"/>
                              </a:rPr>
                              <m:t>𝑛</m:t>
                            </m:r>
                          </m:sub>
                        </m:sSub>
                        <m:r>
                          <a:rPr lang="en-US" sz="2000" b="0" i="1" smtClean="0">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m:t>
                        </m:r>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1</m:t>
                            </m:r>
                          </m:num>
                          <m:den>
                            <m:r>
                              <a:rPr lang="en-US" sz="2000" i="1">
                                <a:solidFill>
                                  <a:srgbClr val="C00000"/>
                                </a:solidFill>
                                <a:latin typeface="Cambria Math" panose="02040503050406030204" pitchFamily="18" charset="0"/>
                              </a:rPr>
                              <m:t>2</m:t>
                            </m:r>
                          </m:den>
                        </m:f>
                        <m:r>
                          <a:rPr lang="en-US" sz="2000" i="1">
                            <a:solidFill>
                              <a:srgbClr val="C00000"/>
                            </a:solidFill>
                            <a:latin typeface="Cambria Math" panose="02040503050406030204" pitchFamily="18" charset="0"/>
                          </a:rPr>
                          <m:t>𝑚</m:t>
                        </m:r>
                        <m:sSup>
                          <m:sSupPr>
                            <m:ctrlPr>
                              <a:rPr lang="en-US" sz="2000" i="1">
                                <a:solidFill>
                                  <a:srgbClr val="C00000"/>
                                </a:solidFill>
                                <a:latin typeface="Cambria Math" panose="02040503050406030204" pitchFamily="18" charset="0"/>
                              </a:rPr>
                            </m:ctrlPr>
                          </m:sSupPr>
                          <m:e>
                            <m:d>
                              <m:dPr>
                                <m:ctrlPr>
                                  <a:rPr lang="en-US" altLang="zh-CN" sz="2000" b="0" i="1" smtClean="0">
                                    <a:solidFill>
                                      <a:srgbClr val="C00000"/>
                                    </a:solidFill>
                                    <a:latin typeface="Cambria Math" panose="02040503050406030204" pitchFamily="18" charset="0"/>
                                  </a:rPr>
                                </m:ctrlPr>
                              </m:dPr>
                              <m:e>
                                <m:f>
                                  <m:fPr>
                                    <m:ctrlPr>
                                      <a:rPr lang="en-US" altLang="zh-CN" sz="2000" i="1">
                                        <a:solidFill>
                                          <a:srgbClr val="C00000"/>
                                        </a:solidFill>
                                        <a:latin typeface="Cambria Math" panose="02040503050406030204" pitchFamily="18" charset="0"/>
                                      </a:rPr>
                                    </m:ctrlPr>
                                  </m:fPr>
                                  <m:num>
                                    <m:r>
                                      <a:rPr lang="en-US" altLang="zh-CN" sz="2000" i="1">
                                        <a:solidFill>
                                          <a:srgbClr val="C00000"/>
                                        </a:solidFill>
                                        <a:latin typeface="Cambria Math" panose="02040503050406030204" pitchFamily="18" charset="0"/>
                                      </a:rPr>
                                      <m:t>𝛼</m:t>
                                    </m:r>
                                    <m:r>
                                      <a:rPr lang="en-US" altLang="zh-CN" sz="2000" i="1">
                                        <a:solidFill>
                                          <a:srgbClr val="C00000"/>
                                        </a:solidFill>
                                        <a:latin typeface="Cambria Math" panose="02040503050406030204" pitchFamily="18" charset="0"/>
                                      </a:rPr>
                                      <m:t>𝑐</m:t>
                                    </m:r>
                                  </m:num>
                                  <m:den>
                                    <m:r>
                                      <a:rPr lang="en-US" altLang="zh-CN" sz="2000" i="1">
                                        <a:solidFill>
                                          <a:srgbClr val="C00000"/>
                                        </a:solidFill>
                                        <a:latin typeface="Cambria Math" panose="02040503050406030204" pitchFamily="18" charset="0"/>
                                      </a:rPr>
                                      <m:t>𝑛</m:t>
                                    </m:r>
                                  </m:den>
                                </m:f>
                              </m:e>
                            </m:d>
                          </m:e>
                          <m:sup>
                            <m:r>
                              <a:rPr lang="en-US" sz="2000" i="1">
                                <a:solidFill>
                                  <a:srgbClr val="C00000"/>
                                </a:solidFill>
                                <a:latin typeface="Cambria Math" panose="02040503050406030204" pitchFamily="18" charset="0"/>
                              </a:rPr>
                              <m:t>2</m:t>
                            </m:r>
                          </m:sup>
                        </m:sSup>
                      </m:oMath>
                    </m:oMathPara>
                  </a14:m>
                  <a:endParaRPr lang="en-US" sz="2000" dirty="0">
                    <a:solidFill>
                      <a:srgbClr val="C00000"/>
                    </a:solidFill>
                  </a:endParaRPr>
                </a:p>
              </p:txBody>
            </p:sp>
          </mc:Choice>
          <mc:Fallback xmlns="">
            <p:sp>
              <p:nvSpPr>
                <p:cNvPr id="12" name="TextBox 11">
                  <a:extLst>
                    <a:ext uri="{FF2B5EF4-FFF2-40B4-BE49-F238E27FC236}">
                      <a16:creationId xmlns:a16="http://schemas.microsoft.com/office/drawing/2014/main" id="{3478CC41-CB18-4E6C-B613-1EA58FE3E2AE}"/>
                    </a:ext>
                  </a:extLst>
                </p:cNvPr>
                <p:cNvSpPr txBox="1">
                  <a:spLocks noRot="1" noChangeAspect="1" noMove="1" noResize="1" noEditPoints="1" noAdjustHandles="1" noChangeArrowheads="1" noChangeShapeType="1" noTextEdit="1"/>
                </p:cNvSpPr>
                <p:nvPr/>
              </p:nvSpPr>
              <p:spPr>
                <a:xfrm>
                  <a:off x="4530998" y="1734189"/>
                  <a:ext cx="2011063" cy="605037"/>
                </a:xfrm>
                <a:prstGeom prst="rect">
                  <a:avLst/>
                </a:prstGeom>
                <a:blipFill>
                  <a:blip r:embed="rId5"/>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FEB713-F313-4D52-A2AD-8E75CA204A2E}"/>
                  </a:ext>
                </a:extLst>
              </p:cNvPr>
              <p:cNvSpPr txBox="1"/>
              <p:nvPr/>
            </p:nvSpPr>
            <p:spPr>
              <a:xfrm>
                <a:off x="1010053" y="4205770"/>
                <a:ext cx="2842427" cy="7098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rgbClr val="0070C0"/>
                          </a:solidFill>
                          <a:latin typeface="Cambria Math" panose="02040503050406030204" pitchFamily="18" charset="0"/>
                          <a:ea typeface="Cambria Math" panose="02040503050406030204" pitchFamily="18" charset="0"/>
                        </a:rPr>
                        <m:t>∴</m:t>
                      </m:r>
                      <m:r>
                        <a:rPr lang="en-US" altLang="zh-CN" sz="2000" i="1" smtClean="0">
                          <a:solidFill>
                            <a:srgbClr val="0070C0"/>
                          </a:solidFill>
                          <a:latin typeface="Cambria Math"/>
                        </a:rPr>
                        <m:t>𝑅</m:t>
                      </m:r>
                      <m:r>
                        <a:rPr lang="en-US" altLang="zh-CN" sz="2000" i="1" smtClean="0">
                          <a:solidFill>
                            <a:srgbClr val="0070C0"/>
                          </a:solidFill>
                          <a:latin typeface="Cambria Math"/>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panose="02040503050406030204" pitchFamily="18" charset="0"/>
                            </a:rPr>
                            <m:t>𝑚</m:t>
                          </m:r>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panose="02040503050406030204" pitchFamily="18" charset="0"/>
                                </a:rPr>
                                <m:t>𝛼</m:t>
                              </m:r>
                            </m:e>
                            <m:sup>
                              <m:r>
                                <a:rPr lang="en-US" altLang="zh-CN" sz="2000" i="1">
                                  <a:solidFill>
                                    <a:srgbClr val="0070C0"/>
                                  </a:solidFill>
                                  <a:latin typeface="Cambria Math" panose="02040503050406030204" pitchFamily="18" charset="0"/>
                                </a:rPr>
                                <m:t>2</m:t>
                              </m:r>
                            </m:sup>
                          </m:sSup>
                          <m:r>
                            <a:rPr lang="en-US" altLang="zh-CN" sz="2000" i="1">
                              <a:solidFill>
                                <a:srgbClr val="0070C0"/>
                              </a:solidFill>
                              <a:latin typeface="Cambria Math" panose="02040503050406030204" pitchFamily="18" charset="0"/>
                            </a:rPr>
                            <m:t>𝑐</m:t>
                          </m:r>
                        </m:num>
                        <m:den>
                          <m:r>
                            <a:rPr lang="en-US" altLang="zh-CN" sz="2000" i="1">
                              <a:solidFill>
                                <a:srgbClr val="0070C0"/>
                              </a:solidFill>
                              <a:latin typeface="Cambria Math" panose="02040503050406030204" pitchFamily="18" charset="0"/>
                            </a:rPr>
                            <m:t>4</m:t>
                          </m:r>
                          <m:r>
                            <a:rPr lang="en-US" altLang="zh-CN" sz="2000" i="1">
                              <a:solidFill>
                                <a:srgbClr val="0070C0"/>
                              </a:solidFill>
                              <a:latin typeface="Cambria Math" panose="02040503050406030204" pitchFamily="18" charset="0"/>
                            </a:rPr>
                            <m:t>𝜋</m:t>
                          </m:r>
                          <m:r>
                            <a:rPr lang="en-US" altLang="zh-CN" sz="2000" i="1">
                              <a:solidFill>
                                <a:srgbClr val="0070C0"/>
                              </a:solidFill>
                              <a:latin typeface="Cambria Math" panose="02040503050406030204" pitchFamily="18" charset="0"/>
                            </a:rPr>
                            <m:t>ℏ</m:t>
                          </m:r>
                        </m:den>
                      </m:f>
                    </m:oMath>
                  </m:oMathPara>
                </a14:m>
                <a:endParaRPr lang="en-US" sz="2000"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5FFEB713-F313-4D52-A2AD-8E75CA204A2E}"/>
                  </a:ext>
                </a:extLst>
              </p:cNvPr>
              <p:cNvSpPr txBox="1">
                <a:spLocks noRot="1" noChangeAspect="1" noMove="1" noResize="1" noEditPoints="1" noAdjustHandles="1" noChangeArrowheads="1" noChangeShapeType="1" noTextEdit="1"/>
              </p:cNvSpPr>
              <p:nvPr/>
            </p:nvSpPr>
            <p:spPr>
              <a:xfrm>
                <a:off x="1010053" y="4205770"/>
                <a:ext cx="2842427" cy="709874"/>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72552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88640"/>
            <a:ext cx="10896162" cy="576064"/>
          </a:xfrm>
        </p:spPr>
        <p:txBody>
          <a:bodyPr/>
          <a:lstStyle/>
          <a:p>
            <a:r>
              <a:rPr lang="en-US" altLang="zh-CN" dirty="0"/>
              <a:t>The Correspondence principle</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20089" y="916971"/>
                <a:ext cx="10799465" cy="5530263"/>
              </a:xfrm>
            </p:spPr>
            <p:txBody>
              <a:bodyPr>
                <a:noAutofit/>
              </a:bodyPr>
              <a:lstStyle/>
              <a:p>
                <a:pPr marL="0" indent="0">
                  <a:lnSpc>
                    <a:spcPct val="120000"/>
                  </a:lnSpc>
                  <a:spcBef>
                    <a:spcPts val="1200"/>
                  </a:spcBef>
                  <a:buNone/>
                </a:pPr>
                <a:r>
                  <a:rPr lang="en-US" altLang="zh-CN" sz="2800" dirty="0">
                    <a:solidFill>
                      <a:schemeClr val="tx1"/>
                    </a:solidFill>
                  </a:rPr>
                  <a:t>When extrapolated to macroscopic sizes, the result of a quantum theory must agree with that of the classical one.</a:t>
                </a:r>
              </a:p>
              <a:p>
                <a:pPr>
                  <a:lnSpc>
                    <a:spcPct val="120000"/>
                  </a:lnSpc>
                  <a:spcBef>
                    <a:spcPts val="1200"/>
                  </a:spcBef>
                </a:pPr>
                <a:r>
                  <a:rPr lang="en-US" altLang="zh-CN" sz="2400" dirty="0"/>
                  <a:t>Classical theory: electron orbiting around the nucleus at frequency </a:t>
                </a:r>
                <a14:m>
                  <m:oMath xmlns:m="http://schemas.openxmlformats.org/officeDocument/2006/math">
                    <m:r>
                      <a:rPr lang="en-US" altLang="zh-CN" sz="2400" i="1">
                        <a:latin typeface="Cambria Math" panose="02040503050406030204" pitchFamily="18" charset="0"/>
                      </a:rPr>
                      <m:t>𝑓</m:t>
                    </m:r>
                    <m:r>
                      <a:rPr lang="en-US" altLang="zh-CN" sz="2400" i="1">
                        <a:latin typeface="Cambria Math" panose="02040503050406030204" pitchFamily="18" charset="0"/>
                      </a:rPr>
                      <m:t>(</m:t>
                    </m:r>
                    <m:r>
                      <a:rPr lang="en-US" altLang="zh-CN" sz="2400" i="1">
                        <a:latin typeface="Cambria Math" panose="02040503050406030204" pitchFamily="18" charset="0"/>
                      </a:rPr>
                      <m:t>𝑟</m:t>
                    </m:r>
                    <m:r>
                      <a:rPr lang="en-US" altLang="zh-CN" sz="2400" i="1">
                        <a:latin typeface="Cambria Math" panose="02040503050406030204" pitchFamily="18" charset="0"/>
                      </a:rPr>
                      <m:t>)</m:t>
                    </m:r>
                  </m:oMath>
                </a14:m>
                <a:r>
                  <a:rPr lang="en-US" altLang="zh-CN" sz="2400" dirty="0"/>
                  <a:t> emits light of the same frequency: </a:t>
                </a:r>
                <a14:m>
                  <m:oMath xmlns:m="http://schemas.openxmlformats.org/officeDocument/2006/math">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𝑟</m:t>
                        </m:r>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𝑣</m:t>
                        </m:r>
                      </m:num>
                      <m:den>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𝜋</m:t>
                        </m:r>
                        <m:r>
                          <a:rPr lang="en-US" altLang="zh-CN" sz="2400" b="0" i="1" smtClean="0">
                            <a:latin typeface="Cambria Math" panose="02040503050406030204" pitchFamily="18" charset="0"/>
                          </a:rPr>
                          <m:t>𝑟</m:t>
                        </m:r>
                      </m:den>
                    </m:f>
                  </m:oMath>
                </a14:m>
                <a:r>
                  <a:rPr lang="en-US" altLang="zh-CN" sz="2400" dirty="0"/>
                  <a:t> </a:t>
                </a:r>
              </a:p>
              <a:p>
                <a:pPr>
                  <a:lnSpc>
                    <a:spcPct val="120000"/>
                  </a:lnSpc>
                  <a:spcBef>
                    <a:spcPts val="1200"/>
                  </a:spcBef>
                </a:pPr>
                <a:r>
                  <a:rPr lang="en-US" altLang="zh-CN" sz="2400" b="0" dirty="0">
                    <a:solidFill>
                      <a:schemeClr val="tx1"/>
                    </a:solidFill>
                  </a:rPr>
                  <a:t>Quantum theory</a:t>
                </a:r>
                <a:r>
                  <a:rPr lang="zh-CN" altLang="en-US" sz="2400" b="0" dirty="0">
                    <a:solidFill>
                      <a:schemeClr val="tx1"/>
                    </a:solidFill>
                  </a:rPr>
                  <a:t>：</a:t>
                </a:r>
                <a:r>
                  <a:rPr lang="en-US" altLang="zh-CN" sz="2400" b="0" dirty="0">
                    <a:solidFill>
                      <a:schemeClr val="tx1"/>
                    </a:solidFill>
                  </a:rPr>
                  <a:t>the frequency of light emitted due to a transition between neighboring large orbits is </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i="1">
                            <a:latin typeface="Cambria Math"/>
                          </a:rPr>
                          <m:t>𝜈</m:t>
                        </m:r>
                      </m:e>
                      <m:sub>
                        <m:r>
                          <a:rPr lang="en-US" altLang="zh-CN" sz="2400" b="0" i="1" smtClean="0">
                            <a:latin typeface="Cambria Math" panose="02040503050406030204" pitchFamily="18" charset="0"/>
                          </a:rPr>
                          <m:t>𝑛</m:t>
                        </m:r>
                      </m:sub>
                    </m:sSub>
                    <m:r>
                      <a:rPr lang="en-US" altLang="zh-CN" sz="2400" i="1">
                        <a:latin typeface="Cambria Math"/>
                      </a:rPr>
                      <m:t>=</m:t>
                    </m:r>
                    <m:r>
                      <a:rPr lang="en-US" altLang="zh-CN" sz="2400" i="1">
                        <a:latin typeface="Cambria Math"/>
                      </a:rPr>
                      <m:t>𝑐𝑅</m:t>
                    </m:r>
                    <m:d>
                      <m:dPr>
                        <m:begChr m:val="["/>
                        <m:endChr m:val="]"/>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a:rPr>
                              <m:t>1</m:t>
                            </m:r>
                          </m:num>
                          <m:den>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m:t>
                                </m:r>
                                <m:r>
                                  <a:rPr lang="en-US" altLang="zh-CN" sz="2400" i="1">
                                    <a:latin typeface="Cambria Math"/>
                                  </a:rPr>
                                  <m:t>𝑛</m:t>
                                </m:r>
                                <m:r>
                                  <a:rPr lang="en-US" altLang="zh-CN" sz="2400" b="0" i="1" smtClean="0">
                                    <a:latin typeface="Cambria Math" panose="02040503050406030204" pitchFamily="18" charset="0"/>
                                  </a:rPr>
                                  <m:t>−1)</m:t>
                                </m:r>
                              </m:e>
                              <m:sup>
                                <m:r>
                                  <a:rPr lang="en-US" altLang="zh-CN" sz="2400" i="1">
                                    <a:latin typeface="Cambria Math"/>
                                  </a:rPr>
                                  <m:t>2</m:t>
                                </m:r>
                              </m:sup>
                            </m:sSup>
                          </m:den>
                        </m:f>
                        <m:r>
                          <a:rPr lang="en-US" altLang="zh-CN" sz="2400" i="1">
                            <a:latin typeface="Cambria Math"/>
                          </a:rPr>
                          <m:t>−</m:t>
                        </m:r>
                        <m:f>
                          <m:fPr>
                            <m:ctrlPr>
                              <a:rPr lang="en-US" altLang="zh-CN" sz="2400" i="1">
                                <a:latin typeface="Cambria Math" panose="02040503050406030204" pitchFamily="18" charset="0"/>
                              </a:rPr>
                            </m:ctrlPr>
                          </m:fPr>
                          <m:num>
                            <m:r>
                              <a:rPr lang="en-US" altLang="zh-CN" sz="2400" i="1">
                                <a:latin typeface="Cambria Math"/>
                              </a:rPr>
                              <m:t>1</m:t>
                            </m:r>
                          </m:num>
                          <m:den>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𝑛</m:t>
                                </m:r>
                              </m:e>
                              <m:sup>
                                <m:r>
                                  <a:rPr lang="en-US" altLang="zh-CN" sz="2400" i="1">
                                    <a:latin typeface="Cambria Math"/>
                                  </a:rPr>
                                  <m:t>2</m:t>
                                </m:r>
                              </m:sup>
                            </m:sSup>
                          </m:den>
                        </m:f>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𝑐𝑅</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2</m:t>
                        </m:r>
                      </m:num>
                      <m:den>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𝑛</m:t>
                            </m:r>
                          </m:e>
                          <m:sup>
                            <m:r>
                              <a:rPr lang="en-US" altLang="zh-CN" sz="2400" b="0" i="1" smtClean="0">
                                <a:latin typeface="Cambria Math" panose="02040503050406030204" pitchFamily="18" charset="0"/>
                                <a:ea typeface="Cambria Math" panose="02040503050406030204" pitchFamily="18" charset="0"/>
                              </a:rPr>
                              <m:t>3</m:t>
                            </m:r>
                          </m:sup>
                        </m:sSup>
                      </m:den>
                    </m:f>
                  </m:oMath>
                </a14:m>
                <a:endParaRPr lang="en-US" altLang="zh-CN" sz="2400" i="1" dirty="0"/>
              </a:p>
              <a:p>
                <a:pPr>
                  <a:lnSpc>
                    <a:spcPct val="120000"/>
                  </a:lnSpc>
                  <a:spcBef>
                    <a:spcPts val="1200"/>
                  </a:spcBef>
                </a:pPr>
                <a:r>
                  <a:rPr lang="en-US" altLang="zh-CN" sz="2400" dirty="0"/>
                  <a:t>When</a:t>
                </a:r>
                <a:r>
                  <a:rPr lang="en-US" altLang="zh-CN" sz="2400" dirty="0">
                    <a:solidFill>
                      <a:schemeClr val="tx1"/>
                    </a:solidFill>
                  </a:rPr>
                  <a:t> </a:t>
                </a: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𝑟</m:t>
                        </m:r>
                      </m:e>
                      <m:sub>
                        <m:r>
                          <a:rPr lang="en-US" altLang="zh-CN" sz="2400" i="1">
                            <a:solidFill>
                              <a:schemeClr val="tx1"/>
                            </a:solidFill>
                            <a:latin typeface="Cambria Math" panose="02040503050406030204" pitchFamily="18" charset="0"/>
                          </a:rPr>
                          <m:t>𝑛</m:t>
                        </m:r>
                      </m:sub>
                    </m:sSub>
                    <m:r>
                      <a:rPr lang="en-US" altLang="zh-CN" sz="2400" i="1">
                        <a:solidFill>
                          <a:schemeClr val="tx1"/>
                        </a:solidFill>
                        <a:latin typeface="Cambria Math" panose="02040503050406030204" pitchFamily="18" charset="0"/>
                        <a:ea typeface="Cambria Math" panose="02040503050406030204" pitchFamily="18" charset="0"/>
                      </a:rPr>
                      <m:t>→∞</m:t>
                    </m:r>
                    <m:r>
                      <m:rPr>
                        <m:nor/>
                      </m:rPr>
                      <a:rPr lang="zh-CN" altLang="en-US" sz="2400" dirty="0">
                        <a:solidFill>
                          <a:schemeClr val="tx1"/>
                        </a:solidFill>
                      </a:rPr>
                      <m:t>，</m:t>
                    </m:r>
                    <m:func>
                      <m:funcPr>
                        <m:ctrlPr>
                          <a:rPr lang="en-US" altLang="zh-CN" sz="2400" b="0" i="1" smtClean="0">
                            <a:solidFill>
                              <a:schemeClr val="tx1"/>
                            </a:solidFill>
                            <a:latin typeface="Cambria Math" panose="02040503050406030204" pitchFamily="18" charset="0"/>
                          </a:rPr>
                        </m:ctrlPr>
                      </m:funcPr>
                      <m:fName>
                        <m:limLow>
                          <m:limLowPr>
                            <m:ctrlPr>
                              <a:rPr lang="en-US" altLang="zh-CN" sz="2400" b="0" i="1" smtClean="0">
                                <a:solidFill>
                                  <a:schemeClr val="tx1"/>
                                </a:solidFill>
                                <a:latin typeface="Cambria Math" panose="02040503050406030204" pitchFamily="18" charset="0"/>
                              </a:rPr>
                            </m:ctrlPr>
                          </m:limLowPr>
                          <m:e>
                            <m:r>
                              <m:rPr>
                                <m:sty m:val="p"/>
                              </m:rPr>
                              <a:rPr lang="en-US" altLang="zh-CN" sz="2400" b="0" i="0" smtClean="0">
                                <a:solidFill>
                                  <a:schemeClr val="tx1"/>
                                </a:solidFill>
                                <a:latin typeface="Cambria Math" panose="02040503050406030204" pitchFamily="18" charset="0"/>
                              </a:rPr>
                              <m:t>lim</m:t>
                            </m:r>
                          </m:e>
                          <m:lim>
                            <m:r>
                              <a:rPr lang="en-US" altLang="zh-CN" sz="2400" b="0" i="1" smtClean="0">
                                <a:solidFill>
                                  <a:schemeClr val="tx1"/>
                                </a:solidFill>
                                <a:latin typeface="Cambria Math" panose="02040503050406030204" pitchFamily="18" charset="0"/>
                              </a:rPr>
                              <m:t>𝑛</m:t>
                            </m:r>
                            <m:r>
                              <a:rPr lang="en-US" altLang="zh-CN" sz="2400" b="0" i="1" smtClean="0">
                                <a:solidFill>
                                  <a:schemeClr val="tx1"/>
                                </a:solidFill>
                                <a:latin typeface="Cambria Math" panose="02040503050406030204" pitchFamily="18" charset="0"/>
                                <a:ea typeface="Cambria Math" panose="02040503050406030204" pitchFamily="18" charset="0"/>
                              </a:rPr>
                              <m:t>→∞</m:t>
                            </m:r>
                          </m:lim>
                        </m:limLow>
                      </m:fName>
                      <m:e>
                        <m:sSub>
                          <m:sSubPr>
                            <m:ctrlPr>
                              <a:rPr lang="en-US" altLang="zh-CN" sz="2400" b="0" i="1" smtClean="0">
                                <a:solidFill>
                                  <a:schemeClr val="tx1"/>
                                </a:solidFill>
                                <a:latin typeface="Cambria Math" panose="02040503050406030204" pitchFamily="18" charset="0"/>
                                <a:ea typeface="Cambria Math" panose="02040503050406030204" pitchFamily="18" charset="0"/>
                              </a:rPr>
                            </m:ctrlPr>
                          </m:sSubPr>
                          <m:e>
                            <m:r>
                              <a:rPr lang="en-US" altLang="zh-CN" sz="2400" b="0" i="1" smtClean="0">
                                <a:solidFill>
                                  <a:schemeClr val="tx1"/>
                                </a:solidFill>
                                <a:latin typeface="Cambria Math" panose="02040503050406030204" pitchFamily="18" charset="0"/>
                                <a:ea typeface="Cambria Math" panose="02040503050406030204" pitchFamily="18" charset="0"/>
                              </a:rPr>
                              <m:t>𝜈</m:t>
                            </m:r>
                          </m:e>
                          <m:sub>
                            <m:r>
                              <a:rPr lang="en-US" altLang="zh-CN" sz="2400" b="0" i="1" smtClean="0">
                                <a:solidFill>
                                  <a:schemeClr val="tx1"/>
                                </a:solidFill>
                                <a:latin typeface="Cambria Math" panose="02040503050406030204" pitchFamily="18" charset="0"/>
                                <a:ea typeface="Cambria Math" panose="02040503050406030204" pitchFamily="18" charset="0"/>
                              </a:rPr>
                              <m:t>𝑛</m:t>
                            </m:r>
                          </m:sub>
                        </m:sSub>
                      </m:e>
                    </m:func>
                    <m:r>
                      <a:rPr lang="en-US" altLang="zh-CN" sz="2400" b="0" i="1" smtClean="0">
                        <a:solidFill>
                          <a:schemeClr val="tx1"/>
                        </a:solidFill>
                        <a:latin typeface="Cambria Math" panose="02040503050406030204" pitchFamily="18" charset="0"/>
                      </a:rPr>
                      <m:t> =</m:t>
                    </m:r>
                    <m:r>
                      <a:rPr lang="en-US" altLang="zh-CN" sz="2400" b="0" i="1" smtClean="0">
                        <a:solidFill>
                          <a:schemeClr val="tx1"/>
                        </a:solidFill>
                        <a:latin typeface="Cambria Math" panose="02040503050406030204" pitchFamily="18" charset="0"/>
                      </a:rPr>
                      <m:t>𝑓</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𝑟</m:t>
                    </m:r>
                    <m:r>
                      <a:rPr lang="en-US" altLang="zh-CN" sz="2400" b="0" i="1" smtClean="0">
                        <a:solidFill>
                          <a:schemeClr val="tx1"/>
                        </a:solidFill>
                        <a:latin typeface="Cambria Math" panose="02040503050406030204" pitchFamily="18" charset="0"/>
                      </a:rPr>
                      <m:t>)</m:t>
                    </m:r>
                  </m:oMath>
                </a14:m>
                <a:endParaRPr lang="en-US" altLang="zh-CN" sz="2400" dirty="0">
                  <a:solidFill>
                    <a:schemeClr val="tx1"/>
                  </a:solidFill>
                </a:endParaRPr>
              </a:p>
              <a:p>
                <a:pPr marL="0" indent="0">
                  <a:lnSpc>
                    <a:spcPct val="120000"/>
                  </a:lnSpc>
                  <a:spcBef>
                    <a:spcPts val="1200"/>
                  </a:spcBef>
                  <a:buNone/>
                </a:pPr>
                <a:endParaRPr lang="zh-CN" altLang="en-US" sz="2400" dirty="0">
                  <a:solidFill>
                    <a:srgbClr val="C00000"/>
                  </a:solidFill>
                </a:endParaRPr>
              </a:p>
              <a:p>
                <a:pPr>
                  <a:lnSpc>
                    <a:spcPct val="120000"/>
                  </a:lnSpc>
                  <a:spcBef>
                    <a:spcPts val="1200"/>
                  </a:spcBef>
                </a:pPr>
                <a:endParaRPr lang="en-US" altLang="zh-CN" sz="2400"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20089" y="916971"/>
                <a:ext cx="10799465" cy="5530263"/>
              </a:xfrm>
              <a:blipFill>
                <a:blip r:embed="rId2"/>
                <a:stretch>
                  <a:fillRect l="-1129" t="-330" r="-2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035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08193" y="841088"/>
                <a:ext cx="10483228" cy="1815486"/>
              </a:xfrm>
            </p:spPr>
            <p:txBody>
              <a:bodyPr>
                <a:noAutofit/>
              </a:bodyPr>
              <a:lstStyle/>
              <a:p>
                <a:pPr marL="0" lvl="1" indent="0">
                  <a:lnSpc>
                    <a:spcPct val="160000"/>
                  </a:lnSpc>
                  <a:buNone/>
                </a:pPr>
                <a:r>
                  <a:rPr lang="en-US" altLang="zh-CN" sz="2000" dirty="0"/>
                  <a:t>Why the Rydberg const</a:t>
                </a:r>
                <a:r>
                  <a:rPr lang="zh-CN" altLang="en-US" sz="2000" dirty="0"/>
                  <a:t> </a:t>
                </a:r>
                <a:r>
                  <a:rPr lang="en-US" altLang="zh-CN" sz="2000" dirty="0"/>
                  <a:t>calculated using Bohr’s theory is 0.05% larger than the experimental value</a:t>
                </a:r>
                <a:r>
                  <a:rPr lang="zh-CN" altLang="en-US" sz="2000" dirty="0"/>
                  <a:t>？</a:t>
                </a:r>
                <a:endParaRPr lang="en-US" altLang="zh-CN" sz="2000" dirty="0"/>
              </a:p>
              <a:p>
                <a:pPr marL="457189" lvl="1" indent="0">
                  <a:lnSpc>
                    <a:spcPct val="160000"/>
                  </a:lnSpc>
                  <a:buNone/>
                </a:pPr>
                <a14:m>
                  <m:oMathPara xmlns:m="http://schemas.openxmlformats.org/officeDocument/2006/math">
                    <m:oMathParaPr>
                      <m:jc m:val="centerGroup"/>
                    </m:oMathParaPr>
                    <m:oMath xmlns:m="http://schemas.openxmlformats.org/officeDocument/2006/math">
                      <m:r>
                        <a:rPr lang="en-US" altLang="zh-CN" sz="2000" i="1">
                          <a:solidFill>
                            <a:srgbClr val="0070C0"/>
                          </a:solidFill>
                          <a:latin typeface="Cambria Math"/>
                        </a:rPr>
                        <m:t>𝑅</m:t>
                      </m:r>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rPr>
                          </m:ctrlPr>
                        </m:fPr>
                        <m:num>
                          <m:r>
                            <a:rPr lang="en-US" altLang="zh-CN" sz="2000" i="1">
                              <a:solidFill>
                                <a:srgbClr val="0070C0"/>
                              </a:solidFill>
                              <a:latin typeface="Cambria Math" panose="02040503050406030204" pitchFamily="18" charset="0"/>
                            </a:rPr>
                            <m:t>𝑚</m:t>
                          </m:r>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panose="02040503050406030204" pitchFamily="18" charset="0"/>
                                </a:rPr>
                                <m:t>𝛼</m:t>
                              </m:r>
                            </m:e>
                            <m:sup>
                              <m:r>
                                <a:rPr lang="en-US" altLang="zh-CN" sz="2000" i="1">
                                  <a:solidFill>
                                    <a:srgbClr val="0070C0"/>
                                  </a:solidFill>
                                  <a:latin typeface="Cambria Math" panose="02040503050406030204" pitchFamily="18" charset="0"/>
                                </a:rPr>
                                <m:t>2</m:t>
                              </m:r>
                            </m:sup>
                          </m:sSup>
                          <m:r>
                            <a:rPr lang="en-US" altLang="zh-CN" sz="2000" i="1">
                              <a:solidFill>
                                <a:srgbClr val="0070C0"/>
                              </a:solidFill>
                              <a:latin typeface="Cambria Math" panose="02040503050406030204" pitchFamily="18" charset="0"/>
                            </a:rPr>
                            <m:t>𝑐</m:t>
                          </m:r>
                        </m:num>
                        <m:den>
                          <m:r>
                            <a:rPr lang="en-US" altLang="zh-CN" sz="2000" i="1">
                              <a:solidFill>
                                <a:srgbClr val="0070C0"/>
                              </a:solidFill>
                              <a:latin typeface="Cambria Math" panose="02040503050406030204" pitchFamily="18" charset="0"/>
                            </a:rPr>
                            <m:t>4</m:t>
                          </m:r>
                          <m:r>
                            <a:rPr lang="en-US" altLang="zh-CN" sz="2000" i="1">
                              <a:solidFill>
                                <a:srgbClr val="0070C0"/>
                              </a:solidFill>
                              <a:latin typeface="Cambria Math" panose="02040503050406030204" pitchFamily="18" charset="0"/>
                            </a:rPr>
                            <m:t>𝜋</m:t>
                          </m:r>
                          <m:r>
                            <a:rPr lang="en-US" altLang="zh-CN" sz="2000" i="1">
                              <a:solidFill>
                                <a:srgbClr val="0070C0"/>
                              </a:solidFill>
                              <a:latin typeface="Cambria Math" panose="02040503050406030204" pitchFamily="18" charset="0"/>
                            </a:rPr>
                            <m:t>ℏ</m:t>
                          </m:r>
                        </m:den>
                      </m:f>
                    </m:oMath>
                  </m:oMathPara>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08193" y="841088"/>
                <a:ext cx="10483228" cy="1815486"/>
              </a:xfrm>
              <a:blipFill>
                <a:blip r:embed="rId2"/>
                <a:stretch>
                  <a:fillRect l="-640" r="-3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12E26DB-8C8D-4FEE-A7BF-5AA9B64BF924}"/>
                  </a:ext>
                </a:extLst>
              </p:cNvPr>
              <p:cNvSpPr txBox="1"/>
              <p:nvPr/>
            </p:nvSpPr>
            <p:spPr>
              <a:xfrm>
                <a:off x="1062275" y="2810576"/>
                <a:ext cx="10329146" cy="2917722"/>
              </a:xfrm>
              <a:prstGeom prst="rect">
                <a:avLst/>
              </a:prstGeom>
              <a:noFill/>
            </p:spPr>
            <p:txBody>
              <a:bodyPr wrap="square">
                <a:spAutoFit/>
              </a:bodyPr>
              <a:lstStyle/>
              <a:p>
                <a:pPr marL="0" lvl="1" indent="0">
                  <a:lnSpc>
                    <a:spcPct val="160000"/>
                  </a:lnSpc>
                  <a:buNone/>
                </a:pPr>
                <a:r>
                  <a:rPr lang="en-US" altLang="zh-CN" sz="1800" b="0" i="0" dirty="0">
                    <a:latin typeface="Cambria Math" panose="02040503050406030204" pitchFamily="18" charset="0"/>
                  </a:rPr>
                  <a:t>Because the mass of the hydrogen nucleus is finite.  The </a:t>
                </a:r>
                <a14:m>
                  <m:oMath xmlns:m="http://schemas.openxmlformats.org/officeDocument/2006/math">
                    <m:r>
                      <a:rPr lang="en-US" altLang="zh-CN" i="1" dirty="0">
                        <a:latin typeface="Cambria Math" panose="02040503050406030204" pitchFamily="18" charset="0"/>
                      </a:rPr>
                      <m:t>𝑚</m:t>
                    </m:r>
                  </m:oMath>
                </a14:m>
                <a:r>
                  <a:rPr lang="en-US" altLang="zh-CN" sz="1800" b="0" i="0" dirty="0">
                    <a:latin typeface="Cambria Math" panose="02040503050406030204" pitchFamily="18" charset="0"/>
                  </a:rPr>
                  <a:t> should </a:t>
                </a:r>
                <a:r>
                  <a:rPr lang="en-US" altLang="zh-CN" dirty="0">
                    <a:latin typeface="Cambria Math" panose="02040503050406030204" pitchFamily="18" charset="0"/>
                  </a:rPr>
                  <a:t>be replaced by the</a:t>
                </a:r>
                <a:r>
                  <a:rPr lang="en-US" altLang="zh-CN" sz="1800" b="0" i="0" dirty="0">
                    <a:latin typeface="Cambria Math" panose="02040503050406030204" pitchFamily="18" charset="0"/>
                  </a:rPr>
                  <a:t> reduced mass</a:t>
                </a:r>
                <a14:m>
                  <m:oMath xmlns:m="http://schemas.openxmlformats.org/officeDocument/2006/math">
                    <m:r>
                      <a:rPr lang="zh-CN" altLang="en-US" sz="1800" i="1">
                        <a:latin typeface="Cambria Math" panose="02040503050406030204" pitchFamily="18" charset="0"/>
                      </a:rPr>
                      <m:t>：</m:t>
                    </m:r>
                    <m:r>
                      <a:rPr lang="en-US" altLang="zh-CN" sz="1800" i="1">
                        <a:latin typeface="Cambria Math" panose="02040503050406030204" pitchFamily="18" charset="0"/>
                      </a:rPr>
                      <m:t> </m:t>
                    </m:r>
                    <m:sSub>
                      <m:sSubPr>
                        <m:ctrlPr>
                          <a:rPr lang="en-US" altLang="zh-CN" sz="1800" i="1">
                            <a:latin typeface="Cambria Math" panose="02040503050406030204" pitchFamily="18" charset="0"/>
                          </a:rPr>
                        </m:ctrlPr>
                      </m:sSubPr>
                      <m:e>
                        <m:r>
                          <a:rPr lang="en-US" altLang="zh-CN" sz="1800" i="1">
                            <a:latin typeface="Cambria Math"/>
                          </a:rPr>
                          <m:t>𝑚</m:t>
                        </m:r>
                      </m:e>
                      <m:sub>
                        <m:r>
                          <a:rPr lang="en-US" altLang="zh-CN" sz="1800" i="1">
                            <a:latin typeface="Cambria Math"/>
                          </a:rPr>
                          <m:t>𝜇</m:t>
                        </m:r>
                      </m:sub>
                    </m:sSub>
                    <m:r>
                      <a:rPr lang="en-US" altLang="zh-CN" sz="1800" i="1">
                        <a:latin typeface="Cambria Math"/>
                      </a:rPr>
                      <m:t>=</m:t>
                    </m:r>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a:rPr>
                              <m:t>𝑚</m:t>
                            </m:r>
                          </m:e>
                          <m:sub>
                            <m:r>
                              <a:rPr lang="en-US" altLang="zh-CN" sz="1800" i="1">
                                <a:latin typeface="Cambria Math"/>
                              </a:rPr>
                              <m:t>𝐻</m:t>
                            </m:r>
                          </m:sub>
                        </m:sSub>
                      </m:num>
                      <m:den>
                        <m:r>
                          <a:rPr lang="en-US" altLang="zh-CN" sz="1800" b="0" i="1" smtClean="0">
                            <a:latin typeface="Cambria Math" panose="02040503050406030204" pitchFamily="18" charset="0"/>
                          </a:rPr>
                          <m:t>𝑚</m:t>
                        </m:r>
                        <m:r>
                          <a:rPr lang="en-US" altLang="zh-CN" sz="1800" i="1">
                            <a:latin typeface="Cambria Math"/>
                          </a:rPr>
                          <m:t>+</m:t>
                        </m:r>
                        <m:sSub>
                          <m:sSubPr>
                            <m:ctrlPr>
                              <a:rPr lang="en-US" altLang="zh-CN" sz="1800" i="1">
                                <a:latin typeface="Cambria Math" panose="02040503050406030204" pitchFamily="18" charset="0"/>
                              </a:rPr>
                            </m:ctrlPr>
                          </m:sSubPr>
                          <m:e>
                            <m:r>
                              <a:rPr lang="en-US" altLang="zh-CN" sz="1800" i="1">
                                <a:latin typeface="Cambria Math"/>
                              </a:rPr>
                              <m:t>𝑚</m:t>
                            </m:r>
                          </m:e>
                          <m:sub>
                            <m:r>
                              <a:rPr lang="en-US" altLang="zh-CN" sz="1800" i="1" smtClean="0">
                                <a:latin typeface="Cambria Math"/>
                              </a:rPr>
                              <m:t>𝐻</m:t>
                            </m:r>
                          </m:sub>
                        </m:sSub>
                      </m:den>
                    </m:f>
                    <m:r>
                      <a:rPr lang="en-US" altLang="zh-CN" sz="1800" b="0" i="1" smtClean="0">
                        <a:latin typeface="Cambria Math" panose="02040503050406030204" pitchFamily="18" charset="0"/>
                      </a:rPr>
                      <m:t>𝑚</m:t>
                    </m:r>
                    <m:r>
                      <a:rPr lang="en-US" altLang="zh-CN" sz="1800" i="1">
                        <a:latin typeface="Cambria Math" panose="02040503050406030204" pitchFamily="18" charset="0"/>
                      </a:rPr>
                      <m:t>,</m:t>
                    </m:r>
                    <m:r>
                      <a:rPr lang="en-US" altLang="zh-CN" sz="1800" b="0" i="1" smtClean="0">
                        <a:latin typeface="Cambria Math" panose="02040503050406030204" pitchFamily="18" charset="0"/>
                      </a:rPr>
                      <m:t> </m:t>
                    </m:r>
                    <m:r>
                      <m:rPr>
                        <m:sty m:val="p"/>
                      </m:rPr>
                      <a:rPr lang="en-US" altLang="zh-CN" sz="1800" b="0" i="0" smtClean="0">
                        <a:latin typeface="Cambria Math" panose="02040503050406030204" pitchFamily="18" charset="0"/>
                      </a:rPr>
                      <m:t>where</m:t>
                    </m:r>
                    <m:r>
                      <a:rPr lang="en-US" altLang="zh-CN" sz="1800" b="0" i="1" smtClean="0">
                        <a:latin typeface="Cambria Math" panose="02040503050406030204" pitchFamily="18" charset="0"/>
                      </a:rPr>
                      <m:t> </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𝑚</m:t>
                        </m:r>
                        <m:r>
                          <a:rPr lang="en-US" altLang="zh-CN" sz="1800" b="0" i="1" smtClean="0">
                            <a:latin typeface="Cambria Math" panose="02040503050406030204" pitchFamily="18" charset="0"/>
                          </a:rPr>
                          <m:t>, </m:t>
                        </m:r>
                        <m:r>
                          <a:rPr lang="en-US" altLang="zh-CN" sz="1800" i="1">
                            <a:latin typeface="Cambria Math"/>
                          </a:rPr>
                          <m:t>𝑚</m:t>
                        </m:r>
                      </m:e>
                      <m:sub>
                        <m:r>
                          <a:rPr lang="en-US" altLang="zh-CN" sz="1800" i="1">
                            <a:latin typeface="Cambria Math"/>
                          </a:rPr>
                          <m:t>𝐻</m:t>
                        </m:r>
                      </m:sub>
                    </m:sSub>
                    <m:r>
                      <a:rPr lang="en-US" altLang="zh-CN" sz="1800" b="0" i="1" smtClean="0">
                        <a:latin typeface="Cambria Math" panose="02040503050406030204" pitchFamily="18" charset="0"/>
                      </a:rPr>
                      <m:t> </m:t>
                    </m:r>
                    <m:r>
                      <m:rPr>
                        <m:sty m:val="p"/>
                      </m:rPr>
                      <a:rPr lang="en-US" altLang="zh-CN" sz="1800" b="0" i="0" smtClean="0">
                        <a:latin typeface="Cambria Math" panose="02040503050406030204" pitchFamily="18" charset="0"/>
                      </a:rPr>
                      <m:t>are</m:t>
                    </m:r>
                    <m:r>
                      <a:rPr lang="en-US" altLang="zh-CN" sz="1800" b="0" i="0" smtClean="0">
                        <a:latin typeface="Cambria Math" panose="02040503050406030204" pitchFamily="18" charset="0"/>
                      </a:rPr>
                      <m:t> </m:t>
                    </m:r>
                    <m:r>
                      <m:rPr>
                        <m:sty m:val="p"/>
                      </m:rPr>
                      <a:rPr lang="en-US" altLang="zh-CN" sz="1800" b="0" i="0" smtClean="0">
                        <a:latin typeface="Cambria Math" panose="02040503050406030204" pitchFamily="18" charset="0"/>
                      </a:rPr>
                      <m:t>the</m:t>
                    </m:r>
                    <m:r>
                      <a:rPr lang="en-US" altLang="zh-CN" sz="1800" b="0" i="0" smtClean="0">
                        <a:latin typeface="Cambria Math" panose="02040503050406030204" pitchFamily="18" charset="0"/>
                      </a:rPr>
                      <m:t> </m:t>
                    </m:r>
                    <m:r>
                      <m:rPr>
                        <m:sty m:val="p"/>
                      </m:rPr>
                      <a:rPr lang="en-US" altLang="zh-CN" sz="1800" b="0" i="0" smtClean="0">
                        <a:latin typeface="Cambria Math" panose="02040503050406030204" pitchFamily="18" charset="0"/>
                      </a:rPr>
                      <m:t>electron</m:t>
                    </m:r>
                    <m:r>
                      <a:rPr lang="en-US" altLang="zh-CN" sz="1800" b="0" i="0" smtClean="0">
                        <a:latin typeface="Cambria Math" panose="02040503050406030204" pitchFamily="18" charset="0"/>
                      </a:rPr>
                      <m:t> </m:t>
                    </m:r>
                    <m:r>
                      <m:rPr>
                        <m:sty m:val="p"/>
                      </m:rPr>
                      <a:rPr lang="en-US" altLang="zh-CN" sz="1800" b="0" i="0" smtClean="0">
                        <a:latin typeface="Cambria Math" panose="02040503050406030204" pitchFamily="18" charset="0"/>
                      </a:rPr>
                      <m:t>and</m:t>
                    </m:r>
                    <m:r>
                      <a:rPr lang="en-US" altLang="zh-CN" sz="1800" b="0" i="0" smtClean="0">
                        <a:latin typeface="Cambria Math" panose="02040503050406030204" pitchFamily="18" charset="0"/>
                      </a:rPr>
                      <m:t> </m:t>
                    </m:r>
                    <m:r>
                      <m:rPr>
                        <m:sty m:val="p"/>
                      </m:rPr>
                      <a:rPr lang="en-US" altLang="zh-CN" sz="1800" b="0" i="0" smtClean="0">
                        <a:latin typeface="Cambria Math" panose="02040503050406030204" pitchFamily="18" charset="0"/>
                      </a:rPr>
                      <m:t>proton</m:t>
                    </m:r>
                    <m:r>
                      <a:rPr lang="en-US" altLang="zh-CN" sz="1800" b="0" i="0" smtClean="0">
                        <a:latin typeface="Cambria Math" panose="02040503050406030204" pitchFamily="18" charset="0"/>
                      </a:rPr>
                      <m:t> </m:t>
                    </m:r>
                    <m:r>
                      <m:rPr>
                        <m:sty m:val="p"/>
                      </m:rPr>
                      <a:rPr lang="en-US" altLang="zh-CN" sz="1800" b="0" i="0" smtClean="0">
                        <a:latin typeface="Cambria Math" panose="02040503050406030204" pitchFamily="18" charset="0"/>
                      </a:rPr>
                      <m:t>mass</m:t>
                    </m:r>
                    <m:r>
                      <a:rPr lang="en-US" altLang="zh-CN" sz="1800" b="0" i="0" smtClean="0">
                        <a:latin typeface="Cambria Math" panose="02040503050406030204" pitchFamily="18" charset="0"/>
                      </a:rPr>
                      <m:t>, </m:t>
                    </m:r>
                    <m:r>
                      <m:rPr>
                        <m:sty m:val="p"/>
                      </m:rPr>
                      <a:rPr lang="en-US" altLang="zh-CN" sz="1800" b="0" i="0" smtClean="0">
                        <a:latin typeface="Cambria Math" panose="02040503050406030204" pitchFamily="18" charset="0"/>
                      </a:rPr>
                      <m:t>respectively</m:t>
                    </m:r>
                    <m:r>
                      <a:rPr lang="en-US" altLang="zh-CN" sz="1800" b="0" i="0" smtClean="0">
                        <a:latin typeface="Cambria Math" panose="02040503050406030204" pitchFamily="18" charset="0"/>
                      </a:rPr>
                      <m:t>.</m:t>
                    </m:r>
                  </m:oMath>
                </a14:m>
                <a:br>
                  <a:rPr lang="en-US" altLang="zh-CN" sz="1800" dirty="0">
                    <a:ea typeface="黑体" panose="02010609060101010101" pitchFamily="49" charset="-122"/>
                  </a:rPr>
                </a:b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𝑅</m:t>
                          </m:r>
                        </m:e>
                        <m:sub>
                          <m:r>
                            <a:rPr lang="en-US" altLang="zh-CN" sz="1800" i="1">
                              <a:latin typeface="Cambria Math"/>
                            </a:rPr>
                            <m:t>𝐻</m:t>
                          </m:r>
                        </m:sub>
                      </m:sSub>
                      <m:r>
                        <a:rPr lang="en-US" altLang="zh-CN" sz="1800" i="1">
                          <a:latin typeface="Cambria Math"/>
                        </a:rPr>
                        <m:t>=</m:t>
                      </m:r>
                      <m:r>
                        <a:rPr lang="en-US" altLang="zh-CN" sz="1800" i="1">
                          <a:latin typeface="Cambria Math"/>
                        </a:rPr>
                        <m:t>𝑅</m:t>
                      </m:r>
                      <m:d>
                        <m:dPr>
                          <m:ctrlPr>
                            <a:rPr lang="en-US" altLang="zh-CN" sz="1800" i="1">
                              <a:latin typeface="Cambria Math" panose="02040503050406030204" pitchFamily="18" charset="0"/>
                            </a:rPr>
                          </m:ctrlPr>
                        </m:dPr>
                        <m:e>
                          <m:r>
                            <a:rPr lang="en-US" altLang="zh-CN" sz="1800" b="0" i="1" smtClean="0">
                              <a:latin typeface="Cambria Math" panose="02040503050406030204" pitchFamily="18" charset="0"/>
                            </a:rPr>
                            <m:t>𝑚</m:t>
                          </m:r>
                          <m:r>
                            <a:rPr lang="en-US" altLang="zh-CN" sz="1800" i="1">
                              <a:latin typeface="Cambria Math"/>
                            </a:rPr>
                            <m:t>→</m:t>
                          </m:r>
                          <m:sSub>
                            <m:sSubPr>
                              <m:ctrlPr>
                                <a:rPr lang="en-US" altLang="zh-CN" sz="1800" i="1">
                                  <a:latin typeface="Cambria Math" panose="02040503050406030204" pitchFamily="18" charset="0"/>
                                </a:rPr>
                              </m:ctrlPr>
                            </m:sSubPr>
                            <m:e>
                              <m:r>
                                <a:rPr lang="en-US" altLang="zh-CN" sz="1800" i="1">
                                  <a:latin typeface="Cambria Math"/>
                                </a:rPr>
                                <m:t>𝑚</m:t>
                              </m:r>
                            </m:e>
                            <m:sub>
                              <m:r>
                                <a:rPr lang="en-US" altLang="zh-CN" sz="1800" i="1">
                                  <a:latin typeface="Cambria Math"/>
                                </a:rPr>
                                <m:t>𝜇</m:t>
                              </m:r>
                            </m:sub>
                          </m:sSub>
                        </m:e>
                      </m:d>
                      <m:r>
                        <a:rPr lang="en-US" altLang="zh-CN" sz="1800" i="1">
                          <a:latin typeface="Cambria Math"/>
                        </a:rPr>
                        <m:t>=</m:t>
                      </m:r>
                      <m:r>
                        <a:rPr lang="en-US" altLang="zh-CN" sz="1800" i="1">
                          <a:latin typeface="Cambria Math"/>
                        </a:rPr>
                        <m:t>𝑅</m:t>
                      </m:r>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a:rPr>
                                <m:t>𝑚</m:t>
                              </m:r>
                            </m:e>
                            <m:sub>
                              <m:r>
                                <a:rPr lang="en-US" altLang="zh-CN" sz="1800" i="1">
                                  <a:latin typeface="Cambria Math"/>
                                </a:rPr>
                                <m:t>𝐻</m:t>
                              </m:r>
                            </m:sub>
                          </m:sSub>
                        </m:num>
                        <m:den>
                          <m:sSub>
                            <m:sSubPr>
                              <m:ctrlPr>
                                <a:rPr lang="en-US" altLang="zh-CN" sz="1800" i="1">
                                  <a:latin typeface="Cambria Math" panose="02040503050406030204" pitchFamily="18" charset="0"/>
                                </a:rPr>
                              </m:ctrlPr>
                            </m:sSubPr>
                            <m:e>
                              <m:r>
                                <a:rPr lang="en-US" altLang="zh-CN" sz="1800" i="1">
                                  <a:latin typeface="Cambria Math"/>
                                </a:rPr>
                                <m:t>𝑚</m:t>
                              </m:r>
                            </m:e>
                            <m:sub>
                              <m:r>
                                <a:rPr lang="en-US" altLang="zh-CN" sz="1800" i="1">
                                  <a:latin typeface="Cambria Math"/>
                                </a:rPr>
                                <m:t>𝐻</m:t>
                              </m:r>
                            </m:sub>
                          </m:sSub>
                          <m:r>
                            <a:rPr lang="en-US" altLang="zh-CN" sz="1800" i="1">
                              <a:latin typeface="Cambria Math"/>
                            </a:rPr>
                            <m:t>+</m:t>
                          </m:r>
                          <m:r>
                            <a:rPr lang="en-US" altLang="zh-CN" sz="1800" b="0" i="1" smtClean="0">
                              <a:latin typeface="Cambria Math" panose="02040503050406030204" pitchFamily="18" charset="0"/>
                            </a:rPr>
                            <m:t>𝑚</m:t>
                          </m:r>
                        </m:den>
                      </m:f>
                    </m:oMath>
                  </m:oMathPara>
                </a14:m>
                <a:endParaRPr lang="en-US" dirty="0"/>
              </a:p>
              <a:p>
                <a:pPr marL="0" lvl="1" indent="0">
                  <a:lnSpc>
                    <a:spcPct val="16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𝐻</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𝐻</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𝐻</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1836</m:t>
                          </m:r>
                        </m:den>
                      </m:f>
                      <m:r>
                        <a:rPr lang="en-US" b="0" i="1" smtClean="0">
                          <a:latin typeface="Cambria Math" panose="02040503050406030204" pitchFamily="18" charset="0"/>
                        </a:rPr>
                        <m:t>~0.0005</m:t>
                      </m:r>
                    </m:oMath>
                  </m:oMathPara>
                </a14:m>
                <a:endParaRPr lang="en-US" dirty="0"/>
              </a:p>
            </p:txBody>
          </p:sp>
        </mc:Choice>
        <mc:Fallback xmlns="">
          <p:sp>
            <p:nvSpPr>
              <p:cNvPr id="6" name="TextBox 5">
                <a:extLst>
                  <a:ext uri="{FF2B5EF4-FFF2-40B4-BE49-F238E27FC236}">
                    <a16:creationId xmlns:a16="http://schemas.microsoft.com/office/drawing/2014/main" id="{312E26DB-8C8D-4FEE-A7BF-5AA9B64BF924}"/>
                  </a:ext>
                </a:extLst>
              </p:cNvPr>
              <p:cNvSpPr txBox="1">
                <a:spLocks noRot="1" noChangeAspect="1" noMove="1" noResize="1" noEditPoints="1" noAdjustHandles="1" noChangeArrowheads="1" noChangeShapeType="1" noTextEdit="1"/>
              </p:cNvSpPr>
              <p:nvPr/>
            </p:nvSpPr>
            <p:spPr>
              <a:xfrm>
                <a:off x="1062275" y="2810576"/>
                <a:ext cx="10329146" cy="2917722"/>
              </a:xfrm>
              <a:prstGeom prst="rect">
                <a:avLst/>
              </a:prstGeom>
              <a:blipFill>
                <a:blip r:embed="rId3"/>
                <a:stretch>
                  <a:fillRect l="-472"/>
                </a:stretch>
              </a:blipFill>
            </p:spPr>
            <p:txBody>
              <a:bodyPr/>
              <a:lstStyle/>
              <a:p>
                <a:r>
                  <a:rPr lang="en-US">
                    <a:noFill/>
                  </a:rPr>
                  <a:t> </a:t>
                </a:r>
              </a:p>
            </p:txBody>
          </p:sp>
        </mc:Fallback>
      </mc:AlternateContent>
    </p:spTree>
    <p:extLst>
      <p:ext uri="{BB962C8B-B14F-4D97-AF65-F5344CB8AC3E}">
        <p14:creationId xmlns:p14="http://schemas.microsoft.com/office/powerpoint/2010/main" val="192138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8351DD-E64A-423B-93D3-E8E2226A5DBE}"/>
              </a:ext>
            </a:extLst>
          </p:cNvPr>
          <p:cNvSpPr>
            <a:spLocks noGrp="1"/>
          </p:cNvSpPr>
          <p:nvPr>
            <p:ph idx="1"/>
          </p:nvPr>
        </p:nvSpPr>
        <p:spPr>
          <a:xfrm>
            <a:off x="1568604" y="908720"/>
            <a:ext cx="8757425" cy="5616624"/>
          </a:xfrm>
        </p:spPr>
        <p:txBody>
          <a:bodyPr>
            <a:normAutofit/>
          </a:bodyPr>
          <a:lstStyle/>
          <a:p>
            <a:pPr marL="0" indent="0">
              <a:buNone/>
            </a:pPr>
            <a:r>
              <a:rPr lang="en-US" sz="4000" dirty="0"/>
              <a:t>An electron in a circular orbit must emit radiation!</a:t>
            </a:r>
          </a:p>
          <a:p>
            <a:pPr marL="0" indent="0" algn="r">
              <a:buNone/>
            </a:pPr>
            <a:r>
              <a:rPr lang="en-US" altLang="zh-CN" sz="4000" dirty="0"/>
              <a:t>— Max von Laue</a:t>
            </a:r>
            <a:endParaRPr lang="en-US" sz="4000" dirty="0"/>
          </a:p>
          <a:p>
            <a:pPr marL="0" indent="0">
              <a:buNone/>
            </a:pPr>
            <a:endParaRPr lang="en-US" sz="4000" dirty="0"/>
          </a:p>
          <a:p>
            <a:pPr marL="0" indent="0">
              <a:buNone/>
            </a:pPr>
            <a:r>
              <a:rPr lang="en-US" sz="4000" dirty="0"/>
              <a:t>If this is the way to reach the goal, I must give up doing physics.</a:t>
            </a:r>
          </a:p>
          <a:p>
            <a:pPr marL="0" indent="0" algn="r">
              <a:buNone/>
            </a:pPr>
            <a:r>
              <a:rPr lang="en-US" altLang="zh-CN" sz="4000" dirty="0"/>
              <a:t>— Paul </a:t>
            </a:r>
            <a:r>
              <a:rPr lang="en-US" altLang="zh-CN" sz="4000" dirty="0" err="1"/>
              <a:t>Ehrenfest</a:t>
            </a:r>
            <a:endParaRPr lang="en-US" sz="4000" dirty="0"/>
          </a:p>
        </p:txBody>
      </p:sp>
    </p:spTree>
    <p:extLst>
      <p:ext uri="{BB962C8B-B14F-4D97-AF65-F5344CB8AC3E}">
        <p14:creationId xmlns:p14="http://schemas.microsoft.com/office/powerpoint/2010/main" val="1741652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5E83D6-C730-4B2B-8AE9-D45D1E4BD03B}"/>
              </a:ext>
            </a:extLst>
          </p:cNvPr>
          <p:cNvPicPr>
            <a:picLocks noChangeAspect="1"/>
          </p:cNvPicPr>
          <p:nvPr/>
        </p:nvPicPr>
        <p:blipFill>
          <a:blip r:embed="rId2"/>
          <a:stretch>
            <a:fillRect/>
          </a:stretch>
        </p:blipFill>
        <p:spPr>
          <a:xfrm>
            <a:off x="6945137" y="3698507"/>
            <a:ext cx="4282733" cy="2770914"/>
          </a:xfrm>
          <a:prstGeom prst="rect">
            <a:avLst/>
          </a:prstGeom>
        </p:spPr>
      </p:pic>
      <p:sp>
        <p:nvSpPr>
          <p:cNvPr id="2" name="Title 1">
            <a:extLst>
              <a:ext uri="{FF2B5EF4-FFF2-40B4-BE49-F238E27FC236}">
                <a16:creationId xmlns:a16="http://schemas.microsoft.com/office/drawing/2014/main" id="{D39438FB-956B-4C1E-887F-DA24BCB0C28C}"/>
              </a:ext>
            </a:extLst>
          </p:cNvPr>
          <p:cNvSpPr>
            <a:spLocks noGrp="1"/>
          </p:cNvSpPr>
          <p:nvPr>
            <p:ph type="title"/>
          </p:nvPr>
        </p:nvSpPr>
        <p:spPr/>
        <p:txBody>
          <a:bodyPr/>
          <a:lstStyle/>
          <a:p>
            <a:r>
              <a:rPr lang="en-US" altLang="zh-CN" dirty="0"/>
              <a:t>Further successes of Bohr’s Model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0EC8A-929E-42AB-B12D-CE8EC95CEA05}"/>
                  </a:ext>
                </a:extLst>
              </p:cNvPr>
              <p:cNvSpPr>
                <a:spLocks noGrp="1"/>
              </p:cNvSpPr>
              <p:nvPr>
                <p:ph idx="1"/>
              </p:nvPr>
            </p:nvSpPr>
            <p:spPr>
              <a:xfrm>
                <a:off x="609600" y="908720"/>
                <a:ext cx="8125326" cy="5616624"/>
              </a:xfrm>
            </p:spPr>
            <p:txBody>
              <a:bodyPr>
                <a:normAutofit/>
              </a:bodyPr>
              <a:lstStyle/>
              <a:p>
                <a:r>
                  <a:rPr lang="en-US" altLang="zh-CN" sz="2400" dirty="0"/>
                  <a:t>Explained the He+ spectral lines in the solar radiation</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i="1" smtClean="0">
                          <a:solidFill>
                            <a:srgbClr val="0070C0"/>
                          </a:solidFill>
                          <a:latin typeface="Cambria Math" panose="02040503050406030204" pitchFamily="18" charset="0"/>
                        </a:rPr>
                        <m:t>𝛼</m:t>
                      </m:r>
                      <m:r>
                        <a:rPr lang="en-US" altLang="zh-CN" sz="2400" b="0" i="1" smtClean="0">
                          <a:solidFill>
                            <a:srgbClr val="0070C0"/>
                          </a:solidFill>
                          <a:latin typeface="Cambria Math" panose="02040503050406030204" pitchFamily="18" charset="0"/>
                        </a:rPr>
                        <m:t>=</m:t>
                      </m:r>
                      <m:f>
                        <m:fPr>
                          <m:ctrlPr>
                            <a:rPr lang="en-US" altLang="zh-CN" sz="2400" b="0" i="1" smtClean="0">
                              <a:solidFill>
                                <a:srgbClr val="0070C0"/>
                              </a:solidFill>
                              <a:latin typeface="Cambria Math" panose="02040503050406030204" pitchFamily="18" charset="0"/>
                            </a:rPr>
                          </m:ctrlPr>
                        </m:fPr>
                        <m:num>
                          <m:sSup>
                            <m:sSupPr>
                              <m:ctrlPr>
                                <a:rPr lang="en-US" altLang="zh-CN" sz="2400" b="0" i="1" smtClean="0">
                                  <a:solidFill>
                                    <a:srgbClr val="0070C0"/>
                                  </a:solidFill>
                                  <a:latin typeface="Cambria Math" panose="02040503050406030204" pitchFamily="18" charset="0"/>
                                </a:rPr>
                              </m:ctrlPr>
                            </m:sSupPr>
                            <m:e>
                              <m:r>
                                <a:rPr lang="en-US" altLang="zh-CN" sz="2400" b="0" i="1" smtClean="0">
                                  <a:solidFill>
                                    <a:srgbClr val="0070C0"/>
                                  </a:solidFill>
                                  <a:latin typeface="Cambria Math" panose="02040503050406030204" pitchFamily="18" charset="0"/>
                                </a:rPr>
                                <m:t>𝑒</m:t>
                              </m:r>
                            </m:e>
                            <m:sup>
                              <m:r>
                                <a:rPr lang="en-US" altLang="zh-CN" sz="2400" b="0" i="1" smtClean="0">
                                  <a:solidFill>
                                    <a:srgbClr val="0070C0"/>
                                  </a:solidFill>
                                  <a:latin typeface="Cambria Math" panose="02040503050406030204" pitchFamily="18" charset="0"/>
                                </a:rPr>
                                <m:t>2</m:t>
                              </m:r>
                            </m:sup>
                          </m:sSup>
                        </m:num>
                        <m:den>
                          <m:r>
                            <a:rPr lang="en-US" altLang="zh-CN" sz="2400" b="0" i="1" smtClean="0">
                              <a:solidFill>
                                <a:srgbClr val="0070C0"/>
                              </a:solidFill>
                              <a:latin typeface="Cambria Math" panose="02040503050406030204" pitchFamily="18" charset="0"/>
                            </a:rPr>
                            <m:t>h𝑐</m:t>
                          </m:r>
                        </m:den>
                      </m:f>
                      <m:r>
                        <a:rPr lang="en-US" altLang="zh-CN" sz="2400" b="0" i="0" smtClean="0">
                          <a:solidFill>
                            <a:srgbClr val="0070C0"/>
                          </a:solidFill>
                          <a:latin typeface="Cambria Math" panose="02040503050406030204" pitchFamily="18" charset="0"/>
                        </a:rPr>
                        <m:t>, </m:t>
                      </m:r>
                      <m:r>
                        <a:rPr lang="en-US" altLang="zh-CN" sz="2400" b="0" i="1" smtClean="0">
                          <a:solidFill>
                            <a:srgbClr val="0070C0"/>
                          </a:solidFill>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i="1">
                              <a:latin typeface="Cambria Math" panose="02040503050406030204" pitchFamily="18" charset="0"/>
                            </a:rPr>
                            <m:t>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𝑍</m:t>
                      </m:r>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𝑚</m:t>
                      </m:r>
                      <m:sSup>
                        <m:sSupPr>
                          <m:ctrlPr>
                            <a:rPr lang="en-US" sz="2400" i="1">
                              <a:latin typeface="Cambria Math" panose="02040503050406030204" pitchFamily="18" charset="0"/>
                            </a:rPr>
                          </m:ctrlPr>
                        </m:sSup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𝑍</m:t>
                              </m:r>
                            </m:e>
                            <m:sup>
                              <m:r>
                                <a:rPr lang="en-US" sz="2400" b="0" i="1" smtClean="0">
                                  <a:latin typeface="Cambria Math" panose="02040503050406030204" pitchFamily="18" charset="0"/>
                                </a:rPr>
                                <m:t>2</m:t>
                              </m:r>
                            </m:sup>
                          </m:sSup>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𝛼</m:t>
                                  </m:r>
                                  <m:r>
                                    <a:rPr lang="en-US" sz="2400" i="1">
                                      <a:latin typeface="Cambria Math" panose="02040503050406030204" pitchFamily="18" charset="0"/>
                                    </a:rPr>
                                    <m:t>𝑐</m:t>
                                  </m:r>
                                </m:num>
                                <m:den>
                                  <m:r>
                                    <a:rPr lang="en-US" sz="2400" i="1">
                                      <a:latin typeface="Cambria Math" panose="02040503050406030204" pitchFamily="18" charset="0"/>
                                    </a:rPr>
                                    <m:t>𝑛</m:t>
                                  </m:r>
                                </m:den>
                              </m:f>
                            </m:e>
                          </m:d>
                        </m:e>
                        <m:sup>
                          <m:r>
                            <a:rPr lang="en-US" sz="2400" i="1">
                              <a:latin typeface="Cambria Math" panose="02040503050406030204" pitchFamily="18" charset="0"/>
                            </a:rPr>
                            <m:t>2</m:t>
                          </m:r>
                        </m:sup>
                      </m:sSup>
                    </m:oMath>
                  </m:oMathPara>
                </a14:m>
                <a:endParaRPr lang="en-US" sz="2400"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i="1">
                          <a:latin typeface="Cambria Math"/>
                        </a:rPr>
                        <m:t>h</m:t>
                      </m:r>
                      <m:r>
                        <a:rPr lang="en-US" altLang="zh-CN" sz="2400" i="1">
                          <a:latin typeface="Cambria Math"/>
                        </a:rPr>
                        <m:t>𝜈</m:t>
                      </m:r>
                      <m:r>
                        <a:rPr lang="en-US" altLang="zh-CN" sz="2400" i="1">
                          <a:latin typeface="Cambria Math"/>
                        </a:rPr>
                        <m:t>=</m:t>
                      </m:r>
                      <m:r>
                        <a:rPr lang="en-US" sz="2400" i="1">
                          <a:latin typeface="Cambria Math" panose="02040503050406030204" pitchFamily="18" charset="0"/>
                        </a:rPr>
                        <m:t>h𝑐𝑅</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𝑍</m:t>
                          </m:r>
                        </m:e>
                        <m:sup>
                          <m:r>
                            <a:rPr lang="en-US" altLang="zh-CN" sz="2400" i="1">
                              <a:latin typeface="Cambria Math" panose="02040503050406030204" pitchFamily="18" charset="0"/>
                            </a:rPr>
                            <m:t>2</m:t>
                          </m:r>
                        </m:sup>
                      </m:sSup>
                      <m:d>
                        <m:dPr>
                          <m:begChr m:val="["/>
                          <m:endChr m:val="]"/>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sSup>
                                <m:sSupPr>
                                  <m:ctrlPr>
                                    <a:rPr lang="en-US" altLang="zh-CN" sz="2400" i="1">
                                      <a:latin typeface="Cambria Math" panose="02040503050406030204" pitchFamily="18" charset="0"/>
                                    </a:rPr>
                                  </m:ctrlPr>
                                </m:sSupPr>
                                <m:e>
                                  <m:r>
                                    <a:rPr lang="en-US" altLang="zh-CN" sz="2400" i="1">
                                      <a:latin typeface="Cambria Math"/>
                                    </a:rPr>
                                    <m:t>𝑛</m:t>
                                  </m:r>
                                </m:e>
                                <m:sup>
                                  <m:r>
                                    <a:rPr lang="en-US" altLang="zh-CN" sz="2400" i="1">
                                      <a:latin typeface="Cambria Math"/>
                                    </a:rPr>
                                    <m:t>2</m:t>
                                  </m:r>
                                </m:sup>
                              </m:sSup>
                            </m:den>
                          </m:f>
                          <m:r>
                            <a:rPr lang="en-US" altLang="zh-CN" sz="2400" i="1">
                              <a:latin typeface="Cambria Math"/>
                            </a:rPr>
                            <m:t>−</m:t>
                          </m:r>
                          <m:f>
                            <m:fPr>
                              <m:ctrlPr>
                                <a:rPr lang="en-US" altLang="zh-CN" sz="2400" i="1">
                                  <a:latin typeface="Cambria Math" panose="02040503050406030204" pitchFamily="18" charset="0"/>
                                </a:rPr>
                              </m:ctrlPr>
                            </m:fPr>
                            <m:num>
                              <m:r>
                                <a:rPr lang="en-US" sz="2400" i="1">
                                  <a:latin typeface="Cambria Math" panose="02040503050406030204" pitchFamily="18" charset="0"/>
                                </a:rPr>
                                <m:t>1</m:t>
                              </m:r>
                            </m:num>
                            <m:den>
                              <m:sSup>
                                <m:sSupPr>
                                  <m:ctrlPr>
                                    <a:rPr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a:rPr>
                                        <m:t>𝑛</m:t>
                                      </m:r>
                                    </m:e>
                                    <m:sup>
                                      <m:r>
                                        <a:rPr lang="en-US" altLang="zh-CN" sz="2400" i="1">
                                          <a:latin typeface="Cambria Math"/>
                                        </a:rPr>
                                        <m:t>′</m:t>
                                      </m:r>
                                    </m:sup>
                                  </m:sSup>
                                </m:e>
                                <m:sup>
                                  <m:r>
                                    <a:rPr lang="en-US" altLang="zh-CN" sz="2400" i="1">
                                      <a:latin typeface="Cambria Math"/>
                                    </a:rPr>
                                    <m:t>2</m:t>
                                  </m:r>
                                </m:sup>
                              </m:sSup>
                            </m:den>
                          </m:f>
                        </m:e>
                      </m:d>
                    </m:oMath>
                  </m:oMathPara>
                </a14:m>
                <a:endParaRPr lang="zh-CN" altLang="en-US" sz="2400" dirty="0">
                  <a:solidFill>
                    <a:srgbClr val="0070C0"/>
                  </a:solidFill>
                </a:endParaRPr>
              </a:p>
              <a:p>
                <a:pPr marL="0" indent="0">
                  <a:buNone/>
                </a:pPr>
                <a:endParaRPr lang="en-US" altLang="zh-CN" sz="2400" dirty="0"/>
              </a:p>
              <a:p>
                <a:r>
                  <a:rPr lang="en-US" altLang="zh-CN" sz="2400" dirty="0"/>
                  <a:t>Explained the X-rays spectroscopy</a:t>
                </a:r>
              </a:p>
              <a:p>
                <a:endParaRPr lang="en-US" altLang="zh-CN" sz="2400" dirty="0"/>
              </a:p>
              <a:p>
                <a:endParaRPr lang="en-US" altLang="zh-CN" sz="2400" dirty="0"/>
              </a:p>
              <a:p>
                <a:r>
                  <a:rPr lang="en-US" altLang="zh-CN" sz="2400" dirty="0"/>
                  <a:t>Established the shell model for multi-electron atoms</a:t>
                </a:r>
              </a:p>
            </p:txBody>
          </p:sp>
        </mc:Choice>
        <mc:Fallback xmlns="">
          <p:sp>
            <p:nvSpPr>
              <p:cNvPr id="3" name="Content Placeholder 2">
                <a:extLst>
                  <a:ext uri="{FF2B5EF4-FFF2-40B4-BE49-F238E27FC236}">
                    <a16:creationId xmlns:a16="http://schemas.microsoft.com/office/drawing/2014/main" id="{9CB0EC8A-929E-42AB-B12D-CE8EC95CEA05}"/>
                  </a:ext>
                </a:extLst>
              </p:cNvPr>
              <p:cNvSpPr>
                <a:spLocks noGrp="1" noRot="1" noChangeAspect="1" noMove="1" noResize="1" noEditPoints="1" noAdjustHandles="1" noChangeArrowheads="1" noChangeShapeType="1" noTextEdit="1"/>
              </p:cNvSpPr>
              <p:nvPr>
                <p:ph idx="1"/>
              </p:nvPr>
            </p:nvSpPr>
            <p:spPr>
              <a:xfrm>
                <a:off x="609600" y="908720"/>
                <a:ext cx="8125326" cy="5616624"/>
              </a:xfrm>
              <a:blipFill>
                <a:blip r:embed="rId3"/>
                <a:stretch>
                  <a:fillRect l="-975" t="-8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2519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2A13-90F8-4FB1-B4C8-A83EE86BEF45}"/>
              </a:ext>
            </a:extLst>
          </p:cNvPr>
          <p:cNvSpPr>
            <a:spLocks noGrp="1"/>
          </p:cNvSpPr>
          <p:nvPr>
            <p:ph type="title"/>
          </p:nvPr>
        </p:nvSpPr>
        <p:spPr/>
        <p:txBody>
          <a:bodyPr/>
          <a:lstStyle/>
          <a:p>
            <a:r>
              <a:rPr lang="en-US" altLang="zh-CN" dirty="0"/>
              <a:t>Moseley – X-ray spectroscopy</a:t>
            </a:r>
            <a:r>
              <a:rPr lang="zh-CN" altLang="en-US" dirty="0"/>
              <a:t> （</a:t>
            </a:r>
            <a:r>
              <a:rPr lang="en-US" altLang="zh-CN" dirty="0"/>
              <a:t>1913-1914</a:t>
            </a:r>
            <a:r>
              <a:rPr lang="zh-CN" altLang="en-US" dirty="0"/>
              <a:t>）</a:t>
            </a:r>
            <a:endParaRPr lang="en-US" dirty="0"/>
          </a:p>
        </p:txBody>
      </p:sp>
      <p:pic>
        <p:nvPicPr>
          <p:cNvPr id="4" name="Picture 6" descr="See the source image">
            <a:extLst>
              <a:ext uri="{FF2B5EF4-FFF2-40B4-BE49-F238E27FC236}">
                <a16:creationId xmlns:a16="http://schemas.microsoft.com/office/drawing/2014/main" id="{BF80F502-3D51-4C7E-AFF4-DCF9E02A0DF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65756" y="912541"/>
            <a:ext cx="6960840" cy="522063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52A4B09E-663D-42C2-B609-06BADA8DACD8}"/>
              </a:ext>
            </a:extLst>
          </p:cNvPr>
          <p:cNvGrpSpPr/>
          <p:nvPr/>
        </p:nvGrpSpPr>
        <p:grpSpPr>
          <a:xfrm>
            <a:off x="1165038" y="1526400"/>
            <a:ext cx="2125456" cy="3204537"/>
            <a:chOff x="1085800" y="1173107"/>
            <a:chExt cx="2125456" cy="3204537"/>
          </a:xfrm>
        </p:grpSpPr>
        <p:pic>
          <p:nvPicPr>
            <p:cNvPr id="5" name="Picture 4">
              <a:extLst>
                <a:ext uri="{FF2B5EF4-FFF2-40B4-BE49-F238E27FC236}">
                  <a16:creationId xmlns:a16="http://schemas.microsoft.com/office/drawing/2014/main" id="{1E88AA3B-8242-405C-8773-4E76AE1D04E9}"/>
                </a:ext>
              </a:extLst>
            </p:cNvPr>
            <p:cNvPicPr>
              <a:picLocks noChangeAspect="1"/>
            </p:cNvPicPr>
            <p:nvPr/>
          </p:nvPicPr>
          <p:blipFill>
            <a:blip r:embed="rId4"/>
            <a:stretch>
              <a:fillRect/>
            </a:stretch>
          </p:blipFill>
          <p:spPr>
            <a:xfrm>
              <a:off x="1085800" y="1173107"/>
              <a:ext cx="2125456" cy="2835205"/>
            </a:xfrm>
            <a:prstGeom prst="rect">
              <a:avLst/>
            </a:prstGeom>
          </p:spPr>
        </p:pic>
        <p:sp>
          <p:nvSpPr>
            <p:cNvPr id="6" name="TextBox 5">
              <a:extLst>
                <a:ext uri="{FF2B5EF4-FFF2-40B4-BE49-F238E27FC236}">
                  <a16:creationId xmlns:a16="http://schemas.microsoft.com/office/drawing/2014/main" id="{82DFE177-6F6F-4700-AE1A-A4E67D5B77E3}"/>
                </a:ext>
              </a:extLst>
            </p:cNvPr>
            <p:cNvSpPr txBox="1"/>
            <p:nvPr/>
          </p:nvSpPr>
          <p:spPr>
            <a:xfrm>
              <a:off x="1403905" y="4008312"/>
              <a:ext cx="1191352" cy="369332"/>
            </a:xfrm>
            <a:prstGeom prst="rect">
              <a:avLst/>
            </a:prstGeom>
            <a:noFill/>
          </p:spPr>
          <p:txBody>
            <a:bodyPr wrap="none" rtlCol="0">
              <a:spAutoFit/>
            </a:bodyPr>
            <a:lstStyle/>
            <a:p>
              <a:r>
                <a:rPr lang="en-US" dirty="0"/>
                <a:t>1887-1915</a:t>
              </a:r>
            </a:p>
          </p:txBody>
        </p:sp>
      </p:grpSp>
    </p:spTree>
    <p:extLst>
      <p:ext uri="{BB962C8B-B14F-4D97-AF65-F5344CB8AC3E}">
        <p14:creationId xmlns:p14="http://schemas.microsoft.com/office/powerpoint/2010/main" val="173240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5D2B6-BB4E-4FF0-B322-A3030D429D4F}"/>
              </a:ext>
            </a:extLst>
          </p:cNvPr>
          <p:cNvSpPr>
            <a:spLocks noGrp="1"/>
          </p:cNvSpPr>
          <p:nvPr>
            <p:ph type="title"/>
          </p:nvPr>
        </p:nvSpPr>
        <p:spPr>
          <a:xfrm>
            <a:off x="825190" y="129166"/>
            <a:ext cx="8704309" cy="576064"/>
          </a:xfrm>
        </p:spPr>
        <p:txBody>
          <a:bodyPr/>
          <a:lstStyle/>
          <a:p>
            <a:r>
              <a:rPr lang="en-US" altLang="zh-CN" dirty="0"/>
              <a:t>The X-ray spectrum</a:t>
            </a:r>
            <a:r>
              <a:rPr lang="zh-CN" altLang="en-US" dirty="0"/>
              <a:t> </a:t>
            </a:r>
            <a:r>
              <a:rPr lang="en-US" altLang="zh-CN" dirty="0"/>
              <a:t>of</a:t>
            </a:r>
            <a:r>
              <a:rPr lang="zh-CN" altLang="en-US" dirty="0"/>
              <a:t> </a:t>
            </a:r>
            <a:r>
              <a:rPr lang="en-US" altLang="zh-CN" dirty="0"/>
              <a:t>atoms</a:t>
            </a:r>
            <a:endParaRPr lang="en-US" dirty="0"/>
          </a:p>
        </p:txBody>
      </p:sp>
      <p:pic>
        <p:nvPicPr>
          <p:cNvPr id="9218" name="Picture 2" descr="See the source image">
            <a:extLst>
              <a:ext uri="{FF2B5EF4-FFF2-40B4-BE49-F238E27FC236}">
                <a16:creationId xmlns:a16="http://schemas.microsoft.com/office/drawing/2014/main" id="{CB2371B6-3CEC-4B1D-BE63-4BC1E4DE89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077" y="911776"/>
            <a:ext cx="5798935" cy="394102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8745DB0-DBD2-443C-B50B-2602A5E44104}"/>
              </a:ext>
            </a:extLst>
          </p:cNvPr>
          <p:cNvPicPr>
            <a:picLocks noChangeAspect="1"/>
          </p:cNvPicPr>
          <p:nvPr/>
        </p:nvPicPr>
        <p:blipFill>
          <a:blip r:embed="rId3"/>
          <a:stretch>
            <a:fillRect/>
          </a:stretch>
        </p:blipFill>
        <p:spPr>
          <a:xfrm>
            <a:off x="5601267" y="912522"/>
            <a:ext cx="5148333" cy="387571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4C3ECA5-351C-4FB1-9869-ABD78E33B311}"/>
                  </a:ext>
                </a:extLst>
              </p:cNvPr>
              <p:cNvSpPr txBox="1"/>
              <p:nvPr/>
            </p:nvSpPr>
            <p:spPr>
              <a:xfrm>
                <a:off x="825190" y="4558445"/>
                <a:ext cx="10575364" cy="2304157"/>
              </a:xfrm>
              <a:prstGeom prst="rect">
                <a:avLst/>
              </a:prstGeom>
              <a:noFill/>
            </p:spPr>
            <p:txBody>
              <a:bodyPr wrap="square" rtlCol="0">
                <a:spAutoFit/>
              </a:bodyPr>
              <a:lstStyle/>
              <a:p>
                <a:pPr>
                  <a:lnSpc>
                    <a:spcPct val="150000"/>
                  </a:lnSpc>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Mosley’s empirical formula of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𝐾</m:t>
                        </m:r>
                      </m:e>
                      <m:sub>
                        <m:r>
                          <a:rPr lang="en-US" altLang="zh-CN" sz="2000" b="0" i="1" smtClean="0">
                            <a:latin typeface="Cambria Math" panose="02040503050406030204" pitchFamily="18" charset="0"/>
                          </a:rPr>
                          <m:t>𝛼</m:t>
                        </m:r>
                      </m:sub>
                    </m:sSub>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line: </a:t>
                </a:r>
                <a14:m>
                  <m:oMath xmlns:m="http://schemas.openxmlformats.org/officeDocument/2006/math">
                    <m:r>
                      <a:rPr lang="en-US" altLang="zh-CN" sz="2000" i="1">
                        <a:latin typeface="Cambria Math" panose="02040503050406030204" pitchFamily="18" charset="0"/>
                      </a:rPr>
                      <m:t>𝜈</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3</m:t>
                        </m:r>
                      </m:num>
                      <m:den>
                        <m:r>
                          <a:rPr lang="en-US" altLang="zh-CN" sz="2000" i="1">
                            <a:latin typeface="Cambria Math" panose="02040503050406030204" pitchFamily="18" charset="0"/>
                          </a:rPr>
                          <m:t>4</m:t>
                        </m:r>
                      </m:den>
                    </m:f>
                    <m:r>
                      <a:rPr lang="en-US" altLang="zh-CN" sz="2000" i="1">
                        <a:latin typeface="Cambria Math" panose="02040503050406030204" pitchFamily="18" charset="0"/>
                      </a:rPr>
                      <m:t>𝑐𝑅</m:t>
                    </m:r>
                    <m:sSup>
                      <m:sSupPr>
                        <m:ctrlPr>
                          <a:rPr lang="en-US" altLang="zh-CN" sz="2000" i="1">
                            <a:latin typeface="Cambria Math" panose="02040503050406030204" pitchFamily="18" charset="0"/>
                            <a:ea typeface="Cambria Math" panose="02040503050406030204" pitchFamily="18" charset="0"/>
                          </a:rPr>
                        </m:ctrlPr>
                      </m:sSupPr>
                      <m:e>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𝑍</m:t>
                            </m:r>
                            <m:r>
                              <a:rPr lang="en-US" altLang="zh-CN" sz="2000" i="1">
                                <a:latin typeface="Cambria Math" panose="02040503050406030204" pitchFamily="18" charset="0"/>
                                <a:ea typeface="Cambria Math" panose="02040503050406030204" pitchFamily="18" charset="0"/>
                              </a:rPr>
                              <m:t>−1</m:t>
                            </m:r>
                          </m:e>
                        </m:d>
                      </m:e>
                      <m:sup>
                        <m:r>
                          <a:rPr lang="en-US" altLang="zh-CN" sz="2000" i="1">
                            <a:latin typeface="Cambria Math" panose="02040503050406030204" pitchFamily="18" charset="0"/>
                            <a:ea typeface="Cambria Math" panose="02040503050406030204" pitchFamily="18" charset="0"/>
                          </a:rPr>
                          <m:t>2</m:t>
                        </m:r>
                      </m:sup>
                    </m:sSup>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Why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14:m>
                  <m:oMath xmlns:m="http://schemas.openxmlformats.org/officeDocument/2006/math">
                    <m:r>
                      <a:rPr lang="en-US" altLang="zh-CN" sz="2000" b="0" i="1" dirty="0" smtClean="0">
                        <a:latin typeface="Cambria Math" panose="02040503050406030204" pitchFamily="18" charset="0"/>
                      </a:rPr>
                      <m:t>3/4</m:t>
                    </m:r>
                  </m:oMath>
                </a14:m>
                <a:r>
                  <a:rPr lang="en-US" altLang="zh-CN" sz="2000" b="0" dirty="0"/>
                  <a:t> = </a:t>
                </a:r>
                <a14:m>
                  <m:oMath xmlns:m="http://schemas.openxmlformats.org/officeDocument/2006/math">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1−</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1</m:t>
                            </m:r>
                          </m:num>
                          <m:den>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2</m:t>
                                </m:r>
                              </m:e>
                              <m:sup>
                                <m:r>
                                  <a:rPr lang="en-US" altLang="zh-CN" sz="2000" b="0" i="1" dirty="0" smtClean="0">
                                    <a:latin typeface="Cambria Math" panose="02040503050406030204" pitchFamily="18" charset="0"/>
                                  </a:rPr>
                                  <m:t>2</m:t>
                                </m:r>
                              </m:sup>
                            </m:sSup>
                          </m:den>
                        </m:f>
                      </m:e>
                    </m:d>
                  </m:oMath>
                </a14:m>
                <a:r>
                  <a:rPr lang="en-US" altLang="zh-CN" sz="2000" b="0" dirty="0"/>
                  <a:t>.  </a:t>
                </a:r>
                <a14:m>
                  <m:oMath xmlns:m="http://schemas.openxmlformats.org/officeDocument/2006/math">
                    <m:r>
                      <a:rPr lang="en-US" altLang="zh-CN" sz="2000" b="0" i="1" smtClean="0">
                        <a:latin typeface="Cambria Math" panose="02040503050406030204" pitchFamily="18" charset="0"/>
                      </a:rPr>
                      <m:t>𝑍</m:t>
                    </m:r>
                    <m:r>
                      <a:rPr lang="en-US" altLang="zh-CN" sz="2000" b="0" i="1" smtClean="0">
                        <a:latin typeface="Cambria Math" panose="02040503050406030204" pitchFamily="18" charset="0"/>
                      </a:rPr>
                      <m:t>−1</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is due to the screening effect of the remaining electron in </a:t>
                </a:r>
                <a14:m>
                  <m:oMath xmlns:m="http://schemas.openxmlformats.org/officeDocument/2006/math">
                    <m:r>
                      <a:rPr lang="en-US" altLang="zh-CN" sz="2000" b="0" i="1" dirty="0" smtClean="0">
                        <a:latin typeface="Cambria Math" panose="02040503050406030204" pitchFamily="18" charset="0"/>
                      </a:rPr>
                      <m:t>𝑛</m:t>
                    </m:r>
                    <m:r>
                      <a:rPr lang="en-US" altLang="zh-CN" sz="2000" b="0" i="1" dirty="0" smtClean="0">
                        <a:latin typeface="Cambria Math" panose="02040503050406030204" pitchFamily="18" charset="0"/>
                      </a:rPr>
                      <m:t>=1</m:t>
                    </m:r>
                  </m:oMath>
                </a14:m>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shell.</a:t>
                </a:r>
              </a:p>
              <a:p>
                <a:pPr>
                  <a:lnSpc>
                    <a:spcPct val="150000"/>
                  </a:lnSpc>
                </a:pP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He discovered that the nuclear charge number (Z) should be used to organize the periodic table instead of the atomic number (A).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He also predicted new elements for Z=75 …</a:t>
                </a:r>
              </a:p>
            </p:txBody>
          </p:sp>
        </mc:Choice>
        <mc:Fallback xmlns="">
          <p:sp>
            <p:nvSpPr>
              <p:cNvPr id="6" name="TextBox 5">
                <a:extLst>
                  <a:ext uri="{FF2B5EF4-FFF2-40B4-BE49-F238E27FC236}">
                    <a16:creationId xmlns:a16="http://schemas.microsoft.com/office/drawing/2014/main" id="{04C3ECA5-351C-4FB1-9869-ABD78E33B311}"/>
                  </a:ext>
                </a:extLst>
              </p:cNvPr>
              <p:cNvSpPr txBox="1">
                <a:spLocks noRot="1" noChangeAspect="1" noMove="1" noResize="1" noEditPoints="1" noAdjustHandles="1" noChangeArrowheads="1" noChangeShapeType="1" noTextEdit="1"/>
              </p:cNvSpPr>
              <p:nvPr/>
            </p:nvSpPr>
            <p:spPr>
              <a:xfrm>
                <a:off x="825190" y="4558445"/>
                <a:ext cx="10575364" cy="2304157"/>
              </a:xfrm>
              <a:prstGeom prst="rect">
                <a:avLst/>
              </a:prstGeom>
              <a:blipFill>
                <a:blip r:embed="rId4"/>
                <a:stretch>
                  <a:fillRect l="-576" b="-396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13498F2-E0A1-4F53-A3D3-9B036974AB4D}"/>
              </a:ext>
            </a:extLst>
          </p:cNvPr>
          <p:cNvPicPr>
            <a:picLocks noChangeAspect="1"/>
          </p:cNvPicPr>
          <p:nvPr/>
        </p:nvPicPr>
        <p:blipFill>
          <a:blip r:embed="rId5"/>
          <a:stretch>
            <a:fillRect/>
          </a:stretch>
        </p:blipFill>
        <p:spPr>
          <a:xfrm rot="2759037">
            <a:off x="2840027" y="2546593"/>
            <a:ext cx="313938" cy="278060"/>
          </a:xfrm>
          <a:prstGeom prst="rect">
            <a:avLst/>
          </a:prstGeom>
        </p:spPr>
      </p:pic>
    </p:spTree>
    <p:extLst>
      <p:ext uri="{BB962C8B-B14F-4D97-AF65-F5344CB8AC3E}">
        <p14:creationId xmlns:p14="http://schemas.microsoft.com/office/powerpoint/2010/main" val="2545536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ltLang="zh-CN" dirty="0"/>
                  <a:t>*The Fine structure constant </a:t>
                </a:r>
                <a14:m>
                  <m:oMath xmlns:m="http://schemas.openxmlformats.org/officeDocument/2006/math">
                    <m:r>
                      <a:rPr lang="en-US" altLang="zh-CN" sz="2800" b="0" i="1">
                        <a:latin typeface="Cambria Math"/>
                      </a:rPr>
                      <m:t>𝛼</m:t>
                    </m:r>
                    <m:r>
                      <a:rPr lang="en-US" altLang="zh-CN" sz="2800" b="0" i="1">
                        <a:latin typeface="Cambria Math"/>
                      </a:rPr>
                      <m:t>=</m:t>
                    </m:r>
                    <m:f>
                      <m:fPr>
                        <m:ctrlPr>
                          <a:rPr lang="en-US" altLang="zh-CN" sz="2800" b="0" i="1">
                            <a:latin typeface="Cambria Math" panose="02040503050406030204" pitchFamily="18" charset="0"/>
                          </a:rPr>
                        </m:ctrlPr>
                      </m:fPr>
                      <m:num>
                        <m:sSup>
                          <m:sSupPr>
                            <m:ctrlPr>
                              <a:rPr lang="en-US" altLang="zh-CN" sz="2800" b="0" i="1">
                                <a:latin typeface="Cambria Math" panose="02040503050406030204" pitchFamily="18" charset="0"/>
                              </a:rPr>
                            </m:ctrlPr>
                          </m:sSupPr>
                          <m:e>
                            <m:r>
                              <a:rPr lang="en-US" altLang="zh-CN" sz="2800" b="0" i="1">
                                <a:latin typeface="Cambria Math"/>
                              </a:rPr>
                              <m:t>𝑒</m:t>
                            </m:r>
                          </m:e>
                          <m:sup>
                            <m:r>
                              <a:rPr lang="en-US" altLang="zh-CN" sz="2800" b="0" i="1">
                                <a:latin typeface="Cambria Math"/>
                              </a:rPr>
                              <m:t>2</m:t>
                            </m:r>
                          </m:sup>
                        </m:sSup>
                      </m:num>
                      <m:den>
                        <m:r>
                          <a:rPr lang="en-US" altLang="zh-CN" sz="2800" b="0" i="1" smtClean="0">
                            <a:latin typeface="Cambria Math" panose="02040503050406030204" pitchFamily="18" charset="0"/>
                          </a:rPr>
                          <m:t>4</m:t>
                        </m:r>
                        <m:r>
                          <a:rPr lang="en-US" altLang="zh-CN" sz="2800" b="0" i="1" smtClean="0">
                            <a:latin typeface="Cambria Math" panose="02040503050406030204" pitchFamily="18" charset="0"/>
                          </a:rPr>
                          <m:t>𝜋</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𝜖</m:t>
                            </m:r>
                          </m:e>
                          <m:sub>
                            <m:r>
                              <a:rPr lang="en-US" altLang="zh-CN" sz="2800" b="0" i="1" smtClean="0">
                                <a:latin typeface="Cambria Math" panose="02040503050406030204" pitchFamily="18" charset="0"/>
                              </a:rPr>
                              <m:t>0</m:t>
                            </m:r>
                          </m:sub>
                        </m:sSub>
                        <m:r>
                          <a:rPr lang="en-US" altLang="zh-CN" sz="2800" b="0" i="1">
                            <a:latin typeface="Cambria Math"/>
                            <a:ea typeface="Cambria Math"/>
                          </a:rPr>
                          <m:t>ℏ</m:t>
                        </m:r>
                        <m:r>
                          <a:rPr lang="en-US" altLang="zh-CN" sz="2800" b="0" i="1">
                            <a:latin typeface="Cambria Math"/>
                            <a:ea typeface="Cambria Math"/>
                          </a:rPr>
                          <m:t>𝑐</m:t>
                        </m:r>
                      </m:den>
                    </m:f>
                  </m:oMath>
                </a14:m>
                <a:endParaRPr lang="zh-CN" alt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t="-19149" b="-308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8675" y="908720"/>
                <a:ext cx="10563225" cy="5775544"/>
              </a:xfrm>
            </p:spPr>
            <p:txBody>
              <a:bodyPr>
                <a:normAutofit fontScale="92500" lnSpcReduction="20000"/>
              </a:bodyPr>
              <a:lstStyle/>
              <a:p>
                <a:pPr marL="0" indent="0" algn="ctr" fontAlgn="ctr">
                  <a:buNone/>
                </a:pPr>
                <a:r>
                  <a:rPr lang="zh-CN" altLang="en-US" sz="2000" dirty="0"/>
                  <a:t> </a:t>
                </a:r>
                <a14:m>
                  <m:oMath xmlns:m="http://schemas.openxmlformats.org/officeDocument/2006/math">
                    <m:r>
                      <a:rPr lang="en-US" altLang="zh-CN" sz="2000" i="1" smtClean="0">
                        <a:solidFill>
                          <a:srgbClr val="C00000"/>
                        </a:solidFill>
                        <a:latin typeface="Cambria Math"/>
                      </a:rPr>
                      <m:t>𝛼</m:t>
                    </m:r>
                    <m:r>
                      <a:rPr lang="en-US" altLang="zh-CN" sz="2000" i="1" smtClean="0">
                        <a:solidFill>
                          <a:srgbClr val="C00000"/>
                        </a:solidFill>
                        <a:latin typeface="Cambria Math"/>
                      </a:rPr>
                      <m:t>=</m:t>
                    </m:r>
                    <m:f>
                      <m:fPr>
                        <m:ctrlPr>
                          <a:rPr lang="en-US" altLang="zh-CN" sz="2000" i="1">
                            <a:solidFill>
                              <a:srgbClr val="C00000"/>
                            </a:solidFill>
                            <a:latin typeface="Cambria Math" panose="02040503050406030204" pitchFamily="18" charset="0"/>
                          </a:rPr>
                        </m:ctrlPr>
                      </m:fPr>
                      <m:num>
                        <m:sSup>
                          <m:sSupPr>
                            <m:ctrlPr>
                              <a:rPr lang="en-US" altLang="zh-CN" sz="2000" i="1">
                                <a:solidFill>
                                  <a:srgbClr val="C00000"/>
                                </a:solidFill>
                                <a:latin typeface="Cambria Math" panose="02040503050406030204" pitchFamily="18" charset="0"/>
                              </a:rPr>
                            </m:ctrlPr>
                          </m:sSupPr>
                          <m:e>
                            <m:r>
                              <a:rPr lang="en-US" altLang="zh-CN" sz="2000" i="1">
                                <a:solidFill>
                                  <a:srgbClr val="C00000"/>
                                </a:solidFill>
                                <a:latin typeface="Cambria Math"/>
                              </a:rPr>
                              <m:t>𝑒</m:t>
                            </m:r>
                          </m:e>
                          <m:sup>
                            <m:r>
                              <a:rPr lang="en-US" altLang="zh-CN" sz="2000" i="1">
                                <a:solidFill>
                                  <a:srgbClr val="C00000"/>
                                </a:solidFill>
                                <a:latin typeface="Cambria Math"/>
                              </a:rPr>
                              <m:t>2</m:t>
                            </m:r>
                          </m:sup>
                        </m:sSup>
                      </m:num>
                      <m:den>
                        <m:r>
                          <a:rPr lang="en-US" altLang="zh-CN" sz="2000" b="0" i="1" smtClean="0">
                            <a:solidFill>
                              <a:srgbClr val="C00000"/>
                            </a:solidFill>
                            <a:latin typeface="Cambria Math" panose="02040503050406030204" pitchFamily="18" charset="0"/>
                          </a:rPr>
                          <m:t>4</m:t>
                        </m:r>
                        <m:r>
                          <a:rPr lang="en-US" altLang="zh-CN" sz="2000" b="0" i="1" smtClean="0">
                            <a:solidFill>
                              <a:srgbClr val="C00000"/>
                            </a:solidFill>
                            <a:latin typeface="Cambria Math" panose="02040503050406030204" pitchFamily="18" charset="0"/>
                          </a:rPr>
                          <m:t>𝜋</m:t>
                        </m:r>
                        <m:sSub>
                          <m:sSubPr>
                            <m:ctrlPr>
                              <a:rPr lang="en-US" altLang="zh-CN" sz="2000" b="0" i="1" smtClean="0">
                                <a:solidFill>
                                  <a:srgbClr val="C00000"/>
                                </a:solidFill>
                                <a:latin typeface="Cambria Math" panose="02040503050406030204" pitchFamily="18" charset="0"/>
                              </a:rPr>
                            </m:ctrlPr>
                          </m:sSubPr>
                          <m:e>
                            <m:r>
                              <a:rPr lang="en-US" altLang="zh-CN" sz="2000" b="0" i="1" smtClean="0">
                                <a:solidFill>
                                  <a:srgbClr val="C00000"/>
                                </a:solidFill>
                                <a:latin typeface="Cambria Math" panose="02040503050406030204" pitchFamily="18" charset="0"/>
                              </a:rPr>
                              <m:t>𝜖</m:t>
                            </m:r>
                          </m:e>
                          <m:sub>
                            <m:r>
                              <a:rPr lang="en-US" altLang="zh-CN" sz="2000" b="0" i="1" smtClean="0">
                                <a:solidFill>
                                  <a:srgbClr val="C00000"/>
                                </a:solidFill>
                                <a:latin typeface="Cambria Math" panose="02040503050406030204" pitchFamily="18" charset="0"/>
                              </a:rPr>
                              <m:t>0</m:t>
                            </m:r>
                          </m:sub>
                        </m:sSub>
                        <m:r>
                          <a:rPr lang="en-US" altLang="zh-CN" sz="2000" i="1">
                            <a:solidFill>
                              <a:srgbClr val="C00000"/>
                            </a:solidFill>
                            <a:latin typeface="Cambria Math"/>
                            <a:ea typeface="Cambria Math"/>
                          </a:rPr>
                          <m:t>ℏ</m:t>
                        </m:r>
                        <m:r>
                          <a:rPr lang="en-US" altLang="zh-CN" sz="2000" i="1">
                            <a:solidFill>
                              <a:srgbClr val="C00000"/>
                            </a:solidFill>
                            <a:latin typeface="Cambria Math"/>
                            <a:ea typeface="Cambria Math"/>
                          </a:rPr>
                          <m:t>𝑐</m:t>
                        </m:r>
                      </m:den>
                    </m:f>
                    <m:r>
                      <a:rPr lang="en-US" altLang="zh-CN" sz="2000" i="1" smtClean="0">
                        <a:solidFill>
                          <a:srgbClr val="C00000"/>
                        </a:solidFill>
                        <a:latin typeface="Cambria Math" panose="02040503050406030204" pitchFamily="18" charset="0"/>
                        <a:ea typeface="Cambria Math" panose="02040503050406030204" pitchFamily="18" charset="0"/>
                      </a:rPr>
                      <m:t>≈</m:t>
                    </m:r>
                    <m:f>
                      <m:fPr>
                        <m:ctrlPr>
                          <a:rPr lang="en-US" altLang="zh-CN" sz="2000" b="0" i="1" smtClean="0">
                            <a:solidFill>
                              <a:srgbClr val="C00000"/>
                            </a:solidFill>
                            <a:latin typeface="Cambria Math" panose="02040503050406030204" pitchFamily="18" charset="0"/>
                            <a:ea typeface="Cambria Math" panose="02040503050406030204" pitchFamily="18" charset="0"/>
                          </a:rPr>
                        </m:ctrlPr>
                      </m:fPr>
                      <m:num>
                        <m:r>
                          <a:rPr lang="en-US" altLang="zh-CN" sz="2000" b="0" i="1" smtClean="0">
                            <a:solidFill>
                              <a:srgbClr val="C00000"/>
                            </a:solidFill>
                            <a:latin typeface="Cambria Math" panose="02040503050406030204" pitchFamily="18" charset="0"/>
                            <a:ea typeface="Cambria Math" panose="02040503050406030204" pitchFamily="18" charset="0"/>
                          </a:rPr>
                          <m:t>1</m:t>
                        </m:r>
                      </m:num>
                      <m:den>
                        <m:r>
                          <a:rPr lang="en-US" altLang="zh-CN" sz="2000" b="0" i="1" smtClean="0">
                            <a:solidFill>
                              <a:srgbClr val="C00000"/>
                            </a:solidFill>
                            <a:latin typeface="Cambria Math" panose="02040503050406030204" pitchFamily="18" charset="0"/>
                            <a:ea typeface="Cambria Math" panose="02040503050406030204" pitchFamily="18" charset="0"/>
                          </a:rPr>
                          <m:t>137</m:t>
                        </m:r>
                      </m:den>
                    </m:f>
                  </m:oMath>
                </a14:m>
                <a:r>
                  <a:rPr lang="en-US" altLang="zh-CN" sz="2000" dirty="0"/>
                  <a:t>, a pure number representing the coupling strength of electromagnetic interaction</a:t>
                </a:r>
              </a:p>
              <a:p>
                <a:pPr marL="0" indent="0" algn="ctr" fontAlgn="ctr">
                  <a:buNone/>
                </a:pPr>
                <a:endParaRPr lang="en-US" altLang="zh-CN" sz="2000" dirty="0"/>
              </a:p>
              <a:p>
                <a:pPr fontAlgn="ctr"/>
                <a:r>
                  <a:rPr lang="en-US" altLang="zh-CN" sz="2000" dirty="0"/>
                  <a:t>Bohr radius </a:t>
                </a:r>
                <a14:m>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𝑎</m:t>
                        </m:r>
                      </m:e>
                      <m:sub>
                        <m:r>
                          <a:rPr lang="en-US" altLang="zh-CN" sz="2000" i="1">
                            <a:solidFill>
                              <a:srgbClr val="0070C0"/>
                            </a:solidFill>
                            <a:latin typeface="Cambria Math"/>
                          </a:rPr>
                          <m:t>0</m:t>
                        </m:r>
                      </m:sub>
                    </m:sSub>
                  </m:oMath>
                </a14:m>
                <a:r>
                  <a:rPr lang="en-US" altLang="zh-CN" sz="2000" dirty="0"/>
                  <a:t>, the radius of the ground state orbit</a:t>
                </a:r>
              </a:p>
              <a:p>
                <a:pPr marL="0" indent="0" fontAlgn="ctr">
                  <a:buNone/>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𝑎</m:t>
                          </m:r>
                        </m:e>
                        <m:sub>
                          <m:r>
                            <a:rPr lang="en-US" altLang="zh-CN" sz="2000" i="1">
                              <a:solidFill>
                                <a:srgbClr val="0070C0"/>
                              </a:solidFill>
                              <a:latin typeface="Cambria Math"/>
                            </a:rPr>
                            <m:t>0</m:t>
                          </m:r>
                        </m:sub>
                      </m:sSub>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rPr>
                          </m:ctrlPr>
                        </m:fPr>
                        <m:num>
                          <m:r>
                            <a:rPr lang="en-US" altLang="zh-CN" sz="2000" b="0" i="1" smtClean="0">
                              <a:solidFill>
                                <a:srgbClr val="0070C0"/>
                              </a:solidFill>
                              <a:latin typeface="Cambria Math" panose="02040503050406030204" pitchFamily="18" charset="0"/>
                              <a:ea typeface="Cambria Math"/>
                            </a:rPr>
                            <m:t>ℏ</m:t>
                          </m:r>
                        </m:num>
                        <m:den>
                          <m:r>
                            <a:rPr lang="en-US" altLang="zh-CN" sz="2000" b="0" i="1" smtClean="0">
                              <a:solidFill>
                                <a:srgbClr val="0070C0"/>
                              </a:solidFill>
                              <a:latin typeface="Cambria Math" panose="02040503050406030204" pitchFamily="18" charset="0"/>
                            </a:rPr>
                            <m:t>𝑚</m:t>
                          </m:r>
                          <m:r>
                            <a:rPr lang="en-US" altLang="zh-CN" sz="2000" b="0" i="1" smtClean="0">
                              <a:solidFill>
                                <a:srgbClr val="0070C0"/>
                              </a:solidFill>
                              <a:latin typeface="Cambria Math" panose="02040503050406030204" pitchFamily="18" charset="0"/>
                            </a:rPr>
                            <m:t>𝛼</m:t>
                          </m:r>
                          <m:r>
                            <a:rPr lang="en-US" altLang="zh-CN" sz="2000" b="0" i="1" smtClean="0">
                              <a:solidFill>
                                <a:srgbClr val="0070C0"/>
                              </a:solidFill>
                              <a:latin typeface="Cambria Math" panose="02040503050406030204" pitchFamily="18" charset="0"/>
                            </a:rPr>
                            <m:t>𝑐</m:t>
                          </m:r>
                        </m:den>
                      </m:f>
                    </m:oMath>
                  </m:oMathPara>
                </a14:m>
                <a:endParaRPr lang="en-US" altLang="zh-CN" sz="2000" dirty="0"/>
              </a:p>
              <a:p>
                <a:pPr fontAlgn="ctr"/>
                <a:r>
                  <a:rPr lang="en-US" altLang="zh-CN" sz="2000" dirty="0"/>
                  <a:t>Reduced electron’s Compton wavelength</a:t>
                </a:r>
                <a:r>
                  <a:rPr lang="zh-CN" altLang="en-US" sz="2000" dirty="0"/>
                  <a:t>：</a:t>
                </a:r>
                <a:endParaRPr lang="en-US" altLang="zh-CN" sz="2000" i="1" dirty="0"/>
              </a:p>
              <a:p>
                <a:pPr marL="0" lvl="1" indent="0" fontAlgn="ctr">
                  <a:buNone/>
                </a:pPr>
                <a14:m>
                  <m:oMathPara xmlns:m="http://schemas.openxmlformats.org/officeDocument/2006/math">
                    <m:oMathParaPr>
                      <m:jc m:val="centerGroup"/>
                    </m:oMathParaPr>
                    <m:oMath xmlns:m="http://schemas.openxmlformats.org/officeDocument/2006/math">
                      <m:f>
                        <m:fPr>
                          <m:ctrlPr>
                            <a:rPr lang="en-US" altLang="zh-CN" sz="2000" b="0" i="1" smtClean="0">
                              <a:solidFill>
                                <a:srgbClr val="0070C0"/>
                              </a:solidFill>
                              <a:latin typeface="Cambria Math" panose="02040503050406030204" pitchFamily="18" charset="0"/>
                              <a:ea typeface="Cambria Math"/>
                            </a:rPr>
                          </m:ctrlPr>
                        </m:fPr>
                        <m:num>
                          <m:sSub>
                            <m:sSubPr>
                              <m:ctrlPr>
                                <a:rPr lang="en-US" altLang="zh-CN" sz="2000" i="1" smtClean="0">
                                  <a:solidFill>
                                    <a:srgbClr val="0070C0"/>
                                  </a:solidFill>
                                  <a:latin typeface="Cambria Math" panose="02040503050406030204" pitchFamily="18" charset="0"/>
                                  <a:ea typeface="Cambria Math"/>
                                </a:rPr>
                              </m:ctrlPr>
                            </m:sSubPr>
                            <m:e>
                              <m:r>
                                <a:rPr lang="en-US" altLang="zh-CN" sz="2000" i="1">
                                  <a:solidFill>
                                    <a:srgbClr val="0070C0"/>
                                  </a:solidFill>
                                  <a:latin typeface="Cambria Math"/>
                                  <a:ea typeface="Cambria Math"/>
                                </a:rPr>
                                <m:t>𝜆</m:t>
                              </m:r>
                            </m:e>
                            <m:sub>
                              <m:r>
                                <a:rPr lang="en-US" altLang="zh-CN" sz="2000" i="1">
                                  <a:solidFill>
                                    <a:srgbClr val="0070C0"/>
                                  </a:solidFill>
                                  <a:latin typeface="Cambria Math"/>
                                  <a:ea typeface="Cambria Math"/>
                                </a:rPr>
                                <m:t>𝑒</m:t>
                              </m:r>
                            </m:sub>
                          </m:sSub>
                        </m:num>
                        <m:den>
                          <m:r>
                            <a:rPr lang="en-US" altLang="zh-CN" sz="2000" b="0" i="1" smtClean="0">
                              <a:solidFill>
                                <a:srgbClr val="0070C0"/>
                              </a:solidFill>
                              <a:latin typeface="Cambria Math" panose="02040503050406030204" pitchFamily="18" charset="0"/>
                              <a:ea typeface="Cambria Math"/>
                            </a:rPr>
                            <m:t>2</m:t>
                          </m:r>
                          <m:r>
                            <a:rPr lang="en-US" altLang="zh-CN" sz="2000" b="0" i="1" smtClean="0">
                              <a:solidFill>
                                <a:srgbClr val="0070C0"/>
                              </a:solidFill>
                              <a:latin typeface="Cambria Math" panose="02040503050406030204" pitchFamily="18" charset="0"/>
                              <a:ea typeface="Cambria Math"/>
                            </a:rPr>
                            <m:t>𝜋</m:t>
                          </m:r>
                        </m:den>
                      </m:f>
                      <m:r>
                        <a:rPr lang="en-US" altLang="zh-CN" sz="2000" i="1">
                          <a:solidFill>
                            <a:srgbClr val="0070C0"/>
                          </a:solidFill>
                          <a:latin typeface="Cambria Math"/>
                          <a:ea typeface="Cambria Math"/>
                        </a:rPr>
                        <m:t>=</m:t>
                      </m:r>
                      <m:f>
                        <m:fPr>
                          <m:ctrlPr>
                            <a:rPr lang="en-US" altLang="zh-CN" sz="2000" i="1">
                              <a:solidFill>
                                <a:srgbClr val="0070C0"/>
                              </a:solidFill>
                              <a:latin typeface="Cambria Math" panose="02040503050406030204" pitchFamily="18" charset="0"/>
                              <a:ea typeface="Cambria Math"/>
                            </a:rPr>
                          </m:ctrlPr>
                        </m:fPr>
                        <m:num>
                          <m:r>
                            <a:rPr lang="en-US" altLang="zh-CN" sz="2000" b="0" i="1" smtClean="0">
                              <a:solidFill>
                                <a:srgbClr val="0070C0"/>
                              </a:solidFill>
                              <a:latin typeface="Cambria Math" panose="02040503050406030204" pitchFamily="18" charset="0"/>
                              <a:ea typeface="Cambria Math"/>
                            </a:rPr>
                            <m:t>ℏ</m:t>
                          </m:r>
                        </m:num>
                        <m:den>
                          <m:r>
                            <a:rPr lang="en-US" altLang="zh-CN" sz="2000" b="0" i="1" smtClean="0">
                              <a:solidFill>
                                <a:srgbClr val="0070C0"/>
                              </a:solidFill>
                              <a:latin typeface="Cambria Math" panose="02040503050406030204" pitchFamily="18" charset="0"/>
                              <a:ea typeface="Cambria Math"/>
                            </a:rPr>
                            <m:t>𝑚</m:t>
                          </m:r>
                          <m:r>
                            <a:rPr lang="en-US" altLang="zh-CN" sz="2000" i="1">
                              <a:solidFill>
                                <a:srgbClr val="0070C0"/>
                              </a:solidFill>
                              <a:latin typeface="Cambria Math"/>
                              <a:ea typeface="Cambria Math"/>
                            </a:rPr>
                            <m:t>𝑐</m:t>
                          </m:r>
                        </m:den>
                      </m:f>
                    </m:oMath>
                  </m:oMathPara>
                </a14:m>
                <a:endParaRPr lang="en-US" altLang="zh-CN" sz="2000" dirty="0">
                  <a:ea typeface="Cambria Math"/>
                </a:endParaRPr>
              </a:p>
              <a:p>
                <a:pPr fontAlgn="ctr"/>
                <a:r>
                  <a:rPr lang="en-US" altLang="zh-CN" sz="2000" dirty="0"/>
                  <a:t>Classical electron radius </a:t>
                </a:r>
                <a14:m>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𝑟</m:t>
                        </m:r>
                      </m:e>
                      <m:sub>
                        <m:r>
                          <a:rPr lang="en-US" altLang="zh-CN" sz="2000" i="1">
                            <a:solidFill>
                              <a:srgbClr val="0070C0"/>
                            </a:solidFill>
                            <a:latin typeface="Cambria Math"/>
                          </a:rPr>
                          <m:t>𝑒</m:t>
                        </m:r>
                      </m:sub>
                    </m:sSub>
                    <m:r>
                      <a:rPr lang="en-US" altLang="zh-CN" sz="2000" i="1">
                        <a:solidFill>
                          <a:srgbClr val="0070C0"/>
                        </a:solidFill>
                        <a:latin typeface="Cambria Math" panose="02040503050406030204" pitchFamily="18" charset="0"/>
                      </a:rPr>
                      <m:t> </m:t>
                    </m:r>
                  </m:oMath>
                </a14:m>
                <a:endParaRPr lang="en-US" altLang="zh-CN" sz="2000" dirty="0"/>
              </a:p>
              <a:p>
                <a:pPr lvl="1" fontAlgn="ctr"/>
                <a:r>
                  <a:rPr lang="en-US" altLang="zh-CN" sz="2000" dirty="0"/>
                  <a:t>Assume electron is a uniformly charged sphere with radius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a:rPr>
                          <m:t>𝑟</m:t>
                        </m:r>
                      </m:e>
                      <m:sub>
                        <m:r>
                          <a:rPr lang="en-US" altLang="zh-CN" sz="2000" i="1">
                            <a:latin typeface="Cambria Math"/>
                          </a:rPr>
                          <m:t>𝑒</m:t>
                        </m:r>
                      </m:sub>
                    </m:sSub>
                  </m:oMath>
                </a14:m>
                <a:r>
                  <a:rPr lang="en-US" altLang="zh-CN" sz="2000" dirty="0"/>
                  <a:t>, then its electro-static potential is</a:t>
                </a:r>
                <a:endParaRPr lang="en-US" altLang="zh-CN" sz="2000" b="0" i="1" dirty="0">
                  <a:latin typeface="Cambria Math" panose="02040503050406030204" pitchFamily="18" charset="0"/>
                </a:endParaRPr>
              </a:p>
              <a:p>
                <a:pPr marL="457188" lvl="1" indent="0" fontAlgn="ctr">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𝐸</m:t>
                      </m:r>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a:rPr>
                            <m:t>3</m:t>
                          </m:r>
                        </m:num>
                        <m:den>
                          <m:r>
                            <a:rPr lang="en-US" altLang="zh-CN" sz="2000" i="1">
                              <a:latin typeface="Cambria Math"/>
                            </a:rPr>
                            <m:t>5</m:t>
                          </m:r>
                        </m:den>
                      </m:f>
                      <m:f>
                        <m:fPr>
                          <m:ctrlPr>
                            <a:rPr lang="en-US" altLang="zh-CN" sz="2000" i="1">
                              <a:latin typeface="Cambria Math" panose="02040503050406030204" pitchFamily="18" charset="0"/>
                            </a:rPr>
                          </m:ctrlPr>
                        </m:fPr>
                        <m:num>
                          <m:sSup>
                            <m:sSupPr>
                              <m:ctrlPr>
                                <a:rPr lang="en-US" altLang="zh-CN" sz="2000" i="1">
                                  <a:latin typeface="Cambria Math" panose="02040503050406030204" pitchFamily="18" charset="0"/>
                                </a:rPr>
                              </m:ctrlPr>
                            </m:sSupPr>
                            <m:e>
                              <m:r>
                                <a:rPr lang="en-US" altLang="zh-CN" sz="2000" i="1">
                                  <a:latin typeface="Cambria Math"/>
                                </a:rPr>
                                <m:t>𝑒</m:t>
                              </m:r>
                            </m:e>
                            <m:sup>
                              <m:r>
                                <a:rPr lang="en-US" altLang="zh-CN" sz="2000" i="1">
                                  <a:latin typeface="Cambria Math"/>
                                </a:rPr>
                                <m:t>2</m:t>
                              </m:r>
                            </m:sup>
                          </m:sSup>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𝑟</m:t>
                              </m:r>
                            </m:e>
                            <m:sub>
                              <m:r>
                                <a:rPr lang="en-US" altLang="zh-CN" sz="2000" i="1">
                                  <a:latin typeface="Cambria Math" panose="02040503050406030204" pitchFamily="18" charset="0"/>
                                </a:rPr>
                                <m:t>𝑒</m:t>
                              </m:r>
                            </m:sub>
                          </m:sSub>
                        </m:den>
                      </m:f>
                      <m:r>
                        <a:rPr lang="en-US" altLang="zh-CN" sz="2000" i="1">
                          <a:latin typeface="Cambria Math"/>
                          <a:ea typeface="Cambria Math"/>
                        </a:rPr>
                        <m:t>~</m:t>
                      </m:r>
                      <m:f>
                        <m:fPr>
                          <m:ctrlPr>
                            <a:rPr lang="en-US" altLang="zh-CN" sz="2000" i="1">
                              <a:latin typeface="Cambria Math" panose="02040503050406030204" pitchFamily="18" charset="0"/>
                            </a:rPr>
                          </m:ctrlPr>
                        </m:fPr>
                        <m:num>
                          <m:sSup>
                            <m:sSupPr>
                              <m:ctrlPr>
                                <a:rPr lang="en-US" altLang="zh-CN" sz="2000" i="1">
                                  <a:latin typeface="Cambria Math" panose="02040503050406030204" pitchFamily="18" charset="0"/>
                                </a:rPr>
                              </m:ctrlPr>
                            </m:sSupPr>
                            <m:e>
                              <m:r>
                                <a:rPr lang="en-US" altLang="zh-CN" sz="2000" i="1">
                                  <a:latin typeface="Cambria Math"/>
                                </a:rPr>
                                <m:t>𝑒</m:t>
                              </m:r>
                            </m:e>
                            <m:sup>
                              <m:r>
                                <a:rPr lang="en-US" altLang="zh-CN" sz="2000" i="1">
                                  <a:latin typeface="Cambria Math"/>
                                </a:rPr>
                                <m:t>2</m:t>
                              </m:r>
                            </m:sup>
                          </m:sSup>
                        </m:num>
                        <m:den>
                          <m:sSub>
                            <m:sSubPr>
                              <m:ctrlPr>
                                <a:rPr lang="en-US" altLang="zh-CN" sz="2000" i="1">
                                  <a:latin typeface="Cambria Math" panose="02040503050406030204" pitchFamily="18" charset="0"/>
                                </a:rPr>
                              </m:ctrlPr>
                            </m:sSubPr>
                            <m:e>
                              <m:r>
                                <a:rPr lang="en-US" altLang="zh-CN" sz="2000" i="1">
                                  <a:latin typeface="Cambria Math"/>
                                </a:rPr>
                                <m:t>𝑟</m:t>
                              </m:r>
                            </m:e>
                            <m:sub>
                              <m:r>
                                <a:rPr lang="en-US" altLang="zh-CN" sz="2000" i="1">
                                  <a:latin typeface="Cambria Math" panose="02040503050406030204" pitchFamily="18" charset="0"/>
                                </a:rPr>
                                <m:t>𝑒</m:t>
                              </m:r>
                            </m:sub>
                          </m:sSub>
                        </m:den>
                      </m:f>
                    </m:oMath>
                  </m:oMathPara>
                </a14:m>
                <a:endParaRPr lang="en-US" altLang="zh-CN" sz="2000" dirty="0"/>
              </a:p>
              <a:p>
                <a:pPr lvl="1" fontAlgn="ctr"/>
                <a:r>
                  <a:rPr lang="en-US" altLang="zh-CN" sz="2000" dirty="0"/>
                  <a:t>Assume it is this energy that gives rise to the electron’s rest mass, </a:t>
                </a:r>
                <a14:m>
                  <m:oMath xmlns:m="http://schemas.openxmlformats.org/officeDocument/2006/math">
                    <m:r>
                      <a:rPr lang="en-US" altLang="zh-CN" sz="2000" b="0" i="1" smtClean="0">
                        <a:latin typeface="Cambria Math" panose="02040503050406030204" pitchFamily="18" charset="0"/>
                      </a:rPr>
                      <m:t>𝐸</m:t>
                    </m:r>
                    <m:r>
                      <a:rPr lang="en-US" altLang="zh-CN" sz="2000" i="1">
                        <a:latin typeface="Cambria Math"/>
                      </a:rPr>
                      <m:t>=</m:t>
                    </m:r>
                    <m:r>
                      <a:rPr lang="en-US" altLang="zh-CN" sz="2000" b="0" i="1" smtClean="0">
                        <a:latin typeface="Cambria Math" panose="02040503050406030204" pitchFamily="18" charset="0"/>
                      </a:rPr>
                      <m:t>𝑚</m:t>
                    </m:r>
                    <m:sSup>
                      <m:sSupPr>
                        <m:ctrlPr>
                          <a:rPr lang="en-US" altLang="zh-CN" sz="2000" i="1">
                            <a:latin typeface="Cambria Math" panose="02040503050406030204" pitchFamily="18" charset="0"/>
                          </a:rPr>
                        </m:ctrlPr>
                      </m:sSupPr>
                      <m:e>
                        <m:r>
                          <a:rPr lang="en-US" altLang="zh-CN" sz="2000" i="1">
                            <a:latin typeface="Cambria Math"/>
                          </a:rPr>
                          <m:t>𝑐</m:t>
                        </m:r>
                      </m:e>
                      <m:sup>
                        <m:r>
                          <a:rPr lang="en-US" altLang="zh-CN" sz="2000" i="1">
                            <a:latin typeface="Cambria Math"/>
                          </a:rPr>
                          <m:t>2</m:t>
                        </m:r>
                      </m:sup>
                    </m:sSup>
                  </m:oMath>
                </a14:m>
                <a:r>
                  <a:rPr lang="en-US" altLang="zh-CN" sz="2000" dirty="0"/>
                  <a:t>, then</a:t>
                </a:r>
              </a:p>
              <a:p>
                <a:pPr marL="0" indent="0" fontAlgn="ctr">
                  <a:buNone/>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a:rPr>
                            <m:t>𝑟</m:t>
                          </m:r>
                        </m:e>
                        <m:sub>
                          <m:r>
                            <a:rPr lang="en-US" altLang="zh-CN" sz="2000" i="1">
                              <a:solidFill>
                                <a:srgbClr val="0070C0"/>
                              </a:solidFill>
                              <a:latin typeface="Cambria Math"/>
                            </a:rPr>
                            <m:t>𝑒</m:t>
                          </m:r>
                        </m:sub>
                      </m:sSub>
                      <m:r>
                        <a:rPr lang="en-US" altLang="zh-CN" sz="2000" i="1">
                          <a:solidFill>
                            <a:srgbClr val="0070C0"/>
                          </a:solidFill>
                          <a:latin typeface="Cambria Math"/>
                        </a:rPr>
                        <m:t>=</m:t>
                      </m:r>
                      <m:f>
                        <m:fPr>
                          <m:ctrlPr>
                            <a:rPr lang="en-US" altLang="zh-CN" sz="2000" i="1">
                              <a:solidFill>
                                <a:srgbClr val="0070C0"/>
                              </a:solidFill>
                              <a:latin typeface="Cambria Math" panose="02040503050406030204" pitchFamily="18" charset="0"/>
                            </a:rPr>
                          </m:ctrlPr>
                        </m:fPr>
                        <m:num>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𝑒</m:t>
                              </m:r>
                            </m:e>
                            <m:sup>
                              <m:r>
                                <a:rPr lang="en-US" altLang="zh-CN" sz="2000" i="1">
                                  <a:solidFill>
                                    <a:srgbClr val="0070C0"/>
                                  </a:solidFill>
                                  <a:latin typeface="Cambria Math"/>
                                </a:rPr>
                                <m:t>2</m:t>
                              </m:r>
                            </m:sup>
                          </m:sSup>
                        </m:num>
                        <m:den>
                          <m:r>
                            <a:rPr lang="en-US" altLang="zh-CN" sz="2000" b="0" i="1" smtClean="0">
                              <a:solidFill>
                                <a:srgbClr val="0070C0"/>
                              </a:solidFill>
                              <a:latin typeface="Cambria Math" panose="02040503050406030204" pitchFamily="18" charset="0"/>
                            </a:rPr>
                            <m:t>𝑚</m:t>
                          </m:r>
                          <m:sSup>
                            <m:sSupPr>
                              <m:ctrlPr>
                                <a:rPr lang="en-US" altLang="zh-CN" sz="2000" i="1">
                                  <a:solidFill>
                                    <a:srgbClr val="0070C0"/>
                                  </a:solidFill>
                                  <a:latin typeface="Cambria Math" panose="02040503050406030204" pitchFamily="18" charset="0"/>
                                </a:rPr>
                              </m:ctrlPr>
                            </m:sSupPr>
                            <m:e>
                              <m:r>
                                <a:rPr lang="en-US" altLang="zh-CN" sz="2000" i="1">
                                  <a:solidFill>
                                    <a:srgbClr val="0070C0"/>
                                  </a:solidFill>
                                  <a:latin typeface="Cambria Math"/>
                                </a:rPr>
                                <m:t>𝑐</m:t>
                              </m:r>
                            </m:e>
                            <m:sup>
                              <m:r>
                                <a:rPr lang="en-US" altLang="zh-CN" sz="2000" i="1">
                                  <a:solidFill>
                                    <a:srgbClr val="0070C0"/>
                                  </a:solidFill>
                                  <a:latin typeface="Cambria Math"/>
                                </a:rPr>
                                <m:t>2</m:t>
                              </m:r>
                            </m:sup>
                          </m:sSup>
                        </m:den>
                      </m:f>
                    </m:oMath>
                  </m:oMathPara>
                </a14:m>
                <a:endParaRPr lang="en-US" altLang="zh-CN" sz="2000" dirty="0"/>
              </a:p>
              <a:p>
                <a:pPr marL="0" indent="0" fontAlgn="ctr">
                  <a:buNone/>
                </a:pPr>
                <a:r>
                  <a:rPr lang="en-US" altLang="zh-CN" sz="2000" dirty="0"/>
                  <a:t>These three important lengths about the electron are related by the same ratio</a:t>
                </a:r>
              </a:p>
              <a:p>
                <a:pPr marL="0" indent="0" fontAlgn="ctr">
                  <a:lnSpc>
                    <a:spcPct val="150000"/>
                  </a:lnSpc>
                  <a:buNone/>
                </a:pPr>
                <a14:m>
                  <m:oMathPara xmlns:m="http://schemas.openxmlformats.org/officeDocument/2006/math">
                    <m:oMathParaPr>
                      <m:jc m:val="centerGroup"/>
                    </m:oMathParaPr>
                    <m:oMath xmlns:m="http://schemas.openxmlformats.org/officeDocument/2006/math">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𝑟</m:t>
                          </m:r>
                        </m:e>
                        <m:sub>
                          <m:r>
                            <a:rPr lang="en-US" altLang="zh-CN" sz="2000" i="1">
                              <a:solidFill>
                                <a:srgbClr val="0070C0"/>
                              </a:solidFill>
                              <a:latin typeface="Cambria Math"/>
                            </a:rPr>
                            <m:t>𝑒</m:t>
                          </m:r>
                        </m:sub>
                      </m:sSub>
                      <m:r>
                        <a:rPr lang="en-US" altLang="zh-CN" sz="2000" i="1">
                          <a:solidFill>
                            <a:srgbClr val="0070C0"/>
                          </a:solidFill>
                          <a:latin typeface="Cambria Math"/>
                        </a:rPr>
                        <m:t>=</m:t>
                      </m:r>
                      <m:r>
                        <a:rPr lang="en-US" altLang="zh-CN" sz="2000" i="1">
                          <a:solidFill>
                            <a:srgbClr val="C00000"/>
                          </a:solidFill>
                          <a:latin typeface="Cambria Math"/>
                        </a:rPr>
                        <m:t>𝛼</m:t>
                      </m:r>
                      <m:f>
                        <m:fPr>
                          <m:ctrlPr>
                            <a:rPr lang="en-US" altLang="zh-CN" sz="2000" i="1">
                              <a:solidFill>
                                <a:srgbClr val="0070C0"/>
                              </a:solidFill>
                              <a:latin typeface="Cambria Math" panose="02040503050406030204" pitchFamily="18" charset="0"/>
                            </a:rPr>
                          </m:ctrlPr>
                        </m:fPr>
                        <m:num>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𝜆</m:t>
                              </m:r>
                            </m:e>
                            <m:sub>
                              <m:r>
                                <a:rPr lang="en-US" altLang="zh-CN" sz="2000" i="1">
                                  <a:solidFill>
                                    <a:srgbClr val="0070C0"/>
                                  </a:solidFill>
                                  <a:latin typeface="Cambria Math"/>
                                </a:rPr>
                                <m:t>𝑒</m:t>
                              </m:r>
                            </m:sub>
                          </m:sSub>
                        </m:num>
                        <m:den>
                          <m:r>
                            <a:rPr lang="en-US" altLang="zh-CN" sz="2000" i="1">
                              <a:solidFill>
                                <a:srgbClr val="0070C0"/>
                              </a:solidFill>
                              <a:latin typeface="Cambria Math" panose="02040503050406030204" pitchFamily="18" charset="0"/>
                            </a:rPr>
                            <m:t>2</m:t>
                          </m:r>
                          <m:r>
                            <a:rPr lang="en-US" altLang="zh-CN" sz="2000" i="1">
                              <a:solidFill>
                                <a:srgbClr val="0070C0"/>
                              </a:solidFill>
                              <a:latin typeface="Cambria Math" panose="02040503050406030204" pitchFamily="18" charset="0"/>
                            </a:rPr>
                            <m:t>𝜋</m:t>
                          </m:r>
                        </m:den>
                      </m:f>
                      <m:r>
                        <a:rPr lang="en-US" altLang="zh-CN" sz="2000" i="1">
                          <a:solidFill>
                            <a:srgbClr val="0070C0"/>
                          </a:solidFill>
                          <a:latin typeface="Cambria Math" panose="02040503050406030204" pitchFamily="18" charset="0"/>
                        </a:rPr>
                        <m:t> </m:t>
                      </m:r>
                      <m:r>
                        <a:rPr lang="zh-CN" altLang="en-US" sz="2000" i="1" smtClean="0">
                          <a:solidFill>
                            <a:srgbClr val="0070C0"/>
                          </a:solidFill>
                          <a:latin typeface="Cambria Math" panose="02040503050406030204" pitchFamily="18" charset="0"/>
                        </a:rPr>
                        <m:t>，</m:t>
                      </m:r>
                      <m:f>
                        <m:fPr>
                          <m:ctrlPr>
                            <a:rPr lang="en-US" altLang="zh-CN" sz="2000" b="0" i="1" smtClean="0">
                              <a:solidFill>
                                <a:srgbClr val="0070C0"/>
                              </a:solidFill>
                              <a:latin typeface="Cambria Math" panose="02040503050406030204" pitchFamily="18" charset="0"/>
                            </a:rPr>
                          </m:ctrlPr>
                        </m:fPr>
                        <m:num>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𝜆</m:t>
                              </m:r>
                            </m:e>
                            <m:sub>
                              <m:r>
                                <a:rPr lang="en-US" altLang="zh-CN" sz="2000" i="1">
                                  <a:solidFill>
                                    <a:srgbClr val="0070C0"/>
                                  </a:solidFill>
                                  <a:latin typeface="Cambria Math"/>
                                </a:rPr>
                                <m:t>𝑒</m:t>
                              </m:r>
                            </m:sub>
                          </m:sSub>
                        </m:num>
                        <m:den>
                          <m:r>
                            <a:rPr lang="en-US" altLang="zh-CN" sz="2000" b="0" i="1" smtClean="0">
                              <a:solidFill>
                                <a:srgbClr val="0070C0"/>
                              </a:solidFill>
                              <a:latin typeface="Cambria Math" panose="02040503050406030204" pitchFamily="18" charset="0"/>
                            </a:rPr>
                            <m:t>2</m:t>
                          </m:r>
                          <m:r>
                            <a:rPr lang="en-US" altLang="zh-CN" sz="2000" b="0" i="1" smtClean="0">
                              <a:solidFill>
                                <a:srgbClr val="0070C0"/>
                              </a:solidFill>
                              <a:latin typeface="Cambria Math" panose="02040503050406030204" pitchFamily="18" charset="0"/>
                            </a:rPr>
                            <m:t>𝜋</m:t>
                          </m:r>
                        </m:den>
                      </m:f>
                      <m:r>
                        <a:rPr lang="en-US" altLang="zh-CN" sz="2000" i="1">
                          <a:solidFill>
                            <a:srgbClr val="0070C0"/>
                          </a:solidFill>
                          <a:latin typeface="Cambria Math"/>
                        </a:rPr>
                        <m:t>=</m:t>
                      </m:r>
                      <m:r>
                        <a:rPr lang="en-US" altLang="zh-CN" sz="2000" i="1">
                          <a:solidFill>
                            <a:srgbClr val="C00000"/>
                          </a:solidFill>
                          <a:latin typeface="Cambria Math"/>
                        </a:rPr>
                        <m:t>𝛼</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a:rPr>
                            <m:t>𝑎</m:t>
                          </m:r>
                        </m:e>
                        <m:sub>
                          <m:r>
                            <a:rPr lang="en-US" altLang="zh-CN" sz="2000" i="1">
                              <a:solidFill>
                                <a:srgbClr val="0070C0"/>
                              </a:solidFill>
                              <a:latin typeface="Cambria Math"/>
                            </a:rPr>
                            <m:t>0</m:t>
                          </m:r>
                        </m:sub>
                      </m:sSub>
                      <m:r>
                        <a:rPr lang="en-US" altLang="zh-CN" sz="2000" b="0" i="1" smtClean="0">
                          <a:solidFill>
                            <a:srgbClr val="0070C0"/>
                          </a:solidFill>
                          <a:latin typeface="Cambria Math" panose="02040503050406030204" pitchFamily="18" charset="0"/>
                        </a:rPr>
                        <m:t>,  </m:t>
                      </m:r>
                    </m:oMath>
                  </m:oMathPara>
                </a14:m>
                <a:endParaRPr lang="en-US" altLang="zh-CN" sz="2000" dirty="0">
                  <a:solidFill>
                    <a:srgbClr val="0070C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8675" y="908720"/>
                <a:ext cx="10563225" cy="5775544"/>
              </a:xfrm>
              <a:blipFill>
                <a:blip r:embed="rId4"/>
                <a:stretch>
                  <a:fillRect l="-577" t="-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9319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dirty="0"/>
              <a:t>Some important figure of single electron atoms or ions</a:t>
            </a: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170726093"/>
                  </p:ext>
                </p:extLst>
              </p:nvPr>
            </p:nvGraphicFramePr>
            <p:xfrm>
              <a:off x="1125564" y="853327"/>
              <a:ext cx="8488125" cy="4692277"/>
            </p:xfrm>
            <a:graphic>
              <a:graphicData uri="http://schemas.openxmlformats.org/drawingml/2006/table">
                <a:tbl>
                  <a:tblPr firstRow="1" bandRow="1">
                    <a:tableStyleId>{5C22544A-7EE6-4342-B048-85BDC9FD1C3A}</a:tableStyleId>
                  </a:tblPr>
                  <a:tblGrid>
                    <a:gridCol w="1596036">
                      <a:extLst>
                        <a:ext uri="{9D8B030D-6E8A-4147-A177-3AD203B41FA5}">
                          <a16:colId xmlns:a16="http://schemas.microsoft.com/office/drawing/2014/main" val="20000"/>
                        </a:ext>
                      </a:extLst>
                    </a:gridCol>
                    <a:gridCol w="4896000">
                      <a:extLst>
                        <a:ext uri="{9D8B030D-6E8A-4147-A177-3AD203B41FA5}">
                          <a16:colId xmlns:a16="http://schemas.microsoft.com/office/drawing/2014/main" val="20002"/>
                        </a:ext>
                      </a:extLst>
                    </a:gridCol>
                    <a:gridCol w="1996089">
                      <a:extLst>
                        <a:ext uri="{9D8B030D-6E8A-4147-A177-3AD203B41FA5}">
                          <a16:colId xmlns:a16="http://schemas.microsoft.com/office/drawing/2014/main" val="20003"/>
                        </a:ext>
                      </a:extLst>
                    </a:gridCol>
                  </a:tblGrid>
                  <a:tr h="362963">
                    <a:tc>
                      <a:txBody>
                        <a:bodyPr/>
                        <a:lstStyle/>
                        <a:p>
                          <a:pPr algn="ctr"/>
                          <a:r>
                            <a:rPr lang="zh-CN" altLang="en-US" sz="2000" dirty="0"/>
                            <a:t>物理量名称</a:t>
                          </a:r>
                        </a:p>
                      </a:txBody>
                      <a:tcPr/>
                    </a:tc>
                    <a:tc>
                      <a:txBody>
                        <a:bodyPr/>
                        <a:lstStyle/>
                        <a:p>
                          <a:pPr algn="ctr"/>
                          <a:r>
                            <a:rPr lang="zh-CN" altLang="en-US" sz="2000" dirty="0"/>
                            <a:t>表达式</a:t>
                          </a:r>
                        </a:p>
                      </a:txBody>
                      <a:tcPr/>
                    </a:tc>
                    <a:tc>
                      <a:txBody>
                        <a:bodyPr/>
                        <a:lstStyle/>
                        <a:p>
                          <a:pPr algn="ctr"/>
                          <a:r>
                            <a:rPr lang="zh-CN" altLang="en-US" sz="2000" dirty="0"/>
                            <a:t>氢原子数值</a:t>
                          </a:r>
                        </a:p>
                      </a:txBody>
                      <a:tcPr/>
                    </a:tc>
                    <a:extLst>
                      <a:ext uri="{0D108BD9-81ED-4DB2-BD59-A6C34878D82A}">
                        <a16:rowId xmlns:a16="http://schemas.microsoft.com/office/drawing/2014/main" val="10000"/>
                      </a:ext>
                    </a:extLst>
                  </a:tr>
                  <a:tr h="608313">
                    <a:tc>
                      <a:txBody>
                        <a:bodyPr/>
                        <a:lstStyle/>
                        <a:p>
                          <a:pPr marL="0" indent="0" algn="ctr">
                            <a:spcBef>
                              <a:spcPts val="600"/>
                            </a:spcBef>
                            <a:buNone/>
                          </a:pPr>
                          <a:r>
                            <a:rPr lang="en-US" altLang="zh-CN" sz="2000" b="0" dirty="0"/>
                            <a:t>Bohr’s speed</a:t>
                          </a:r>
                          <a:endParaRPr lang="zh-CN" altLang="en-US" sz="2000" b="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𝑣</m:t>
                                    </m:r>
                                  </m:e>
                                  <m:sub>
                                    <m:r>
                                      <a:rPr lang="en-US" altLang="zh-CN" sz="2000" b="0" i="1" smtClean="0">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m:t>
                                </m:r>
                                <m:r>
                                  <a:rPr lang="en-US" altLang="zh-CN" sz="2000" b="0" i="1" smtClean="0">
                                    <a:solidFill>
                                      <a:srgbClr val="C00000"/>
                                    </a:solidFill>
                                    <a:latin typeface="Cambria Math" panose="02040503050406030204" pitchFamily="18" charset="0"/>
                                  </a:rPr>
                                  <m:t>𝑍</m:t>
                                </m:r>
                                <m:r>
                                  <a:rPr lang="en-US" altLang="zh-CN" sz="2000" b="0" i="1" smtClean="0">
                                    <a:solidFill>
                                      <a:schemeClr val="tx1"/>
                                    </a:solidFill>
                                    <a:latin typeface="Cambria Math"/>
                                  </a:rPr>
                                  <m:t>𝛼</m:t>
                                </m:r>
                                <m:r>
                                  <a:rPr lang="en-US" altLang="zh-CN" sz="2000" b="0" i="1" smtClean="0">
                                    <a:solidFill>
                                      <a:schemeClr val="tx1"/>
                                    </a:solidFill>
                                    <a:latin typeface="Cambria Math"/>
                                  </a:rPr>
                                  <m:t>𝑐</m:t>
                                </m:r>
                              </m:oMath>
                            </m:oMathPara>
                          </a14:m>
                          <a:endParaRPr lang="zh-CN" altLang="en-US" sz="2000" b="0" dirty="0">
                            <a:solidFill>
                              <a:schemeClr val="tx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US" altLang="zh-CN" sz="2000" b="0" i="1" smtClean="0">
                                        <a:solidFill>
                                          <a:srgbClr val="0070C0"/>
                                        </a:solidFill>
                                        <a:latin typeface="Cambria Math" panose="02040503050406030204" pitchFamily="18" charset="0"/>
                                      </a:rPr>
                                    </m:ctrlPr>
                                  </m:fPr>
                                  <m:num>
                                    <m:r>
                                      <a:rPr lang="en-US" altLang="zh-CN" sz="2000" b="0" i="1" smtClean="0">
                                        <a:solidFill>
                                          <a:srgbClr val="0070C0"/>
                                        </a:solidFill>
                                        <a:latin typeface="Cambria Math"/>
                                      </a:rPr>
                                      <m:t>1</m:t>
                                    </m:r>
                                  </m:num>
                                  <m:den>
                                    <m:r>
                                      <a:rPr lang="en-US" altLang="zh-CN" sz="2000" b="0" i="1" smtClean="0">
                                        <a:solidFill>
                                          <a:srgbClr val="0070C0"/>
                                        </a:solidFill>
                                        <a:latin typeface="Cambria Math"/>
                                      </a:rPr>
                                      <m:t>137</m:t>
                                    </m:r>
                                  </m:den>
                                </m:f>
                                <m:r>
                                  <a:rPr lang="en-US" altLang="zh-CN" sz="2000" b="0" i="1" smtClean="0">
                                    <a:solidFill>
                                      <a:srgbClr val="0070C0"/>
                                    </a:solidFill>
                                    <a:latin typeface="Cambria Math"/>
                                  </a:rPr>
                                  <m:t>𝑐</m:t>
                                </m:r>
                              </m:oMath>
                            </m:oMathPara>
                          </a14:m>
                          <a:endParaRPr lang="zh-CN" altLang="en-US" sz="2000" b="0" dirty="0">
                            <a:solidFill>
                              <a:srgbClr val="0070C0"/>
                            </a:solidFill>
                          </a:endParaRPr>
                        </a:p>
                      </a:txBody>
                      <a:tcPr anchor="ctr"/>
                    </a:tc>
                    <a:extLst>
                      <a:ext uri="{0D108BD9-81ED-4DB2-BD59-A6C34878D82A}">
                        <a16:rowId xmlns:a16="http://schemas.microsoft.com/office/drawing/2014/main" val="10004"/>
                      </a:ext>
                    </a:extLst>
                  </a:tr>
                  <a:tr h="608313">
                    <a:tc>
                      <a:txBody>
                        <a:bodyPr/>
                        <a:lstStyle/>
                        <a:p>
                          <a:pPr marL="0" marR="0" indent="0" algn="ctr" defTabSz="914400" rtl="0" eaLnBrk="1" fontAlgn="auto" latinLnBrk="0" hangingPunct="1">
                            <a:lnSpc>
                              <a:spcPct val="100000"/>
                            </a:lnSpc>
                            <a:spcBef>
                              <a:spcPts val="600"/>
                            </a:spcBef>
                            <a:spcAft>
                              <a:spcPts val="0"/>
                            </a:spcAft>
                            <a:buClrTx/>
                            <a:buSzTx/>
                            <a:buFontTx/>
                            <a:buNone/>
                            <a:tabLst/>
                            <a:defRPr/>
                          </a:pPr>
                          <a:endParaRPr lang="zh-CN" altLang="en-US" sz="2000" b="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𝑛</m:t>
                                    </m:r>
                                  </m:sub>
                                </m:sSub>
                                <m:r>
                                  <a:rPr lang="en-US" altLang="zh-CN" sz="2000" b="0" i="1" smtClean="0">
                                    <a:latin typeface="Cambria Math" panose="02040503050406030204" pitchFamily="18" charset="0"/>
                                  </a:rPr>
                                  <m:t>=</m:t>
                                </m:r>
                                <m:f>
                                  <m:fPr>
                                    <m:ctrlPr>
                                      <a:rPr lang="en-US" altLang="zh-CN" sz="2000" b="0" i="1" smtClean="0">
                                        <a:solidFill>
                                          <a:srgbClr val="C00000"/>
                                        </a:solidFill>
                                        <a:latin typeface="Cambria Math" panose="02040503050406030204" pitchFamily="18" charset="0"/>
                                      </a:rPr>
                                    </m:ctrlPr>
                                  </m:fPr>
                                  <m:num>
                                    <m:r>
                                      <a:rPr lang="en-US" altLang="zh-CN" sz="2000" b="0" i="1" smtClean="0">
                                        <a:solidFill>
                                          <a:srgbClr val="C00000"/>
                                        </a:solidFill>
                                        <a:latin typeface="Cambria Math" panose="02040503050406030204" pitchFamily="18" charset="0"/>
                                      </a:rPr>
                                      <m:t>1</m:t>
                                    </m:r>
                                  </m:num>
                                  <m:den>
                                    <m:r>
                                      <a:rPr lang="en-US" altLang="zh-CN" sz="2000" b="0" i="1" smtClean="0">
                                        <a:solidFill>
                                          <a:srgbClr val="C00000"/>
                                        </a:solidFill>
                                        <a:latin typeface="Cambria Math"/>
                                      </a:rPr>
                                      <m:t>𝑛</m:t>
                                    </m:r>
                                  </m:den>
                                </m:f>
                                <m:sSub>
                                  <m:sSubPr>
                                    <m:ctrlPr>
                                      <a:rPr lang="en-US" altLang="zh-CN" sz="2000" b="0" i="1" smtClean="0">
                                        <a:latin typeface="Cambria Math" panose="02040503050406030204" pitchFamily="18" charset="0"/>
                                      </a:rPr>
                                    </m:ctrlPr>
                                  </m:sSubPr>
                                  <m:e>
                                    <m:r>
                                      <a:rPr lang="en-US" altLang="zh-CN" sz="2000" b="0" i="1" smtClean="0">
                                        <a:latin typeface="Cambria Math"/>
                                      </a:rPr>
                                      <m:t>𝑣</m:t>
                                    </m:r>
                                  </m:e>
                                  <m:sub>
                                    <m:r>
                                      <a:rPr lang="en-US" altLang="zh-CN" sz="2000" b="0" i="1" smtClean="0">
                                        <a:latin typeface="Cambria Math"/>
                                      </a:rPr>
                                      <m:t>1</m:t>
                                    </m:r>
                                  </m:sub>
                                </m:sSub>
                              </m:oMath>
                            </m:oMathPara>
                          </a14:m>
                          <a:endParaRPr lang="zh-CN" altLang="en-US" sz="2000" b="0" dirty="0"/>
                        </a:p>
                      </a:txBody>
                      <a:tcPr anchor="ctr"/>
                    </a:tc>
                    <a:tc>
                      <a:txBody>
                        <a:bodyPr/>
                        <a:lstStyle/>
                        <a:p>
                          <a:pPr algn="ctr"/>
                          <a:endParaRPr lang="zh-CN" altLang="en-US" sz="2000" b="0" i="0" dirty="0">
                            <a:solidFill>
                              <a:srgbClr val="0070C0"/>
                            </a:solidFill>
                          </a:endParaRPr>
                        </a:p>
                      </a:txBody>
                      <a:tcPr anchor="ctr"/>
                    </a:tc>
                    <a:extLst>
                      <a:ext uri="{0D108BD9-81ED-4DB2-BD59-A6C34878D82A}">
                        <a16:rowId xmlns:a16="http://schemas.microsoft.com/office/drawing/2014/main" val="10005"/>
                      </a:ext>
                    </a:extLst>
                  </a:tr>
                  <a:tr h="659500">
                    <a:tc>
                      <a:txBody>
                        <a:bodyPr/>
                        <a:lstStyle/>
                        <a:p>
                          <a:pPr marL="0" marR="0" indent="0" algn="ctr" defTabSz="914400" rtl="0" eaLnBrk="1" fontAlgn="auto" latinLnBrk="0" hangingPunct="1">
                            <a:lnSpc>
                              <a:spcPct val="100000"/>
                            </a:lnSpc>
                            <a:spcBef>
                              <a:spcPts val="600"/>
                            </a:spcBef>
                            <a:spcAft>
                              <a:spcPts val="0"/>
                            </a:spcAft>
                            <a:buClrTx/>
                            <a:buSzTx/>
                            <a:buFontTx/>
                            <a:buNone/>
                            <a:tabLst/>
                            <a:defRPr/>
                          </a:pPr>
                          <a:r>
                            <a:rPr lang="en-US" altLang="zh-CN" sz="2000" b="0" dirty="0">
                              <a:solidFill>
                                <a:schemeClr val="tx1"/>
                              </a:solidFill>
                              <a:effectLst/>
                            </a:rPr>
                            <a:t>Bohr’s radius</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70C0"/>
                                        </a:solidFill>
                                        <a:latin typeface="Cambria Math" panose="02040503050406030204" pitchFamily="18" charset="0"/>
                                        <a:ea typeface="Cambria Math"/>
                                      </a:rPr>
                                    </m:ctrlPr>
                                  </m:sSubPr>
                                  <m:e>
                                    <m:r>
                                      <a:rPr lang="en-US" altLang="zh-CN" sz="2000" b="0" i="1" smtClean="0">
                                        <a:solidFill>
                                          <a:srgbClr val="0070C0"/>
                                        </a:solidFill>
                                        <a:latin typeface="Cambria Math" panose="02040503050406030204" pitchFamily="18" charset="0"/>
                                        <a:ea typeface="Cambria Math"/>
                                      </a:rPr>
                                      <m:t>𝑎</m:t>
                                    </m:r>
                                  </m:e>
                                  <m:sub>
                                    <m:r>
                                      <a:rPr lang="en-US" altLang="zh-CN" sz="2000" b="0" i="1" smtClean="0">
                                        <a:solidFill>
                                          <a:srgbClr val="0070C0"/>
                                        </a:solidFill>
                                        <a:latin typeface="Cambria Math" panose="02040503050406030204" pitchFamily="18" charset="0"/>
                                        <a:ea typeface="Cambria Math"/>
                                      </a:rPr>
                                      <m:t>0</m:t>
                                    </m:r>
                                  </m:sub>
                                </m:sSub>
                                <m:r>
                                  <a:rPr lang="en-US" altLang="zh-CN" sz="2000" b="0" i="1" smtClean="0">
                                    <a:solidFill>
                                      <a:srgbClr val="0070C0"/>
                                    </a:solidFill>
                                    <a:latin typeface="Cambria Math" panose="02040503050406030204" pitchFamily="18" charset="0"/>
                                    <a:ea typeface="Cambria Math"/>
                                  </a:rPr>
                                  <m:t>=</m:t>
                                </m:r>
                                <m:f>
                                  <m:fPr>
                                    <m:ctrlPr>
                                      <a:rPr lang="en-US" altLang="zh-CN" sz="2000" b="0" i="1" smtClean="0">
                                        <a:solidFill>
                                          <a:srgbClr val="0070C0"/>
                                        </a:solidFill>
                                        <a:latin typeface="Cambria Math" panose="02040503050406030204" pitchFamily="18" charset="0"/>
                                        <a:ea typeface="Cambria Math"/>
                                      </a:rPr>
                                    </m:ctrlPr>
                                  </m:fPr>
                                  <m:num>
                                    <m:r>
                                      <a:rPr lang="en-US" altLang="zh-CN" sz="2000" b="0" i="1" smtClean="0">
                                        <a:solidFill>
                                          <a:srgbClr val="0070C0"/>
                                        </a:solidFill>
                                        <a:latin typeface="Cambria Math"/>
                                        <a:ea typeface="Cambria Math"/>
                                      </a:rPr>
                                      <m:t>ℏ</m:t>
                                    </m:r>
                                  </m:num>
                                  <m:den>
                                    <m:r>
                                      <a:rPr lang="en-US" altLang="zh-CN" sz="2000" b="0" i="1" smtClean="0">
                                        <a:solidFill>
                                          <a:srgbClr val="0070C0"/>
                                        </a:solidFill>
                                        <a:latin typeface="Cambria Math" panose="02040503050406030204" pitchFamily="18" charset="0"/>
                                        <a:ea typeface="Cambria Math"/>
                                      </a:rPr>
                                      <m:t>𝑚</m:t>
                                    </m:r>
                                    <m:r>
                                      <a:rPr lang="en-US" altLang="zh-CN" sz="2000" b="0" i="1" smtClean="0">
                                        <a:solidFill>
                                          <a:srgbClr val="0070C0"/>
                                        </a:solidFill>
                                        <a:latin typeface="Cambria Math"/>
                                      </a:rPr>
                                      <m:t>𝛼</m:t>
                                    </m:r>
                                    <m:r>
                                      <a:rPr lang="en-US" altLang="zh-CN" sz="2000" b="0" i="1" smtClean="0">
                                        <a:solidFill>
                                          <a:srgbClr val="0070C0"/>
                                        </a:solidFill>
                                        <a:latin typeface="Cambria Math"/>
                                        <a:ea typeface="Cambria Math"/>
                                      </a:rPr>
                                      <m:t>𝑐</m:t>
                                    </m:r>
                                  </m:den>
                                </m:f>
                                <m:r>
                                  <a:rPr lang="en-US" altLang="zh-CN" sz="2000" b="0" i="1" smtClean="0">
                                    <a:solidFill>
                                      <a:srgbClr val="0070C0"/>
                                    </a:solidFill>
                                    <a:latin typeface="Cambria Math" panose="02040503050406030204" pitchFamily="18" charset="0"/>
                                    <a:ea typeface="Cambria Math"/>
                                  </a:rPr>
                                  <m:t>,  </m:t>
                                </m:r>
                                <m:sSub>
                                  <m:sSubPr>
                                    <m:ctrlPr>
                                      <a:rPr lang="en-US" altLang="zh-CN" sz="2000" b="0" i="1" smtClean="0">
                                        <a:solidFill>
                                          <a:schemeClr val="tx1"/>
                                        </a:solidFill>
                                        <a:latin typeface="Cambria Math" panose="02040503050406030204" pitchFamily="18" charset="0"/>
                                        <a:ea typeface="Cambria Math"/>
                                      </a:rPr>
                                    </m:ctrlPr>
                                  </m:sSubPr>
                                  <m:e>
                                    <m:r>
                                      <a:rPr lang="en-US" altLang="zh-CN" sz="2000" b="0" i="1" smtClean="0">
                                        <a:solidFill>
                                          <a:schemeClr val="tx1"/>
                                        </a:solidFill>
                                        <a:latin typeface="Cambria Math" panose="02040503050406030204" pitchFamily="18" charset="0"/>
                                        <a:ea typeface="Cambria Math"/>
                                      </a:rPr>
                                      <m:t>𝑟</m:t>
                                    </m:r>
                                  </m:e>
                                  <m:sub>
                                    <m:r>
                                      <a:rPr lang="en-US" altLang="zh-CN" sz="2000" b="0" i="1" smtClean="0">
                                        <a:solidFill>
                                          <a:schemeClr val="tx1"/>
                                        </a:solidFill>
                                        <a:latin typeface="Cambria Math" panose="02040503050406030204" pitchFamily="18" charset="0"/>
                                        <a:ea typeface="Cambria Math"/>
                                      </a:rPr>
                                      <m:t>1</m:t>
                                    </m:r>
                                  </m:sub>
                                </m:sSub>
                                <m:r>
                                  <a:rPr lang="en-US" altLang="zh-CN" sz="2000" b="0" i="1" smtClean="0">
                                    <a:solidFill>
                                      <a:schemeClr val="tx1"/>
                                    </a:solidFill>
                                    <a:effectLst/>
                                    <a:latin typeface="Cambria Math" panose="02040503050406030204" pitchFamily="18" charset="0"/>
                                  </a:rPr>
                                  <m:t>=</m:t>
                                </m:r>
                                <m:f>
                                  <m:f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a:cs typeface="+mn-cs"/>
                                      </a:rPr>
                                    </m:ctrlPr>
                                  </m:fPr>
                                  <m:num>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ea typeface="Cambria Math"/>
                                        <a:cs typeface="+mn-cs"/>
                                      </a:rPr>
                                      <m:t>ℏ</m:t>
                                    </m:r>
                                  </m:num>
                                  <m:den>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ea typeface="Cambria Math"/>
                                        <a:cs typeface="+mn-cs"/>
                                      </a:rPr>
                                      <m:t>𝑚</m:t>
                                    </m:r>
                                    <m:sSub>
                                      <m:sSubPr>
                                        <m:ctrlP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ea typeface="Cambria Math"/>
                                            <a:cs typeface="+mn-cs"/>
                                          </a:rPr>
                                        </m:ctrlPr>
                                      </m:sSubPr>
                                      <m:e>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ea typeface="Cambria Math"/>
                                            <a:cs typeface="+mn-cs"/>
                                          </a:rPr>
                                          <m:t>𝑣</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a:cs typeface="+mn-cs"/>
                                          </a:rPr>
                                          <m:t>1</m:t>
                                        </m:r>
                                      </m:sub>
                                    </m:sSub>
                                  </m:den>
                                </m:f>
                                <m:r>
                                  <a:rPr lang="en-US" altLang="zh-CN" sz="2000" b="0" i="1" smtClean="0">
                                    <a:solidFill>
                                      <a:schemeClr val="tx1"/>
                                    </a:solidFill>
                                    <a:latin typeface="Cambria Math"/>
                                  </a:rPr>
                                  <m:t>=</m:t>
                                </m:r>
                                <m:f>
                                  <m:fPr>
                                    <m:ctrlPr>
                                      <a:rPr lang="en-US" altLang="zh-CN" sz="2000" b="0" i="1" smtClean="0">
                                        <a:solidFill>
                                          <a:srgbClr val="C00000"/>
                                        </a:solidFill>
                                        <a:latin typeface="Cambria Math" panose="02040503050406030204" pitchFamily="18" charset="0"/>
                                      </a:rPr>
                                    </m:ctrlPr>
                                  </m:fPr>
                                  <m:num>
                                    <m:r>
                                      <a:rPr lang="en-US" altLang="zh-CN" sz="2000" b="0" i="1" smtClean="0">
                                        <a:solidFill>
                                          <a:srgbClr val="C00000"/>
                                        </a:solidFill>
                                        <a:latin typeface="Cambria Math" panose="02040503050406030204" pitchFamily="18" charset="0"/>
                                      </a:rPr>
                                      <m:t>1</m:t>
                                    </m:r>
                                  </m:num>
                                  <m:den>
                                    <m:r>
                                      <a:rPr lang="en-US" altLang="zh-CN" sz="2000" b="0" i="1" smtClean="0">
                                        <a:solidFill>
                                          <a:srgbClr val="C00000"/>
                                        </a:solidFill>
                                        <a:latin typeface="Cambria Math" panose="02040503050406030204" pitchFamily="18" charset="0"/>
                                        <a:ea typeface="Cambria Math"/>
                                      </a:rPr>
                                      <m:t>𝑍</m:t>
                                    </m:r>
                                  </m:den>
                                </m:f>
                                <m:sSub>
                                  <m:sSubPr>
                                    <m:ctrlPr>
                                      <a:rPr lang="en-US" altLang="zh-CN" sz="2000" b="0" i="1" smtClean="0">
                                        <a:solidFill>
                                          <a:srgbClr val="0070C0"/>
                                        </a:solidFill>
                                        <a:latin typeface="Cambria Math" panose="02040503050406030204" pitchFamily="18" charset="0"/>
                                        <a:ea typeface="Cambria Math"/>
                                      </a:rPr>
                                    </m:ctrlPr>
                                  </m:sSubPr>
                                  <m:e>
                                    <m:r>
                                      <a:rPr lang="en-US" altLang="zh-CN" sz="2000" b="0" i="1" smtClean="0">
                                        <a:solidFill>
                                          <a:srgbClr val="0070C0"/>
                                        </a:solidFill>
                                        <a:latin typeface="Cambria Math" panose="02040503050406030204" pitchFamily="18" charset="0"/>
                                        <a:ea typeface="Cambria Math"/>
                                      </a:rPr>
                                      <m:t>𝑎</m:t>
                                    </m:r>
                                  </m:e>
                                  <m:sub>
                                    <m:r>
                                      <a:rPr lang="en-US" altLang="zh-CN" sz="2000" b="0" i="1" smtClean="0">
                                        <a:solidFill>
                                          <a:srgbClr val="0070C0"/>
                                        </a:solidFill>
                                        <a:latin typeface="Cambria Math" panose="02040503050406030204" pitchFamily="18" charset="0"/>
                                        <a:ea typeface="Cambria Math"/>
                                      </a:rPr>
                                      <m:t>0</m:t>
                                    </m:r>
                                  </m:sub>
                                </m:sSub>
                              </m:oMath>
                            </m:oMathPara>
                          </a14:m>
                          <a:endParaRPr lang="zh-CN" altLang="en-US" sz="2000" b="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70C0"/>
                                        </a:solidFill>
                                        <a:effectLst/>
                                        <a:latin typeface="Cambria Math" panose="02040503050406030204" pitchFamily="18" charset="0"/>
                                      </a:rPr>
                                    </m:ctrlPr>
                                  </m:sSubPr>
                                  <m:e>
                                    <m:r>
                                      <a:rPr lang="en-US" altLang="zh-CN" sz="2000" b="0" i="1" smtClean="0">
                                        <a:solidFill>
                                          <a:srgbClr val="0070C0"/>
                                        </a:solidFill>
                                        <a:effectLst/>
                                        <a:latin typeface="Cambria Math"/>
                                      </a:rPr>
                                      <m:t>𝑎</m:t>
                                    </m:r>
                                  </m:e>
                                  <m:sub>
                                    <m:r>
                                      <a:rPr lang="en-US" altLang="zh-CN" sz="2000" b="0" i="1" smtClean="0">
                                        <a:solidFill>
                                          <a:srgbClr val="0070C0"/>
                                        </a:solidFill>
                                        <a:effectLst/>
                                        <a:latin typeface="Cambria Math"/>
                                      </a:rPr>
                                      <m:t>0</m:t>
                                    </m:r>
                                  </m:sub>
                                </m:sSub>
                                <m:r>
                                  <a:rPr lang="en-US" altLang="zh-CN" sz="2000" b="0" i="1" smtClean="0">
                                    <a:solidFill>
                                      <a:srgbClr val="0070C0"/>
                                    </a:solidFill>
                                    <a:effectLst/>
                                    <a:latin typeface="Cambria Math" panose="02040503050406030204" pitchFamily="18" charset="0"/>
                                  </a:rPr>
                                  <m:t>=</m:t>
                                </m:r>
                                <m:r>
                                  <a:rPr lang="en-US" altLang="zh-CN" sz="2000" b="0" i="1" smtClean="0">
                                    <a:solidFill>
                                      <a:srgbClr val="0070C0"/>
                                    </a:solidFill>
                                    <a:latin typeface="Cambria Math"/>
                                  </a:rPr>
                                  <m:t>0.5</m:t>
                                </m:r>
                                <m:r>
                                  <a:rPr lang="en-US" altLang="zh-CN" sz="2000" b="0" i="1" smtClean="0">
                                    <a:solidFill>
                                      <a:srgbClr val="0070C0"/>
                                    </a:solidFill>
                                    <a:latin typeface="Cambria Math" panose="02040503050406030204" pitchFamily="18" charset="0"/>
                                  </a:rPr>
                                  <m:t>3</m:t>
                                </m:r>
                                <m:r>
                                  <a:rPr lang="en-US" altLang="zh-CN" sz="2000" b="0" i="1" smtClean="0">
                                    <a:solidFill>
                                      <a:srgbClr val="0070C0"/>
                                    </a:solidFill>
                                    <a:latin typeface="Cambria Math"/>
                                  </a:rPr>
                                  <m:t> </m:t>
                                </m:r>
                                <m:r>
                                  <a:rPr lang="en-US" altLang="zh-CN" sz="2000" b="0" i="1" smtClean="0">
                                    <a:solidFill>
                                      <a:srgbClr val="0070C0"/>
                                    </a:solidFill>
                                    <a:latin typeface="Cambria Math" panose="02040503050406030204" pitchFamily="18" charset="0"/>
                                  </a:rPr>
                                  <m:t>Å</m:t>
                                </m:r>
                              </m:oMath>
                            </m:oMathPara>
                          </a14:m>
                          <a:endParaRPr lang="zh-CN" altLang="en-US" sz="2000" b="0" i="0" dirty="0">
                            <a:solidFill>
                              <a:srgbClr val="0070C0"/>
                            </a:solidFill>
                          </a:endParaRPr>
                        </a:p>
                      </a:txBody>
                      <a:tcPr anchor="ctr"/>
                    </a:tc>
                    <a:extLst>
                      <a:ext uri="{0D108BD9-81ED-4DB2-BD59-A6C34878D82A}">
                        <a16:rowId xmlns:a16="http://schemas.microsoft.com/office/drawing/2014/main" val="2526132069"/>
                      </a:ext>
                    </a:extLst>
                  </a:tr>
                  <a:tr h="538996">
                    <a:tc>
                      <a:txBody>
                        <a:bodyPr/>
                        <a:lstStyle/>
                        <a:p>
                          <a:pPr marL="0" indent="0" algn="ctr">
                            <a:spcBef>
                              <a:spcPts val="600"/>
                            </a:spcBef>
                            <a:buNone/>
                          </a:pPr>
                          <a:endParaRPr lang="zh-CN" altLang="en-US" sz="2000" b="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𝑛</m:t>
                                    </m:r>
                                  </m:sub>
                                </m:sSub>
                                <m:r>
                                  <a:rPr lang="en-US" altLang="zh-CN" sz="2000" b="0" i="1" smtClean="0">
                                    <a:latin typeface="Cambria Math" panose="02040503050406030204" pitchFamily="18" charset="0"/>
                                  </a:rPr>
                                  <m:t>=</m:t>
                                </m:r>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a:rPr>
                                      <m:t>𝑛</m:t>
                                    </m:r>
                                  </m:e>
                                  <m:sup>
                                    <m:r>
                                      <a:rPr lang="en-US" altLang="zh-CN" sz="2000" b="0" i="1" smtClean="0">
                                        <a:solidFill>
                                          <a:srgbClr val="C00000"/>
                                        </a:solidFill>
                                        <a:latin typeface="Cambria Math"/>
                                      </a:rPr>
                                      <m:t>2</m:t>
                                    </m:r>
                                  </m:sup>
                                </m:sSup>
                                <m:sSub>
                                  <m:sSubPr>
                                    <m:ctrlPr>
                                      <a:rPr lang="en-US" altLang="zh-CN" sz="2000" b="0" i="1" smtClean="0">
                                        <a:latin typeface="Cambria Math" panose="02040503050406030204" pitchFamily="18" charset="0"/>
                                      </a:rPr>
                                    </m:ctrlPr>
                                  </m:sSubPr>
                                  <m:e>
                                    <m:r>
                                      <a:rPr lang="en-US" altLang="zh-CN" sz="2000" b="0" i="1" smtClean="0">
                                        <a:latin typeface="Cambria Math"/>
                                      </a:rPr>
                                      <m:t>𝑟</m:t>
                                    </m:r>
                                  </m:e>
                                  <m:sub>
                                    <m:r>
                                      <a:rPr lang="en-US" altLang="zh-CN" sz="2000" b="0" i="1" smtClean="0">
                                        <a:latin typeface="Cambria Math"/>
                                      </a:rPr>
                                      <m:t>1</m:t>
                                    </m:r>
                                  </m:sub>
                                </m:sSub>
                              </m:oMath>
                            </m:oMathPara>
                          </a14:m>
                          <a:endParaRPr lang="zh-CN" altLang="en-US" sz="2000" b="0" dirty="0"/>
                        </a:p>
                      </a:txBody>
                      <a:tcPr anchor="ctr"/>
                    </a:tc>
                    <a:tc>
                      <a:txBody>
                        <a:bodyPr/>
                        <a:lstStyle/>
                        <a:p>
                          <a:pPr algn="ctr"/>
                          <a:endParaRPr lang="zh-CN" altLang="en-US" sz="2000" b="0" dirty="0">
                            <a:solidFill>
                              <a:srgbClr val="0070C0"/>
                            </a:solidFill>
                          </a:endParaRPr>
                        </a:p>
                      </a:txBody>
                      <a:tcPr anchor="ctr"/>
                    </a:tc>
                    <a:extLst>
                      <a:ext uri="{0D108BD9-81ED-4DB2-BD59-A6C34878D82A}">
                        <a16:rowId xmlns:a16="http://schemas.microsoft.com/office/drawing/2014/main" val="3441730544"/>
                      </a:ext>
                    </a:extLst>
                  </a:tr>
                  <a:tr h="644027">
                    <a:tc>
                      <a:txBody>
                        <a:bodyPr/>
                        <a:lstStyle/>
                        <a:p>
                          <a:pPr marL="0" indent="0" algn="ctr">
                            <a:spcBef>
                              <a:spcPts val="600"/>
                            </a:spcBef>
                            <a:buNone/>
                          </a:pPr>
                          <a:r>
                            <a:rPr lang="en-US" altLang="zh-CN" sz="2000" b="0" dirty="0"/>
                            <a:t>Energy levels</a:t>
                          </a:r>
                          <a:endParaRPr lang="zh-CN" altLang="en-US" sz="2000" b="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1"/>
                                        </a:solidFill>
                                        <a:latin typeface="Cambria Math" panose="02040503050406030204" pitchFamily="18" charset="0"/>
                                        <a:ea typeface="Cambria Math"/>
                                      </a:rPr>
                                    </m:ctrlPr>
                                  </m:sSubPr>
                                  <m:e>
                                    <m:r>
                                      <a:rPr lang="en-US" altLang="zh-CN" sz="2000" b="0" i="1" smtClean="0">
                                        <a:solidFill>
                                          <a:schemeClr val="tx1"/>
                                        </a:solidFill>
                                        <a:latin typeface="Cambria Math"/>
                                        <a:ea typeface="Cambria Math"/>
                                      </a:rPr>
                                      <m:t>𝐸</m:t>
                                    </m:r>
                                  </m:e>
                                  <m:sub>
                                    <m:r>
                                      <a:rPr lang="en-US" altLang="zh-CN" sz="2000" b="0" i="1" smtClean="0">
                                        <a:solidFill>
                                          <a:schemeClr val="tx1"/>
                                        </a:solidFill>
                                        <a:latin typeface="Cambria Math" panose="02040503050406030204" pitchFamily="18" charset="0"/>
                                        <a:ea typeface="Cambria Math"/>
                                      </a:rPr>
                                      <m:t>𝑛</m:t>
                                    </m:r>
                                  </m:sub>
                                </m:sSub>
                                <m:r>
                                  <a:rPr lang="en-US" altLang="zh-CN" sz="2000" b="0" i="1" smtClean="0">
                                    <a:solidFill>
                                      <a:schemeClr val="tx1"/>
                                    </a:solidFill>
                                    <a:latin typeface="Cambria Math" panose="02040503050406030204" pitchFamily="18" charset="0"/>
                                    <a:ea typeface="Cambria Math"/>
                                  </a:rPr>
                                  <m:t>=−</m:t>
                                </m:r>
                                <m:f>
                                  <m:fPr>
                                    <m:ctrlPr>
                                      <a:rPr lang="en-US" altLang="zh-CN" sz="2000" b="0" i="1" smtClean="0">
                                        <a:solidFill>
                                          <a:srgbClr val="C00000"/>
                                        </a:solidFill>
                                        <a:latin typeface="Cambria Math" panose="02040503050406030204" pitchFamily="18" charset="0"/>
                                      </a:rPr>
                                    </m:ctrlPr>
                                  </m:fPr>
                                  <m:num>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𝑍</m:t>
                                        </m:r>
                                      </m:e>
                                      <m:sup>
                                        <m:r>
                                          <a:rPr lang="en-US" altLang="zh-CN" sz="2000" b="0" i="1" smtClean="0">
                                            <a:solidFill>
                                              <a:srgbClr val="C00000"/>
                                            </a:solidFill>
                                            <a:latin typeface="Cambria Math" panose="02040503050406030204" pitchFamily="18" charset="0"/>
                                          </a:rPr>
                                          <m:t>2</m:t>
                                        </m:r>
                                      </m:sup>
                                    </m:sSup>
                                  </m:num>
                                  <m:den>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𝑛</m:t>
                                        </m:r>
                                      </m:e>
                                      <m:sup>
                                        <m:r>
                                          <a:rPr lang="en-US" altLang="zh-CN" sz="2000" b="0" i="1" smtClean="0">
                                            <a:solidFill>
                                              <a:srgbClr val="C00000"/>
                                            </a:solidFill>
                                            <a:latin typeface="Cambria Math" panose="02040503050406030204" pitchFamily="18" charset="0"/>
                                          </a:rPr>
                                          <m:t>2</m:t>
                                        </m:r>
                                      </m:sup>
                                    </m:sSup>
                                  </m:den>
                                </m:f>
                                <m:r>
                                  <a:rPr lang="en-US" altLang="zh-CN" sz="2000" b="0" i="1" smtClean="0">
                                    <a:latin typeface="Cambria Math"/>
                                  </a:rPr>
                                  <m:t>𝑅h𝑐</m:t>
                                </m:r>
                                <m:r>
                                  <a:rPr lang="en-US" altLang="zh-CN" sz="2000" b="0" i="1" smtClean="0">
                                    <a:latin typeface="Cambria Math"/>
                                  </a:rPr>
                                  <m:t>=−</m:t>
                                </m:r>
                                <m:f>
                                  <m:fPr>
                                    <m:ctrlPr>
                                      <a:rPr lang="en-US" altLang="zh-CN" sz="2000" b="0" i="1" smtClean="0">
                                        <a:solidFill>
                                          <a:srgbClr val="C00000"/>
                                        </a:solidFill>
                                        <a:latin typeface="Cambria Math" panose="02040503050406030204" pitchFamily="18" charset="0"/>
                                      </a:rPr>
                                    </m:ctrlPr>
                                  </m:fPr>
                                  <m:num>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𝑍</m:t>
                                        </m:r>
                                      </m:e>
                                      <m:sup>
                                        <m:r>
                                          <a:rPr lang="en-US" altLang="zh-CN" sz="2000" b="0" i="1" smtClean="0">
                                            <a:solidFill>
                                              <a:srgbClr val="C00000"/>
                                            </a:solidFill>
                                            <a:latin typeface="Cambria Math" panose="02040503050406030204" pitchFamily="18" charset="0"/>
                                          </a:rPr>
                                          <m:t>2</m:t>
                                        </m:r>
                                      </m:sup>
                                    </m:sSup>
                                  </m:num>
                                  <m:den>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𝑛</m:t>
                                        </m:r>
                                      </m:e>
                                      <m:sup>
                                        <m:r>
                                          <a:rPr lang="en-US" altLang="zh-CN" sz="2000" b="0" i="1" smtClean="0">
                                            <a:solidFill>
                                              <a:srgbClr val="C00000"/>
                                            </a:solidFill>
                                            <a:latin typeface="Cambria Math" panose="02040503050406030204" pitchFamily="18" charset="0"/>
                                          </a:rPr>
                                          <m:t>2</m:t>
                                        </m:r>
                                      </m:sup>
                                    </m:sSup>
                                  </m:den>
                                </m:f>
                                <m:f>
                                  <m:fPr>
                                    <m:ctrlPr>
                                      <a:rPr lang="en-US" altLang="zh-CN" sz="2000" b="0" i="1" smtClean="0">
                                        <a:latin typeface="Cambria Math" panose="02040503050406030204" pitchFamily="18" charset="0"/>
                                      </a:rPr>
                                    </m:ctrlPr>
                                  </m:fPr>
                                  <m:num>
                                    <m:r>
                                      <a:rPr lang="en-US" altLang="zh-CN" sz="2000" b="0" i="1" smtClean="0">
                                        <a:latin typeface="Cambria Math"/>
                                      </a:rPr>
                                      <m:t>1</m:t>
                                    </m:r>
                                  </m:num>
                                  <m:den>
                                    <m:r>
                                      <a:rPr lang="en-US" altLang="zh-CN" sz="2000" b="0" i="1" smtClean="0">
                                        <a:latin typeface="Cambria Math"/>
                                      </a:rPr>
                                      <m:t>2</m:t>
                                    </m:r>
                                  </m:den>
                                </m:f>
                                <m:r>
                                  <a:rPr lang="en-US" altLang="zh-CN" sz="2000" b="0" i="1" smtClean="0">
                                    <a:latin typeface="Cambria Math" panose="02040503050406030204" pitchFamily="18" charset="0"/>
                                  </a:rPr>
                                  <m:t>𝑚</m:t>
                                </m:r>
                                <m:sSup>
                                  <m:sSupPr>
                                    <m:ctrlPr>
                                      <a:rPr lang="en-US" altLang="zh-CN" sz="2000" b="0" i="1" smtClean="0">
                                        <a:latin typeface="Cambria Math" panose="02040503050406030204" pitchFamily="18" charset="0"/>
                                      </a:rPr>
                                    </m:ctrlPr>
                                  </m:sSupPr>
                                  <m:e>
                                    <m:d>
                                      <m:dPr>
                                        <m:ctrlPr>
                                          <a:rPr lang="en-US" altLang="zh-CN" sz="2000" b="0" i="1" smtClean="0">
                                            <a:latin typeface="Cambria Math" panose="02040503050406030204" pitchFamily="18" charset="0"/>
                                          </a:rPr>
                                        </m:ctrlPr>
                                      </m:dPr>
                                      <m:e>
                                        <m:r>
                                          <a:rPr lang="en-US" altLang="zh-CN" sz="2000" b="0" i="1" smtClean="0">
                                            <a:latin typeface="Cambria Math"/>
                                          </a:rPr>
                                          <m:t>𝛼</m:t>
                                        </m:r>
                                        <m:r>
                                          <a:rPr lang="en-US" altLang="zh-CN" sz="2000" b="0" i="1" smtClean="0">
                                            <a:latin typeface="Cambria Math"/>
                                          </a:rPr>
                                          <m:t>𝑐</m:t>
                                        </m:r>
                                      </m:e>
                                    </m:d>
                                  </m:e>
                                  <m:sup>
                                    <m:r>
                                      <a:rPr lang="en-US" altLang="zh-CN" sz="2000" b="0" i="1" smtClean="0">
                                        <a:latin typeface="Cambria Math"/>
                                      </a:rPr>
                                      <m:t>2</m:t>
                                    </m:r>
                                  </m:sup>
                                </m:sSup>
                                <m:r>
                                  <a:rPr lang="en-US" altLang="zh-CN" sz="2000" b="0" i="1" smtClean="0">
                                    <a:latin typeface="Cambria Math" panose="02040503050406030204" pitchFamily="18" charset="0"/>
                                  </a:rPr>
                                  <m:t>=</m:t>
                                </m:r>
                                <m:r>
                                  <a:rPr lang="en-US" altLang="zh-CN" sz="2000" b="0" i="1" smtClean="0">
                                    <a:latin typeface="Cambria Math"/>
                                  </a:rPr>
                                  <m:t>−</m:t>
                                </m:r>
                                <m:f>
                                  <m:fPr>
                                    <m:ctrlPr>
                                      <a:rPr lang="en-US" altLang="zh-CN" sz="2000" b="0" i="1" smtClean="0">
                                        <a:solidFill>
                                          <a:srgbClr val="C00000"/>
                                        </a:solidFill>
                                        <a:latin typeface="Cambria Math" panose="02040503050406030204" pitchFamily="18" charset="0"/>
                                      </a:rPr>
                                    </m:ctrlPr>
                                  </m:fPr>
                                  <m:num>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𝑍</m:t>
                                        </m:r>
                                      </m:e>
                                      <m:sup>
                                        <m:r>
                                          <a:rPr lang="en-US" altLang="zh-CN" sz="2000" b="0" i="1" smtClean="0">
                                            <a:solidFill>
                                              <a:srgbClr val="C00000"/>
                                            </a:solidFill>
                                            <a:latin typeface="Cambria Math" panose="02040503050406030204" pitchFamily="18" charset="0"/>
                                          </a:rPr>
                                          <m:t>2</m:t>
                                        </m:r>
                                      </m:sup>
                                    </m:sSup>
                                  </m:num>
                                  <m:den>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𝑛</m:t>
                                        </m:r>
                                      </m:e>
                                      <m:sup>
                                        <m:r>
                                          <a:rPr lang="en-US" altLang="zh-CN" sz="2000" b="0" i="1" smtClean="0">
                                            <a:solidFill>
                                              <a:srgbClr val="C00000"/>
                                            </a:solidFill>
                                            <a:latin typeface="Cambria Math" panose="02040503050406030204" pitchFamily="18" charset="0"/>
                                          </a:rPr>
                                          <m:t>2</m:t>
                                        </m:r>
                                      </m:sup>
                                    </m:sSup>
                                  </m:den>
                                </m:f>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𝐸</m:t>
                                    </m:r>
                                  </m:e>
                                  <m:sub>
                                    <m:r>
                                      <m:rPr>
                                        <m:sty m:val="p"/>
                                      </m:rPr>
                                      <a:rPr lang="en-US" altLang="zh-CN" sz="2000" b="0" i="0" smtClean="0">
                                        <a:solidFill>
                                          <a:schemeClr val="tx1"/>
                                        </a:solidFill>
                                        <a:latin typeface="Cambria Math" panose="02040503050406030204" pitchFamily="18" charset="0"/>
                                      </a:rPr>
                                      <m:t>H</m:t>
                                    </m:r>
                                  </m:sub>
                                </m:sSub>
                              </m:oMath>
                            </m:oMathPara>
                          </a14:m>
                          <a:endParaRPr lang="zh-CN" altLang="en-US" sz="2000" b="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rgbClr val="0070C0"/>
                                        </a:solidFill>
                                        <a:latin typeface="Cambria Math" panose="02040503050406030204" pitchFamily="18" charset="0"/>
                                      </a:rPr>
                                    </m:ctrlPr>
                                  </m:sSubPr>
                                  <m:e>
                                    <m:r>
                                      <a:rPr lang="en-US" altLang="zh-CN" sz="2000" b="0" i="1" smtClean="0">
                                        <a:solidFill>
                                          <a:srgbClr val="0070C0"/>
                                        </a:solidFill>
                                        <a:latin typeface="Cambria Math" panose="02040503050406030204" pitchFamily="18" charset="0"/>
                                      </a:rPr>
                                      <m:t>𝐸</m:t>
                                    </m:r>
                                  </m:e>
                                  <m:sub>
                                    <m:r>
                                      <m:rPr>
                                        <m:sty m:val="p"/>
                                      </m:rPr>
                                      <a:rPr lang="en-US" altLang="zh-CN" sz="2000" b="0" i="0" smtClean="0">
                                        <a:solidFill>
                                          <a:srgbClr val="0070C0"/>
                                        </a:solidFill>
                                        <a:latin typeface="Cambria Math" panose="02040503050406030204" pitchFamily="18" charset="0"/>
                                      </a:rPr>
                                      <m:t>H</m:t>
                                    </m:r>
                                  </m:sub>
                                </m:sSub>
                                <m:r>
                                  <a:rPr lang="en-US" altLang="zh-CN" sz="2000" b="0" i="1" smtClean="0">
                                    <a:solidFill>
                                      <a:srgbClr val="0070C0"/>
                                    </a:solidFill>
                                    <a:latin typeface="Cambria Math" panose="02040503050406030204" pitchFamily="18" charset="0"/>
                                  </a:rPr>
                                  <m:t>=</m:t>
                                </m:r>
                                <m:r>
                                  <a:rPr lang="en-US" altLang="zh-CN" sz="2000" b="0" i="1" smtClean="0">
                                    <a:solidFill>
                                      <a:srgbClr val="0070C0"/>
                                    </a:solidFill>
                                    <a:latin typeface="Cambria Math"/>
                                  </a:rPr>
                                  <m:t>13.6 </m:t>
                                </m:r>
                                <m:r>
                                  <m:rPr>
                                    <m:sty m:val="p"/>
                                  </m:rPr>
                                  <a:rPr lang="en-US" altLang="zh-CN" sz="2000" b="0" i="0" smtClean="0">
                                    <a:solidFill>
                                      <a:srgbClr val="0070C0"/>
                                    </a:solidFill>
                                    <a:latin typeface="Cambria Math"/>
                                  </a:rPr>
                                  <m:t>ev</m:t>
                                </m:r>
                              </m:oMath>
                            </m:oMathPara>
                          </a14:m>
                          <a:endParaRPr lang="zh-CN" altLang="en-US" sz="2000" b="0" i="0" dirty="0">
                            <a:solidFill>
                              <a:srgbClr val="0070C0"/>
                            </a:solidFill>
                          </a:endParaRPr>
                        </a:p>
                      </a:txBody>
                      <a:tcPr anchor="ctr"/>
                    </a:tc>
                    <a:extLst>
                      <a:ext uri="{0D108BD9-81ED-4DB2-BD59-A6C34878D82A}">
                        <a16:rowId xmlns:a16="http://schemas.microsoft.com/office/drawing/2014/main" val="10006"/>
                      </a:ext>
                    </a:extLst>
                  </a:tr>
                  <a:tr h="921369">
                    <a:tc>
                      <a:txBody>
                        <a:bodyPr/>
                        <a:lstStyle/>
                        <a:p>
                          <a:pPr marL="0" indent="0" algn="ctr">
                            <a:spcBef>
                              <a:spcPts val="600"/>
                            </a:spcBef>
                            <a:buNone/>
                          </a:pPr>
                          <a:r>
                            <a:rPr lang="en-US" altLang="zh-CN" sz="2000" b="0" dirty="0"/>
                            <a:t>Ground level Electric field strength</a:t>
                          </a:r>
                          <a:endParaRPr lang="zh-CN" altLang="en-US" sz="2000" b="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𝑍</m:t>
                                    </m:r>
                                    <m:r>
                                      <a:rPr lang="en-US" altLang="zh-CN" sz="2000" b="0" i="1" smtClean="0">
                                        <a:latin typeface="Cambria Math"/>
                                      </a:rPr>
                                      <m:t>𝑒</m:t>
                                    </m:r>
                                  </m:num>
                                  <m:den>
                                    <m:r>
                                      <a:rPr lang="en-US" altLang="zh-CN" sz="2000" b="0" i="1" smtClean="0">
                                        <a:latin typeface="Cambria Math"/>
                                      </a:rPr>
                                      <m:t>4</m:t>
                                    </m:r>
                                    <m:r>
                                      <a:rPr lang="en-US" altLang="zh-CN" sz="2000" b="0" i="1" smtClean="0">
                                        <a:latin typeface="Cambria Math"/>
                                      </a:rPr>
                                      <m:t>𝜋</m:t>
                                    </m:r>
                                    <m:sSub>
                                      <m:sSubPr>
                                        <m:ctrlPr>
                                          <a:rPr lang="en-US" altLang="zh-CN" sz="2000" b="0" i="1" smtClean="0">
                                            <a:latin typeface="Cambria Math" panose="02040503050406030204" pitchFamily="18" charset="0"/>
                                          </a:rPr>
                                        </m:ctrlPr>
                                      </m:sSubPr>
                                      <m:e>
                                        <m:r>
                                          <a:rPr lang="en-US" altLang="zh-CN" sz="2000" b="0" i="1" smtClean="0">
                                            <a:latin typeface="Cambria Math"/>
                                          </a:rPr>
                                          <m:t>𝜖</m:t>
                                        </m:r>
                                      </m:e>
                                      <m:sub>
                                        <m:r>
                                          <a:rPr lang="en-US" altLang="zh-CN" sz="2000" b="0" i="1" smtClean="0">
                                            <a:latin typeface="Cambria Math"/>
                                          </a:rPr>
                                          <m:t>0</m:t>
                                        </m:r>
                                      </m:sub>
                                    </m:sSub>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sSubSup>
                                  </m:den>
                                </m:f>
                                <m:r>
                                  <a:rPr lang="en-US" altLang="zh-CN" sz="2000" b="0" i="1" smtClean="0">
                                    <a:latin typeface="Cambria Math" panose="02040503050406030204" pitchFamily="18" charset="0"/>
                                  </a:rPr>
                                  <m:t>=</m:t>
                                </m:r>
                                <m:sSup>
                                  <m:sSupPr>
                                    <m:ctrlPr>
                                      <a:rPr lang="en-US" altLang="zh-CN" sz="2000" b="0" i="1" smtClean="0">
                                        <a:solidFill>
                                          <a:srgbClr val="C00000"/>
                                        </a:solidFill>
                                        <a:latin typeface="Cambria Math" panose="02040503050406030204" pitchFamily="18" charset="0"/>
                                      </a:rPr>
                                    </m:ctrlPr>
                                  </m:sSupPr>
                                  <m:e>
                                    <m:r>
                                      <a:rPr lang="en-US" altLang="zh-CN" sz="2000" b="0" i="1" smtClean="0">
                                        <a:solidFill>
                                          <a:srgbClr val="C00000"/>
                                        </a:solidFill>
                                        <a:latin typeface="Cambria Math" panose="02040503050406030204" pitchFamily="18" charset="0"/>
                                      </a:rPr>
                                      <m:t>𝑍</m:t>
                                    </m:r>
                                  </m:e>
                                  <m:sup>
                                    <m:r>
                                      <a:rPr lang="en-US" altLang="zh-CN" sz="2000" b="0" i="1" smtClean="0">
                                        <a:solidFill>
                                          <a:srgbClr val="C00000"/>
                                        </a:solidFill>
                                        <a:latin typeface="Cambria Math" panose="02040503050406030204" pitchFamily="18" charset="0"/>
                                      </a:rPr>
                                      <m:t>3</m:t>
                                    </m:r>
                                  </m:sup>
                                </m:sSup>
                                <m:f>
                                  <m:fPr>
                                    <m:ctrlPr>
                                      <a:rPr lang="en-US" altLang="zh-CN" sz="2000" b="0" i="1" smtClean="0">
                                        <a:latin typeface="Cambria Math" panose="02040503050406030204" pitchFamily="18" charset="0"/>
                                      </a:rPr>
                                    </m:ctrlPr>
                                  </m:fPr>
                                  <m:num>
                                    <m:r>
                                      <a:rPr lang="en-US" altLang="zh-CN" sz="2000" b="0" i="1" smtClean="0">
                                        <a:latin typeface="Cambria Math"/>
                                      </a:rPr>
                                      <m:t>𝑒</m:t>
                                    </m:r>
                                  </m:num>
                                  <m:den>
                                    <m:r>
                                      <a:rPr lang="en-US" altLang="zh-CN" sz="2000" b="0" i="1" smtClean="0">
                                        <a:latin typeface="Cambria Math"/>
                                      </a:rPr>
                                      <m:t>4</m:t>
                                    </m:r>
                                    <m:r>
                                      <a:rPr lang="en-US" altLang="zh-CN" sz="2000" b="0" i="1" smtClean="0">
                                        <a:latin typeface="Cambria Math"/>
                                      </a:rPr>
                                      <m:t>𝜋</m:t>
                                    </m:r>
                                    <m:sSub>
                                      <m:sSubPr>
                                        <m:ctrlPr>
                                          <a:rPr lang="en-US" altLang="zh-CN" sz="2000" b="0" i="1" smtClean="0">
                                            <a:latin typeface="Cambria Math" panose="02040503050406030204" pitchFamily="18" charset="0"/>
                                          </a:rPr>
                                        </m:ctrlPr>
                                      </m:sSubPr>
                                      <m:e>
                                        <m:r>
                                          <a:rPr lang="en-US" altLang="zh-CN" sz="2000" b="0" i="1" smtClean="0">
                                            <a:latin typeface="Cambria Math"/>
                                          </a:rPr>
                                          <m:t>𝜖</m:t>
                                        </m:r>
                                      </m:e>
                                      <m:sub>
                                        <m:r>
                                          <a:rPr lang="en-US" altLang="zh-CN" sz="2000" b="0" i="1" smtClean="0">
                                            <a:latin typeface="Cambria Math"/>
                                          </a:rPr>
                                          <m:t>0</m:t>
                                        </m:r>
                                      </m:sub>
                                    </m:sSub>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2</m:t>
                                        </m:r>
                                      </m:sup>
                                    </m:sSubSup>
                                  </m:den>
                                </m:f>
                              </m:oMath>
                            </m:oMathPara>
                          </a14:m>
                          <a:endParaRPr lang="zh-CN" altLang="en-US" sz="2000" b="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b="0" i="1" smtClean="0">
                                    <a:solidFill>
                                      <a:srgbClr val="0070C0"/>
                                    </a:solidFill>
                                    <a:latin typeface="Cambria Math"/>
                                  </a:rPr>
                                  <m:t>5</m:t>
                                </m:r>
                                <m:r>
                                  <a:rPr lang="en-US" altLang="zh-CN" sz="2000" b="0" i="1" smtClean="0">
                                    <a:solidFill>
                                      <a:srgbClr val="0070C0"/>
                                    </a:solidFill>
                                    <a:latin typeface="Cambria Math"/>
                                    <a:ea typeface="Cambria Math"/>
                                  </a:rPr>
                                  <m:t>×</m:t>
                                </m:r>
                                <m:sSup>
                                  <m:sSupPr>
                                    <m:ctrlPr>
                                      <a:rPr lang="en-US" altLang="zh-CN" sz="2000" b="0" i="1" smtClean="0">
                                        <a:solidFill>
                                          <a:srgbClr val="0070C0"/>
                                        </a:solidFill>
                                        <a:latin typeface="Cambria Math" panose="02040503050406030204" pitchFamily="18" charset="0"/>
                                        <a:ea typeface="Cambria Math"/>
                                      </a:rPr>
                                    </m:ctrlPr>
                                  </m:sSupPr>
                                  <m:e>
                                    <m:r>
                                      <a:rPr lang="en-US" altLang="zh-CN" sz="2000" b="0" i="1" smtClean="0">
                                        <a:solidFill>
                                          <a:srgbClr val="0070C0"/>
                                        </a:solidFill>
                                        <a:latin typeface="Cambria Math"/>
                                        <a:ea typeface="Cambria Math"/>
                                      </a:rPr>
                                      <m:t>10</m:t>
                                    </m:r>
                                  </m:e>
                                  <m:sup>
                                    <m:r>
                                      <a:rPr lang="en-US" altLang="zh-CN" sz="2000" b="0" i="1" smtClean="0">
                                        <a:solidFill>
                                          <a:srgbClr val="0070C0"/>
                                        </a:solidFill>
                                        <a:latin typeface="Cambria Math"/>
                                        <a:ea typeface="Cambria Math"/>
                                      </a:rPr>
                                      <m:t>9</m:t>
                                    </m:r>
                                  </m:sup>
                                </m:sSup>
                                <m:r>
                                  <a:rPr lang="en-US" altLang="zh-CN" sz="2000" b="0" i="0" smtClean="0">
                                    <a:solidFill>
                                      <a:srgbClr val="0070C0"/>
                                    </a:solidFill>
                                    <a:latin typeface="Cambria Math"/>
                                    <a:ea typeface="Cambria Math"/>
                                  </a:rPr>
                                  <m:t> </m:t>
                                </m:r>
                                <m:r>
                                  <m:rPr>
                                    <m:sty m:val="p"/>
                                  </m:rPr>
                                  <a:rPr lang="en-US" altLang="zh-CN" sz="2000" b="0" i="0" smtClean="0">
                                    <a:solidFill>
                                      <a:srgbClr val="0070C0"/>
                                    </a:solidFill>
                                    <a:latin typeface="Cambria Math"/>
                                    <a:ea typeface="Cambria Math"/>
                                  </a:rPr>
                                  <m:t>V</m:t>
                                </m:r>
                                <m:r>
                                  <a:rPr lang="en-US" altLang="zh-CN" sz="2000" b="0" i="0" smtClean="0">
                                    <a:solidFill>
                                      <a:srgbClr val="0070C0"/>
                                    </a:solidFill>
                                    <a:latin typeface="Cambria Math"/>
                                    <a:ea typeface="Cambria Math"/>
                                  </a:rPr>
                                  <m:t>/</m:t>
                                </m:r>
                                <m:r>
                                  <m:rPr>
                                    <m:sty m:val="p"/>
                                  </m:rPr>
                                  <a:rPr lang="en-US" altLang="zh-CN" sz="2000" b="0" i="0" smtClean="0">
                                    <a:solidFill>
                                      <a:srgbClr val="0070C0"/>
                                    </a:solidFill>
                                    <a:latin typeface="Cambria Math"/>
                                    <a:ea typeface="Cambria Math"/>
                                  </a:rPr>
                                  <m:t>cm</m:t>
                                </m:r>
                              </m:oMath>
                            </m:oMathPara>
                          </a14:m>
                          <a:endParaRPr lang="zh-CN" altLang="en-US" sz="2000" b="0" i="0" dirty="0">
                            <a:solidFill>
                              <a:srgbClr val="0070C0"/>
                            </a:solidFill>
                          </a:endParaRPr>
                        </a:p>
                      </a:txBody>
                      <a:tcPr anchor="ctr"/>
                    </a:tc>
                    <a:extLst>
                      <a:ext uri="{0D108BD9-81ED-4DB2-BD59-A6C34878D82A}">
                        <a16:rowId xmlns:a16="http://schemas.microsoft.com/office/drawing/2014/main" val="10007"/>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170726093"/>
                  </p:ext>
                </p:extLst>
              </p:nvPr>
            </p:nvGraphicFramePr>
            <p:xfrm>
              <a:off x="1125564" y="853327"/>
              <a:ext cx="8488125" cy="4692277"/>
            </p:xfrm>
            <a:graphic>
              <a:graphicData uri="http://schemas.openxmlformats.org/drawingml/2006/table">
                <a:tbl>
                  <a:tblPr firstRow="1" bandRow="1">
                    <a:tableStyleId>{5C22544A-7EE6-4342-B048-85BDC9FD1C3A}</a:tableStyleId>
                  </a:tblPr>
                  <a:tblGrid>
                    <a:gridCol w="1596036">
                      <a:extLst>
                        <a:ext uri="{9D8B030D-6E8A-4147-A177-3AD203B41FA5}">
                          <a16:colId xmlns:a16="http://schemas.microsoft.com/office/drawing/2014/main" val="20000"/>
                        </a:ext>
                      </a:extLst>
                    </a:gridCol>
                    <a:gridCol w="4896000">
                      <a:extLst>
                        <a:ext uri="{9D8B030D-6E8A-4147-A177-3AD203B41FA5}">
                          <a16:colId xmlns:a16="http://schemas.microsoft.com/office/drawing/2014/main" val="20002"/>
                        </a:ext>
                      </a:extLst>
                    </a:gridCol>
                    <a:gridCol w="1996089">
                      <a:extLst>
                        <a:ext uri="{9D8B030D-6E8A-4147-A177-3AD203B41FA5}">
                          <a16:colId xmlns:a16="http://schemas.microsoft.com/office/drawing/2014/main" val="20003"/>
                        </a:ext>
                      </a:extLst>
                    </a:gridCol>
                  </a:tblGrid>
                  <a:tr h="396240">
                    <a:tc>
                      <a:txBody>
                        <a:bodyPr/>
                        <a:lstStyle/>
                        <a:p>
                          <a:pPr algn="ctr"/>
                          <a:r>
                            <a:rPr lang="zh-CN" altLang="en-US" sz="2000" dirty="0"/>
                            <a:t>物理量名称</a:t>
                          </a:r>
                        </a:p>
                      </a:txBody>
                      <a:tcPr/>
                    </a:tc>
                    <a:tc>
                      <a:txBody>
                        <a:bodyPr/>
                        <a:lstStyle/>
                        <a:p>
                          <a:pPr algn="ctr"/>
                          <a:r>
                            <a:rPr lang="zh-CN" altLang="en-US" sz="2000" dirty="0"/>
                            <a:t>表达式</a:t>
                          </a:r>
                        </a:p>
                      </a:txBody>
                      <a:tcPr/>
                    </a:tc>
                    <a:tc>
                      <a:txBody>
                        <a:bodyPr/>
                        <a:lstStyle/>
                        <a:p>
                          <a:pPr algn="ctr"/>
                          <a:r>
                            <a:rPr lang="zh-CN" altLang="en-US" sz="2000" dirty="0"/>
                            <a:t>氢原子数值</a:t>
                          </a:r>
                        </a:p>
                      </a:txBody>
                      <a:tcPr/>
                    </a:tc>
                    <a:extLst>
                      <a:ext uri="{0D108BD9-81ED-4DB2-BD59-A6C34878D82A}">
                        <a16:rowId xmlns:a16="http://schemas.microsoft.com/office/drawing/2014/main" val="10000"/>
                      </a:ext>
                    </a:extLst>
                  </a:tr>
                  <a:tr h="664083">
                    <a:tc>
                      <a:txBody>
                        <a:bodyPr/>
                        <a:lstStyle/>
                        <a:p>
                          <a:pPr marL="0" indent="0" algn="ctr">
                            <a:spcBef>
                              <a:spcPts val="600"/>
                            </a:spcBef>
                            <a:buNone/>
                          </a:pPr>
                          <a:r>
                            <a:rPr lang="en-US" altLang="zh-CN" sz="2000" b="0" dirty="0"/>
                            <a:t>Bohr’s speed</a:t>
                          </a:r>
                          <a:endParaRPr lang="zh-CN" altLang="en-US" sz="2000" b="0" dirty="0"/>
                        </a:p>
                      </a:txBody>
                      <a:tcPr anchor="ctr"/>
                    </a:tc>
                    <a:tc>
                      <a:txBody>
                        <a:bodyPr/>
                        <a:lstStyle/>
                        <a:p>
                          <a:endParaRPr lang="zh-CN"/>
                        </a:p>
                      </a:txBody>
                      <a:tcPr anchor="ctr">
                        <a:blipFill>
                          <a:blip r:embed="rId3"/>
                          <a:stretch>
                            <a:fillRect l="-32711" t="-66972" r="-41294" b="-564220"/>
                          </a:stretch>
                        </a:blipFill>
                      </a:tcPr>
                    </a:tc>
                    <a:tc>
                      <a:txBody>
                        <a:bodyPr/>
                        <a:lstStyle/>
                        <a:p>
                          <a:endParaRPr lang="zh-CN"/>
                        </a:p>
                      </a:txBody>
                      <a:tcPr anchor="ctr">
                        <a:blipFill>
                          <a:blip r:embed="rId3"/>
                          <a:stretch>
                            <a:fillRect l="-325305" t="-66972" r="-1220" b="-564220"/>
                          </a:stretch>
                        </a:blipFill>
                      </a:tcPr>
                    </a:tc>
                    <a:extLst>
                      <a:ext uri="{0D108BD9-81ED-4DB2-BD59-A6C34878D82A}">
                        <a16:rowId xmlns:a16="http://schemas.microsoft.com/office/drawing/2014/main" val="10004"/>
                      </a:ext>
                    </a:extLst>
                  </a:tr>
                  <a:tr h="664083">
                    <a:tc>
                      <a:txBody>
                        <a:bodyPr/>
                        <a:lstStyle/>
                        <a:p>
                          <a:pPr marL="0" marR="0" indent="0" algn="ctr" defTabSz="914400" rtl="0" eaLnBrk="1" fontAlgn="auto" latinLnBrk="0" hangingPunct="1">
                            <a:lnSpc>
                              <a:spcPct val="100000"/>
                            </a:lnSpc>
                            <a:spcBef>
                              <a:spcPts val="600"/>
                            </a:spcBef>
                            <a:spcAft>
                              <a:spcPts val="0"/>
                            </a:spcAft>
                            <a:buClrTx/>
                            <a:buSzTx/>
                            <a:buFontTx/>
                            <a:buNone/>
                            <a:tabLst/>
                            <a:defRPr/>
                          </a:pPr>
                          <a:endParaRPr lang="zh-CN" altLang="en-US" sz="2000" b="0" dirty="0"/>
                        </a:p>
                      </a:txBody>
                      <a:tcPr anchor="ctr"/>
                    </a:tc>
                    <a:tc>
                      <a:txBody>
                        <a:bodyPr/>
                        <a:lstStyle/>
                        <a:p>
                          <a:endParaRPr lang="zh-CN"/>
                        </a:p>
                      </a:txBody>
                      <a:tcPr anchor="ctr">
                        <a:blipFill>
                          <a:blip r:embed="rId3"/>
                          <a:stretch>
                            <a:fillRect l="-32711" t="-166972" r="-41294" b="-464220"/>
                          </a:stretch>
                        </a:blipFill>
                      </a:tcPr>
                    </a:tc>
                    <a:tc>
                      <a:txBody>
                        <a:bodyPr/>
                        <a:lstStyle/>
                        <a:p>
                          <a:pPr algn="ctr"/>
                          <a:endParaRPr lang="zh-CN" altLang="en-US" sz="2000" b="0" i="0" dirty="0">
                            <a:solidFill>
                              <a:srgbClr val="0070C0"/>
                            </a:solidFill>
                          </a:endParaRPr>
                        </a:p>
                      </a:txBody>
                      <a:tcPr anchor="ctr"/>
                    </a:tc>
                    <a:extLst>
                      <a:ext uri="{0D108BD9-81ED-4DB2-BD59-A6C34878D82A}">
                        <a16:rowId xmlns:a16="http://schemas.microsoft.com/office/drawing/2014/main" val="10005"/>
                      </a:ext>
                    </a:extLst>
                  </a:tr>
                  <a:tr h="719963">
                    <a:tc>
                      <a:txBody>
                        <a:bodyPr/>
                        <a:lstStyle/>
                        <a:p>
                          <a:pPr marL="0" marR="0" indent="0" algn="ctr" defTabSz="914400" rtl="0" eaLnBrk="1" fontAlgn="auto" latinLnBrk="0" hangingPunct="1">
                            <a:lnSpc>
                              <a:spcPct val="100000"/>
                            </a:lnSpc>
                            <a:spcBef>
                              <a:spcPts val="600"/>
                            </a:spcBef>
                            <a:spcAft>
                              <a:spcPts val="0"/>
                            </a:spcAft>
                            <a:buClrTx/>
                            <a:buSzTx/>
                            <a:buFontTx/>
                            <a:buNone/>
                            <a:tabLst/>
                            <a:defRPr/>
                          </a:pPr>
                          <a:r>
                            <a:rPr lang="en-US" altLang="zh-CN" sz="2000" b="0" dirty="0">
                              <a:solidFill>
                                <a:schemeClr val="tx1"/>
                              </a:solidFill>
                              <a:effectLst/>
                            </a:rPr>
                            <a:t>Bohr’s radius</a:t>
                          </a:r>
                        </a:p>
                      </a:txBody>
                      <a:tcPr anchor="ctr"/>
                    </a:tc>
                    <a:tc>
                      <a:txBody>
                        <a:bodyPr/>
                        <a:lstStyle/>
                        <a:p>
                          <a:endParaRPr lang="zh-CN"/>
                        </a:p>
                      </a:txBody>
                      <a:tcPr anchor="ctr">
                        <a:blipFill>
                          <a:blip r:embed="rId3"/>
                          <a:stretch>
                            <a:fillRect l="-32711" t="-244538" r="-41294" b="-325210"/>
                          </a:stretch>
                        </a:blipFill>
                      </a:tcPr>
                    </a:tc>
                    <a:tc>
                      <a:txBody>
                        <a:bodyPr/>
                        <a:lstStyle/>
                        <a:p>
                          <a:endParaRPr lang="zh-CN"/>
                        </a:p>
                      </a:txBody>
                      <a:tcPr anchor="ctr">
                        <a:blipFill>
                          <a:blip r:embed="rId3"/>
                          <a:stretch>
                            <a:fillRect l="-325305" t="-244538" r="-1220" b="-325210"/>
                          </a:stretch>
                        </a:blipFill>
                      </a:tcPr>
                    </a:tc>
                    <a:extLst>
                      <a:ext uri="{0D108BD9-81ED-4DB2-BD59-A6C34878D82A}">
                        <a16:rowId xmlns:a16="http://schemas.microsoft.com/office/drawing/2014/main" val="2526132069"/>
                      </a:ext>
                    </a:extLst>
                  </a:tr>
                  <a:tr h="538996">
                    <a:tc>
                      <a:txBody>
                        <a:bodyPr/>
                        <a:lstStyle/>
                        <a:p>
                          <a:pPr marL="0" indent="0" algn="ctr">
                            <a:spcBef>
                              <a:spcPts val="600"/>
                            </a:spcBef>
                            <a:buNone/>
                          </a:pPr>
                          <a:endParaRPr lang="zh-CN" altLang="en-US" sz="2000" b="0" dirty="0"/>
                        </a:p>
                      </a:txBody>
                      <a:tcPr anchor="ctr"/>
                    </a:tc>
                    <a:tc>
                      <a:txBody>
                        <a:bodyPr/>
                        <a:lstStyle/>
                        <a:p>
                          <a:endParaRPr lang="zh-CN"/>
                        </a:p>
                      </a:txBody>
                      <a:tcPr anchor="ctr">
                        <a:blipFill>
                          <a:blip r:embed="rId3"/>
                          <a:stretch>
                            <a:fillRect l="-32711" t="-465909" r="-41294" b="-339773"/>
                          </a:stretch>
                        </a:blipFill>
                      </a:tcPr>
                    </a:tc>
                    <a:tc>
                      <a:txBody>
                        <a:bodyPr/>
                        <a:lstStyle/>
                        <a:p>
                          <a:pPr algn="ctr"/>
                          <a:endParaRPr lang="zh-CN" altLang="en-US" sz="2000" b="0" dirty="0">
                            <a:solidFill>
                              <a:srgbClr val="0070C0"/>
                            </a:solidFill>
                          </a:endParaRPr>
                        </a:p>
                      </a:txBody>
                      <a:tcPr anchor="ctr"/>
                    </a:tc>
                    <a:extLst>
                      <a:ext uri="{0D108BD9-81ED-4DB2-BD59-A6C34878D82A}">
                        <a16:rowId xmlns:a16="http://schemas.microsoft.com/office/drawing/2014/main" val="3441730544"/>
                      </a:ext>
                    </a:extLst>
                  </a:tr>
                  <a:tr h="703072">
                    <a:tc>
                      <a:txBody>
                        <a:bodyPr/>
                        <a:lstStyle/>
                        <a:p>
                          <a:pPr marL="0" indent="0" algn="ctr">
                            <a:spcBef>
                              <a:spcPts val="600"/>
                            </a:spcBef>
                            <a:buNone/>
                          </a:pPr>
                          <a:r>
                            <a:rPr lang="en-US" altLang="zh-CN" sz="2000" b="0" dirty="0"/>
                            <a:t>Energy levels</a:t>
                          </a:r>
                          <a:endParaRPr lang="zh-CN" altLang="en-US" sz="2000" b="0" dirty="0"/>
                        </a:p>
                      </a:txBody>
                      <a:tcPr anchor="ctr"/>
                    </a:tc>
                    <a:tc>
                      <a:txBody>
                        <a:bodyPr/>
                        <a:lstStyle/>
                        <a:p>
                          <a:endParaRPr lang="zh-CN"/>
                        </a:p>
                      </a:txBody>
                      <a:tcPr anchor="ctr">
                        <a:blipFill>
                          <a:blip r:embed="rId3"/>
                          <a:stretch>
                            <a:fillRect l="-32711" t="-429310" r="-41294" b="-157759"/>
                          </a:stretch>
                        </a:blipFill>
                      </a:tcPr>
                    </a:tc>
                    <a:tc>
                      <a:txBody>
                        <a:bodyPr/>
                        <a:lstStyle/>
                        <a:p>
                          <a:endParaRPr lang="zh-CN"/>
                        </a:p>
                      </a:txBody>
                      <a:tcPr anchor="ctr">
                        <a:blipFill>
                          <a:blip r:embed="rId3"/>
                          <a:stretch>
                            <a:fillRect l="-325305" t="-429310" r="-1220" b="-157759"/>
                          </a:stretch>
                        </a:blipFill>
                      </a:tcPr>
                    </a:tc>
                    <a:extLst>
                      <a:ext uri="{0D108BD9-81ED-4DB2-BD59-A6C34878D82A}">
                        <a16:rowId xmlns:a16="http://schemas.microsoft.com/office/drawing/2014/main" val="10006"/>
                      </a:ext>
                    </a:extLst>
                  </a:tr>
                  <a:tr h="1005840">
                    <a:tc>
                      <a:txBody>
                        <a:bodyPr/>
                        <a:lstStyle/>
                        <a:p>
                          <a:pPr marL="0" indent="0" algn="ctr">
                            <a:spcBef>
                              <a:spcPts val="600"/>
                            </a:spcBef>
                            <a:buNone/>
                          </a:pPr>
                          <a:r>
                            <a:rPr lang="en-US" altLang="zh-CN" sz="2000" b="0" dirty="0"/>
                            <a:t>Ground level Electric field strength</a:t>
                          </a:r>
                          <a:endParaRPr lang="zh-CN" altLang="en-US" sz="2000" b="0" dirty="0"/>
                        </a:p>
                      </a:txBody>
                      <a:tcPr anchor="ctr"/>
                    </a:tc>
                    <a:tc>
                      <a:txBody>
                        <a:bodyPr/>
                        <a:lstStyle/>
                        <a:p>
                          <a:endParaRPr lang="zh-CN"/>
                        </a:p>
                      </a:txBody>
                      <a:tcPr anchor="ctr">
                        <a:blipFill>
                          <a:blip r:embed="rId3"/>
                          <a:stretch>
                            <a:fillRect l="-32711" t="-372121" r="-41294" b="-10909"/>
                          </a:stretch>
                        </a:blipFill>
                      </a:tcPr>
                    </a:tc>
                    <a:tc>
                      <a:txBody>
                        <a:bodyPr/>
                        <a:lstStyle/>
                        <a:p>
                          <a:endParaRPr lang="zh-CN"/>
                        </a:p>
                      </a:txBody>
                      <a:tcPr anchor="ctr">
                        <a:blipFill>
                          <a:blip r:embed="rId3"/>
                          <a:stretch>
                            <a:fillRect l="-325305" t="-372121" r="-1220" b="-10909"/>
                          </a:stretch>
                        </a:blipFill>
                      </a:tcPr>
                    </a:tc>
                    <a:extLst>
                      <a:ext uri="{0D108BD9-81ED-4DB2-BD59-A6C34878D82A}">
                        <a16:rowId xmlns:a16="http://schemas.microsoft.com/office/drawing/2014/main" val="10007"/>
                      </a:ext>
                    </a:extLst>
                  </a:tr>
                </a:tbl>
              </a:graphicData>
            </a:graphic>
          </p:graphicFrame>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B936FEA-2762-45E7-BF5B-BCD85A463FE9}"/>
                  </a:ext>
                </a:extLst>
              </p:cNvPr>
              <p:cNvSpPr/>
              <p:nvPr/>
            </p:nvSpPr>
            <p:spPr>
              <a:xfrm>
                <a:off x="9723548" y="1265473"/>
                <a:ext cx="2115525" cy="2572435"/>
              </a:xfrm>
              <a:prstGeom prst="rect">
                <a:avLst/>
              </a:prstGeom>
            </p:spPr>
            <p:txBody>
              <a:bodyPr wrap="square">
                <a:spAutoFit/>
              </a:bodyPr>
              <a:lstStyle/>
              <a:p>
                <a:pPr algn="ctr"/>
                <a:r>
                  <a:rPr lang="en-US" altLang="zh-CN" sz="2000" b="0" dirty="0">
                    <a:latin typeface="Cambria Math" panose="02040503050406030204" pitchFamily="18" charset="0"/>
                  </a:rPr>
                  <a:t>Fine structure const.</a:t>
                </a:r>
              </a:p>
              <a:p>
                <a:pPr algn="ct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𝛼</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p>
                            <m:sSupPr>
                              <m:ctrlPr>
                                <a:rPr lang="en-US" altLang="zh-CN" sz="2000" b="0" i="1" smtClean="0">
                                  <a:latin typeface="Cambria Math" panose="02040503050406030204" pitchFamily="18" charset="0"/>
                                </a:rPr>
                              </m:ctrlPr>
                            </m:sSupPr>
                            <m:e>
                              <m:r>
                                <a:rPr lang="en-US" altLang="zh-CN" sz="2000" b="0" i="1" smtClean="0">
                                  <a:latin typeface="Cambria Math"/>
                                </a:rPr>
                                <m:t>𝑒</m:t>
                              </m:r>
                            </m:e>
                            <m:sup>
                              <m:r>
                                <a:rPr lang="en-US" altLang="zh-CN" sz="2000" b="0" i="1" smtClean="0">
                                  <a:latin typeface="Cambria Math"/>
                                </a:rPr>
                                <m:t>2</m:t>
                              </m:r>
                            </m:sup>
                          </m:sSup>
                        </m:num>
                        <m:den>
                          <m:r>
                            <a:rPr lang="en-US" altLang="zh-CN" sz="2000" b="0" i="1" smtClean="0">
                              <a:latin typeface="Cambria Math"/>
                            </a:rPr>
                            <m:t>4</m:t>
                          </m:r>
                          <m:r>
                            <a:rPr lang="en-US" altLang="zh-CN" sz="2000" b="0" i="1" smtClean="0">
                              <a:latin typeface="Cambria Math"/>
                            </a:rPr>
                            <m:t>𝜋</m:t>
                          </m:r>
                          <m:sSub>
                            <m:sSubPr>
                              <m:ctrlPr>
                                <a:rPr lang="en-US" altLang="zh-CN" sz="2000" b="0" i="1" smtClean="0">
                                  <a:latin typeface="Cambria Math" panose="02040503050406030204" pitchFamily="18" charset="0"/>
                                </a:rPr>
                              </m:ctrlPr>
                            </m:sSubPr>
                            <m:e>
                              <m:r>
                                <a:rPr lang="en-US" altLang="zh-CN" sz="2000" b="0" i="1" smtClean="0">
                                  <a:latin typeface="Cambria Math"/>
                                </a:rPr>
                                <m:t>𝜖</m:t>
                              </m:r>
                            </m:e>
                            <m:sub>
                              <m:r>
                                <a:rPr lang="en-US" altLang="zh-CN" sz="2000" b="0" i="1" smtClean="0">
                                  <a:latin typeface="Cambria Math"/>
                                </a:rPr>
                                <m:t>0</m:t>
                              </m:r>
                            </m:sub>
                          </m:sSub>
                          <m:r>
                            <a:rPr lang="en-US" altLang="zh-CN" sz="2000" b="0" i="1" smtClean="0">
                              <a:latin typeface="Cambria Math"/>
                              <a:ea typeface="Cambria Math"/>
                            </a:rPr>
                            <m:t>ℏ</m:t>
                          </m:r>
                          <m:r>
                            <a:rPr lang="en-US" altLang="zh-CN" sz="2000" b="0" i="1" smtClean="0">
                              <a:latin typeface="Cambria Math"/>
                              <a:ea typeface="Cambria Math"/>
                            </a:rPr>
                            <m:t>𝑐</m:t>
                          </m:r>
                        </m:den>
                      </m:f>
                    </m:oMath>
                  </m:oMathPara>
                </a14:m>
                <a:endParaRPr lang="en-US" altLang="zh-CN" sz="2000" dirty="0"/>
              </a:p>
              <a:p>
                <a:pPr algn="ctr"/>
                <a:endParaRPr lang="en-US" altLang="zh-CN" sz="2000" dirty="0"/>
              </a:p>
              <a:p>
                <a:pPr algn="ctr"/>
                <a:r>
                  <a:rPr lang="en-US" altLang="zh-CN" sz="2000" dirty="0"/>
                  <a:t>Rydberg const.</a:t>
                </a:r>
              </a:p>
              <a:p>
                <a:pPr algn="ctr"/>
                <a14:m>
                  <m:oMathPara xmlns:m="http://schemas.openxmlformats.org/officeDocument/2006/math">
                    <m:oMathParaPr>
                      <m:jc m:val="centerGroup"/>
                    </m:oMathParaPr>
                    <m:oMath xmlns:m="http://schemas.openxmlformats.org/officeDocument/2006/math">
                      <m:r>
                        <a:rPr lang="en-US" altLang="zh-CN" sz="2000" i="1">
                          <a:latin typeface="Cambria Math"/>
                        </a:rPr>
                        <m:t>𝑅</m:t>
                      </m:r>
                      <m:r>
                        <a:rPr lang="en-US" altLang="zh-CN" sz="2000" i="1">
                          <a:latin typeface="Cambria Math"/>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𝛼</m:t>
                          </m:r>
                        </m:num>
                        <m:den>
                          <m:r>
                            <a:rPr lang="en-US" altLang="zh-CN" sz="2000" i="1">
                              <a:latin typeface="Cambria Math" panose="02040503050406030204" pitchFamily="18" charset="0"/>
                            </a:rPr>
                            <m:t>4</m:t>
                          </m:r>
                          <m:r>
                            <a:rPr lang="en-US" altLang="zh-CN" sz="2000" i="1">
                              <a:latin typeface="Cambria Math" panose="02040503050406030204" pitchFamily="18" charset="0"/>
                            </a:rPr>
                            <m:t>𝜋</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0</m:t>
                              </m:r>
                            </m:sub>
                          </m:sSub>
                        </m:den>
                      </m:f>
                    </m:oMath>
                  </m:oMathPara>
                </a14:m>
                <a:endParaRPr lang="en-US" sz="2000" dirty="0"/>
              </a:p>
            </p:txBody>
          </p:sp>
        </mc:Choice>
        <mc:Fallback xmlns="">
          <p:sp>
            <p:nvSpPr>
              <p:cNvPr id="6" name="Rectangle 5">
                <a:extLst>
                  <a:ext uri="{FF2B5EF4-FFF2-40B4-BE49-F238E27FC236}">
                    <a16:creationId xmlns:a16="http://schemas.microsoft.com/office/drawing/2014/main" id="{1B936FEA-2762-45E7-BF5B-BCD85A463FE9}"/>
                  </a:ext>
                </a:extLst>
              </p:cNvPr>
              <p:cNvSpPr>
                <a:spLocks noRot="1" noChangeAspect="1" noMove="1" noResize="1" noEditPoints="1" noAdjustHandles="1" noChangeArrowheads="1" noChangeShapeType="1" noTextEdit="1"/>
              </p:cNvSpPr>
              <p:nvPr/>
            </p:nvSpPr>
            <p:spPr>
              <a:xfrm>
                <a:off x="9723548" y="1265473"/>
                <a:ext cx="2115525" cy="2572435"/>
              </a:xfrm>
              <a:prstGeom prst="rect">
                <a:avLst/>
              </a:prstGeom>
              <a:blipFill>
                <a:blip r:embed="rId4"/>
                <a:stretch>
                  <a:fillRect t="-14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0CF149-F4AB-44DC-B353-03046E21A4B2}"/>
                  </a:ext>
                </a:extLst>
              </p:cNvPr>
              <p:cNvSpPr txBox="1"/>
              <p:nvPr/>
            </p:nvSpPr>
            <p:spPr>
              <a:xfrm>
                <a:off x="954873" y="5634227"/>
                <a:ext cx="9593128" cy="926985"/>
              </a:xfrm>
              <a:prstGeom prst="rect">
                <a:avLst/>
              </a:prstGeom>
              <a:noFill/>
            </p:spPr>
            <p:txBody>
              <a:bodyPr wrap="square">
                <a:spAutoFit/>
              </a:bodyPr>
              <a:lstStyle/>
              <a:p>
                <a:pPr>
                  <a:lnSpc>
                    <a:spcPct val="160000"/>
                  </a:lnSpc>
                </a:pPr>
                <a:r>
                  <a:rPr lang="en-US" altLang="zh-CN" dirty="0">
                    <a:latin typeface="Times New Roman" panose="02020603050405020304" pitchFamily="18" charset="0"/>
                    <a:cs typeface="Times New Roman" panose="02020603050405020304" pitchFamily="18" charset="0"/>
                  </a:rPr>
                  <a:t>For the </a:t>
                </a:r>
                <a:r>
                  <a:rPr lang="en-US" altLang="zh-CN" sz="1800" dirty="0">
                    <a:latin typeface="Times New Roman" panose="02020603050405020304" pitchFamily="18" charset="0"/>
                    <a:cs typeface="Times New Roman" panose="02020603050405020304" pitchFamily="18" charset="0"/>
                  </a:rPr>
                  <a:t>Coulomb force, we can write </a:t>
                </a:r>
                <a14:m>
                  <m:oMath xmlns:m="http://schemas.openxmlformats.org/officeDocument/2006/math">
                    <m:sSup>
                      <m:sSupPr>
                        <m:ctrlPr>
                          <a:rPr lang="en-US" altLang="zh-CN" sz="1800" i="1">
                            <a:latin typeface="Cambria Math" panose="02040503050406030204" pitchFamily="18" charset="0"/>
                          </a:rPr>
                        </m:ctrlPr>
                      </m:sSupPr>
                      <m:e>
                        <m:r>
                          <a:rPr lang="en-US" altLang="zh-CN" sz="1800" b="0" i="1" smtClean="0">
                            <a:latin typeface="Cambria Math" panose="02040503050406030204" pitchFamily="18" charset="0"/>
                          </a:rPr>
                          <m:t>𝑍</m:t>
                        </m:r>
                        <m:r>
                          <a:rPr lang="en-US" altLang="zh-CN" sz="1800" i="1">
                            <a:latin typeface="Cambria Math"/>
                          </a:rPr>
                          <m:t>𝑒</m:t>
                        </m:r>
                      </m:e>
                      <m:sup>
                        <m:r>
                          <a:rPr lang="en-US" altLang="zh-CN" sz="1800" i="1">
                            <a:latin typeface="Cambria Math"/>
                          </a:rPr>
                          <m:t>2</m:t>
                        </m:r>
                      </m:sup>
                    </m:sSup>
                    <m:r>
                      <a:rPr lang="en-US" altLang="zh-CN" sz="1800" i="1">
                        <a:latin typeface="Cambria Math"/>
                      </a:rPr>
                      <m:t>/4</m:t>
                    </m:r>
                    <m:r>
                      <a:rPr lang="en-US" altLang="zh-CN" sz="1800" i="1">
                        <a:latin typeface="Cambria Math"/>
                      </a:rPr>
                      <m:t>𝜋</m:t>
                    </m:r>
                    <m:sSub>
                      <m:sSubPr>
                        <m:ctrlPr>
                          <a:rPr lang="en-US" altLang="zh-CN" sz="1800" i="1">
                            <a:latin typeface="Cambria Math" panose="02040503050406030204" pitchFamily="18" charset="0"/>
                          </a:rPr>
                        </m:ctrlPr>
                      </m:sSubPr>
                      <m:e>
                        <m:r>
                          <a:rPr lang="en-US" altLang="zh-CN" sz="1800" i="1">
                            <a:latin typeface="Cambria Math"/>
                          </a:rPr>
                          <m:t>𝜖</m:t>
                        </m:r>
                      </m:e>
                      <m:sub>
                        <m:r>
                          <a:rPr lang="en-US" altLang="zh-CN" sz="1800" i="1">
                            <a:latin typeface="Cambria Math"/>
                          </a:rPr>
                          <m:t>0</m:t>
                        </m:r>
                      </m:sub>
                    </m:sSub>
                  </m:oMath>
                </a14:m>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as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a:rPr>
                          <m:t>𝑒</m:t>
                        </m:r>
                      </m:e>
                      <m:sup>
                        <m:r>
                          <a:rPr lang="en-US" altLang="zh-CN" sz="1800" i="1">
                            <a:latin typeface="Cambria Math"/>
                          </a:rPr>
                          <m:t>2</m:t>
                        </m:r>
                      </m:sup>
                    </m:sSup>
                  </m:oMath>
                </a14:m>
                <a:r>
                  <a:rPr lang="en-US" altLang="zh-CN" sz="1800" dirty="0">
                    <a:latin typeface="Times New Roman" panose="02020603050405020304" pitchFamily="18" charset="0"/>
                    <a:cs typeface="Times New Roman" panose="02020603050405020304" pitchFamily="18" charset="0"/>
                  </a:rPr>
                  <a:t>, and change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a:rPr>
                          <m:t>𝑒</m:t>
                        </m:r>
                      </m:e>
                      <m:sup>
                        <m:r>
                          <a:rPr lang="en-US" altLang="zh-CN" sz="1800" i="1">
                            <a:latin typeface="Cambria Math"/>
                          </a:rPr>
                          <m:t>2</m:t>
                        </m:r>
                      </m:sup>
                    </m:sSup>
                  </m:oMath>
                </a14:m>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back to </a:t>
                </a:r>
                <a14:m>
                  <m:oMath xmlns:m="http://schemas.openxmlformats.org/officeDocument/2006/math">
                    <m:sSup>
                      <m:sSupPr>
                        <m:ctrlPr>
                          <a:rPr lang="en-US" altLang="zh-CN" sz="1800" i="1">
                            <a:latin typeface="Cambria Math" panose="02040503050406030204" pitchFamily="18" charset="0"/>
                          </a:rPr>
                        </m:ctrlPr>
                      </m:sSupPr>
                      <m:e>
                        <m:r>
                          <a:rPr lang="en-US" altLang="zh-CN" sz="1800" b="0" i="1" smtClean="0">
                            <a:latin typeface="Cambria Math" panose="02040503050406030204" pitchFamily="18" charset="0"/>
                          </a:rPr>
                          <m:t>𝑍</m:t>
                        </m:r>
                        <m:r>
                          <a:rPr lang="en-US" altLang="zh-CN" sz="1800" i="1">
                            <a:latin typeface="Cambria Math"/>
                          </a:rPr>
                          <m:t>𝑒</m:t>
                        </m:r>
                      </m:e>
                      <m:sup>
                        <m:r>
                          <a:rPr lang="en-US" altLang="zh-CN" sz="1800" i="1">
                            <a:latin typeface="Cambria Math"/>
                          </a:rPr>
                          <m:t>2</m:t>
                        </m:r>
                      </m:sup>
                    </m:sSup>
                    <m:r>
                      <a:rPr lang="en-US" altLang="zh-CN" sz="1800" i="1">
                        <a:latin typeface="Cambria Math"/>
                      </a:rPr>
                      <m:t>/4</m:t>
                    </m:r>
                    <m:r>
                      <a:rPr lang="en-US" altLang="zh-CN" sz="1800" i="1">
                        <a:latin typeface="Cambria Math"/>
                      </a:rPr>
                      <m:t>𝜋</m:t>
                    </m:r>
                    <m:sSub>
                      <m:sSubPr>
                        <m:ctrlPr>
                          <a:rPr lang="en-US" altLang="zh-CN" sz="1800" i="1">
                            <a:latin typeface="Cambria Math" panose="02040503050406030204" pitchFamily="18" charset="0"/>
                          </a:rPr>
                        </m:ctrlPr>
                      </m:sSubPr>
                      <m:e>
                        <m:r>
                          <a:rPr lang="en-US" altLang="zh-CN" sz="1800" i="1">
                            <a:latin typeface="Cambria Math"/>
                          </a:rPr>
                          <m:t>𝜖</m:t>
                        </m:r>
                      </m:e>
                      <m:sub>
                        <m:r>
                          <a:rPr lang="en-US" altLang="zh-CN" sz="1800" i="1">
                            <a:latin typeface="Cambria Math"/>
                          </a:rPr>
                          <m:t>0</m:t>
                        </m:r>
                      </m:sub>
                    </m:sSub>
                  </m:oMath>
                </a14:m>
                <a:r>
                  <a:rPr lang="en-US" altLang="zh-CN" sz="18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a:t>
                </a:r>
                <a:r>
                  <a:rPr lang="en-US" altLang="zh-CN" sz="1800" dirty="0">
                    <a:latin typeface="Times New Roman" panose="02020603050405020304" pitchFamily="18" charset="0"/>
                    <a:cs typeface="Times New Roman" panose="02020603050405020304" pitchFamily="18" charset="0"/>
                  </a:rPr>
                  <a:t> the end.</a:t>
                </a:r>
              </a:p>
              <a:p>
                <a:pPr>
                  <a:lnSpc>
                    <a:spcPct val="160000"/>
                  </a:lnSpc>
                </a:pPr>
                <a:r>
                  <a:rPr lang="en-US" altLang="zh-CN" sz="1800" dirty="0">
                    <a:latin typeface="Times New Roman" panose="02020603050405020304" pitchFamily="18" charset="0"/>
                    <a:cs typeface="Times New Roman" panose="02020603050405020304" pitchFamily="18" charset="0"/>
                  </a:rPr>
                  <a:t>The fine structure constant </a:t>
                </a:r>
                <a14:m>
                  <m:oMath xmlns:m="http://schemas.openxmlformats.org/officeDocument/2006/math">
                    <m:r>
                      <a:rPr lang="en-US" altLang="zh-CN" sz="1800" i="1">
                        <a:latin typeface="Cambria Math" panose="02040503050406030204" pitchFamily="18" charset="0"/>
                      </a:rPr>
                      <m:t>𝛼</m:t>
                    </m:r>
                  </m:oMath>
                </a14:m>
                <a:r>
                  <a:rPr lang="en-US" altLang="zh-CN" sz="1800" dirty="0">
                    <a:latin typeface="Times New Roman" panose="02020603050405020304" pitchFamily="18" charset="0"/>
                    <a:cs typeface="Times New Roman" panose="02020603050405020304" pitchFamily="18" charset="0"/>
                  </a:rPr>
                  <a:t> contains only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𝑒</m:t>
                        </m:r>
                      </m:e>
                      <m:sup>
                        <m:r>
                          <a:rPr lang="en-US" altLang="zh-CN" sz="1800" i="1">
                            <a:latin typeface="Cambria Math" panose="02040503050406030204" pitchFamily="18" charset="0"/>
                          </a:rPr>
                          <m:t>2</m:t>
                        </m:r>
                      </m:sup>
                    </m:sSup>
                  </m:oMath>
                </a14:m>
                <a:r>
                  <a:rPr lang="en-US" altLang="zh-CN" sz="18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without</a:t>
                </a:r>
                <a:r>
                  <a:rPr lang="en-US" altLang="zh-CN" sz="18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dirty="0" smtClean="0">
                        <a:latin typeface="Cambria Math" panose="02040503050406030204" pitchFamily="18" charset="0"/>
                      </a:rPr>
                      <m:t>𝑍</m:t>
                    </m:r>
                  </m:oMath>
                </a14:m>
                <a:r>
                  <a:rPr lang="en-US" altLang="zh-CN" sz="1800" dirty="0">
                    <a:latin typeface="Times New Roman" panose="02020603050405020304" pitchFamily="18" charset="0"/>
                    <a:cs typeface="Times New Roman" panose="02020603050405020304" pitchFamily="18" charset="0"/>
                  </a:rPr>
                  <a:t>,  thus, we always see </a:t>
                </a:r>
                <a14:m>
                  <m:oMath xmlns:m="http://schemas.openxmlformats.org/officeDocument/2006/math">
                    <m:r>
                      <m:rPr>
                        <m:sty m:val="p"/>
                      </m:rPr>
                      <a:rPr lang="en-US" altLang="zh-CN" sz="1800" b="0" i="0" smtClean="0">
                        <a:latin typeface="Cambria Math" panose="02040503050406030204" pitchFamily="18" charset="0"/>
                      </a:rPr>
                      <m:t>Z</m:t>
                    </m:r>
                    <m:r>
                      <a:rPr lang="en-US" altLang="zh-CN" sz="1800" i="1">
                        <a:latin typeface="Cambria Math" panose="02040503050406030204" pitchFamily="18" charset="0"/>
                      </a:rPr>
                      <m:t>𝛼</m:t>
                    </m:r>
                  </m:oMath>
                </a14:m>
                <a:r>
                  <a:rPr lang="en-US" altLang="zh-CN" sz="1800" dirty="0">
                    <a:latin typeface="Times New Roman" panose="02020603050405020304" pitchFamily="18" charset="0"/>
                    <a:cs typeface="Times New Roman" panose="02020603050405020304" pitchFamily="18" charset="0"/>
                  </a:rPr>
                  <a:t> stay together.</a:t>
                </a:r>
              </a:p>
            </p:txBody>
          </p:sp>
        </mc:Choice>
        <mc:Fallback xmlns="">
          <p:sp>
            <p:nvSpPr>
              <p:cNvPr id="5" name="TextBox 4">
                <a:extLst>
                  <a:ext uri="{FF2B5EF4-FFF2-40B4-BE49-F238E27FC236}">
                    <a16:creationId xmlns:a16="http://schemas.microsoft.com/office/drawing/2014/main" id="{2F0CF149-F4AB-44DC-B353-03046E21A4B2}"/>
                  </a:ext>
                </a:extLst>
              </p:cNvPr>
              <p:cNvSpPr txBox="1">
                <a:spLocks noRot="1" noChangeAspect="1" noMove="1" noResize="1" noEditPoints="1" noAdjustHandles="1" noChangeArrowheads="1" noChangeShapeType="1" noTextEdit="1"/>
              </p:cNvSpPr>
              <p:nvPr/>
            </p:nvSpPr>
            <p:spPr>
              <a:xfrm>
                <a:off x="954873" y="5634227"/>
                <a:ext cx="9593128" cy="926985"/>
              </a:xfrm>
              <a:prstGeom prst="rect">
                <a:avLst/>
              </a:prstGeom>
              <a:blipFill>
                <a:blip r:embed="rId5"/>
                <a:stretch>
                  <a:fillRect l="-572" b="-9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731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991544" y="320525"/>
                <a:ext cx="8229600" cy="576064"/>
              </a:xfrm>
            </p:spPr>
            <p:txBody>
              <a:bodyPr/>
              <a:lstStyle/>
              <a:p>
                <a:r>
                  <a:rPr lang="zh-CN" altLang="en-US" dirty="0"/>
                  <a:t>精细结构常数</a:t>
                </a:r>
                <a:r>
                  <a:rPr lang="en-US" altLang="zh-CN" dirty="0"/>
                  <a:t>:  </a:t>
                </a:r>
                <a14:m>
                  <m:oMath xmlns:m="http://schemas.openxmlformats.org/officeDocument/2006/math">
                    <m:r>
                      <a:rPr lang="en-US" altLang="zh-CN" b="0" i="1" smtClean="0">
                        <a:latin typeface="Cambria Math"/>
                      </a:rPr>
                      <m:t>𝛼</m:t>
                    </m:r>
                    <m:r>
                      <a:rPr lang="en-US" altLang="zh-CN" b="0" i="1" smtClean="0">
                        <a:latin typeface="Cambria Math"/>
                      </a:rPr>
                      <m:t>=</m:t>
                    </m:r>
                    <m:f>
                      <m:fPr>
                        <m:ctrlPr>
                          <a:rPr lang="en-US" altLang="zh-CN" b="0" i="1">
                            <a:latin typeface="Cambria Math" panose="02040503050406030204" pitchFamily="18" charset="0"/>
                          </a:rPr>
                        </m:ctrlPr>
                      </m:fPr>
                      <m:num>
                        <m:sSup>
                          <m:sSupPr>
                            <m:ctrlPr>
                              <a:rPr lang="en-US" altLang="zh-CN" b="0" i="1">
                                <a:latin typeface="Cambria Math" panose="02040503050406030204" pitchFamily="18" charset="0"/>
                              </a:rPr>
                            </m:ctrlPr>
                          </m:sSupPr>
                          <m:e>
                            <m:r>
                              <a:rPr lang="en-US" altLang="zh-CN" b="0" i="1">
                                <a:latin typeface="Cambria Math"/>
                              </a:rPr>
                              <m:t>𝑒</m:t>
                            </m:r>
                          </m:e>
                          <m:sup>
                            <m:r>
                              <a:rPr lang="en-US" altLang="zh-CN" b="0" i="1">
                                <a:latin typeface="Cambria Math"/>
                              </a:rPr>
                              <m:t>2</m:t>
                            </m:r>
                          </m:sup>
                        </m:sSup>
                      </m:num>
                      <m:den>
                        <m:r>
                          <a:rPr lang="en-US" altLang="zh-CN" b="0" i="1">
                            <a:latin typeface="Cambria Math"/>
                            <a:ea typeface="Cambria Math"/>
                          </a:rPr>
                          <m:t>ℏ</m:t>
                        </m:r>
                        <m:r>
                          <a:rPr lang="en-US" altLang="zh-CN" b="0" i="1">
                            <a:latin typeface="Cambria Math"/>
                            <a:ea typeface="Cambria Math"/>
                          </a:rPr>
                          <m:t>𝑐</m:t>
                        </m:r>
                      </m:den>
                    </m:f>
                  </m:oMath>
                </a14:m>
                <a:endParaRPr lang="zh-CN" altLang="en-US" b="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991544" y="320525"/>
                <a:ext cx="8229600" cy="576064"/>
              </a:xfrm>
              <a:blipFill>
                <a:blip r:embed="rId3"/>
                <a:stretch>
                  <a:fillRect t="-14894" b="-42553"/>
                </a:stretch>
              </a:blipFill>
            </p:spPr>
            <p:txBody>
              <a:bodyPr/>
              <a:lstStyle/>
              <a:p>
                <a:r>
                  <a:rPr lang="zh-CN" altLang="en-US">
                    <a:noFill/>
                  </a:rPr>
                  <a:t> </a:t>
                </a:r>
              </a:p>
            </p:txBody>
          </p:sp>
        </mc:Fallback>
      </mc:AlternateContent>
      <p:pic>
        <p:nvPicPr>
          <p:cNvPr id="4098" name="Picture 2" descr="http://www.google.com.hk/url?sa=i&amp;source=images&amp;cd=&amp;docid=DiW6uoX77vTekM&amp;tbnid=IcLAq-XsRIZBAM:&amp;ved=0CAUQjBwwAA&amp;url=http%3A%2F%2Fwww.fnal.gov%2Fpub%2Fferminews%2Fferminews01-02-02%2Ffermistamp.jpg&amp;ei=qP4_UvDyBIeAiQfKqoDwBw&amp;psig=AFQjCNH2meTx_LbaPb9b-67Ou3XVhh3Z7Q&amp;ust=13800120721305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4038" y="1313163"/>
            <a:ext cx="3038284" cy="473972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physicscentral.com/explore/action/images/constant-img2.jpg">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511" y="1307967"/>
            <a:ext cx="3922592" cy="474491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72B3C84-F4CE-44F2-BBBB-B07FCFD1B64B}"/>
              </a:ext>
            </a:extLst>
          </p:cNvPr>
          <p:cNvPicPr>
            <a:picLocks noChangeAspect="1"/>
          </p:cNvPicPr>
          <p:nvPr/>
        </p:nvPicPr>
        <p:blipFill>
          <a:blip r:embed="rId7"/>
          <a:stretch>
            <a:fillRect/>
          </a:stretch>
        </p:blipFill>
        <p:spPr>
          <a:xfrm>
            <a:off x="7938900" y="1307968"/>
            <a:ext cx="3531612" cy="4737528"/>
          </a:xfrm>
          <a:prstGeom prst="rect">
            <a:avLst/>
          </a:prstGeom>
        </p:spPr>
      </p:pic>
    </p:spTree>
    <p:extLst>
      <p:ext uri="{BB962C8B-B14F-4D97-AF65-F5344CB8AC3E}">
        <p14:creationId xmlns:p14="http://schemas.microsoft.com/office/powerpoint/2010/main" val="43717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manifestation of atomic energy levels in electron collisions</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altLang="zh-CN" sz="2400" dirty="0"/>
                  <a:t>Franck-Hertz</a:t>
                </a:r>
                <a:r>
                  <a:rPr lang="zh-CN" altLang="en-US" sz="2400" dirty="0"/>
                  <a:t> </a:t>
                </a:r>
                <a:r>
                  <a:rPr lang="en-US" altLang="zh-CN" sz="2400" dirty="0"/>
                  <a:t>experiment</a:t>
                </a:r>
                <a:r>
                  <a:rPr lang="zh-CN" altLang="en-US" sz="2400" dirty="0"/>
                  <a:t>（</a:t>
                </a:r>
                <a:r>
                  <a:rPr lang="en-US" altLang="zh-CN" sz="2400" dirty="0"/>
                  <a:t>1914</a:t>
                </a:r>
                <a:r>
                  <a:rPr lang="zh-CN" altLang="en-US" sz="2400" dirty="0"/>
                  <a:t>）</a:t>
                </a:r>
                <a:endParaRPr lang="en-US" altLang="zh-CN" sz="2400" dirty="0"/>
              </a:p>
              <a:p>
                <a:pPr lvl="1"/>
                <a:r>
                  <a:rPr lang="en-US" altLang="zh-CN" sz="2000" dirty="0"/>
                  <a:t>The current of the electron beam oscillates periodically with the accelerating voltage </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i="1" dirty="0" smtClean="0">
                            <a:latin typeface="Cambria Math" panose="02040503050406030204" pitchFamily="18" charset="0"/>
                          </a:rPr>
                          <m:t>𝑉</m:t>
                        </m:r>
                      </m:e>
                      <m:sub>
                        <m:r>
                          <m:rPr>
                            <m:sty m:val="p"/>
                          </m:rPr>
                          <a:rPr lang="en-US" altLang="zh-CN" sz="2000" i="0" dirty="0" smtClean="0">
                            <a:latin typeface="Cambria Math" panose="02040503050406030204" pitchFamily="18" charset="0"/>
                          </a:rPr>
                          <m:t>G</m:t>
                        </m:r>
                      </m:sub>
                    </m:sSub>
                  </m:oMath>
                </a14:m>
                <a:r>
                  <a:rPr lang="en-US" altLang="zh-CN" sz="2000" dirty="0"/>
                  <a:t>.</a:t>
                </a:r>
              </a:p>
              <a:p>
                <a:pPr lvl="1"/>
                <a:r>
                  <a:rPr lang="en-US" altLang="zh-CN" sz="2000" dirty="0"/>
                  <a:t>They initially thought is was due to the ionization of the Hg atom.</a:t>
                </a:r>
              </a:p>
              <a:p>
                <a:pPr lvl="1"/>
                <a:r>
                  <a:rPr lang="en-US" altLang="zh-CN" sz="2000" dirty="0"/>
                  <a:t>Bohr claim that the loss of the electron K.E. is equal to the gap between energy levels of the Hg atom.</a:t>
                </a:r>
                <a:endParaRPr lang="zh-CN" alt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722" t="-1194"/>
                </a:stretch>
              </a:blipFill>
            </p:spPr>
            <p:txBody>
              <a:bodyPr/>
              <a:lstStyle/>
              <a:p>
                <a:r>
                  <a:rPr lang="en-US">
                    <a:noFill/>
                  </a:rPr>
                  <a:t> </a:t>
                </a:r>
              </a:p>
            </p:txBody>
          </p:sp>
        </mc:Fallback>
      </mc:AlternateContent>
      <p:grpSp>
        <p:nvGrpSpPr>
          <p:cNvPr id="6" name="Group 5"/>
          <p:cNvGrpSpPr/>
          <p:nvPr/>
        </p:nvGrpSpPr>
        <p:grpSpPr>
          <a:xfrm>
            <a:off x="609600" y="2746430"/>
            <a:ext cx="4744720" cy="3286284"/>
            <a:chOff x="457200" y="2784791"/>
            <a:chExt cx="3926132" cy="2681261"/>
          </a:xfrm>
        </p:grpSpPr>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784791"/>
              <a:ext cx="3926132" cy="2681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2485357" y="3951244"/>
                  <a:ext cx="497432" cy="3483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𝑽</m:t>
                            </m:r>
                          </m:e>
                          <m:sub>
                            <m:r>
                              <a:rPr lang="en-US" sz="2000" b="1" i="0" smtClean="0">
                                <a:solidFill>
                                  <a:srgbClr val="C00000"/>
                                </a:solidFill>
                                <a:latin typeface="Cambria Math" panose="02040503050406030204" pitchFamily="18" charset="0"/>
                              </a:rPr>
                              <m:t>𝐆</m:t>
                            </m:r>
                          </m:sub>
                        </m:sSub>
                      </m:oMath>
                    </m:oMathPara>
                  </a14:m>
                  <a:endParaRPr lang="en-US" sz="1600" b="1" i="1" dirty="0">
                    <a:solidFill>
                      <a:srgbClr val="C00000"/>
                    </a:solidFill>
                    <a:latin typeface="+mn-ea"/>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485357" y="3951244"/>
                  <a:ext cx="497432" cy="348356"/>
                </a:xfrm>
                <a:prstGeom prst="rect">
                  <a:avLst/>
                </a:prstGeom>
                <a:blipFill>
                  <a:blip r:embed="rId5"/>
                  <a:stretch>
                    <a:fillRect/>
                  </a:stretch>
                </a:blipFill>
              </p:spPr>
              <p:txBody>
                <a:bodyPr/>
                <a:lstStyle/>
                <a:p>
                  <a:r>
                    <a:rPr lang="en-US">
                      <a:noFill/>
                    </a:rPr>
                    <a:t> </a:t>
                  </a:r>
                </a:p>
              </p:txBody>
            </p:sp>
          </mc:Fallback>
        </mc:AlternateContent>
        <p:sp>
          <p:nvSpPr>
            <p:cNvPr id="7" name="TextBox 6"/>
            <p:cNvSpPr txBox="1"/>
            <p:nvPr/>
          </p:nvSpPr>
          <p:spPr>
            <a:xfrm>
              <a:off x="3812967" y="2888101"/>
              <a:ext cx="281387" cy="348356"/>
            </a:xfrm>
            <a:prstGeom prst="rect">
              <a:avLst/>
            </a:prstGeom>
            <a:noFill/>
          </p:spPr>
          <p:txBody>
            <a:bodyPr wrap="none" rtlCol="0">
              <a:spAutoFit/>
            </a:bodyPr>
            <a:lstStyle/>
            <a:p>
              <a:r>
                <a:rPr lang="en-US" altLang="zh-CN" sz="2000" b="1" i="1" dirty="0">
                  <a:solidFill>
                    <a:srgbClr val="C00000"/>
                  </a:solidFill>
                  <a:latin typeface="+mn-ea"/>
                </a:rPr>
                <a:t>I</a:t>
              </a:r>
              <a:endParaRPr lang="en-US" sz="2000" b="1" i="1" dirty="0">
                <a:solidFill>
                  <a:srgbClr val="C00000"/>
                </a:solidFill>
                <a:latin typeface="+mn-ea"/>
              </a:endParaRPr>
            </a:p>
          </p:txBody>
        </p:sp>
      </p:grpSp>
      <p:pic>
        <p:nvPicPr>
          <p:cNvPr id="35" name="Picture 34">
            <a:extLst>
              <a:ext uri="{FF2B5EF4-FFF2-40B4-BE49-F238E27FC236}">
                <a16:creationId xmlns:a16="http://schemas.microsoft.com/office/drawing/2014/main" id="{51433C2E-47BE-4E65-9ECA-A667EFCC6B0D}"/>
              </a:ext>
            </a:extLst>
          </p:cNvPr>
          <p:cNvPicPr>
            <a:picLocks noChangeAspect="1"/>
          </p:cNvPicPr>
          <p:nvPr/>
        </p:nvPicPr>
        <p:blipFill>
          <a:blip r:embed="rId6"/>
          <a:stretch>
            <a:fillRect/>
          </a:stretch>
        </p:blipFill>
        <p:spPr>
          <a:xfrm>
            <a:off x="5737047" y="2672094"/>
            <a:ext cx="5205273" cy="3644896"/>
          </a:xfrm>
          <a:prstGeom prst="rect">
            <a:avLst/>
          </a:prstGeom>
        </p:spPr>
      </p:pic>
      <p:sp>
        <p:nvSpPr>
          <p:cNvPr id="36" name="Rectangle 35">
            <a:extLst>
              <a:ext uri="{FF2B5EF4-FFF2-40B4-BE49-F238E27FC236}">
                <a16:creationId xmlns:a16="http://schemas.microsoft.com/office/drawing/2014/main" id="{EDD837C4-8782-4CD2-8350-9FA81EAC3A63}"/>
              </a:ext>
            </a:extLst>
          </p:cNvPr>
          <p:cNvSpPr/>
          <p:nvPr/>
        </p:nvSpPr>
        <p:spPr>
          <a:xfrm>
            <a:off x="7187714" y="2803535"/>
            <a:ext cx="816249" cy="461665"/>
          </a:xfrm>
          <a:prstGeom prst="rect">
            <a:avLst/>
          </a:prstGeom>
        </p:spPr>
        <p:txBody>
          <a:bodyPr wrap="none">
            <a:spAutoFit/>
          </a:bodyPr>
          <a:lstStyle/>
          <a:p>
            <a:r>
              <a:rPr lang="en-US" sz="2400" dirty="0">
                <a:solidFill>
                  <a:srgbClr val="C00000"/>
                </a:solidFill>
              </a:rPr>
              <a:t>4.9 V</a:t>
            </a:r>
          </a:p>
        </p:txBody>
      </p:sp>
      <p:cxnSp>
        <p:nvCxnSpPr>
          <p:cNvPr id="9" name="Straight Arrow Connector 8">
            <a:extLst>
              <a:ext uri="{FF2B5EF4-FFF2-40B4-BE49-F238E27FC236}">
                <a16:creationId xmlns:a16="http://schemas.microsoft.com/office/drawing/2014/main" id="{4C825151-3D3A-4530-8402-CEE5EAC46E85}"/>
              </a:ext>
            </a:extLst>
          </p:cNvPr>
          <p:cNvCxnSpPr>
            <a:cxnSpLocks/>
            <a:stCxn id="11" idx="0"/>
          </p:cNvCxnSpPr>
          <p:nvPr/>
        </p:nvCxnSpPr>
        <p:spPr>
          <a:xfrm flipV="1">
            <a:off x="1051921" y="3823298"/>
            <a:ext cx="1316927" cy="101872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1" name="TextBox 10">
            <a:extLst>
              <a:ext uri="{FF2B5EF4-FFF2-40B4-BE49-F238E27FC236}">
                <a16:creationId xmlns:a16="http://schemas.microsoft.com/office/drawing/2014/main" id="{72AAAA10-D346-49AD-ACB0-7FF1887A9F12}"/>
              </a:ext>
            </a:extLst>
          </p:cNvPr>
          <p:cNvSpPr txBox="1"/>
          <p:nvPr/>
        </p:nvSpPr>
        <p:spPr>
          <a:xfrm>
            <a:off x="520518" y="4842024"/>
            <a:ext cx="1062805" cy="646331"/>
          </a:xfrm>
          <a:prstGeom prst="rect">
            <a:avLst/>
          </a:prstGeom>
          <a:noFill/>
        </p:spPr>
        <p:txBody>
          <a:bodyPr wrap="square" rtlCol="0">
            <a:spAutoFit/>
          </a:bodyPr>
          <a:lstStyle/>
          <a:p>
            <a:pPr algn="ctr"/>
            <a:r>
              <a:rPr lang="en-US" b="1" dirty="0">
                <a:solidFill>
                  <a:srgbClr val="C00000"/>
                </a:solidFill>
                <a:latin typeface="Times New Roman" panose="02020603050405020304" pitchFamily="18" charset="0"/>
                <a:cs typeface="Times New Roman" panose="02020603050405020304" pitchFamily="18" charset="0"/>
              </a:rPr>
              <a:t>Mercury vapor</a:t>
            </a:r>
          </a:p>
        </p:txBody>
      </p:sp>
    </p:spTree>
    <p:extLst>
      <p:ext uri="{BB962C8B-B14F-4D97-AF65-F5344CB8AC3E}">
        <p14:creationId xmlns:p14="http://schemas.microsoft.com/office/powerpoint/2010/main" val="2527638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724"/>
            <a:ext cx="10972800" cy="576064"/>
          </a:xfrm>
        </p:spPr>
        <p:txBody>
          <a:bodyPr/>
          <a:lstStyle/>
          <a:p>
            <a:r>
              <a:rPr lang="zh-CN" altLang="en-US" sz="2800" dirty="0"/>
              <a:t>*</a:t>
            </a:r>
            <a:r>
              <a:rPr lang="en-US" altLang="zh-CN" sz="2800" dirty="0"/>
              <a:t>Improved Franck-Hertz experiment(1924)</a:t>
            </a:r>
            <a:endParaRPr lang="zh-CN" altLang="en-US" sz="2800" dirty="0"/>
          </a:p>
        </p:txBody>
      </p:sp>
      <p:sp>
        <p:nvSpPr>
          <p:cNvPr id="3" name="Content Placeholder 2"/>
          <p:cNvSpPr>
            <a:spLocks noGrp="1"/>
          </p:cNvSpPr>
          <p:nvPr>
            <p:ph idx="1"/>
          </p:nvPr>
        </p:nvSpPr>
        <p:spPr>
          <a:xfrm>
            <a:off x="718458" y="918342"/>
            <a:ext cx="7266342" cy="1654890"/>
          </a:xfrm>
        </p:spPr>
        <p:txBody>
          <a:bodyPr>
            <a:noAutofit/>
          </a:bodyPr>
          <a:lstStyle/>
          <a:p>
            <a:pPr>
              <a:lnSpc>
                <a:spcPct val="150000"/>
              </a:lnSpc>
            </a:pPr>
            <a:r>
              <a:rPr lang="en-US" altLang="zh-CN" sz="2000" dirty="0">
                <a:ea typeface="黑体" panose="02010609060101010101" pitchFamily="49" charset="-122"/>
              </a:rPr>
              <a:t>Indirect heating</a:t>
            </a:r>
            <a:r>
              <a:rPr lang="zh-CN" altLang="en-US" sz="2000" dirty="0">
                <a:ea typeface="黑体" panose="02010609060101010101" pitchFamily="49" charset="-122"/>
              </a:rPr>
              <a:t>：</a:t>
            </a:r>
            <a:r>
              <a:rPr lang="en-US" altLang="zh-CN" sz="2000" dirty="0">
                <a:ea typeface="黑体" panose="02010609060101010101" pitchFamily="49" charset="-122"/>
              </a:rPr>
              <a:t>more uniform electron initial velocity</a:t>
            </a:r>
          </a:p>
          <a:p>
            <a:pPr>
              <a:lnSpc>
                <a:spcPct val="150000"/>
              </a:lnSpc>
            </a:pPr>
            <a:r>
              <a:rPr lang="en-US" altLang="zh-CN" sz="2000" dirty="0">
                <a:ea typeface="黑体" panose="02010609060101010101" pitchFamily="49" charset="-122"/>
              </a:rPr>
              <a:t>Separation of the accelerating and collision region</a:t>
            </a:r>
          </a:p>
          <a:p>
            <a:pPr>
              <a:lnSpc>
                <a:spcPct val="150000"/>
              </a:lnSpc>
            </a:pPr>
            <a:r>
              <a:rPr lang="en-US" altLang="zh-CN" sz="2000" dirty="0">
                <a:ea typeface="黑体" panose="02010609060101010101" pitchFamily="49" charset="-122"/>
              </a:rPr>
              <a:t>Rarer Hg vapor: no K.E. loss before entering the collision region</a:t>
            </a:r>
            <a:endParaRPr lang="zh-CN" altLang="en-US" sz="2000" dirty="0">
              <a:ea typeface="黑体" panose="02010609060101010101" pitchFamily="49" charset="-122"/>
            </a:endParaRPr>
          </a:p>
          <a:p>
            <a:pPr>
              <a:lnSpc>
                <a:spcPct val="150000"/>
              </a:lnSpc>
            </a:pPr>
            <a:endParaRPr lang="en-US" altLang="zh-CN" sz="2000" dirty="0">
              <a:ea typeface="黑体" panose="02010609060101010101" pitchFamily="49" charset="-122"/>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458" y="2726871"/>
            <a:ext cx="3640019" cy="3304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5237" y="3278405"/>
            <a:ext cx="3950938" cy="2884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72D5E98F-D06E-479C-8D85-7BA9E88DF40D}"/>
              </a:ext>
            </a:extLst>
          </p:cNvPr>
          <p:cNvPicPr>
            <a:picLocks noChangeAspect="1"/>
          </p:cNvPicPr>
          <p:nvPr/>
        </p:nvPicPr>
        <p:blipFill>
          <a:blip r:embed="rId5"/>
          <a:stretch>
            <a:fillRect/>
          </a:stretch>
        </p:blipFill>
        <p:spPr>
          <a:xfrm>
            <a:off x="8334399" y="857897"/>
            <a:ext cx="3067237" cy="5402749"/>
          </a:xfrm>
          <a:prstGeom prst="rect">
            <a:avLst/>
          </a:prstGeom>
        </p:spPr>
      </p:pic>
    </p:spTree>
    <p:extLst>
      <p:ext uri="{BB962C8B-B14F-4D97-AF65-F5344CB8AC3E}">
        <p14:creationId xmlns:p14="http://schemas.microsoft.com/office/powerpoint/2010/main" val="1618668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83827"/>
            <a:ext cx="10972800" cy="576064"/>
          </a:xfrm>
        </p:spPr>
        <p:txBody>
          <a:bodyPr/>
          <a:lstStyle/>
          <a:p>
            <a:r>
              <a:rPr lang="zh-CN" altLang="en-US" dirty="0"/>
              <a:t> </a:t>
            </a:r>
            <a:r>
              <a:rPr lang="en-US" altLang="zh-CN" dirty="0"/>
              <a:t>Neon Franck-Hertz</a:t>
            </a:r>
            <a:r>
              <a:rPr lang="zh-CN" altLang="en-US" dirty="0"/>
              <a:t> </a:t>
            </a:r>
            <a:r>
              <a:rPr lang="en-US" altLang="zh-CN" dirty="0"/>
              <a:t>experiment</a:t>
            </a:r>
            <a:endParaRPr lang="zh-CN" altLang="en-US" dirty="0"/>
          </a:p>
        </p:txBody>
      </p:sp>
      <p:pic>
        <p:nvPicPr>
          <p:cNvPr id="8" name="Picture 7"/>
          <p:cNvPicPr>
            <a:picLocks noChangeAspect="1"/>
          </p:cNvPicPr>
          <p:nvPr/>
        </p:nvPicPr>
        <p:blipFill>
          <a:blip r:embed="rId2"/>
          <a:stretch>
            <a:fillRect/>
          </a:stretch>
        </p:blipFill>
        <p:spPr>
          <a:xfrm>
            <a:off x="5409688" y="3479154"/>
            <a:ext cx="2584503" cy="2457164"/>
          </a:xfrm>
          <a:prstGeom prst="rect">
            <a:avLst/>
          </a:prstGeom>
        </p:spPr>
      </p:pic>
      <p:grpSp>
        <p:nvGrpSpPr>
          <p:cNvPr id="41" name="Group 40"/>
          <p:cNvGrpSpPr/>
          <p:nvPr/>
        </p:nvGrpSpPr>
        <p:grpSpPr>
          <a:xfrm rot="5400000">
            <a:off x="5468856" y="1076580"/>
            <a:ext cx="2466164" cy="2317222"/>
            <a:chOff x="4310927" y="1370650"/>
            <a:chExt cx="4045574" cy="3376575"/>
          </a:xfrm>
        </p:grpSpPr>
        <p:pic>
          <p:nvPicPr>
            <p:cNvPr id="39" name="Picture 38"/>
            <p:cNvPicPr>
              <a:picLocks noChangeAspect="1"/>
            </p:cNvPicPr>
            <p:nvPr/>
          </p:nvPicPr>
          <p:blipFill>
            <a:blip r:embed="rId3"/>
            <a:stretch>
              <a:fillRect/>
            </a:stretch>
          </p:blipFill>
          <p:spPr>
            <a:xfrm>
              <a:off x="4310927" y="1370650"/>
              <a:ext cx="3516158" cy="3376575"/>
            </a:xfrm>
            <a:prstGeom prst="rect">
              <a:avLst/>
            </a:prstGeom>
          </p:spPr>
        </p:pic>
        <p:cxnSp>
          <p:nvCxnSpPr>
            <p:cNvPr id="11" name="Elbow Connector 10"/>
            <p:cNvCxnSpPr/>
            <p:nvPr/>
          </p:nvCxnSpPr>
          <p:spPr>
            <a:xfrm>
              <a:off x="7564581" y="2501375"/>
              <a:ext cx="483652" cy="360355"/>
            </a:xfrm>
            <a:prstGeom prst="bentConnector3">
              <a:avLst>
                <a:gd name="adj1" fmla="val 100000"/>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Elbow Connector 17"/>
            <p:cNvCxnSpPr/>
            <p:nvPr/>
          </p:nvCxnSpPr>
          <p:spPr>
            <a:xfrm flipV="1">
              <a:off x="7564581" y="3624658"/>
              <a:ext cx="483652" cy="351599"/>
            </a:xfrm>
            <a:prstGeom prst="bentConnector3">
              <a:avLst>
                <a:gd name="adj1" fmla="val 100000"/>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rot="16200000">
                  <a:off x="7814211" y="2995365"/>
                  <a:ext cx="478716" cy="6058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黑体" panose="02010609060101010101" pitchFamily="49" charset="-122"/>
                              </a:rPr>
                            </m:ctrlPr>
                          </m:sSubPr>
                          <m:e>
                            <m:r>
                              <a:rPr lang="en-US" altLang="zh-CN" i="1" dirty="0">
                                <a:latin typeface="Cambria Math" panose="02040503050406030204" pitchFamily="18" charset="0"/>
                                <a:ea typeface="黑体" panose="02010609060101010101" pitchFamily="49" charset="-122"/>
                              </a:rPr>
                              <m:t>𝑈</m:t>
                            </m:r>
                          </m:e>
                          <m:sub>
                            <m:r>
                              <a:rPr lang="en-US" altLang="zh-CN" i="1" dirty="0">
                                <a:latin typeface="Cambria Math" panose="02040503050406030204" pitchFamily="18" charset="0"/>
                                <a:ea typeface="黑体" panose="02010609060101010101" pitchFamily="49" charset="-122"/>
                              </a:rPr>
                              <m:t>2</m:t>
                            </m:r>
                          </m:sub>
                        </m:sSub>
                      </m:oMath>
                    </m:oMathPara>
                  </a14:m>
                  <a:endParaRPr lang="en-US" sz="1600" dirty="0">
                    <a:latin typeface="黑体" panose="02010609060101010101" pitchFamily="49" charset="-122"/>
                    <a:ea typeface="黑体" panose="02010609060101010101" pitchFamily="49" charset="-122"/>
                  </a:endParaRPr>
                </a:p>
              </p:txBody>
            </p:sp>
          </mc:Choice>
          <mc:Fallback xmlns="">
            <p:sp>
              <p:nvSpPr>
                <p:cNvPr id="36" name="TextBox 35"/>
                <p:cNvSpPr txBox="1">
                  <a:spLocks noRot="1" noChangeAspect="1" noMove="1" noResize="1" noEditPoints="1" noAdjustHandles="1" noChangeArrowheads="1" noChangeShapeType="1" noTextEdit="1"/>
                </p:cNvSpPr>
                <p:nvPr/>
              </p:nvSpPr>
              <p:spPr>
                <a:xfrm rot="16200000">
                  <a:off x="7814211" y="2995365"/>
                  <a:ext cx="478716" cy="605864"/>
                </a:xfrm>
                <a:prstGeom prst="rect">
                  <a:avLst/>
                </a:prstGeom>
                <a:blipFill>
                  <a:blip r:embed="rId4"/>
                  <a:stretch>
                    <a:fillRect r="-20755" b="-1639"/>
                  </a:stretch>
                </a:blipFill>
              </p:spPr>
              <p:txBody>
                <a:bodyPr/>
                <a:lstStyle/>
                <a:p>
                  <a:r>
                    <a:rPr lang="en-US">
                      <a:noFill/>
                    </a:rPr>
                    <a:t> </a:t>
                  </a:r>
                </a:p>
              </p:txBody>
            </p:sp>
          </mc:Fallback>
        </mc:AlternateContent>
      </p:grpSp>
      <p:pic>
        <p:nvPicPr>
          <p:cNvPr id="3" name="Picture 2"/>
          <p:cNvPicPr>
            <a:picLocks noChangeAspect="1"/>
          </p:cNvPicPr>
          <p:nvPr/>
        </p:nvPicPr>
        <p:blipFill>
          <a:blip r:embed="rId5"/>
          <a:stretch>
            <a:fillRect/>
          </a:stretch>
        </p:blipFill>
        <p:spPr>
          <a:xfrm rot="5400000">
            <a:off x="396461" y="1669771"/>
            <a:ext cx="4930093" cy="3603007"/>
          </a:xfrm>
          <a:prstGeom prst="rect">
            <a:avLst/>
          </a:prstGeom>
        </p:spPr>
      </p:pic>
      <p:cxnSp>
        <p:nvCxnSpPr>
          <p:cNvPr id="12" name="Straight Connector 11"/>
          <p:cNvCxnSpPr>
            <a:stCxn id="15" idx="0"/>
          </p:cNvCxnSpPr>
          <p:nvPr/>
        </p:nvCxnSpPr>
        <p:spPr>
          <a:xfrm flipV="1">
            <a:off x="3712519" y="1002108"/>
            <a:ext cx="1830811" cy="365372"/>
          </a:xfrm>
          <a:prstGeom prst="line">
            <a:avLst/>
          </a:prstGeom>
          <a:ln w="127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2"/>
          </p:cNvCxnSpPr>
          <p:nvPr/>
        </p:nvCxnSpPr>
        <p:spPr>
          <a:xfrm>
            <a:off x="3712519" y="1934942"/>
            <a:ext cx="1830811" cy="1210605"/>
          </a:xfrm>
          <a:prstGeom prst="line">
            <a:avLst/>
          </a:prstGeom>
          <a:ln w="12700">
            <a:solidFill>
              <a:srgbClr val="92D050"/>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3446133" y="1367483"/>
            <a:ext cx="532771" cy="567459"/>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Box 3">
            <a:extLst>
              <a:ext uri="{FF2B5EF4-FFF2-40B4-BE49-F238E27FC236}">
                <a16:creationId xmlns:a16="http://schemas.microsoft.com/office/drawing/2014/main" id="{E7E899DD-EF4D-4AFB-B693-FF3B58AC3DA3}"/>
              </a:ext>
            </a:extLst>
          </p:cNvPr>
          <p:cNvSpPr txBox="1"/>
          <p:nvPr/>
        </p:nvSpPr>
        <p:spPr>
          <a:xfrm>
            <a:off x="8258464" y="3689935"/>
            <a:ext cx="2447935" cy="646331"/>
          </a:xfrm>
          <a:prstGeom prst="rect">
            <a:avLst/>
          </a:prstGeom>
          <a:noFill/>
        </p:spPr>
        <p:txBody>
          <a:bodyPr wrap="square" rtlCol="0">
            <a:spAutoFit/>
          </a:bodyPr>
          <a:lstStyle/>
          <a:p>
            <a:r>
              <a:rPr lang="en-US" altLang="zh-CN" dirty="0"/>
              <a:t>Collision exited Neon atoms gives off light</a:t>
            </a:r>
            <a:endParaRPr lang="en-US" dirty="0"/>
          </a:p>
        </p:txBody>
      </p:sp>
      <p:sp>
        <p:nvSpPr>
          <p:cNvPr id="16" name="TextBox 15">
            <a:extLst>
              <a:ext uri="{FF2B5EF4-FFF2-40B4-BE49-F238E27FC236}">
                <a16:creationId xmlns:a16="http://schemas.microsoft.com/office/drawing/2014/main" id="{C9058C98-A4AE-4CBD-A357-A74E823D54F4}"/>
              </a:ext>
            </a:extLst>
          </p:cNvPr>
          <p:cNvSpPr txBox="1"/>
          <p:nvPr/>
        </p:nvSpPr>
        <p:spPr>
          <a:xfrm>
            <a:off x="8258464" y="1044314"/>
            <a:ext cx="2677018" cy="646331"/>
          </a:xfrm>
          <a:prstGeom prst="rect">
            <a:avLst/>
          </a:prstGeom>
          <a:noFill/>
        </p:spPr>
        <p:txBody>
          <a:bodyPr wrap="square" rtlCol="0">
            <a:spAutoFit/>
          </a:bodyPr>
          <a:lstStyle/>
          <a:p>
            <a:r>
              <a:rPr lang="en-US" altLang="zh-CN" dirty="0"/>
              <a:t>What is the cause of these periodical fluorescence?</a:t>
            </a:r>
            <a:endParaRPr lang="en-US" dirty="0"/>
          </a:p>
        </p:txBody>
      </p:sp>
    </p:spTree>
    <p:extLst>
      <p:ext uri="{BB962C8B-B14F-4D97-AF65-F5344CB8AC3E}">
        <p14:creationId xmlns:p14="http://schemas.microsoft.com/office/powerpoint/2010/main" val="114523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原子物理学和量子力学的诞生&amp;quot;&quot;/&gt;&lt;property id=&quot;20307&quot; value=&quot;256&quot;/&gt;&lt;/object&gt;&lt;object type=&quot;3&quot; unique_id=&quot;10013&quot;&gt;&lt;property id=&quot;20148&quot; value=&quot;5&quot;/&gt;&lt;property id=&quot;20300&quot; value=&quot;Slide 9 - &amp;quot;几个重要的物理量&amp;quot;&quot;/&gt;&lt;property id=&quot;20307&quot; value=&quot;262&quot;/&gt;&lt;/object&gt;&lt;object type=&quot;3&quot; unique_id=&quot;10058&quot;&gt;&lt;property id=&quot;20148&quot; value=&quot;5&quot;/&gt;&lt;property id=&quot;20300&quot; value=&quot;Slide 2 - &amp;quot;第一届索尔维物理会议&amp;quot;&quot;/&gt;&lt;property id=&quot;20307&quot; value=&quot;265&quot;/&gt;&lt;/object&gt;&lt;object type=&quot;3&quot; unique_id=&quot;10072&quot;&gt;&lt;property id=&quot;20148&quot; value=&quot;5&quot;/&gt;&lt;property id=&quot;20300&quot; value=&quot;Slide 3 - &amp;quot;The 1st Solvay Conference 1911&amp;quot;&quot;/&gt;&lt;property id=&quot;20307&quot; value=&quot;267&quot;/&gt;&lt;/object&gt;&lt;object type=&quot;3&quot; unique_id=&quot;10112&quot;&gt;&lt;property id=&quot;20148&quot; value=&quot;5&quot;/&gt;&lt;property id=&quot;20300&quot; value=&quot;Slide 4 - &amp;quot;氢原子光谱&amp;quot;&quot;/&gt;&lt;property id=&quot;20307&quot; value=&quot;273&quot;/&gt;&lt;/object&gt;&lt;object type=&quot;3&quot; unique_id=&quot;10113&quot;&gt;&lt;property id=&quot;20148&quot; value=&quot;5&quot;/&gt;&lt;property id=&quot;20300&quot; value=&quot;Slide 5 - &amp;quot;氢原子光谱&amp;quot;&quot;/&gt;&lt;property id=&quot;20307&quot; value=&quot;274&quot;/&gt;&lt;/object&gt;&lt;object type=&quot;3&quot; unique_id=&quot;10116&quot;&gt;&lt;property id=&quot;20148&quot; value=&quot;5&quot;/&gt;&lt;property id=&quot;20300&quot; value=&quot;Slide 31 - &amp;quot;第五届索尔维会议（1927）&amp;quot;&quot;/&gt;&lt;property id=&quot;20307&quot; value=&quot;270&quot;/&gt;&lt;/object&gt;&lt;object type=&quot;3&quot; unique_id=&quot;10117&quot;&gt;&lt;property id=&quot;20148&quot; value=&quot;5&quot;/&gt;&lt;property id=&quot;20300&quot; value=&quot;Slide 32 - &amp;quot;The 5th Solvay Conference 1927&amp;quot;&quot;/&gt;&lt;property id=&quot;20307&quot; value=&quot;269&quot;/&gt;&lt;/object&gt;&lt;object type=&quot;3&quot; unique_id=&quot;10279&quot;&gt;&lt;property id=&quot;20148&quot; value=&quot;5&quot;/&gt;&lt;property id=&quot;20300&quot; value=&quot;Slide 8 - &amp;quot;里德堡常数的修正&amp;quot;&quot;/&gt;&lt;property id=&quot;20307&quot; value=&quot;276&quot;/&gt;&lt;/object&gt;&lt;object type=&quot;3&quot; unique_id=&quot;10350&quot;&gt;&lt;property id=&quot;20148&quot; value=&quot;5&quot;/&gt;&lt;property id=&quot;20300&quot; value=&quot;Slide 13 - &amp;quot;进一步验证：类氢离子光谱&amp;quot;&quot;/&gt;&lt;property id=&quot;20307&quot; value=&quot;278&quot;/&gt;&lt;/object&gt;&lt;object type=&quot;3&quot; unique_id=&quot;10351&quot;&gt;&lt;property id=&quot;20148&quot; value=&quot;5&quot;/&gt;&lt;property id=&quot;20300&quot; value=&quot;Slide 14 - &amp;quot;类氢离子的物理常数&amp;quot;&quot;/&gt;&lt;property id=&quot;20307&quot; value=&quot;279&quot;/&gt;&lt;/object&gt;&lt;object type=&quot;3&quot; unique_id=&quot;10352&quot;&gt;&lt;property id=&quot;20148&quot; value=&quot;5&quot;/&gt;&lt;property id=&quot;20300&quot; value=&quot;Slide 16 - &amp;quot;原子能级在碰撞过程的体现&amp;quot;&quot;/&gt;&lt;property id=&quot;20307&quot; value=&quot;277&quot;/&gt;&lt;/object&gt;&lt;object type=&quot;3&quot; unique_id=&quot;10438&quot;&gt;&lt;property id=&quot;20148&quot; value=&quot;5&quot;/&gt;&lt;property id=&quot;20300&quot; value=&quot;Slide 12 - &amp;quot;精细结构常数:  𝛼=  𝑒 2  ℏ𝑐 &amp;quot;&quot;/&gt;&lt;property id=&quot;20307&quot; value=&quot;280&quot;/&gt;&lt;/object&gt;&lt;object type=&quot;3&quot; unique_id=&quot;10923&quot;&gt;&lt;property id=&quot;20148&quot; value=&quot;5&quot;/&gt;&lt;property id=&quot;20300&quot; value=&quot;Slide 23 - &amp;quot;Stern-Gerlach 实验（1922）&amp;quot;&quot;/&gt;&lt;property id=&quot;20307&quot; value=&quot;283&quot;/&gt;&lt;/object&gt;&lt;object type=&quot;3&quot; unique_id=&quot;11076&quot;&gt;&lt;property id=&quot;20148&quot; value=&quot;5&quot;/&gt;&lt;property id=&quot;20300&quot; value=&quot;Slide 21 - &amp;quot;Bohr – Sommerfeld 的旧量子论&amp;quot;&quot;/&gt;&lt;property id=&quot;20307&quot; value=&quot;286&quot;/&gt;&lt;/object&gt;&lt;object type=&quot;3&quot; unique_id=&quot;11101&quot;&gt;&lt;property id=&quot;20148&quot; value=&quot;5&quot;/&gt;&lt;property id=&quot;20300&quot; value=&quot;Slide 18 - &amp;quot;塞曼效应（1896）&amp;quot;&quot;/&gt;&lt;property id=&quot;20307&quot; value=&quot;288&quot;/&gt;&lt;/object&gt;&lt;object type=&quot;3&quot; unique_id=&quot;11102&quot;&gt;&lt;property id=&quot;20148&quot; value=&quot;5&quot;/&gt;&lt;property id=&quot;20300&quot; value=&quot;Slide 26 - &amp;quot;泡利不相容原理和电子自旋（1925）&amp;quot;&quot;/&gt;&lt;property id=&quot;20307&quot; value=&quot;287&quot;/&gt;&lt;/object&gt;&lt;object type=&quot;3&quot; unique_id=&quot;11103&quot;&gt;&lt;property id=&quot;20148&quot; value=&quot;5&quot;/&gt;&lt;property id=&quot;20300&quot; value=&quot;Slide 30 - &amp;quot;量子力学&amp;quot;&quot;/&gt;&lt;property id=&quot;20307&quot; value=&quot;289&quot;/&gt;&lt;/object&gt;&lt;object type=&quot;3&quot; unique_id=&quot;11204&quot;&gt;&lt;property id=&quot;20148&quot; value=&quot;5&quot;/&gt;&lt;property id=&quot;20300&quot; value=&quot;Slide 17 - &amp;quot;改进后的Frank-Hertz实验(1920)&amp;quot;&quot;/&gt;&lt;property id=&quot;20307&quot; value=&quot;290&quot;/&gt;&lt;/object&gt;&lt;object type=&quot;3&quot; unique_id=&quot;11231&quot;&gt;&lt;property id=&quot;20148&quot; value=&quot;5&quot;/&gt;&lt;property id=&quot;20300&quot; value=&quot;Slide 24 - &amp;quot;幸运雪茄&amp;quot;&quot;/&gt;&lt;property id=&quot;20307&quot; value=&quot;291&quot;/&gt;&lt;/object&gt;&lt;object type=&quot;3&quot; unique_id=&quot;11260&quot;&gt;&lt;property id=&quot;20148&quot; value=&quot;5&quot;/&gt;&lt;property id=&quot;20300&quot; value=&quot;Slide 27 - &amp;quot;de Broglie物质波(1923)&amp;quot;&quot;/&gt;&lt;property id=&quot;20307&quot; value=&quot;294&quot;/&gt;&lt;/object&gt;&lt;object type=&quot;3&quot; unique_id=&quot;11261&quot;&gt;&lt;property id=&quot;20148&quot; value=&quot;5&quot;/&gt;&lt;property id=&quot;20300&quot; value=&quot;Slide 28 - &amp;quot;电子晶体衍射&amp;quot;&quot;/&gt;&lt;property id=&quot;20307&quot; value=&quot;295&quot;/&gt;&lt;/object&gt;&lt;object type=&quot;3&quot; unique_id=&quot;11262&quot;&gt;&lt;property id=&quot;20148&quot; value=&quot;5&quot;/&gt;&lt;property id=&quot;20300&quot; value=&quot;Slide 33&quot;/&gt;&lt;property id=&quot;20307&quot; value=&quot;292&quot;/&gt;&lt;/object&gt;&lt;object type=&quot;3&quot; unique_id=&quot;11437&quot;&gt;&lt;property id=&quot;20148&quot; value=&quot;5&quot;/&gt;&lt;property id=&quot;20300&quot; value=&quot;Slide 22 - &amp;quot;正常塞曼效应的Bohr理论解释&amp;quot;&quot;/&gt;&lt;property id=&quot;20307&quot; value=&quot;296&quot;/&gt;&lt;/object&gt;&lt;object type=&quot;3&quot; unique_id=&quot;11468&quot;&gt;&lt;property id=&quot;20148&quot; value=&quot;5&quot;/&gt;&lt;property id=&quot;20300&quot; value=&quot;Slide 34 - &amp;quot;作业&amp;quot;&quot;/&gt;&lt;property id=&quot;20307&quot; value=&quot;299&quot;/&gt;&lt;/object&gt;&lt;object type=&quot;3&quot; unique_id=&quot;12182&quot;&gt;&lt;property id=&quot;20148&quot; value=&quot;5&quot;/&gt;&lt;property id=&quot;20300&quot; value=&quot;Slide 11 - &amp;quot;精细结构常数  𝛼=  𝑒 2  ℏ𝑐 &amp;quot;&quot;/&gt;&lt;property id=&quot;20307&quot; value=&quot;300&quot;/&gt;&lt;/object&gt;&lt;object type=&quot;3&quot; unique_id=&quot;12183&quot;&gt;&lt;property id=&quot;20148&quot; value=&quot;5&quot;/&gt;&lt;property id=&quot;20300&quot; value=&quot;Slide 19 - &amp;quot;塞曼效应的经典解释&amp;quot;&quot;/&gt;&lt;property id=&quot;20307&quot; value=&quot;301&quot;/&gt;&lt;/object&gt;&lt;object type=&quot;3&quot; unique_id=&quot;12280&quot;&gt;&lt;property id=&quot;20148&quot; value=&quot;5&quot;/&gt;&lt;property id=&quot;20300&quot; value=&quot;Slide 10 - &amp;quot;备注&amp;quot;&quot;/&gt;&lt;property id=&quot;20307&quot; value=&quot;302&quot;/&gt;&lt;/object&gt;&lt;object type=&quot;3&quot; unique_id=&quot;12281&quot;&gt;&lt;property id=&quot;20148&quot; value=&quot;5&quot;/&gt;&lt;property id=&quot;20300&quot; value=&quot;Slide 7 - &amp;quot;玻尔模型和氢原子光谱&amp;quot;&quot;/&gt;&lt;property id=&quot;20307&quot; value=&quot;303&quot;/&gt;&lt;/object&gt;&lt;object type=&quot;3&quot; unique_id=&quot;12543&quot;&gt;&lt;property id=&quot;20148&quot; value=&quot;5&quot;/&gt;&lt;property id=&quot;20300&quot; value=&quot;Slide 6 - &amp;quot;Bohr模型（1913）&amp;quot;&quot;/&gt;&lt;property id=&quot;20307&quot; value=&quot;304&quot;/&gt;&lt;/object&gt;&lt;object type=&quot;3&quot; unique_id=&quot;12577&quot;&gt;&lt;property id=&quot;20148&quot; value=&quot;5&quot;/&gt;&lt;property id=&quot;20300&quot; value=&quot;Slide 15 - &amp;quot;透射（吸收）谱和荧光谱&amp;quot;&quot;/&gt;&lt;property id=&quot;20307&quot; value=&quot;305&quot;/&gt;&lt;/object&gt;&lt;object type=&quot;3&quot; unique_id=&quot;12578&quot;&gt;&lt;property id=&quot;20148&quot; value=&quot;5&quot;/&gt;&lt;property id=&quot;20300&quot; value=&quot;Slide 20 - &amp;quot;反常(anormlous)塞曼效应&amp;quot;&quot;/&gt;&lt;property id=&quot;20307&quot; value=&quot;306&quot;/&gt;&lt;/object&gt;&lt;object type=&quot;3&quot; unique_id=&quot;12579&quot;&gt;&lt;property id=&quot;20148&quot; value=&quot;5&quot;/&gt;&lt;property id=&quot;20300&quot; value=&quot;Slide 29&quot;/&gt;&lt;property id=&quot;20307&quot; value=&quot;307&quot;/&gt;&lt;/object&gt;&lt;object type=&quot;3&quot; unique_id=&quot;13072&quot;&gt;&lt;property id=&quot;20148&quot; value=&quot;5&quot;/&gt;&lt;property id=&quot;20300&quot; value=&quot;Slide 25 - &amp;quot;Stern-Gerlach 实验的解释&amp;quot;&quot;/&gt;&lt;property id=&quot;20307&quot; value=&quot;308&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FFFF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10598</TotalTime>
  <Words>1502</Words>
  <Application>Microsoft Office PowerPoint</Application>
  <PresentationFormat>Widescreen</PresentationFormat>
  <Paragraphs>161</Paragraphs>
  <Slides>20</Slides>
  <Notes>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黑体</vt:lpstr>
      <vt:lpstr>宋体</vt:lpstr>
      <vt:lpstr>Arial</vt:lpstr>
      <vt:lpstr>Arial Rounded MT Bold</vt:lpstr>
      <vt:lpstr>Calibri</vt:lpstr>
      <vt:lpstr>Cambria Math</vt:lpstr>
      <vt:lpstr>Times New Roman</vt:lpstr>
      <vt:lpstr>Office Theme</vt:lpstr>
      <vt:lpstr>Equation</vt:lpstr>
      <vt:lpstr>Atom and light - Bohr’s model</vt:lpstr>
      <vt:lpstr>Spectrum of Hydrogen</vt:lpstr>
      <vt:lpstr>Hydrogen spectrum</vt:lpstr>
      <vt:lpstr>PowerPoint Presentation</vt:lpstr>
      <vt:lpstr>Bohr Model</vt:lpstr>
      <vt:lpstr>PowerPoint Presentation</vt:lpstr>
      <vt:lpstr>Three steps to build the atomic model</vt:lpstr>
      <vt:lpstr>3 — from energy levels to spectra</vt:lpstr>
      <vt:lpstr>The Correspondence principle</vt:lpstr>
      <vt:lpstr>Questions</vt:lpstr>
      <vt:lpstr>PowerPoint Presentation</vt:lpstr>
      <vt:lpstr>Further successes of Bohr’s Model</vt:lpstr>
      <vt:lpstr>Moseley – X-ray spectroscopy （1913-1914）</vt:lpstr>
      <vt:lpstr>The X-ray spectrum of atoms</vt:lpstr>
      <vt:lpstr>*The Fine structure constant α=e^2/(4πϵ_0 ℏc)</vt:lpstr>
      <vt:lpstr>Some important figure of single electron atoms or ions</vt:lpstr>
      <vt:lpstr>精细结构常数:  α=e^2/ℏc</vt:lpstr>
      <vt:lpstr>manifestation of atomic energy levels in electron collisions</vt:lpstr>
      <vt:lpstr>*Improved Franck-Hertz experiment(1924)</vt:lpstr>
      <vt:lpstr> Neon Franck-Hertz 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dc:creator>
  <cp:lastModifiedBy>Zhao KF</cp:lastModifiedBy>
  <cp:revision>774</cp:revision>
  <cp:lastPrinted>2020-09-29T02:36:37Z</cp:lastPrinted>
  <dcterms:created xsi:type="dcterms:W3CDTF">2013-05-26T05:06:15Z</dcterms:created>
  <dcterms:modified xsi:type="dcterms:W3CDTF">2026-03-15T05:10:08Z</dcterms:modified>
</cp:coreProperties>
</file>